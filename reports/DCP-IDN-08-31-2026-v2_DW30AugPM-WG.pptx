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7FFFF1C3_58CEF50D.xml" ContentType="application/vnd.ms-powerpoint.comments+xml"/>
  <Override PartName="/ppt/notesSlides/notesSlide15.xml" ContentType="application/vnd.openxmlformats-officedocument.presentationml.notesSlide+xml"/>
  <Override PartName="/ppt/comments/modernComment_113_0.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4" r:id="rId2"/>
    <p:sldMasterId id="2147483651" r:id="rId3"/>
  </p:sldMasterIdLst>
  <p:notesMasterIdLst>
    <p:notesMasterId r:id="rId57"/>
  </p:notesMasterIdLst>
  <p:handoutMasterIdLst>
    <p:handoutMasterId r:id="rId58"/>
  </p:handoutMasterIdLst>
  <p:sldIdLst>
    <p:sldId id="2735" r:id="rId4"/>
    <p:sldId id="575" r:id="rId5"/>
    <p:sldId id="2147479988" r:id="rId6"/>
    <p:sldId id="3469" r:id="rId7"/>
    <p:sldId id="3456" r:id="rId8"/>
    <p:sldId id="3459" r:id="rId9"/>
    <p:sldId id="3407" r:id="rId10"/>
    <p:sldId id="3452" r:id="rId11"/>
    <p:sldId id="3408" r:id="rId12"/>
    <p:sldId id="3411" r:id="rId13"/>
    <p:sldId id="3458" r:id="rId14"/>
    <p:sldId id="3445" r:id="rId15"/>
    <p:sldId id="3476" r:id="rId16"/>
    <p:sldId id="3477" r:id="rId17"/>
    <p:sldId id="3449" r:id="rId18"/>
    <p:sldId id="2147479945" r:id="rId19"/>
    <p:sldId id="2147479951" r:id="rId20"/>
    <p:sldId id="2147479989" r:id="rId21"/>
    <p:sldId id="2147479948" r:id="rId22"/>
    <p:sldId id="261" r:id="rId23"/>
    <p:sldId id="2147480002" r:id="rId24"/>
    <p:sldId id="277" r:id="rId25"/>
    <p:sldId id="278" r:id="rId26"/>
    <p:sldId id="2147479994" r:id="rId27"/>
    <p:sldId id="2147479996" r:id="rId28"/>
    <p:sldId id="285" r:id="rId29"/>
    <p:sldId id="2147479995" r:id="rId30"/>
    <p:sldId id="286" r:id="rId31"/>
    <p:sldId id="2147479960" r:id="rId32"/>
    <p:sldId id="263" r:id="rId33"/>
    <p:sldId id="2147480003" r:id="rId34"/>
    <p:sldId id="275" r:id="rId35"/>
    <p:sldId id="2147479949" r:id="rId36"/>
    <p:sldId id="2147479990" r:id="rId37"/>
    <p:sldId id="2147479973" r:id="rId38"/>
    <p:sldId id="2147479974" r:id="rId39"/>
    <p:sldId id="2147479957" r:id="rId40"/>
    <p:sldId id="272" r:id="rId41"/>
    <p:sldId id="2147479984" r:id="rId42"/>
    <p:sldId id="2147479977" r:id="rId43"/>
    <p:sldId id="2147479978" r:id="rId44"/>
    <p:sldId id="2147479992" r:id="rId45"/>
    <p:sldId id="2147479991" r:id="rId46"/>
    <p:sldId id="2147479959" r:id="rId47"/>
    <p:sldId id="2147479993" r:id="rId48"/>
    <p:sldId id="2147479968" r:id="rId49"/>
    <p:sldId id="279" r:id="rId50"/>
    <p:sldId id="280" r:id="rId51"/>
    <p:sldId id="281" r:id="rId52"/>
    <p:sldId id="2147479999" r:id="rId53"/>
    <p:sldId id="2147480000" r:id="rId54"/>
    <p:sldId id="2147480001" r:id="rId55"/>
    <p:sldId id="2147479776"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106B37B-E629-8247-A53F-53A9397BE13B}">
          <p14:sldIdLst>
            <p14:sldId id="2735"/>
          </p14:sldIdLst>
        </p14:section>
        <p14:section name="Default Section" id="{10D93067-51E5-7548-980D-BF589F3DDB4A}">
          <p14:sldIdLst>
            <p14:sldId id="575"/>
            <p14:sldId id="2147479988"/>
            <p14:sldId id="3469"/>
            <p14:sldId id="3456"/>
            <p14:sldId id="3459"/>
            <p14:sldId id="3407"/>
            <p14:sldId id="3452"/>
            <p14:sldId id="3408"/>
            <p14:sldId id="3411"/>
            <p14:sldId id="3458"/>
            <p14:sldId id="3445"/>
            <p14:sldId id="3476"/>
            <p14:sldId id="3477"/>
            <p14:sldId id="3449"/>
            <p14:sldId id="2147479945"/>
            <p14:sldId id="2147479951"/>
            <p14:sldId id="2147479989"/>
          </p14:sldIdLst>
        </p14:section>
        <p14:section name="Main Slide Layouts" id="{54EEB197-12CA-EF49-B4C4-9F0D1A644478}">
          <p14:sldIdLst>
            <p14:sldId id="2147479948"/>
            <p14:sldId id="261"/>
            <p14:sldId id="2147480002"/>
            <p14:sldId id="277"/>
            <p14:sldId id="278"/>
            <p14:sldId id="2147479994"/>
            <p14:sldId id="2147479996"/>
            <p14:sldId id="285"/>
            <p14:sldId id="2147479995"/>
            <p14:sldId id="286"/>
            <p14:sldId id="2147479960"/>
            <p14:sldId id="263"/>
            <p14:sldId id="2147480003"/>
            <p14:sldId id="275"/>
            <p14:sldId id="2147479949"/>
            <p14:sldId id="2147479990"/>
            <p14:sldId id="2147479973"/>
            <p14:sldId id="2147479974"/>
            <p14:sldId id="2147479957"/>
            <p14:sldId id="272"/>
            <p14:sldId id="2147479984"/>
            <p14:sldId id="2147479977"/>
            <p14:sldId id="2147479978"/>
            <p14:sldId id="2147479992"/>
            <p14:sldId id="2147479991"/>
            <p14:sldId id="2147479959"/>
            <p14:sldId id="2147479993"/>
            <p14:sldId id="2147479968"/>
            <p14:sldId id="279"/>
            <p14:sldId id="280"/>
            <p14:sldId id="281"/>
            <p14:sldId id="2147479999"/>
            <p14:sldId id="2147480000"/>
            <p14:sldId id="2147480001"/>
            <p14:sldId id="2147479776"/>
          </p14:sldIdLst>
        </p14:section>
        <p14:section name="Main Slide Layouts" id="{B5AC7A25-30D3-B746-A28C-D272C5E1855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50C6EB-9A69-A5A2-AC2E-0E111777E240}" name="Verguet, Stéphane" initials="SV" userId="S::verguet@hsph.harvard.edu::df35d26a-4906-4d1b-8e79-7ecad4eec6b6" providerId="AD"/>
  <p188:author id="{58A478EE-FDFC-375E-D8C5-B0035DE76745}" name="Zili Huang" initials="ZLH" userId="Zili Huang" providerId="None"/>
</p188: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34" autoAdjust="0"/>
    <p:restoredTop sz="88227" autoAdjust="0"/>
  </p:normalViewPr>
  <p:slideViewPr>
    <p:cSldViewPr>
      <p:cViewPr varScale="1">
        <p:scale>
          <a:sx n="69" d="100"/>
          <a:sy n="69" d="100"/>
        </p:scale>
        <p:origin x="1325" y="72"/>
      </p:cViewPr>
      <p:guideLst>
        <p:guide orient="horz" pos="2160"/>
        <p:guide pos="2880"/>
      </p:guideLst>
    </p:cSldViewPr>
  </p:slideViewPr>
  <p:outlineViewPr>
    <p:cViewPr>
      <p:scale>
        <a:sx n="33" d="100"/>
        <a:sy n="33" d="100"/>
      </p:scale>
      <p:origin x="0" y="-28864"/>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handoutMaster" Target="handoutMasters/handoutMaster1.xml"/><Relationship Id="rId5" Type="http://schemas.openxmlformats.org/officeDocument/2006/relationships/slide" Target="slides/slide2.xml"/><Relationship Id="rId61"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microsoft.com/office/2018/10/relationships/authors" Target="author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notesMaster" Target="notesMasters/notesMaster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 Garcia" userId="52698913-8803-44d0-b81a-d207944fdb38" providerId="ADAL" clId="{2E18606C-B16D-48DE-A10F-40DC70145920}"/>
    <pc:docChg chg="custSel modSld">
      <pc:chgData name="William R Garcia" userId="52698913-8803-44d0-b81a-d207944fdb38" providerId="ADAL" clId="{2E18606C-B16D-48DE-A10F-40DC70145920}" dt="2026-08-31T13:24:07.953" v="5" actId="1076"/>
      <pc:docMkLst>
        <pc:docMk/>
      </pc:docMkLst>
      <pc:sldChg chg="addSp delSp modSp mod">
        <pc:chgData name="William R Garcia" userId="52698913-8803-44d0-b81a-d207944fdb38" providerId="ADAL" clId="{2E18606C-B16D-48DE-A10F-40DC70145920}" dt="2026-08-31T13:24:07.953" v="5" actId="1076"/>
        <pc:sldMkLst>
          <pc:docMk/>
          <pc:sldMk cId="2947682284" sldId="286"/>
        </pc:sldMkLst>
        <pc:picChg chg="add mod">
          <ac:chgData name="William R Garcia" userId="52698913-8803-44d0-b81a-d207944fdb38" providerId="ADAL" clId="{2E18606C-B16D-48DE-A10F-40DC70145920}" dt="2026-08-31T13:24:07.953" v="5" actId="1076"/>
          <ac:picMkLst>
            <pc:docMk/>
            <pc:sldMk cId="2947682284" sldId="286"/>
            <ac:picMk id="4" creationId="{36474A3A-7735-1319-49AF-5E7FAC02A749}"/>
          </ac:picMkLst>
        </pc:picChg>
        <pc:picChg chg="del">
          <ac:chgData name="William R Garcia" userId="52698913-8803-44d0-b81a-d207944fdb38" providerId="ADAL" clId="{2E18606C-B16D-48DE-A10F-40DC70145920}" dt="2026-08-31T13:24:04.258" v="3" actId="478"/>
          <ac:picMkLst>
            <pc:docMk/>
            <pc:sldMk cId="2947682284" sldId="286"/>
            <ac:picMk id="15" creationId="{8CB5D5DC-1698-0D56-A35B-3BA9057A1DB7}"/>
          </ac:picMkLst>
        </pc:picChg>
      </pc:sldChg>
      <pc:sldChg chg="modSp mod">
        <pc:chgData name="William R Garcia" userId="52698913-8803-44d0-b81a-d207944fdb38" providerId="ADAL" clId="{2E18606C-B16D-48DE-A10F-40DC70145920}" dt="2026-08-31T13:22:59.034" v="2" actId="20577"/>
        <pc:sldMkLst>
          <pc:docMk/>
          <pc:sldMk cId="3837641039" sldId="2147479994"/>
        </pc:sldMkLst>
        <pc:graphicFrameChg chg="modGraphic">
          <ac:chgData name="William R Garcia" userId="52698913-8803-44d0-b81a-d207944fdb38" providerId="ADAL" clId="{2E18606C-B16D-48DE-A10F-40DC70145920}" dt="2026-08-31T13:22:59.034" v="2" actId="20577"/>
          <ac:graphicFrameMkLst>
            <pc:docMk/>
            <pc:sldMk cId="3837641039" sldId="2147479994"/>
            <ac:graphicFrameMk id="6" creationId="{0DB3C8C5-B68C-37A2-89CC-434C13C36273}"/>
          </ac:graphicFrameMkLst>
        </pc:graphicFrameChg>
      </pc:sldChg>
    </pc:docChg>
  </pc:docChgLst>
</pc:chgInfo>
</file>

<file path=ppt/comments/modernComment_7FFFF1C3_58CEF50D.xml><?xml version="1.0" encoding="utf-8"?>
<p188:cmLst xmlns:a="http://schemas.openxmlformats.org/drawingml/2006/main" xmlns:r="http://schemas.openxmlformats.org/officeDocument/2006/relationships" xmlns:p188="http://schemas.microsoft.com/office/powerpoint/2018/8/main">
  <p188:cm id="{4FC01D6C-0588-6649-BF42-7900660D8EFD}" authorId="{6A50C6EB-9A69-A5A2-AC2E-0E111777E240}" created="2026-08-30T03:48:37.802">
    <pc:sldMkLst xmlns:pc="http://schemas.microsoft.com/office/powerpoint/2013/main/command">
      <pc:docMk/>
      <pc:sldMk cId="0" sldId="275"/>
    </pc:sldMkLst>
    <p188:txBody>
      <a:bodyPr/>
      <a:lstStyle/>
      <a:p>
        <a:r>
          <a:rPr lang="en-US"/>
          <a:t>Note text is jargonesque.</a:t>
        </a:r>
      </a:p>
    </p188:txBody>
  </p188:cm>
</p188:cmLst>
</file>

<file path=ppt/comments/modernComment_113_0.xml><?xml version="1.0" encoding="utf-8"?>
<p188:cmLst xmlns:a="http://schemas.openxmlformats.org/drawingml/2006/main" xmlns:r="http://schemas.openxmlformats.org/officeDocument/2006/relationships" xmlns:p188="http://schemas.microsoft.com/office/powerpoint/2018/8/main">
  <p188:cm id="{315C1F4A-7B5A-DA47-B975-D32EB66BA1AE}" authorId="{6A50C6EB-9A69-A5A2-AC2E-0E111777E240}" created="2026-08-30T03:48:37.802">
    <pc:sldMkLst xmlns:pc="http://schemas.microsoft.com/office/powerpoint/2013/main/command">
      <pc:docMk/>
      <pc:sldMk cId="0" sldId="275"/>
    </pc:sldMkLst>
    <p188:txBody>
      <a:bodyPr/>
      <a:lstStyle/>
      <a:p>
        <a:r>
          <a:rPr lang="en-US"/>
          <a:t>Note text is jargonesque.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EA30549-7F29-CA4D-93AA-69646196AA63}" type="datetimeFigureOut">
              <a:rPr lang="en-US" smtClean="0"/>
              <a:t>8/31/2026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FC5DE9-4285-2247-8BA1-6B8C6F41A2E7}" type="slidenum">
              <a:rPr lang="en-US" smtClean="0"/>
              <a:t>‹#›</a:t>
            </a:fld>
            <a:endParaRPr lang="en-US"/>
          </a:p>
        </p:txBody>
      </p:sp>
    </p:spTree>
    <p:extLst>
      <p:ext uri="{BB962C8B-B14F-4D97-AF65-F5344CB8AC3E}">
        <p14:creationId xmlns:p14="http://schemas.microsoft.com/office/powerpoint/2010/main" val="40522208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EE365E-8A78-466B-ACF3-8065AF63298D}" type="datetimeFigureOut">
              <a:rPr lang="en-US" smtClean="0"/>
              <a:t>8/31/2026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94D408-F7C3-43C6-9E12-CBD333D67CD8}" type="slidenum">
              <a:rPr lang="en-US" smtClean="0"/>
              <a:t>‹#›</a:t>
            </a:fld>
            <a:endParaRPr lang="en-US"/>
          </a:p>
        </p:txBody>
      </p:sp>
    </p:spTree>
    <p:extLst>
      <p:ext uri="{BB962C8B-B14F-4D97-AF65-F5344CB8AC3E}">
        <p14:creationId xmlns:p14="http://schemas.microsoft.com/office/powerpoint/2010/main" val="2915108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digital.car.chula.ac.th/chulaetd/4889/"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1</a:t>
            </a:fld>
            <a:endParaRPr lang="en-US"/>
          </a:p>
        </p:txBody>
      </p:sp>
    </p:spTree>
    <p:extLst>
      <p:ext uri="{BB962C8B-B14F-4D97-AF65-F5344CB8AC3E}">
        <p14:creationId xmlns:p14="http://schemas.microsoft.com/office/powerpoint/2010/main" val="2312547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6B9BF1-E6D4-2740-8E1D-E4C82134E02A}" type="slidenum">
              <a:rPr lang="en-US" smtClean="0"/>
              <a:t>9</a:t>
            </a:fld>
            <a:endParaRPr lang="en-US"/>
          </a:p>
        </p:txBody>
      </p:sp>
    </p:spTree>
    <p:extLst>
      <p:ext uri="{BB962C8B-B14F-4D97-AF65-F5344CB8AC3E}">
        <p14:creationId xmlns:p14="http://schemas.microsoft.com/office/powerpoint/2010/main" val="159868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2400" i="0" dirty="0">
                    <a:effectLst/>
                    <a:latin typeface="Times"/>
                  </a:rPr>
                  <a:t>v increases with </a:t>
                </a:r>
                <a:r>
                  <a:rPr lang="el-GR" sz="2400" i="0" dirty="0">
                    <a:effectLst/>
                    <a:latin typeface="Helvetica" pitchFamily="2" charset="0"/>
                  </a:rPr>
                  <a:t>δ</a:t>
                </a:r>
                <a:r>
                  <a:rPr lang="en-US" sz="2400" i="0" dirty="0" err="1">
                    <a:effectLst/>
                    <a:latin typeface="Helvetica" pitchFamily="2" charset="0"/>
                  </a:rPr>
                  <a:t>c,ℱ</a:t>
                </a:r>
                <a:r>
                  <a:rPr lang="en-US" sz="2400" i="0" dirty="0">
                    <a:effectLst/>
                    <a:latin typeface="Helvetica" pitchFamily="2" charset="0"/>
                  </a:rPr>
                  <a:t> </a:t>
                </a:r>
                <a:r>
                  <a:rPr lang="en-US" sz="2400" i="0" dirty="0">
                    <a:effectLst/>
                    <a:latin typeface="Times"/>
                  </a:rPr>
                  <a:t>and its marginal rate of increase decreases with </a:t>
                </a:r>
                <a:r>
                  <a:rPr lang="el-GR" sz="2400" i="0" dirty="0">
                    <a:effectLst/>
                    <a:latin typeface="Helvetica" pitchFamily="2" charset="0"/>
                  </a:rPr>
                  <a:t>δ</a:t>
                </a:r>
                <a:r>
                  <a:rPr lang="en-US" sz="2400" i="0" dirty="0" err="1">
                    <a:effectLst/>
                    <a:latin typeface="Helvetica" pitchFamily="2" charset="0"/>
                  </a:rPr>
                  <a:t>c,ℱ</a:t>
                </a:r>
                <a:r>
                  <a:rPr lang="en-US" sz="2400" i="0" dirty="0">
                    <a:effectLst/>
                    <a:latin typeface="Times"/>
                  </a:rPr>
                  <a:t>. That is, as avoidable mortality becomes greater, each additional reduction in the mortality risk would have a smaller economic value</a:t>
                </a:r>
              </a:p>
              <a:p>
                <a:pPr algn="l"/>
                <a:endParaRPr lang="en-US" sz="4400" b="1" dirty="0"/>
              </a:p>
              <a:p>
                <a:endParaRPr lang="en-US" dirty="0"/>
              </a:p>
            </p:txBody>
          </p:sp>
        </mc:Choice>
        <mc:Fallback xmlns="">
          <p:sp>
            <p:nvSpPr>
              <p:cNvPr id="3" name="Notes Placeholder 2"/>
              <p:cNvSpPr>
                <a:spLocks noGrp="1"/>
              </p:cNvSpPr>
              <p:nvPr>
                <p:ph type="body" idx="1"/>
              </p:nvPr>
            </p:nvSpPr>
            <p:spPr/>
            <p:txBody>
              <a:bodyPr/>
              <a:lstStyle/>
              <a:p>
                <a:pPr marL="571357" indent="-571357">
                  <a:buFont typeface="Arial" panose="020B0604020202020204" pitchFamily="34" charset="0"/>
                  <a:buChar char="•"/>
                </a:pPr>
                <a:r>
                  <a:rPr lang="en-US" sz="4799" dirty="0">
                    <a:latin typeface="Garamond" panose="02020404030301010803" pitchFamily="18" charset="0"/>
                  </a:rPr>
                  <a:t>We approximate the trade-off relation between income and mortality</a:t>
                </a:r>
              </a:p>
              <a:p>
                <a:pPr marL="1485529" lvl="1" indent="-571357">
                  <a:buFont typeface="Arial" panose="020B0604020202020204" pitchFamily="34" charset="0"/>
                  <a:buChar char="•"/>
                </a:pPr>
                <a:r>
                  <a:rPr lang="en-US" sz="4799" dirty="0">
                    <a:latin typeface="Garamond" panose="02020404030301010803" pitchFamily="18" charset="0"/>
                  </a:rPr>
                  <a:t>Linear: </a:t>
                </a:r>
              </a:p>
              <a:p>
                <a:pPr marL="1485529" lvl="1" indent="-571357">
                  <a:buFont typeface="Arial" panose="020B0604020202020204" pitchFamily="34" charset="0"/>
                  <a:buChar char="•"/>
                </a:pPr>
                <a:r>
                  <a:rPr lang="en-US" sz="4799" dirty="0">
                    <a:solidFill>
                      <a:srgbClr val="972D15"/>
                    </a:solidFill>
                    <a:latin typeface="Garamond" panose="02020404030301010803" pitchFamily="18" charset="0"/>
                  </a:rPr>
                  <a:t>Exponential decay: </a:t>
                </a:r>
                <a:r>
                  <a:rPr lang="pt-BR" sz="4799" i="0">
                    <a:solidFill>
                      <a:srgbClr val="972D15"/>
                    </a:solidFill>
                    <a:latin typeface="Cambria Math" panose="02040503050406030204" pitchFamily="18" charset="0"/>
                  </a:rPr>
                  <a:t>𝑒^(−𝑓(Δ))</a:t>
                </a:r>
                <a:r>
                  <a:rPr lang="en-US" sz="4799" dirty="0">
                    <a:solidFill>
                      <a:srgbClr val="C00000"/>
                    </a:solidFill>
                    <a:latin typeface="Garamond" panose="02020404030301010803" pitchFamily="18" charset="0"/>
                  </a:rPr>
                  <a:t> </a:t>
                </a:r>
              </a:p>
              <a:p>
                <a:pPr marL="1485529" lvl="1" indent="-571357">
                  <a:buFont typeface="Arial" panose="020B0604020202020204" pitchFamily="34" charset="0"/>
                  <a:buChar char="•"/>
                </a:pPr>
                <a:r>
                  <a:rPr lang="en-US" sz="4799" dirty="0">
                    <a:solidFill>
                      <a:srgbClr val="02401B"/>
                    </a:solidFill>
                    <a:latin typeface="Garamond" panose="02020404030301010803" pitchFamily="18" charset="0"/>
                  </a:rPr>
                  <a:t>Hyperbolic decay: </a:t>
                </a:r>
                <a:r>
                  <a:rPr lang="en-US" sz="4799" i="0">
                    <a:solidFill>
                      <a:srgbClr val="02401B"/>
                    </a:solidFill>
                    <a:latin typeface="Cambria Math" panose="02040503050406030204" pitchFamily="18" charset="0"/>
                  </a:rPr>
                  <a:t>□(64&amp;</a:t>
                </a:r>
                <a:r>
                  <a:rPr lang="pt-BR" sz="4799" i="0">
                    <a:solidFill>
                      <a:srgbClr val="02401B"/>
                    </a:solidFill>
                    <a:latin typeface="Cambria Math" panose="02040503050406030204" pitchFamily="18" charset="0"/>
                  </a:rPr>
                  <a:t>1</a:t>
                </a:r>
                <a:r>
                  <a:rPr lang="en-US" sz="4799" i="0">
                    <a:solidFill>
                      <a:srgbClr val="02401B"/>
                    </a:solidFill>
                    <a:latin typeface="Cambria Math" panose="02040503050406030204" pitchFamily="18" charset="0"/>
                  </a:rPr>
                  <a:t>/(</a:t>
                </a:r>
                <a:r>
                  <a:rPr lang="pt-BR" sz="4799" i="0">
                    <a:solidFill>
                      <a:srgbClr val="02401B"/>
                    </a:solidFill>
                    <a:latin typeface="Cambria Math" panose="02040503050406030204" pitchFamily="18" charset="0"/>
                  </a:rPr>
                  <a:t>1+𝑓(Δ)</a:t>
                </a:r>
                <a:r>
                  <a:rPr lang="en-US" sz="4799" i="0">
                    <a:solidFill>
                      <a:srgbClr val="02401B"/>
                    </a:solidFill>
                    <a:latin typeface="Cambria Math" panose="02040503050406030204" pitchFamily="18" charset="0"/>
                  </a:rPr>
                  <a:t>)</a:t>
                </a:r>
                <a:r>
                  <a:rPr lang="pt-BR" sz="4799" i="0">
                    <a:solidFill>
                      <a:srgbClr val="02401B"/>
                    </a:solidFill>
                    <a:latin typeface="Cambria Math" panose="02040503050406030204" pitchFamily="18" charset="0"/>
                  </a:rPr>
                  <a:t>)</a:t>
                </a:r>
                <a:endParaRPr lang="en-US" sz="4799" dirty="0">
                  <a:solidFill>
                    <a:schemeClr val="accent1">
                      <a:lumMod val="75000"/>
                    </a:schemeClr>
                  </a:solidFill>
                  <a:latin typeface="Garamond" panose="02020404030301010803" pitchFamily="18" charset="0"/>
                </a:endParaRPr>
              </a:p>
              <a:p>
                <a:pPr marL="571357" indent="-571357">
                  <a:buFont typeface="Arial" panose="020B0604020202020204" pitchFamily="34" charset="0"/>
                  <a:buChar char="•"/>
                </a:pPr>
                <a:endParaRPr lang="en-US" sz="4799" dirty="0">
                  <a:latin typeface="Garamond" panose="02020404030301010803" pitchFamily="18" charset="0"/>
                </a:endParaRPr>
              </a:p>
              <a:p>
                <a:pPr marL="571357" indent="-571357">
                  <a:buFont typeface="Arial" panose="020B0604020202020204" pitchFamily="34" charset="0"/>
                  <a:buChar char="•"/>
                </a:pPr>
                <a:r>
                  <a:rPr lang="en-US" sz="4799" dirty="0">
                    <a:latin typeface="Garamond" panose="02020404030301010803" pitchFamily="18" charset="0"/>
                  </a:rPr>
                  <a:t>In doing so, we respect natural income/resource constraints</a:t>
                </a:r>
              </a:p>
              <a:p>
                <a:pPr marL="571357" indent="-571357">
                  <a:buFont typeface="Arial" panose="020B0604020202020204" pitchFamily="34" charset="0"/>
                  <a:buChar char="•"/>
                </a:pPr>
                <a:endParaRPr lang="en-US" sz="4799" dirty="0">
                  <a:latin typeface="Garamond" panose="02020404030301010803" pitchFamily="18" charset="0"/>
                </a:endParaRPr>
              </a:p>
              <a:p>
                <a:pPr marL="571357" indent="-571357">
                  <a:buFont typeface="Arial" panose="020B0604020202020204" pitchFamily="34" charset="0"/>
                  <a:buChar char="•"/>
                </a:pPr>
                <a:r>
                  <a:rPr lang="en-US" sz="4799" dirty="0">
                    <a:latin typeface="Garamond" panose="02020404030301010803" pitchFamily="18" charset="0"/>
                  </a:rPr>
                  <a:t>Approximations are calibrated using empirical estimates of the VSMU (VSL) and risk aversion</a:t>
                </a:r>
              </a:p>
              <a:p>
                <a:endParaRPr lang="en-US" dirty="0"/>
              </a:p>
            </p:txBody>
          </p:sp>
        </mc:Fallback>
      </mc:AlternateContent>
      <p:sp>
        <p:nvSpPr>
          <p:cNvPr id="4" name="Slide Number Placeholder 3"/>
          <p:cNvSpPr>
            <a:spLocks noGrp="1"/>
          </p:cNvSpPr>
          <p:nvPr>
            <p:ph type="sldNum" sz="quarter" idx="5"/>
          </p:nvPr>
        </p:nvSpPr>
        <p:spPr/>
        <p:txBody>
          <a:bodyPr/>
          <a:lstStyle/>
          <a:p>
            <a:fld id="{3C6B9BF1-E6D4-2740-8E1D-E4C82134E02A}" type="slidenum">
              <a:rPr lang="en-US" smtClean="0"/>
              <a:t>11</a:t>
            </a:fld>
            <a:endParaRPr lang="en-US"/>
          </a:p>
        </p:txBody>
      </p:sp>
    </p:spTree>
    <p:extLst>
      <p:ext uri="{BB962C8B-B14F-4D97-AF65-F5344CB8AC3E}">
        <p14:creationId xmlns:p14="http://schemas.microsoft.com/office/powerpoint/2010/main" val="1976253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mention the future that is 2050.</a:t>
            </a:r>
          </a:p>
        </p:txBody>
      </p:sp>
      <p:sp>
        <p:nvSpPr>
          <p:cNvPr id="4" name="Slide Number Placeholder 3"/>
          <p:cNvSpPr>
            <a:spLocks noGrp="1"/>
          </p:cNvSpPr>
          <p:nvPr>
            <p:ph type="sldNum" sz="quarter" idx="5"/>
          </p:nvPr>
        </p:nvSpPr>
        <p:spPr/>
        <p:txBody>
          <a:bodyPr/>
          <a:lstStyle/>
          <a:p>
            <a:fld id="{3C6B9BF1-E6D4-2740-8E1D-E4C82134E02A}" type="slidenum">
              <a:rPr lang="en-US" smtClean="0"/>
              <a:t>12</a:t>
            </a:fld>
            <a:endParaRPr lang="en-US"/>
          </a:p>
        </p:txBody>
      </p:sp>
    </p:spTree>
    <p:extLst>
      <p:ext uri="{BB962C8B-B14F-4D97-AF65-F5344CB8AC3E}">
        <p14:creationId xmlns:p14="http://schemas.microsoft.com/office/powerpoint/2010/main" val="680668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6B9BF1-E6D4-2740-8E1D-E4C82134E02A}" type="slidenum">
              <a:rPr lang="en-US" smtClean="0"/>
              <a:t>13</a:t>
            </a:fld>
            <a:endParaRPr lang="en-US"/>
          </a:p>
        </p:txBody>
      </p:sp>
    </p:spTree>
    <p:extLst>
      <p:ext uri="{BB962C8B-B14F-4D97-AF65-F5344CB8AC3E}">
        <p14:creationId xmlns:p14="http://schemas.microsoft.com/office/powerpoint/2010/main" val="394193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effectLst/>
                <a:latin typeface="Times"/>
              </a:rPr>
              <a:t>The economic value of reducing cardiovascular disease avoidable mortality would be large for both sexes in all regions, reaching 2–8% of annual income in 2019. </a:t>
            </a:r>
          </a:p>
          <a:p>
            <a:r>
              <a:rPr lang="en-US" i="0" dirty="0">
                <a:effectLst/>
                <a:latin typeface="Times"/>
              </a:rPr>
              <a:t>LAM: 3.1% and 4.6% (2019); 4.1% and 6.1% (2050)</a:t>
            </a:r>
            <a:endParaRPr lang="en-US" i="0" dirty="0"/>
          </a:p>
        </p:txBody>
      </p:sp>
      <p:sp>
        <p:nvSpPr>
          <p:cNvPr id="4" name="Slide Number Placeholder 3"/>
          <p:cNvSpPr>
            <a:spLocks noGrp="1"/>
          </p:cNvSpPr>
          <p:nvPr>
            <p:ph type="sldNum" sz="quarter" idx="5"/>
          </p:nvPr>
        </p:nvSpPr>
        <p:spPr/>
        <p:txBody>
          <a:bodyPr/>
          <a:lstStyle/>
          <a:p>
            <a:fld id="{3C6B9BF1-E6D4-2740-8E1D-E4C82134E02A}" type="slidenum">
              <a:rPr lang="en-US" smtClean="0"/>
              <a:t>14</a:t>
            </a:fld>
            <a:endParaRPr lang="en-US"/>
          </a:p>
        </p:txBody>
      </p:sp>
    </p:spTree>
    <p:extLst>
      <p:ext uri="{BB962C8B-B14F-4D97-AF65-F5344CB8AC3E}">
        <p14:creationId xmlns:p14="http://schemas.microsoft.com/office/powerpoint/2010/main" val="897731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15</a:t>
            </a:fld>
            <a:endParaRPr lang="en-US"/>
          </a:p>
        </p:txBody>
      </p:sp>
    </p:spTree>
    <p:extLst>
      <p:ext uri="{BB962C8B-B14F-4D97-AF65-F5344CB8AC3E}">
        <p14:creationId xmlns:p14="http://schemas.microsoft.com/office/powerpoint/2010/main" val="4096688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Calibri" panose="020F0502020204030204" pitchFamily="34" charset="0"/>
              <a:ea typeface="Times New Roman" panose="02020603050405020304" pitchFamily="18" charset="0"/>
              <a:cs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16</a:t>
            </a:fld>
            <a:endParaRPr lang="en-US"/>
          </a:p>
        </p:txBody>
      </p:sp>
    </p:spTree>
    <p:extLst>
      <p:ext uri="{BB962C8B-B14F-4D97-AF65-F5344CB8AC3E}">
        <p14:creationId xmlns:p14="http://schemas.microsoft.com/office/powerpoint/2010/main" val="2459303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22041-8491-C634-B33E-86C4554AF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19FF2-3C50-DDA9-5B27-C8BD7A5D9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91A613-A621-61A1-9888-5DBC8FD400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CAC7C8-F470-E45F-3F77-0AF4EB898C99}"/>
              </a:ext>
            </a:extLst>
          </p:cNvPr>
          <p:cNvSpPr>
            <a:spLocks noGrp="1"/>
          </p:cNvSpPr>
          <p:nvPr>
            <p:ph type="sldNum" sz="quarter" idx="5"/>
          </p:nvPr>
        </p:nvSpPr>
        <p:spPr/>
        <p:txBody>
          <a:bodyPr/>
          <a:lstStyle/>
          <a:p>
            <a:fld id="{CD94D408-F7C3-43C6-9E12-CBD333D67CD8}" type="slidenum">
              <a:rPr lang="en-US" smtClean="0"/>
              <a:t>17</a:t>
            </a:fld>
            <a:endParaRPr lang="en-US"/>
          </a:p>
        </p:txBody>
      </p:sp>
    </p:spTree>
    <p:extLst>
      <p:ext uri="{BB962C8B-B14F-4D97-AF65-F5344CB8AC3E}">
        <p14:creationId xmlns:p14="http://schemas.microsoft.com/office/powerpoint/2010/main" val="2232388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A1FEB-4C2E-21EE-EBD1-1FB39B13C7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F95898-6BF4-34C3-B3BC-E399FE3341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C4D610-C263-1E77-D1A9-9B6F0F5DD33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F5BB432-E483-FDE7-CA4C-E755CF009E3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61244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2B7F2-5DFE-8149-5CFC-41EDAB5E5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C10008-DCAE-1F34-087C-06DD3CC713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B2A30E-8DE1-813B-2CFD-2F05F682181E}"/>
              </a:ext>
            </a:extLst>
          </p:cNvPr>
          <p:cNvSpPr>
            <a:spLocks noGrp="1"/>
          </p:cNvSpPr>
          <p:nvPr>
            <p:ph type="body" idx="1"/>
          </p:nvPr>
        </p:nvSpPr>
        <p:spPr/>
        <p:txBody>
          <a:bodyPr/>
          <a:lstStyle/>
          <a:p>
            <a:r>
              <a:rPr lang="en-US" dirty="0"/>
              <a:t>70-70-70</a:t>
            </a:r>
          </a:p>
          <a:p>
            <a:r>
              <a:rPr lang="en-US" dirty="0"/>
              <a:t>Tobacco control</a:t>
            </a:r>
          </a:p>
          <a:p>
            <a:r>
              <a:rPr lang="en-US" dirty="0"/>
              <a:t>All other </a:t>
            </a:r>
            <a:r>
              <a:rPr lang="en-US"/>
              <a:t>interventions modeled</a:t>
            </a:r>
          </a:p>
        </p:txBody>
      </p:sp>
      <p:sp>
        <p:nvSpPr>
          <p:cNvPr id="4" name="Slide Number Placeholder 3">
            <a:extLst>
              <a:ext uri="{FF2B5EF4-FFF2-40B4-BE49-F238E27FC236}">
                <a16:creationId xmlns:a16="http://schemas.microsoft.com/office/drawing/2014/main" id="{D6BBA9D1-39B6-55CC-65F7-95DBFAD0B55D}"/>
              </a:ext>
            </a:extLst>
          </p:cNvPr>
          <p:cNvSpPr>
            <a:spLocks noGrp="1"/>
          </p:cNvSpPr>
          <p:nvPr>
            <p:ph type="sldNum" sz="quarter" idx="5"/>
          </p:nvPr>
        </p:nvSpPr>
        <p:spPr/>
        <p:txBody>
          <a:bodyPr/>
          <a:lstStyle/>
          <a:p>
            <a:fld id="{CD94D408-F7C3-43C6-9E12-CBD333D67CD8}" type="slidenum">
              <a:rPr lang="en-US" smtClean="0"/>
              <a:t>31</a:t>
            </a:fld>
            <a:endParaRPr lang="en-US"/>
          </a:p>
        </p:txBody>
      </p:sp>
    </p:spTree>
    <p:extLst>
      <p:ext uri="{BB962C8B-B14F-4D97-AF65-F5344CB8AC3E}">
        <p14:creationId xmlns:p14="http://schemas.microsoft.com/office/powerpoint/2010/main" val="1884910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32</a:t>
            </a:fld>
            <a:endParaRPr lang="en-US"/>
          </a:p>
        </p:txBody>
      </p:sp>
    </p:spTree>
    <p:extLst>
      <p:ext uri="{BB962C8B-B14F-4D97-AF65-F5344CB8AC3E}">
        <p14:creationId xmlns:p14="http://schemas.microsoft.com/office/powerpoint/2010/main" val="11620195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US" dirty="0" err="1">
                <a:effectLst/>
              </a:rPr>
              <a:t>η_q</a:t>
            </a:r>
            <a:r>
              <a:rPr lang="en-US" dirty="0"/>
              <a:t>​=</a:t>
            </a:r>
            <a:r>
              <a:rPr lang="en-US" dirty="0" err="1"/>
              <a:t>d_</a:t>
            </a:r>
            <a:r>
              <a:rPr lang="en-US" dirty="0" err="1">
                <a:effectLst/>
              </a:rPr>
              <a:t>q</a:t>
            </a:r>
            <a:r>
              <a:rPr lang="en-US" dirty="0"/>
              <a:t>​×(1−</a:t>
            </a:r>
            <a:r>
              <a:rPr lang="en-US" dirty="0">
                <a:effectLst/>
              </a:rPr>
              <a:t>r</a:t>
            </a:r>
            <a:r>
              <a:rPr lang="en-US" dirty="0"/>
              <a:t>) </a:t>
            </a:r>
          </a:p>
          <a:p>
            <a:pPr lvl="0" rtl="0"/>
            <a:endParaRPr lang="en-US" b="1" dirty="0"/>
          </a:p>
          <a:p>
            <a:pPr lvl="0" rtl="0"/>
            <a:r>
              <a:rPr lang="en-US" b="1" dirty="0"/>
              <a:t>d:</a:t>
            </a:r>
            <a:r>
              <a:rPr lang="en-US" dirty="0"/>
              <a:t> the share of encounters where JKN was actually used, by quintile. Measured, </a:t>
            </a:r>
            <a:r>
              <a:rPr lang="en-US" dirty="0" err="1"/>
              <a:t>Susenas</a:t>
            </a:r>
            <a:r>
              <a:rPr lang="en-US" dirty="0"/>
              <a:t> March 2025: outpatient 46.8% (Q1) → 59.3% (Q5), Tabel 2.24; inpatient 79.9% → 78.2%, Tabel 2.28.</a:t>
            </a:r>
          </a:p>
          <a:p>
            <a:pPr lvl="0" rtl="0"/>
            <a:r>
              <a:rPr lang="en-US" b="1" dirty="0"/>
              <a:t>r:</a:t>
            </a:r>
            <a:r>
              <a:rPr lang="en-US" dirty="0"/>
              <a:t> the residual a household still pays even when JKN </a:t>
            </a:r>
            <a:r>
              <a:rPr lang="en-US" i="0" dirty="0"/>
              <a:t>was </a:t>
            </a:r>
            <a:r>
              <a:rPr lang="en-US" dirty="0"/>
              <a:t>used: 25% chronic, 33.6% acute (Fattah 2023).</a:t>
            </a:r>
          </a:p>
          <a:p>
            <a:endParaRPr lang="en-US" dirty="0"/>
          </a:p>
          <a:p>
            <a:r>
              <a:rPr lang="en-US" dirty="0"/>
              <a:t>Therefore, composite: ~39–40% chronic, ~54% acute. The model runs the two-state mixture (delivered → pays r; not delivered → pays full cost)</a:t>
            </a:r>
          </a:p>
        </p:txBody>
      </p:sp>
      <p:sp>
        <p:nvSpPr>
          <p:cNvPr id="4" name="Slide Number Placeholder 3"/>
          <p:cNvSpPr>
            <a:spLocks noGrp="1"/>
          </p:cNvSpPr>
          <p:nvPr>
            <p:ph type="sldNum" sz="quarter" idx="5"/>
          </p:nvPr>
        </p:nvSpPr>
        <p:spPr/>
        <p:txBody>
          <a:bodyPr/>
          <a:lstStyle/>
          <a:p>
            <a:fld id="{CD94D408-F7C3-43C6-9E12-CBD333D67CD8}" type="slidenum">
              <a:rPr lang="en-US" smtClean="0"/>
              <a:t>35</a:t>
            </a:fld>
            <a:endParaRPr lang="en-US"/>
          </a:p>
        </p:txBody>
      </p:sp>
    </p:spTree>
    <p:extLst>
      <p:ext uri="{BB962C8B-B14F-4D97-AF65-F5344CB8AC3E}">
        <p14:creationId xmlns:p14="http://schemas.microsoft.com/office/powerpoint/2010/main" val="17140322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n-lt"/>
              </a:rPr>
              <a:t>meaning how much the JKN actually takes off the household’ bill at the point of service (by design it is 100%, and whatever falls short is what the household pays).</a:t>
            </a:r>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36</a:t>
            </a:fld>
            <a:endParaRPr lang="en-US"/>
          </a:p>
        </p:txBody>
      </p:sp>
    </p:spTree>
    <p:extLst>
      <p:ext uri="{BB962C8B-B14F-4D97-AF65-F5344CB8AC3E}">
        <p14:creationId xmlns:p14="http://schemas.microsoft.com/office/powerpoint/2010/main" val="33774670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37</a:t>
            </a:fld>
            <a:endParaRPr lang="en-US"/>
          </a:p>
        </p:txBody>
      </p:sp>
    </p:spTree>
    <p:extLst>
      <p:ext uri="{BB962C8B-B14F-4D97-AF65-F5344CB8AC3E}">
        <p14:creationId xmlns:p14="http://schemas.microsoft.com/office/powerpoint/2010/main" val="27993754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Abbreviation:</a:t>
            </a:r>
          </a:p>
          <a:p>
            <a:pPr marL="285750" indent="-285750">
              <a:buFont typeface="Arial" panose="020B0604020202020204" pitchFamily="34" charset="0"/>
              <a:buChar char="•"/>
            </a:pPr>
            <a:r>
              <a:rPr lang="en-US" sz="1200" dirty="0"/>
              <a:t>INA-CBG = Indonesia Case Base Groups (disease areas); the case-mix payment system BPJS uses</a:t>
            </a:r>
          </a:p>
          <a:p>
            <a:pPr marL="285750" indent="-285750">
              <a:buFont typeface="Arial" panose="020B0604020202020204" pitchFamily="34" charset="0"/>
              <a:buChar char="•"/>
            </a:pPr>
            <a:r>
              <a:rPr lang="en-US" sz="1200" dirty="0"/>
              <a:t>DJSN =  Dewan </a:t>
            </a:r>
            <a:r>
              <a:rPr lang="en-US" sz="1200" dirty="0" err="1"/>
              <a:t>Jaminan</a:t>
            </a:r>
            <a:r>
              <a:rPr lang="en-US" sz="1200" dirty="0"/>
              <a:t> </a:t>
            </a:r>
            <a:r>
              <a:rPr lang="en-US" sz="1200" dirty="0" err="1"/>
              <a:t>Sosial</a:t>
            </a:r>
            <a:r>
              <a:rPr lang="en-US" sz="1200" dirty="0"/>
              <a:t> Nasional (National Social Security Council)</a:t>
            </a:r>
          </a:p>
          <a:p>
            <a:endParaRPr lang="en-US" dirty="0"/>
          </a:p>
          <a:p>
            <a:r>
              <a:rPr lang="en-US" sz="1200" b="0" i="0" kern="1200" dirty="0">
                <a:solidFill>
                  <a:schemeClr val="tx1"/>
                </a:solidFill>
                <a:effectLst/>
                <a:latin typeface="+mn-lt"/>
                <a:ea typeface="+mn-ea"/>
                <a:cs typeface="+mn-cs"/>
              </a:rPr>
              <a:t>INA-CBG tariffs, </a:t>
            </a:r>
            <a:r>
              <a:rPr lang="en-US" sz="1200" b="0" i="0" kern="1200" dirty="0" err="1">
                <a:solidFill>
                  <a:schemeClr val="tx1"/>
                </a:solidFill>
                <a:effectLst/>
                <a:latin typeface="+mn-lt"/>
                <a:ea typeface="+mn-ea"/>
                <a:cs typeface="+mn-cs"/>
              </a:rPr>
              <a:t>Permenkes</a:t>
            </a:r>
            <a:r>
              <a:rPr lang="en-US" sz="1200" b="0" i="0" kern="1200" dirty="0">
                <a:solidFill>
                  <a:schemeClr val="tx1"/>
                </a:solidFill>
                <a:effectLst/>
                <a:latin typeface="+mn-lt"/>
                <a:ea typeface="+mn-ea"/>
                <a:cs typeface="+mn-cs"/>
              </a:rPr>
              <a:t> 3/2023 — </a:t>
            </a:r>
            <a:r>
              <a:rPr lang="en-US" sz="1200" b="0" i="0" kern="1200" dirty="0" err="1">
                <a:solidFill>
                  <a:schemeClr val="tx1"/>
                </a:solidFill>
                <a:effectLst/>
                <a:latin typeface="+mn-lt"/>
                <a:ea typeface="+mn-ea"/>
                <a:cs typeface="+mn-cs"/>
              </a:rPr>
              <a:t>kelas</a:t>
            </a:r>
            <a:r>
              <a:rPr lang="en-US" sz="1200" b="0" i="0" kern="1200" dirty="0">
                <a:solidFill>
                  <a:schemeClr val="tx1"/>
                </a:solidFill>
                <a:effectLst/>
                <a:latin typeface="+mn-lt"/>
                <a:ea typeface="+mn-ea"/>
                <a:cs typeface="+mn-cs"/>
              </a:rPr>
              <a:t> 3, severity II, Regional 1, government class B. Event counts: BPJS sample data 2020–24; type mix from UW incidence 2023 (IHD + IS + ICH). USD at IDR 16,000.</a:t>
            </a:r>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38</a:t>
            </a:fld>
            <a:endParaRPr lang="en-US"/>
          </a:p>
        </p:txBody>
      </p:sp>
    </p:spTree>
    <p:extLst>
      <p:ext uri="{BB962C8B-B14F-4D97-AF65-F5344CB8AC3E}">
        <p14:creationId xmlns:p14="http://schemas.microsoft.com/office/powerpoint/2010/main" val="1134123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65ECA-5358-4F0F-E5A4-02C10A9B7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7799D-6AC6-F70E-5763-C2E3CCEEB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3FF62B-1D17-9BF0-5B7C-C43562AB04B9}"/>
              </a:ext>
            </a:extLst>
          </p:cNvPr>
          <p:cNvSpPr>
            <a:spLocks noGrp="1"/>
          </p:cNvSpPr>
          <p:nvPr>
            <p:ph type="body" idx="1"/>
          </p:nvPr>
        </p:nvSpPr>
        <p:spPr/>
        <p:txBody>
          <a:bodyPr/>
          <a:lstStyle/>
          <a:p>
            <a:r>
              <a:rPr lang="en-US" dirty="0"/>
              <a:t>Interpretation: </a:t>
            </a:r>
          </a:p>
          <a:p>
            <a:pPr marL="171450" indent="-171450">
              <a:buFontTx/>
              <a:buChar char="-"/>
            </a:pPr>
            <a:r>
              <a:rPr lang="en-US" dirty="0"/>
              <a:t>JKN covers 44% of the cost of chronic CVD care for the Q5. 59% of their outpatient visits were paid through JKN.</a:t>
            </a:r>
          </a:p>
          <a:p>
            <a:pPr marL="171450" indent="-171450">
              <a:buFontTx/>
              <a:buChar char="-"/>
            </a:pPr>
            <a:r>
              <a:rPr lang="en-US" dirty="0"/>
              <a:t>JKN covers 53% of the cost of a CVD hospitalization in the Q1. 80% of their CVD admissions were paid through JKN.</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1794E007-9DE2-370A-7A59-5AF7626C52D8}"/>
              </a:ext>
            </a:extLst>
          </p:cNvPr>
          <p:cNvSpPr>
            <a:spLocks noGrp="1"/>
          </p:cNvSpPr>
          <p:nvPr>
            <p:ph type="sldNum" sz="quarter" idx="5"/>
          </p:nvPr>
        </p:nvSpPr>
        <p:spPr/>
        <p:txBody>
          <a:bodyPr/>
          <a:lstStyle/>
          <a:p>
            <a:fld id="{CD94D408-F7C3-43C6-9E12-CBD333D67CD8}" type="slidenum">
              <a:rPr lang="en-US" smtClean="0"/>
              <a:t>39</a:t>
            </a:fld>
            <a:endParaRPr lang="en-US"/>
          </a:p>
        </p:txBody>
      </p:sp>
    </p:spTree>
    <p:extLst>
      <p:ext uri="{BB962C8B-B14F-4D97-AF65-F5344CB8AC3E}">
        <p14:creationId xmlns:p14="http://schemas.microsoft.com/office/powerpoint/2010/main" val="21434469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ZILI: ROUND NUMBERS EVERYWHERE IN THE FIGURE.</a:t>
            </a:r>
          </a:p>
          <a:p>
            <a:r>
              <a:rPr lang="en-US" dirty="0"/>
              <a:t>885.4 = 885</a:t>
            </a:r>
          </a:p>
          <a:p>
            <a:r>
              <a:rPr lang="en-US" dirty="0"/>
              <a:t>659.0=659</a:t>
            </a:r>
          </a:p>
          <a:p>
            <a:r>
              <a:rPr lang="en-US" dirty="0" err="1"/>
              <a:t>Etc</a:t>
            </a:r>
            <a:endParaRPr lang="en-US" dirty="0"/>
          </a:p>
          <a:p>
            <a:endParaRPr lang="en-US" dirty="0"/>
          </a:p>
          <a:p>
            <a:r>
              <a:rPr lang="en-US" dirty="0"/>
              <a:t>Same thing for the </a:t>
            </a:r>
            <a:r>
              <a:rPr lang="en-US" dirty="0" err="1"/>
              <a:t>legent</a:t>
            </a:r>
            <a:endParaRPr lang="en-US" dirty="0"/>
          </a:p>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40</a:t>
            </a:fld>
            <a:endParaRPr lang="en-US"/>
          </a:p>
        </p:txBody>
      </p:sp>
    </p:spTree>
    <p:extLst>
      <p:ext uri="{BB962C8B-B14F-4D97-AF65-F5344CB8AC3E}">
        <p14:creationId xmlns:p14="http://schemas.microsoft.com/office/powerpoint/2010/main" val="31226459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ZILI: ROUND NUMBERS EVERYWHERE IN THE FIGURE.</a:t>
            </a:r>
          </a:p>
          <a:p>
            <a:r>
              <a:rPr lang="en-US" dirty="0"/>
              <a:t>245.9 = 246</a:t>
            </a:r>
          </a:p>
          <a:p>
            <a:r>
              <a:rPr lang="en-US" dirty="0"/>
              <a:t>132.1=132</a:t>
            </a:r>
          </a:p>
          <a:p>
            <a:r>
              <a:rPr lang="en-US" dirty="0" err="1"/>
              <a:t>Etc</a:t>
            </a:r>
            <a:endParaRPr lang="en-US" dirty="0"/>
          </a:p>
          <a:p>
            <a:endParaRPr lang="en-US" dirty="0"/>
          </a:p>
          <a:p>
            <a:r>
              <a:rPr lang="en-US" dirty="0"/>
              <a:t>same thing for the legend</a:t>
            </a:r>
          </a:p>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41</a:t>
            </a:fld>
            <a:endParaRPr lang="en-US"/>
          </a:p>
        </p:txBody>
      </p:sp>
    </p:spTree>
    <p:extLst>
      <p:ext uri="{BB962C8B-B14F-4D97-AF65-F5344CB8AC3E}">
        <p14:creationId xmlns:p14="http://schemas.microsoft.com/office/powerpoint/2010/main" val="37350034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48</a:t>
            </a:fld>
            <a:endParaRPr lang="en-US"/>
          </a:p>
        </p:txBody>
      </p:sp>
    </p:spTree>
    <p:extLst>
      <p:ext uri="{BB962C8B-B14F-4D97-AF65-F5344CB8AC3E}">
        <p14:creationId xmlns:p14="http://schemas.microsoft.com/office/powerpoint/2010/main" val="34856178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u="sng" kern="1200" dirty="0">
                <a:solidFill>
                  <a:schemeClr val="tx1"/>
                </a:solidFill>
                <a:effectLst/>
                <a:latin typeface="+mn-lt"/>
                <a:ea typeface="+mn-ea"/>
                <a:cs typeface="+mn-cs"/>
                <a:hlinkClick r:id="rId3"/>
              </a:rPr>
              <a:t>https://digital.car.chula.ac.th/chulaetd/4889/</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Fauzi, R. (2021). A policy simulation impact of tobacco excise tax increase on cigarette consumption, mortality, medical treatment cost, life-years gained, and government revenue in Indonesia.</a:t>
            </a:r>
          </a:p>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49</a:t>
            </a:fld>
            <a:endParaRPr lang="en-US"/>
          </a:p>
        </p:txBody>
      </p:sp>
    </p:spTree>
    <p:extLst>
      <p:ext uri="{BB962C8B-B14F-4D97-AF65-F5344CB8AC3E}">
        <p14:creationId xmlns:p14="http://schemas.microsoft.com/office/powerpoint/2010/main" val="2021496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1435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8936742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51</a:t>
            </a:fld>
            <a:endParaRPr lang="en-US"/>
          </a:p>
        </p:txBody>
      </p:sp>
    </p:spTree>
    <p:extLst>
      <p:ext uri="{BB962C8B-B14F-4D97-AF65-F5344CB8AC3E}">
        <p14:creationId xmlns:p14="http://schemas.microsoft.com/office/powerpoint/2010/main" val="3905454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52</a:t>
            </a:fld>
            <a:endParaRPr lang="en-US"/>
          </a:p>
        </p:txBody>
      </p:sp>
    </p:spTree>
    <p:extLst>
      <p:ext uri="{BB962C8B-B14F-4D97-AF65-F5344CB8AC3E}">
        <p14:creationId xmlns:p14="http://schemas.microsoft.com/office/powerpoint/2010/main" val="3666829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362200"/>
            <a:ext cx="7772400" cy="1470025"/>
          </a:xfrm>
        </p:spPr>
        <p:txBody>
          <a:bodyPr/>
          <a:lstStyle>
            <a:lvl1pPr>
              <a:defRPr>
                <a:solidFill>
                  <a:srgbClr val="002060"/>
                </a:solidFill>
              </a:defRPr>
            </a:lvl1pPr>
          </a:lstStyle>
          <a:p>
            <a:r>
              <a:rPr lang="en-US" dirty="0"/>
              <a:t>Click to add title</a:t>
            </a:r>
          </a:p>
        </p:txBody>
      </p:sp>
      <p:sp>
        <p:nvSpPr>
          <p:cNvPr id="3" name="Subtitle 2"/>
          <p:cNvSpPr>
            <a:spLocks noGrp="1"/>
          </p:cNvSpPr>
          <p:nvPr>
            <p:ph type="subTitle" idx="1" hasCustomPrompt="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r>
              <a:rPr lang="en-US" dirty="0"/>
              <a:t>(#)</a:t>
            </a:r>
          </a:p>
        </p:txBody>
      </p:sp>
      <p:sp>
        <p:nvSpPr>
          <p:cNvPr id="11" name="Date Placeholder 3"/>
          <p:cNvSpPr>
            <a:spLocks noGrp="1"/>
          </p:cNvSpPr>
          <p:nvPr>
            <p:ph type="dt" sz="half" idx="10"/>
          </p:nvPr>
        </p:nvSpPr>
        <p:spPr>
          <a:xfrm>
            <a:off x="457200" y="6356350"/>
            <a:ext cx="2133600" cy="365125"/>
          </a:xfrm>
        </p:spPr>
        <p:txBody>
          <a:bodyPr/>
          <a:lstStyle/>
          <a:p>
            <a:fld id="{61E9FB5B-DB08-564E-B0E2-D8890D9FACEC}" type="datetime1">
              <a:rPr lang="en-US" smtClean="0"/>
              <a:t>8/31/2026</a:t>
            </a:fld>
            <a:endParaRPr lang="en-US" dirty="0"/>
          </a:p>
        </p:txBody>
      </p:sp>
    </p:spTree>
    <p:extLst>
      <p:ext uri="{BB962C8B-B14F-4D97-AF65-F5344CB8AC3E}">
        <p14:creationId xmlns:p14="http://schemas.microsoft.com/office/powerpoint/2010/main" val="1338525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87466" y="274638"/>
            <a:ext cx="5699334" cy="1143000"/>
          </a:xfrm>
        </p:spPr>
        <p:txBody>
          <a:bodyPr/>
          <a:lstStyle>
            <a:lvl1pPr algn="r">
              <a:defRPr>
                <a:solidFill>
                  <a:srgbClr val="002060"/>
                </a:solidFill>
              </a:defRPr>
            </a:lvl1pPr>
          </a:lstStyle>
          <a:p>
            <a:r>
              <a:rPr lang="en-US" dirty="0"/>
              <a:t>Click to edit title</a:t>
            </a:r>
          </a:p>
        </p:txBody>
      </p:sp>
      <p:sp>
        <p:nvSpPr>
          <p:cNvPr id="3" name="Content Placeholder 2"/>
          <p:cNvSpPr>
            <a:spLocks noGrp="1"/>
          </p:cNvSpPr>
          <p:nvPr>
            <p:ph idx="1" hasCustomPrompt="1"/>
          </p:nvPr>
        </p:nvSpPr>
        <p:spPr>
          <a:xfrm>
            <a:off x="457200" y="1905000"/>
            <a:ext cx="8229600" cy="4221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06203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9BAE-9C6B-B249-B79F-717E46436F0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8342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Header Content">
    <p:spTree>
      <p:nvGrpSpPr>
        <p:cNvPr id="1" name=""/>
        <p:cNvGrpSpPr/>
        <p:nvPr/>
      </p:nvGrpSpPr>
      <p:grpSpPr>
        <a:xfrm>
          <a:off x="0" y="0"/>
          <a:ext cx="0" cy="0"/>
          <a:chOff x="0" y="0"/>
          <a:chExt cx="0" cy="0"/>
        </a:xfrm>
      </p:grpSpPr>
      <p:sp>
        <p:nvSpPr>
          <p:cNvPr id="16" name="Title Placeholder 2">
            <a:extLst>
              <a:ext uri="{FF2B5EF4-FFF2-40B4-BE49-F238E27FC236}">
                <a16:creationId xmlns:a16="http://schemas.microsoft.com/office/drawing/2014/main" id="{99DDC60A-5C4A-5245-8961-D2EE09418E31}"/>
              </a:ext>
            </a:extLst>
          </p:cNvPr>
          <p:cNvSpPr>
            <a:spLocks noGrp="1"/>
          </p:cNvSpPr>
          <p:nvPr>
            <p:ph type="title"/>
          </p:nvPr>
        </p:nvSpPr>
        <p:spPr>
          <a:xfrm>
            <a:off x="627623" y="685800"/>
            <a:ext cx="7888754" cy="914400"/>
          </a:xfrm>
          <a:prstGeom prst="rect">
            <a:avLst/>
          </a:prstGeom>
        </p:spPr>
        <p:txBody>
          <a:bodyPr vert="horz" lIns="91440" tIns="45720" rIns="91440" bIns="45720" rtlCol="0" anchor="b">
            <a:normAutofit/>
          </a:bodyPr>
          <a:lstStyle>
            <a:lvl1pPr>
              <a:defRPr sz="1650"/>
            </a:lvl1pPr>
          </a:lstStyle>
          <a:p>
            <a:r>
              <a:rPr lang="en-US" dirty="0"/>
              <a:t>Click to edit Master title style</a:t>
            </a:r>
          </a:p>
        </p:txBody>
      </p:sp>
      <p:sp>
        <p:nvSpPr>
          <p:cNvPr id="4" name="Text Placeholder 15">
            <a:extLst>
              <a:ext uri="{FF2B5EF4-FFF2-40B4-BE49-F238E27FC236}">
                <a16:creationId xmlns:a16="http://schemas.microsoft.com/office/drawing/2014/main" id="{6DCBF5E6-69B1-E146-B6D1-E081E0CF284A}"/>
              </a:ext>
            </a:extLst>
          </p:cNvPr>
          <p:cNvSpPr>
            <a:spLocks noGrp="1"/>
          </p:cNvSpPr>
          <p:nvPr>
            <p:ph type="body" sz="quarter" idx="12" hasCustomPrompt="1"/>
          </p:nvPr>
        </p:nvSpPr>
        <p:spPr>
          <a:xfrm>
            <a:off x="205794" y="274320"/>
            <a:ext cx="8368939" cy="228600"/>
          </a:xfrm>
          <a:prstGeom prst="rect">
            <a:avLst/>
          </a:prstGeom>
        </p:spPr>
        <p:txBody>
          <a:bodyPr anchor="ctr">
            <a:normAutofit/>
          </a:bodyPr>
          <a:lstStyle>
            <a:lvl1pPr>
              <a:defRPr sz="675" cap="all" spc="225" baseline="0"/>
            </a:lvl1pPr>
          </a:lstStyle>
          <a:p>
            <a:pPr lvl="0"/>
            <a:r>
              <a:rPr lang="en-US" dirty="0"/>
              <a:t>PRE-TITLE i.e. “example” or “case study”</a:t>
            </a:r>
          </a:p>
        </p:txBody>
      </p:sp>
      <p:sp>
        <p:nvSpPr>
          <p:cNvPr id="3" name="Content Placeholder 2">
            <a:extLst>
              <a:ext uri="{FF2B5EF4-FFF2-40B4-BE49-F238E27FC236}">
                <a16:creationId xmlns:a16="http://schemas.microsoft.com/office/drawing/2014/main" id="{78538F1B-D100-D74C-EF6C-0EE7717605D5}"/>
              </a:ext>
            </a:extLst>
          </p:cNvPr>
          <p:cNvSpPr>
            <a:spLocks noGrp="1"/>
          </p:cNvSpPr>
          <p:nvPr>
            <p:ph sz="quarter" idx="13"/>
          </p:nvPr>
        </p:nvSpPr>
        <p:spPr>
          <a:xfrm>
            <a:off x="627671" y="1783080"/>
            <a:ext cx="7888754" cy="41605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9437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ext Content">
    <p:spTree>
      <p:nvGrpSpPr>
        <p:cNvPr id="1" name=""/>
        <p:cNvGrpSpPr/>
        <p:nvPr/>
      </p:nvGrpSpPr>
      <p:grpSpPr>
        <a:xfrm>
          <a:off x="0" y="0"/>
          <a:ext cx="0" cy="0"/>
          <a:chOff x="0" y="0"/>
          <a:chExt cx="0" cy="0"/>
        </a:xfrm>
      </p:grpSpPr>
      <p:sp>
        <p:nvSpPr>
          <p:cNvPr id="4" name="Text Placeholder 15">
            <a:extLst>
              <a:ext uri="{FF2B5EF4-FFF2-40B4-BE49-F238E27FC236}">
                <a16:creationId xmlns:a16="http://schemas.microsoft.com/office/drawing/2014/main" id="{6DCBF5E6-69B1-E146-B6D1-E081E0CF284A}"/>
              </a:ext>
            </a:extLst>
          </p:cNvPr>
          <p:cNvSpPr>
            <a:spLocks noGrp="1"/>
          </p:cNvSpPr>
          <p:nvPr>
            <p:ph type="body" sz="quarter" idx="12" hasCustomPrompt="1"/>
          </p:nvPr>
        </p:nvSpPr>
        <p:spPr>
          <a:xfrm>
            <a:off x="205794" y="274320"/>
            <a:ext cx="8368939" cy="228600"/>
          </a:xfrm>
          <a:prstGeom prst="rect">
            <a:avLst/>
          </a:prstGeom>
        </p:spPr>
        <p:txBody>
          <a:bodyPr anchor="ctr">
            <a:normAutofit/>
          </a:bodyPr>
          <a:lstStyle>
            <a:lvl1pPr>
              <a:defRPr sz="675" cap="all" spc="225" baseline="0"/>
            </a:lvl1pPr>
          </a:lstStyle>
          <a:p>
            <a:pPr lvl="0"/>
            <a:r>
              <a:rPr lang="en-US" dirty="0"/>
              <a:t>PRE-TITLE i.e. “example” or “case study”</a:t>
            </a:r>
          </a:p>
        </p:txBody>
      </p:sp>
      <p:sp>
        <p:nvSpPr>
          <p:cNvPr id="3" name="Content Placeholder 2">
            <a:extLst>
              <a:ext uri="{FF2B5EF4-FFF2-40B4-BE49-F238E27FC236}">
                <a16:creationId xmlns:a16="http://schemas.microsoft.com/office/drawing/2014/main" id="{78538F1B-D100-D74C-EF6C-0EE7717605D5}"/>
              </a:ext>
            </a:extLst>
          </p:cNvPr>
          <p:cNvSpPr>
            <a:spLocks noGrp="1"/>
          </p:cNvSpPr>
          <p:nvPr>
            <p:ph sz="quarter" idx="13"/>
          </p:nvPr>
        </p:nvSpPr>
        <p:spPr>
          <a:xfrm>
            <a:off x="627671" y="1783080"/>
            <a:ext cx="7888754" cy="41605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2F33DFD-EA71-DC22-6BE8-BBFFFCBF19BD}"/>
              </a:ext>
            </a:extLst>
          </p:cNvPr>
          <p:cNvSpPr>
            <a:spLocks noGrp="1"/>
          </p:cNvSpPr>
          <p:nvPr>
            <p:ph type="body" sz="quarter" idx="14"/>
          </p:nvPr>
        </p:nvSpPr>
        <p:spPr>
          <a:xfrm>
            <a:off x="627671" y="685800"/>
            <a:ext cx="7888754" cy="914400"/>
          </a:xfrm>
        </p:spPr>
        <p:txBody>
          <a:bodyPr anchor="ctr"/>
          <a:lstStyle/>
          <a:p>
            <a:pPr lvl="0"/>
            <a:r>
              <a:rPr lang="en-US" dirty="0"/>
              <a:t>Click to edit Master text styles</a:t>
            </a:r>
          </a:p>
        </p:txBody>
      </p:sp>
    </p:spTree>
    <p:extLst>
      <p:ext uri="{BB962C8B-B14F-4D97-AF65-F5344CB8AC3E}">
        <p14:creationId xmlns:p14="http://schemas.microsoft.com/office/powerpoint/2010/main" val="2163204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 Content Note">
    <p:spTree>
      <p:nvGrpSpPr>
        <p:cNvPr id="1" name=""/>
        <p:cNvGrpSpPr/>
        <p:nvPr/>
      </p:nvGrpSpPr>
      <p:grpSpPr>
        <a:xfrm>
          <a:off x="0" y="0"/>
          <a:ext cx="0" cy="0"/>
          <a:chOff x="0" y="0"/>
          <a:chExt cx="0" cy="0"/>
        </a:xfrm>
      </p:grpSpPr>
      <p:sp>
        <p:nvSpPr>
          <p:cNvPr id="4" name="Text Placeholder 15">
            <a:extLst>
              <a:ext uri="{FF2B5EF4-FFF2-40B4-BE49-F238E27FC236}">
                <a16:creationId xmlns:a16="http://schemas.microsoft.com/office/drawing/2014/main" id="{6DCBF5E6-69B1-E146-B6D1-E081E0CF284A}"/>
              </a:ext>
            </a:extLst>
          </p:cNvPr>
          <p:cNvSpPr>
            <a:spLocks noGrp="1"/>
          </p:cNvSpPr>
          <p:nvPr>
            <p:ph type="body" sz="quarter" idx="12" hasCustomPrompt="1"/>
          </p:nvPr>
        </p:nvSpPr>
        <p:spPr>
          <a:xfrm>
            <a:off x="205794" y="274320"/>
            <a:ext cx="8368939" cy="228600"/>
          </a:xfrm>
          <a:prstGeom prst="rect">
            <a:avLst/>
          </a:prstGeom>
        </p:spPr>
        <p:txBody>
          <a:bodyPr anchor="ctr">
            <a:normAutofit/>
          </a:bodyPr>
          <a:lstStyle>
            <a:lvl1pPr>
              <a:defRPr sz="675" cap="all" spc="225" baseline="0"/>
            </a:lvl1pPr>
          </a:lstStyle>
          <a:p>
            <a:pPr lvl="0"/>
            <a:r>
              <a:rPr lang="en-US" dirty="0"/>
              <a:t>PRE-TITLE i.e. “example” or “case study”</a:t>
            </a:r>
          </a:p>
        </p:txBody>
      </p:sp>
      <p:sp>
        <p:nvSpPr>
          <p:cNvPr id="12" name="Text Placeholder 11">
            <a:extLst>
              <a:ext uri="{FF2B5EF4-FFF2-40B4-BE49-F238E27FC236}">
                <a16:creationId xmlns:a16="http://schemas.microsoft.com/office/drawing/2014/main" id="{8DDE38A6-E658-90B2-9909-606247E2ABDA}"/>
              </a:ext>
            </a:extLst>
          </p:cNvPr>
          <p:cNvSpPr>
            <a:spLocks noGrp="1"/>
          </p:cNvSpPr>
          <p:nvPr>
            <p:ph type="body" sz="quarter" idx="14"/>
          </p:nvPr>
        </p:nvSpPr>
        <p:spPr>
          <a:xfrm>
            <a:off x="627623" y="685800"/>
            <a:ext cx="7888754" cy="914400"/>
          </a:xfrm>
        </p:spPr>
        <p:txBody>
          <a:bodyPr anchor="ctr"/>
          <a:lstStyle/>
          <a:p>
            <a:pPr lvl="0"/>
            <a:r>
              <a:rPr lang="en-US" dirty="0"/>
              <a:t>Click to edit Master text styles</a:t>
            </a:r>
          </a:p>
        </p:txBody>
      </p:sp>
      <p:sp>
        <p:nvSpPr>
          <p:cNvPr id="14" name="Content Placeholder 13">
            <a:extLst>
              <a:ext uri="{FF2B5EF4-FFF2-40B4-BE49-F238E27FC236}">
                <a16:creationId xmlns:a16="http://schemas.microsoft.com/office/drawing/2014/main" id="{3863D854-F561-5708-8F57-795F786E8EC7}"/>
              </a:ext>
            </a:extLst>
          </p:cNvPr>
          <p:cNvSpPr>
            <a:spLocks noGrp="1"/>
          </p:cNvSpPr>
          <p:nvPr>
            <p:ph sz="quarter" idx="15"/>
          </p:nvPr>
        </p:nvSpPr>
        <p:spPr>
          <a:xfrm>
            <a:off x="627623" y="1783080"/>
            <a:ext cx="6327033"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7">
            <a:extLst>
              <a:ext uri="{FF2B5EF4-FFF2-40B4-BE49-F238E27FC236}">
                <a16:creationId xmlns:a16="http://schemas.microsoft.com/office/drawing/2014/main" id="{4A65E644-3F17-D581-794B-7A721DE7D867}"/>
              </a:ext>
            </a:extLst>
          </p:cNvPr>
          <p:cNvSpPr>
            <a:spLocks noGrp="1"/>
          </p:cNvSpPr>
          <p:nvPr>
            <p:ph type="body" sz="quarter" idx="16"/>
          </p:nvPr>
        </p:nvSpPr>
        <p:spPr>
          <a:xfrm>
            <a:off x="7075822" y="2148840"/>
            <a:ext cx="1440555" cy="3794760"/>
          </a:xfrm>
        </p:spPr>
        <p:txBody>
          <a:bodyPr>
            <a:normAutofit/>
          </a:bodyPr>
          <a:lstStyle>
            <a:lvl1pPr>
              <a:defRPr sz="900"/>
            </a:lvl1pPr>
          </a:lstStyle>
          <a:p>
            <a:pPr lvl="0"/>
            <a:r>
              <a:rPr lang="en-US" dirty="0"/>
              <a:t>Click to edit Master text styles</a:t>
            </a:r>
          </a:p>
        </p:txBody>
      </p:sp>
    </p:spTree>
    <p:extLst>
      <p:ext uri="{BB962C8B-B14F-4D97-AF65-F5344CB8AC3E}">
        <p14:creationId xmlns:p14="http://schemas.microsoft.com/office/powerpoint/2010/main" val="1083513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4A090-67C3-1E4B-A66B-C0CC6D8CEE49}"/>
              </a:ext>
            </a:extLst>
          </p:cNvPr>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0A419E9-AA76-F64A-8FDB-E26D2614E12D}"/>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00779D9-9DEC-BD49-879A-4A6293B63F20}"/>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8/31/2026</a:t>
            </a:fld>
            <a:endParaRPr lang="en-US"/>
          </a:p>
        </p:txBody>
      </p:sp>
      <p:sp>
        <p:nvSpPr>
          <p:cNvPr id="5" name="Footer Placeholder 4">
            <a:extLst>
              <a:ext uri="{FF2B5EF4-FFF2-40B4-BE49-F238E27FC236}">
                <a16:creationId xmlns:a16="http://schemas.microsoft.com/office/drawing/2014/main" id="{435EAE9E-0459-4741-B223-6DC85060086E}"/>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6E7C7C5-4735-8A4D-8C05-7EF423134663}"/>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731905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E2D71-DB3F-CA4B-AB69-DA0E43E622EF}"/>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7AC9B67-958C-6E40-9ACA-E92F3176A20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5B940E-66A9-CB4A-84DB-5081F4A0AF3A}"/>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8/31/2026</a:t>
            </a:fld>
            <a:endParaRPr lang="en-US"/>
          </a:p>
        </p:txBody>
      </p:sp>
      <p:sp>
        <p:nvSpPr>
          <p:cNvPr id="5" name="Footer Placeholder 4">
            <a:extLst>
              <a:ext uri="{FF2B5EF4-FFF2-40B4-BE49-F238E27FC236}">
                <a16:creationId xmlns:a16="http://schemas.microsoft.com/office/drawing/2014/main" id="{3D9C9BD7-CFC9-ED44-A259-D7478BB7179D}"/>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7E8D592-DE38-C84F-B50C-2098DD512921}"/>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566966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5FB63-EA63-504F-8F50-5B91FD65C3FE}"/>
              </a:ext>
            </a:extLst>
          </p:cNvPr>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9D77F6-6F3A-D64B-BD9B-6BBD4762F214}"/>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B9D8CE6-E124-B644-A21E-92215F79611C}"/>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8/31/2026</a:t>
            </a:fld>
            <a:endParaRPr lang="en-US"/>
          </a:p>
        </p:txBody>
      </p:sp>
      <p:sp>
        <p:nvSpPr>
          <p:cNvPr id="5" name="Footer Placeholder 4">
            <a:extLst>
              <a:ext uri="{FF2B5EF4-FFF2-40B4-BE49-F238E27FC236}">
                <a16:creationId xmlns:a16="http://schemas.microsoft.com/office/drawing/2014/main" id="{3E0CD4E0-0B76-7A4C-BDDF-91A030E87548}"/>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441E1E-D6AB-EA48-A2EA-F62EB55F4D68}"/>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3709855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57B90-3D4F-CD4F-97BC-A347829F66D4}"/>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BDA4AEE5-0B83-C64B-81E0-54DC0ADBF54B}"/>
              </a:ext>
            </a:extLst>
          </p:cNvPr>
          <p:cNvSpPr>
            <a:spLocks noGrp="1"/>
          </p:cNvSpPr>
          <p:nvPr>
            <p:ph sz="half" idx="1"/>
          </p:nvPr>
        </p:nvSpPr>
        <p:spPr>
          <a:xfrm>
            <a:off x="62865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B5C314-37AF-9847-BA04-4A909D69700B}"/>
              </a:ext>
            </a:extLst>
          </p:cNvPr>
          <p:cNvSpPr>
            <a:spLocks noGrp="1"/>
          </p:cNvSpPr>
          <p:nvPr>
            <p:ph sz="half" idx="2"/>
          </p:nvPr>
        </p:nvSpPr>
        <p:spPr>
          <a:xfrm>
            <a:off x="464820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5D8F8F-1769-8C44-8833-2A633CEE07DA}"/>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8/31/2026</a:t>
            </a:fld>
            <a:endParaRPr lang="en-US"/>
          </a:p>
        </p:txBody>
      </p:sp>
      <p:sp>
        <p:nvSpPr>
          <p:cNvPr id="6" name="Footer Placeholder 5">
            <a:extLst>
              <a:ext uri="{FF2B5EF4-FFF2-40B4-BE49-F238E27FC236}">
                <a16:creationId xmlns:a16="http://schemas.microsoft.com/office/drawing/2014/main" id="{DD714BFC-BFF4-E741-A29A-C39CDF2301B2}"/>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65B0D28-A603-9045-9C94-9B365ABD61A5}"/>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1606446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7BDE4-7E60-0D4B-8097-4A62035401E3}"/>
              </a:ext>
            </a:extLst>
          </p:cNvPr>
          <p:cNvSpPr>
            <a:spLocks noGrp="1"/>
          </p:cNvSpPr>
          <p:nvPr>
            <p:ph type="title"/>
          </p:nvPr>
        </p:nvSpPr>
        <p:spPr>
          <a:xfrm>
            <a:off x="630238" y="365125"/>
            <a:ext cx="78867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041D60B-DF1E-0547-A16B-C68320E4A14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EB95F77-36C9-BB45-B4CF-0BC9B526BDC0}"/>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39E3A9-18F9-E148-A7EC-AEE4555E0176}"/>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F2F87EA-40CE-DC45-8E80-DA1907F9D8C6}"/>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44AB47F-77FC-5846-BDE0-C5E6655E87EA}"/>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8/31/2026</a:t>
            </a:fld>
            <a:endParaRPr lang="en-US"/>
          </a:p>
        </p:txBody>
      </p:sp>
      <p:sp>
        <p:nvSpPr>
          <p:cNvPr id="8" name="Footer Placeholder 7">
            <a:extLst>
              <a:ext uri="{FF2B5EF4-FFF2-40B4-BE49-F238E27FC236}">
                <a16:creationId xmlns:a16="http://schemas.microsoft.com/office/drawing/2014/main" id="{052153DA-D3C5-BB43-B4C6-4AE715DC74AF}"/>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89D47C59-477B-4845-B18D-1C6A646F8D91}"/>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32747195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720B6-C8BB-A14B-8CD3-596205618333}"/>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97C392F9-B400-7941-8F44-89EDB53A4B72}"/>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8/31/2026</a:t>
            </a:fld>
            <a:endParaRPr lang="en-US"/>
          </a:p>
        </p:txBody>
      </p:sp>
      <p:sp>
        <p:nvSpPr>
          <p:cNvPr id="4" name="Footer Placeholder 3">
            <a:extLst>
              <a:ext uri="{FF2B5EF4-FFF2-40B4-BE49-F238E27FC236}">
                <a16:creationId xmlns:a16="http://schemas.microsoft.com/office/drawing/2014/main" id="{28A473D4-0D82-864A-8A80-33A1E5FE68EB}"/>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F256C183-0080-7748-9790-86D011ED5C9D}"/>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633181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2478FD-94EA-4C47-BDBC-09626DB52931}"/>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8/31/2026</a:t>
            </a:fld>
            <a:endParaRPr lang="en-US"/>
          </a:p>
        </p:txBody>
      </p:sp>
      <p:sp>
        <p:nvSpPr>
          <p:cNvPr id="3" name="Footer Placeholder 2">
            <a:extLst>
              <a:ext uri="{FF2B5EF4-FFF2-40B4-BE49-F238E27FC236}">
                <a16:creationId xmlns:a16="http://schemas.microsoft.com/office/drawing/2014/main" id="{C6EC8C59-B23B-EB4D-84D2-657767741980}"/>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CB4D68CC-2E7B-D54A-B7F7-09C603511885}"/>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42277323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7F4C6-9AF0-864F-8DD4-CDC62094E878}"/>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831DEF-16A6-4D43-A7AD-ED7268ACC1ED}"/>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02292-00F7-5741-B616-CE91A8FBBCF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793A744-110D-FB49-8AD0-4EE773833AB9}"/>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8/31/2026</a:t>
            </a:fld>
            <a:endParaRPr lang="en-US"/>
          </a:p>
        </p:txBody>
      </p:sp>
      <p:sp>
        <p:nvSpPr>
          <p:cNvPr id="6" name="Footer Placeholder 5">
            <a:extLst>
              <a:ext uri="{FF2B5EF4-FFF2-40B4-BE49-F238E27FC236}">
                <a16:creationId xmlns:a16="http://schemas.microsoft.com/office/drawing/2014/main" id="{5D688E92-E4A0-6A47-991E-5298200974E5}"/>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D3F4B7B-AFBE-3844-99A0-5DC1F7E5F768}"/>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41537014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B7056-335E-E244-AA7E-AEE335FD9986}"/>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E0C7D9-4192-1C49-8DAF-B904BB5F4018}"/>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2DEA7B-FE87-BE49-9987-6D71676B5C9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ADC28B8-87A5-0D40-8A94-BA7DD063E503}"/>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8/31/2026</a:t>
            </a:fld>
            <a:endParaRPr lang="en-US"/>
          </a:p>
        </p:txBody>
      </p:sp>
      <p:sp>
        <p:nvSpPr>
          <p:cNvPr id="6" name="Footer Placeholder 5">
            <a:extLst>
              <a:ext uri="{FF2B5EF4-FFF2-40B4-BE49-F238E27FC236}">
                <a16:creationId xmlns:a16="http://schemas.microsoft.com/office/drawing/2014/main" id="{4CBD90A8-19FF-8F42-BCE2-6F1A3A9040DA}"/>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1F6E3E2-41E5-E74C-8D9E-1E5FC2D47B78}"/>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3996444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5267E-F8D4-5E46-8B95-C47B503012DA}"/>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2F5A2-5FE9-B442-9FE8-66BDD445415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C428A1-47E7-2942-88E4-1DE8875C3430}"/>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8/31/2026</a:t>
            </a:fld>
            <a:endParaRPr lang="en-US"/>
          </a:p>
        </p:txBody>
      </p:sp>
      <p:sp>
        <p:nvSpPr>
          <p:cNvPr id="5" name="Footer Placeholder 4">
            <a:extLst>
              <a:ext uri="{FF2B5EF4-FFF2-40B4-BE49-F238E27FC236}">
                <a16:creationId xmlns:a16="http://schemas.microsoft.com/office/drawing/2014/main" id="{212E8B99-20F7-2545-8294-A8F84716AA8C}"/>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2873578-33A7-084D-A253-720646DA71A3}"/>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151658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D00839-9CCD-2545-9E91-47BBC8066EBE}"/>
              </a:ext>
            </a:extLst>
          </p:cNvPr>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41FED2-9460-544F-8B32-C646700AD999}"/>
              </a:ext>
            </a:extLst>
          </p:cNvPr>
          <p:cNvSpPr>
            <a:spLocks noGrp="1"/>
          </p:cNvSpPr>
          <p:nvPr>
            <p:ph type="body" orient="vert" idx="1"/>
          </p:nvPr>
        </p:nvSpPr>
        <p:spPr>
          <a:xfrm>
            <a:off x="628650" y="365125"/>
            <a:ext cx="57626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70F17A-03C6-D34D-B761-2B93343374F7}"/>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8/31/2026</a:t>
            </a:fld>
            <a:endParaRPr lang="en-US"/>
          </a:p>
        </p:txBody>
      </p:sp>
      <p:sp>
        <p:nvSpPr>
          <p:cNvPr id="5" name="Footer Placeholder 4">
            <a:extLst>
              <a:ext uri="{FF2B5EF4-FFF2-40B4-BE49-F238E27FC236}">
                <a16:creationId xmlns:a16="http://schemas.microsoft.com/office/drawing/2014/main" id="{109FDF0F-951F-804F-8F5A-4C08793B3FDF}"/>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B119EC-532D-1748-A2B7-B5309D7A3B7D}"/>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29136446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354" y="2130848"/>
            <a:ext cx="7773293" cy="1470049"/>
          </a:xfrm>
        </p:spPr>
        <p:txBody>
          <a:bodyPr/>
          <a:lstStyle/>
          <a:p>
            <a:r>
              <a:rPr lang="en-US"/>
              <a:t>Click to edit Master title style</a:t>
            </a:r>
          </a:p>
        </p:txBody>
      </p:sp>
      <p:sp>
        <p:nvSpPr>
          <p:cNvPr id="3" name="Subtitle 2"/>
          <p:cNvSpPr>
            <a:spLocks noGrp="1"/>
          </p:cNvSpPr>
          <p:nvPr>
            <p:ph type="subTitle" idx="1"/>
          </p:nvPr>
        </p:nvSpPr>
        <p:spPr>
          <a:xfrm>
            <a:off x="1371824" y="3886647"/>
            <a:ext cx="6400354" cy="1752451"/>
          </a:xfrm>
        </p:spPr>
        <p:txBody>
          <a:bodyPr/>
          <a:lstStyle>
            <a:lvl1pPr marL="0" indent="0" algn="ctr">
              <a:buNone/>
              <a:defRPr/>
            </a:lvl1pPr>
            <a:lvl2pPr marL="321457" indent="0" algn="ctr">
              <a:buNone/>
              <a:defRPr/>
            </a:lvl2pPr>
            <a:lvl3pPr marL="642915" indent="0" algn="ctr">
              <a:buNone/>
              <a:defRPr/>
            </a:lvl3pPr>
            <a:lvl4pPr marL="964372" indent="0" algn="ctr">
              <a:buNone/>
              <a:defRPr/>
            </a:lvl4pPr>
            <a:lvl5pPr marL="1285829" indent="0" algn="ctr">
              <a:buNone/>
              <a:defRPr/>
            </a:lvl5pPr>
            <a:lvl6pPr marL="1607287" indent="0" algn="ctr">
              <a:buNone/>
              <a:defRPr/>
            </a:lvl6pPr>
            <a:lvl7pPr marL="1928744" indent="0" algn="ctr">
              <a:buNone/>
              <a:defRPr/>
            </a:lvl7pPr>
            <a:lvl8pPr marL="2250201" indent="0" algn="ctr">
              <a:buNone/>
              <a:defRPr/>
            </a:lvl8pPr>
            <a:lvl9pPr marL="2571659" indent="0" algn="ctr">
              <a:buNone/>
              <a:defRPr/>
            </a:lvl9pPr>
          </a:lstStyle>
          <a:p>
            <a:r>
              <a:rPr lang="en-US"/>
              <a:t>Click to edit Master subtitle style</a:t>
            </a:r>
          </a:p>
        </p:txBody>
      </p:sp>
    </p:spTree>
    <p:extLst>
      <p:ext uri="{BB962C8B-B14F-4D97-AF65-F5344CB8AC3E}">
        <p14:creationId xmlns:p14="http://schemas.microsoft.com/office/powerpoint/2010/main" val="207245324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3322382"/>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92969" y="1946672"/>
            <a:ext cx="1718965" cy="4018359"/>
          </a:xfrm>
        </p:spPr>
        <p:txBody>
          <a:bodyPr/>
          <a:lstStyle>
            <a:lvl1pPr>
              <a:defRPr sz="2000"/>
            </a:lvl1pPr>
            <a:lvl2pPr>
              <a:defRPr sz="1700"/>
            </a:lvl2pPr>
            <a:lvl3pPr>
              <a:defRPr sz="14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719090" y="1946672"/>
            <a:ext cx="1718965" cy="4018359"/>
          </a:xfrm>
        </p:spPr>
        <p:txBody>
          <a:bodyPr/>
          <a:lstStyle>
            <a:lvl1pPr>
              <a:defRPr sz="2000"/>
            </a:lvl1pPr>
            <a:lvl2pPr>
              <a:defRPr sz="1700"/>
            </a:lvl2pPr>
            <a:lvl3pPr>
              <a:defRPr sz="14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502217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647" y="274588"/>
            <a:ext cx="8228707"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647" y="1534791"/>
            <a:ext cx="4039568" cy="639589"/>
          </a:xfrm>
        </p:spPr>
        <p:txBody>
          <a:bodyPr anchor="b"/>
          <a:lstStyle>
            <a:lvl1pPr marL="0" indent="0">
              <a:buNone/>
              <a:defRPr sz="1700" b="1"/>
            </a:lvl1pPr>
            <a:lvl2pPr marL="321457" indent="0">
              <a:buNone/>
              <a:defRPr sz="1400" b="1"/>
            </a:lvl2pPr>
            <a:lvl3pPr marL="642915" indent="0">
              <a:buNone/>
              <a:defRPr sz="1300" b="1"/>
            </a:lvl3pPr>
            <a:lvl4pPr marL="964372" indent="0">
              <a:buNone/>
              <a:defRPr sz="1100" b="1"/>
            </a:lvl4pPr>
            <a:lvl5pPr marL="1285829" indent="0">
              <a:buNone/>
              <a:defRPr sz="1100" b="1"/>
            </a:lvl5pPr>
            <a:lvl6pPr marL="1607287" indent="0">
              <a:buNone/>
              <a:defRPr sz="1100" b="1"/>
            </a:lvl6pPr>
            <a:lvl7pPr marL="1928744" indent="0">
              <a:buNone/>
              <a:defRPr sz="1100" b="1"/>
            </a:lvl7pPr>
            <a:lvl8pPr marL="2250201" indent="0">
              <a:buNone/>
              <a:defRPr sz="1100" b="1"/>
            </a:lvl8pPr>
            <a:lvl9pPr marL="2571659" indent="0">
              <a:buNone/>
              <a:defRPr sz="1100" b="1"/>
            </a:lvl9pPr>
          </a:lstStyle>
          <a:p>
            <a:pPr lvl="0"/>
            <a:r>
              <a:rPr lang="en-US"/>
              <a:t>Click to edit Master text styles</a:t>
            </a:r>
          </a:p>
        </p:txBody>
      </p:sp>
      <p:sp>
        <p:nvSpPr>
          <p:cNvPr id="4" name="Content Placeholder 3"/>
          <p:cNvSpPr>
            <a:spLocks noGrp="1"/>
          </p:cNvSpPr>
          <p:nvPr>
            <p:ph sz="half" idx="2"/>
          </p:nvPr>
        </p:nvSpPr>
        <p:spPr>
          <a:xfrm>
            <a:off x="457647" y="2174379"/>
            <a:ext cx="4039568" cy="3951387"/>
          </a:xfrm>
        </p:spPr>
        <p:txBody>
          <a:bodyPr/>
          <a:lstStyle>
            <a:lvl1pPr>
              <a:defRPr sz="1700"/>
            </a:lvl1pPr>
            <a:lvl2pPr>
              <a:defRPr sz="1400"/>
            </a:lvl2pPr>
            <a:lvl3pPr>
              <a:defRPr sz="13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4555" y="1534791"/>
            <a:ext cx="4041799" cy="639589"/>
          </a:xfrm>
        </p:spPr>
        <p:txBody>
          <a:bodyPr anchor="b"/>
          <a:lstStyle>
            <a:lvl1pPr marL="0" indent="0">
              <a:buNone/>
              <a:defRPr sz="1700" b="1"/>
            </a:lvl1pPr>
            <a:lvl2pPr marL="321457" indent="0">
              <a:buNone/>
              <a:defRPr sz="1400" b="1"/>
            </a:lvl2pPr>
            <a:lvl3pPr marL="642915" indent="0">
              <a:buNone/>
              <a:defRPr sz="1300" b="1"/>
            </a:lvl3pPr>
            <a:lvl4pPr marL="964372" indent="0">
              <a:buNone/>
              <a:defRPr sz="1100" b="1"/>
            </a:lvl4pPr>
            <a:lvl5pPr marL="1285829" indent="0">
              <a:buNone/>
              <a:defRPr sz="1100" b="1"/>
            </a:lvl5pPr>
            <a:lvl6pPr marL="1607287" indent="0">
              <a:buNone/>
              <a:defRPr sz="1100" b="1"/>
            </a:lvl6pPr>
            <a:lvl7pPr marL="1928744" indent="0">
              <a:buNone/>
              <a:defRPr sz="1100" b="1"/>
            </a:lvl7pPr>
            <a:lvl8pPr marL="2250201" indent="0">
              <a:buNone/>
              <a:defRPr sz="1100" b="1"/>
            </a:lvl8pPr>
            <a:lvl9pPr marL="2571659" indent="0">
              <a:buNone/>
              <a:defRPr sz="1100" b="1"/>
            </a:lvl9pPr>
          </a:lstStyle>
          <a:p>
            <a:pPr lvl="0"/>
            <a:r>
              <a:rPr lang="en-US"/>
              <a:t>Click to edit Master text styles</a:t>
            </a:r>
          </a:p>
        </p:txBody>
      </p:sp>
      <p:sp>
        <p:nvSpPr>
          <p:cNvPr id="6" name="Content Placeholder 5"/>
          <p:cNvSpPr>
            <a:spLocks noGrp="1"/>
          </p:cNvSpPr>
          <p:nvPr>
            <p:ph sz="quarter" idx="4"/>
          </p:nvPr>
        </p:nvSpPr>
        <p:spPr>
          <a:xfrm>
            <a:off x="4644555" y="2174379"/>
            <a:ext cx="4041799" cy="3951387"/>
          </a:xfrm>
        </p:spPr>
        <p:txBody>
          <a:bodyPr/>
          <a:lstStyle>
            <a:lvl1pPr>
              <a:defRPr sz="1700"/>
            </a:lvl1pPr>
            <a:lvl2pPr>
              <a:defRPr sz="1400"/>
            </a:lvl2pPr>
            <a:lvl3pPr>
              <a:defRPr sz="13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426540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61210817"/>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790380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647" y="273473"/>
            <a:ext cx="3008189" cy="1161975"/>
          </a:xfrm>
        </p:spPr>
        <p:txBody>
          <a:bodyPr anchor="b"/>
          <a:lstStyle>
            <a:lvl1pPr algn="l">
              <a:defRPr sz="1400" b="1"/>
            </a:lvl1pPr>
          </a:lstStyle>
          <a:p>
            <a:r>
              <a:rPr lang="en-US"/>
              <a:t>Click to edit Master title style</a:t>
            </a:r>
          </a:p>
        </p:txBody>
      </p:sp>
      <p:sp>
        <p:nvSpPr>
          <p:cNvPr id="3" name="Content Placeholder 2"/>
          <p:cNvSpPr>
            <a:spLocks noGrp="1"/>
          </p:cNvSpPr>
          <p:nvPr>
            <p:ph idx="1"/>
          </p:nvPr>
        </p:nvSpPr>
        <p:spPr>
          <a:xfrm>
            <a:off x="3575224" y="273472"/>
            <a:ext cx="5111130" cy="5852294"/>
          </a:xfrm>
        </p:spPr>
        <p:txBody>
          <a:bodyPr/>
          <a:lstStyle>
            <a:lvl1pPr>
              <a:defRPr sz="2200"/>
            </a:lvl1pPr>
            <a:lvl2pPr>
              <a:defRPr sz="2000"/>
            </a:lvl2pPr>
            <a:lvl3pPr>
              <a:defRPr sz="17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647" y="1435448"/>
            <a:ext cx="3008189" cy="4690318"/>
          </a:xfrm>
        </p:spPr>
        <p:txBody>
          <a:bodyPr/>
          <a:lstStyle>
            <a:lvl1pPr marL="0" indent="0">
              <a:buNone/>
              <a:defRPr sz="1000"/>
            </a:lvl1pPr>
            <a:lvl2pPr marL="321457" indent="0">
              <a:buNone/>
              <a:defRPr sz="800"/>
            </a:lvl2pPr>
            <a:lvl3pPr marL="642915" indent="0">
              <a:buNone/>
              <a:defRPr sz="700"/>
            </a:lvl3pPr>
            <a:lvl4pPr marL="964372" indent="0">
              <a:buNone/>
              <a:defRPr sz="600"/>
            </a:lvl4pPr>
            <a:lvl5pPr marL="1285829" indent="0">
              <a:buNone/>
              <a:defRPr sz="600"/>
            </a:lvl5pPr>
            <a:lvl6pPr marL="1607287" indent="0">
              <a:buNone/>
              <a:defRPr sz="600"/>
            </a:lvl6pPr>
            <a:lvl7pPr marL="1928744" indent="0">
              <a:buNone/>
              <a:defRPr sz="600"/>
            </a:lvl7pPr>
            <a:lvl8pPr marL="2250201" indent="0">
              <a:buNone/>
              <a:defRPr sz="600"/>
            </a:lvl8pPr>
            <a:lvl9pPr marL="2571659" indent="0">
              <a:buNone/>
              <a:defRPr sz="600"/>
            </a:lvl9pPr>
          </a:lstStyle>
          <a:p>
            <a:pPr lvl="0"/>
            <a:r>
              <a:rPr lang="en-US"/>
              <a:t>Click to edit Master text styles</a:t>
            </a:r>
          </a:p>
        </p:txBody>
      </p:sp>
    </p:spTree>
    <p:extLst>
      <p:ext uri="{BB962C8B-B14F-4D97-AF65-F5344CB8AC3E}">
        <p14:creationId xmlns:p14="http://schemas.microsoft.com/office/powerpoint/2010/main" val="1489957134"/>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635" y="4800824"/>
            <a:ext cx="5486177" cy="567035"/>
          </a:xfrm>
        </p:spPr>
        <p:txBody>
          <a:bodyPr anchor="b"/>
          <a:lstStyle>
            <a:lvl1pPr algn="l">
              <a:defRPr sz="1400" b="1"/>
            </a:lvl1pPr>
          </a:lstStyle>
          <a:p>
            <a:r>
              <a:rPr lang="en-US"/>
              <a:t>Click to edit Master title style</a:t>
            </a:r>
          </a:p>
        </p:txBody>
      </p:sp>
      <p:sp>
        <p:nvSpPr>
          <p:cNvPr id="3" name="Picture Placeholder 2"/>
          <p:cNvSpPr>
            <a:spLocks noGrp="1"/>
          </p:cNvSpPr>
          <p:nvPr>
            <p:ph type="pic" idx="1"/>
          </p:nvPr>
        </p:nvSpPr>
        <p:spPr>
          <a:xfrm>
            <a:off x="1792635" y="612800"/>
            <a:ext cx="5486177" cy="4114354"/>
          </a:xfrm>
        </p:spPr>
        <p:txBody>
          <a:bodyPr/>
          <a:lstStyle>
            <a:lvl1pPr marL="0" indent="0">
              <a:buNone/>
              <a:defRPr sz="2200"/>
            </a:lvl1pPr>
            <a:lvl2pPr marL="321457" indent="0">
              <a:buNone/>
              <a:defRPr sz="2000"/>
            </a:lvl2pPr>
            <a:lvl3pPr marL="642915" indent="0">
              <a:buNone/>
              <a:defRPr sz="1700"/>
            </a:lvl3pPr>
            <a:lvl4pPr marL="964372" indent="0">
              <a:buNone/>
              <a:defRPr sz="1400"/>
            </a:lvl4pPr>
            <a:lvl5pPr marL="1285829" indent="0">
              <a:buNone/>
              <a:defRPr sz="1400"/>
            </a:lvl5pPr>
            <a:lvl6pPr marL="1607287" indent="0">
              <a:buNone/>
              <a:defRPr sz="1400"/>
            </a:lvl6pPr>
            <a:lvl7pPr marL="1928744" indent="0">
              <a:buNone/>
              <a:defRPr sz="1400"/>
            </a:lvl7pPr>
            <a:lvl8pPr marL="2250201" indent="0">
              <a:buNone/>
              <a:defRPr sz="1400"/>
            </a:lvl8pPr>
            <a:lvl9pPr marL="2571659" indent="0">
              <a:buNone/>
              <a:defRPr sz="1400"/>
            </a:lvl9pPr>
          </a:lstStyle>
          <a:p>
            <a:r>
              <a:rPr lang="en-US"/>
              <a:t>Click icon to add picture</a:t>
            </a:r>
          </a:p>
        </p:txBody>
      </p:sp>
      <p:sp>
        <p:nvSpPr>
          <p:cNvPr id="4" name="Text Placeholder 3"/>
          <p:cNvSpPr>
            <a:spLocks noGrp="1"/>
          </p:cNvSpPr>
          <p:nvPr>
            <p:ph type="body" sz="half" idx="2"/>
          </p:nvPr>
        </p:nvSpPr>
        <p:spPr>
          <a:xfrm>
            <a:off x="1792635" y="5367859"/>
            <a:ext cx="5486177" cy="804788"/>
          </a:xfrm>
        </p:spPr>
        <p:txBody>
          <a:bodyPr/>
          <a:lstStyle>
            <a:lvl1pPr marL="0" indent="0">
              <a:buNone/>
              <a:defRPr sz="1000"/>
            </a:lvl1pPr>
            <a:lvl2pPr marL="321457" indent="0">
              <a:buNone/>
              <a:defRPr sz="800"/>
            </a:lvl2pPr>
            <a:lvl3pPr marL="642915" indent="0">
              <a:buNone/>
              <a:defRPr sz="700"/>
            </a:lvl3pPr>
            <a:lvl4pPr marL="964372" indent="0">
              <a:buNone/>
              <a:defRPr sz="600"/>
            </a:lvl4pPr>
            <a:lvl5pPr marL="1285829" indent="0">
              <a:buNone/>
              <a:defRPr sz="600"/>
            </a:lvl5pPr>
            <a:lvl6pPr marL="1607287" indent="0">
              <a:buNone/>
              <a:defRPr sz="600"/>
            </a:lvl6pPr>
            <a:lvl7pPr marL="1928744" indent="0">
              <a:buNone/>
              <a:defRPr sz="600"/>
            </a:lvl7pPr>
            <a:lvl8pPr marL="2250201" indent="0">
              <a:buNone/>
              <a:defRPr sz="600"/>
            </a:lvl8pPr>
            <a:lvl9pPr marL="2571659" indent="0">
              <a:buNone/>
              <a:defRPr sz="600"/>
            </a:lvl9pPr>
          </a:lstStyle>
          <a:p>
            <a:pPr lvl="0"/>
            <a:r>
              <a:rPr lang="en-US"/>
              <a:t>Click to edit Master text styles</a:t>
            </a:r>
          </a:p>
        </p:txBody>
      </p:sp>
    </p:spTree>
    <p:extLst>
      <p:ext uri="{BB962C8B-B14F-4D97-AF65-F5344CB8AC3E}">
        <p14:creationId xmlns:p14="http://schemas.microsoft.com/office/powerpoint/2010/main" val="1145652385"/>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75576653"/>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11515" y="178594"/>
            <a:ext cx="1839516" cy="5786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92969" y="178594"/>
            <a:ext cx="5411391" cy="5786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723528"/>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647" y="1928813"/>
            <a:ext cx="8228707" cy="1143000"/>
          </a:xfrm>
          <a:prstGeom prst="rect">
            <a:avLst/>
          </a:prstGeom>
        </p:spPr>
        <p:txBody>
          <a:bodyPr vert="horz" lIns="64284" tIns="32142" rIns="64284" bIns="32142"/>
          <a:lstStyle>
            <a:lvl1pPr>
              <a:defRPr>
                <a:solidFill>
                  <a:schemeClr val="accent5"/>
                </a:solidFill>
              </a:defRPr>
            </a:lvl1pPr>
          </a:lstStyle>
          <a:p>
            <a:r>
              <a:rPr lang="en-US"/>
              <a:t>Click to edit Master title style</a:t>
            </a:r>
            <a:endParaRPr lang="en-US" dirty="0"/>
          </a:p>
        </p:txBody>
      </p:sp>
    </p:spTree>
    <p:extLst>
      <p:ext uri="{BB962C8B-B14F-4D97-AF65-F5344CB8AC3E}">
        <p14:creationId xmlns:p14="http://schemas.microsoft.com/office/powerpoint/2010/main" val="1750785955"/>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647" y="1928813"/>
            <a:ext cx="8228707" cy="1143000"/>
          </a:xfrm>
          <a:prstGeom prst="rect">
            <a:avLst/>
          </a:prstGeom>
        </p:spPr>
        <p:txBody>
          <a:bodyPr vert="horz" lIns="64284" tIns="32142" rIns="64284" bIns="32142"/>
          <a:lstStyle>
            <a:lvl1pPr>
              <a:defRPr>
                <a:solidFill>
                  <a:schemeClr val="accent5"/>
                </a:solidFill>
              </a:defRPr>
            </a:lvl1pPr>
          </a:lstStyle>
          <a:p>
            <a:r>
              <a:rPr lang="en-US"/>
              <a:t>Click to edit Master title style</a:t>
            </a:r>
            <a:endParaRPr lang="en-US" dirty="0"/>
          </a:p>
        </p:txBody>
      </p:sp>
    </p:spTree>
    <p:extLst>
      <p:ext uri="{BB962C8B-B14F-4D97-AF65-F5344CB8AC3E}">
        <p14:creationId xmlns:p14="http://schemas.microsoft.com/office/powerpoint/2010/main" val="88743187"/>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3.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9FAD32-CC12-0049-BF75-3DDCA597D08B}" type="datetime1">
              <a:rPr lang="en-US" smtClean="0"/>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2916442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6" r:id="rId3"/>
    <p:sldLayoutId id="2147483677" r:id="rId4"/>
    <p:sldLayoutId id="2147483678" r:id="rId5"/>
    <p:sldLayoutId id="2147483679" r:id="rId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DB96D0A-E866-214C-9AA7-BFFCE1F059D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6">
            <a:extLst>
              <a:ext uri="{FF2B5EF4-FFF2-40B4-BE49-F238E27FC236}">
                <a16:creationId xmlns:a16="http://schemas.microsoft.com/office/drawing/2014/main" id="{8C3B293A-1B30-3F41-8CF6-AAB2D4C06675}"/>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108045017"/>
      </p:ext>
    </p:extLst>
  </p:cSld>
  <p:clrMap bg1="dk1" tx1="lt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446485" y="321469"/>
            <a:ext cx="8304609" cy="1553766"/>
          </a:xfrm>
          <a:prstGeom prst="rect">
            <a:avLst/>
          </a:prstGeom>
          <a:noFill/>
          <a:ln w="12700">
            <a:noFill/>
            <a:miter lim="800000"/>
            <a:headEnd/>
            <a:tailEnd/>
          </a:ln>
          <a:effectLst/>
        </p:spPr>
        <p:txBody>
          <a:bodyPr vert="horz" wrap="square" lIns="35717" tIns="35717" rIns="35717" bIns="35717" numCol="1" anchor="ctr" anchorCtr="0" compatLnSpc="1">
            <a:prstTxWarp prst="textNoShape">
              <a:avLst/>
            </a:prstTxWarp>
          </a:bodyPr>
          <a:lstStyle/>
          <a:p>
            <a:pPr lvl="0"/>
            <a:r>
              <a:rPr lang="en-US" dirty="0">
                <a:sym typeface="Gill Sans" pitchFamily="-1" charset="0"/>
              </a:rPr>
              <a:t>Click to edit Master title style</a:t>
            </a:r>
          </a:p>
        </p:txBody>
      </p:sp>
      <p:sp>
        <p:nvSpPr>
          <p:cNvPr id="2050" name="Rectangle 2"/>
          <p:cNvSpPr>
            <a:spLocks noGrp="1" noChangeArrowheads="1"/>
          </p:cNvSpPr>
          <p:nvPr>
            <p:ph type="body" idx="1"/>
          </p:nvPr>
        </p:nvSpPr>
        <p:spPr bwMode="auto">
          <a:xfrm>
            <a:off x="500063" y="2089547"/>
            <a:ext cx="8251031" cy="4018359"/>
          </a:xfrm>
          <a:prstGeom prst="rect">
            <a:avLst/>
          </a:prstGeom>
          <a:noFill/>
          <a:ln w="12700">
            <a:noFill/>
            <a:miter lim="800000"/>
            <a:headEnd/>
            <a:tailEnd/>
          </a:ln>
          <a:effectLst/>
        </p:spPr>
        <p:txBody>
          <a:bodyPr vert="horz" wrap="square" lIns="35717" tIns="35717" rIns="35717" bIns="35717" numCol="1" anchor="t" anchorCtr="0" compatLnSpc="1">
            <a:prstTxWarp prst="textNoShape">
              <a:avLst/>
            </a:prstTxWarp>
          </a:bodyPr>
          <a:lstStyle/>
          <a:p>
            <a:pPr lvl="0"/>
            <a:r>
              <a:rPr lang="en-US" dirty="0">
                <a:sym typeface="Gill Sans" pitchFamily="-1" charset="0"/>
              </a:rPr>
              <a:t>Click to edit Master text styles</a:t>
            </a:r>
          </a:p>
          <a:p>
            <a:pPr lvl="1"/>
            <a:r>
              <a:rPr lang="en-US" dirty="0">
                <a:sym typeface="Gill Sans" pitchFamily="-1" charset="0"/>
              </a:rPr>
              <a:t>Second level</a:t>
            </a:r>
          </a:p>
          <a:p>
            <a:pPr lvl="2"/>
            <a:r>
              <a:rPr lang="en-US" dirty="0">
                <a:sym typeface="Gill Sans" pitchFamily="-1" charset="0"/>
              </a:rPr>
              <a:t>Third level</a:t>
            </a:r>
          </a:p>
          <a:p>
            <a:pPr lvl="3"/>
            <a:r>
              <a:rPr lang="en-US" dirty="0">
                <a:sym typeface="Gill Sans" pitchFamily="-1" charset="0"/>
              </a:rPr>
              <a:t>Fourth level</a:t>
            </a:r>
          </a:p>
          <a:p>
            <a:pPr lvl="4"/>
            <a:r>
              <a:rPr lang="en-US" dirty="0">
                <a:sym typeface="Gill Sans" pitchFamily="-1" charset="0"/>
              </a:rPr>
              <a:t>Fifth level</a:t>
            </a:r>
          </a:p>
        </p:txBody>
      </p:sp>
      <p:sp>
        <p:nvSpPr>
          <p:cNvPr id="5" name="Rectangle 4"/>
          <p:cNvSpPr/>
          <p:nvPr/>
        </p:nvSpPr>
        <p:spPr bwMode="auto">
          <a:xfrm>
            <a:off x="0" y="0"/>
            <a:ext cx="9144000" cy="160734"/>
          </a:xfrm>
          <a:prstGeom prst="rect">
            <a:avLst/>
          </a:prstGeom>
          <a:solidFill>
            <a:schemeClr val="accent2"/>
          </a:solidFill>
          <a:ln w="0" cap="flat" cmpd="sng" algn="ctr">
            <a:noFill/>
            <a:prstDash val="solid"/>
            <a:round/>
            <a:headEnd type="none" w="med" len="med"/>
            <a:tailEnd type="none" w="med" len="med"/>
          </a:ln>
          <a:effectLst/>
        </p:spPr>
        <p:txBody>
          <a:bodyPr vert="horz" wrap="square" lIns="64291" tIns="32146" rIns="64291" bIns="32146" numCol="1" rtlCol="0" anchor="t" anchorCtr="0" compatLnSpc="1">
            <a:prstTxWarp prst="textNoShape">
              <a:avLst/>
            </a:prstTxWarp>
          </a:bodyPr>
          <a:lstStyle/>
          <a:p>
            <a:pPr marL="0" marR="0" indent="0" algn="ctr" defTabSz="642915" rtl="0" eaLnBrk="1" fontAlgn="base" latinLnBrk="0" hangingPunct="1">
              <a:lnSpc>
                <a:spcPct val="100000"/>
              </a:lnSpc>
              <a:spcBef>
                <a:spcPct val="0"/>
              </a:spcBef>
              <a:spcAft>
                <a:spcPct val="0"/>
              </a:spcAft>
              <a:buClrTx/>
              <a:buSzTx/>
              <a:buFontTx/>
              <a:buNone/>
              <a:tabLst/>
            </a:pPr>
            <a:endParaRPr kumimoji="0" lang="en-US" sz="3000" b="0" i="0" u="none" strike="noStrike" cap="none" normalizeH="0" baseline="0">
              <a:ln>
                <a:noFill/>
              </a:ln>
              <a:solidFill>
                <a:srgbClr val="000000"/>
              </a:solidFill>
              <a:effectLst/>
              <a:latin typeface="Gill Sans" pitchFamily="-1" charset="0"/>
              <a:ea typeface="ヒラギノ角ゴ ProN W3" pitchFamily="-1" charset="-128"/>
              <a:cs typeface="ヒラギノ角ゴ ProN W3" pitchFamily="-1" charset="-128"/>
              <a:sym typeface="Gill Sans" pitchFamily="-1" charset="0"/>
            </a:endParaRPr>
          </a:p>
        </p:txBody>
      </p:sp>
      <p:pic>
        <p:nvPicPr>
          <p:cNvPr id="6" name="Picture 5"/>
          <p:cNvPicPr>
            <a:picLocks noChangeAspect="1"/>
          </p:cNvPicPr>
          <p:nvPr/>
        </p:nvPicPr>
        <p:blipFill>
          <a:blip r:embed="rId14"/>
          <a:stretch>
            <a:fillRect/>
          </a:stretch>
        </p:blipFill>
        <p:spPr>
          <a:xfrm>
            <a:off x="5345696" y="6197600"/>
            <a:ext cx="3405398" cy="563696"/>
          </a:xfrm>
          <a:prstGeom prst="rect">
            <a:avLst/>
          </a:prstGeom>
        </p:spPr>
      </p:pic>
    </p:spTree>
    <p:extLst>
      <p:ext uri="{BB962C8B-B14F-4D97-AF65-F5344CB8AC3E}">
        <p14:creationId xmlns:p14="http://schemas.microsoft.com/office/powerpoint/2010/main" val="1446374096"/>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transition/>
  <p:txStyles>
    <p:titleStyle>
      <a:lvl1pPr algn="ctr" rtl="0" eaLnBrk="1" fontAlgn="base" hangingPunct="1">
        <a:spcBef>
          <a:spcPct val="0"/>
        </a:spcBef>
        <a:spcAft>
          <a:spcPct val="0"/>
        </a:spcAft>
        <a:defRPr sz="3500">
          <a:solidFill>
            <a:srgbClr val="343434"/>
          </a:solidFill>
          <a:latin typeface="+mj-lt"/>
          <a:ea typeface="+mj-ea"/>
          <a:cs typeface="+mj-cs"/>
          <a:sym typeface="Gill Sans" pitchFamily="-1" charset="0"/>
        </a:defRPr>
      </a:lvl1pPr>
      <a:lvl2pPr algn="ctr" rtl="0" eaLnBrk="1" fontAlgn="base" hangingPunct="1">
        <a:spcBef>
          <a:spcPct val="0"/>
        </a:spcBef>
        <a:spcAft>
          <a:spcPct val="0"/>
        </a:spcAft>
        <a:defRPr sz="5900">
          <a:solidFill>
            <a:schemeClr val="tx1"/>
          </a:solidFill>
          <a:latin typeface="Gill Sans" pitchFamily="-1" charset="0"/>
          <a:ea typeface="ヒラギノ角ゴ ProN W3" pitchFamily="-1" charset="-128"/>
          <a:cs typeface="ヒラギノ角ゴ ProN W3" pitchFamily="-1" charset="-128"/>
          <a:sym typeface="Gill Sans" pitchFamily="-1" charset="0"/>
        </a:defRPr>
      </a:lvl2pPr>
      <a:lvl3pPr algn="ctr" rtl="0" eaLnBrk="1" fontAlgn="base" hangingPunct="1">
        <a:spcBef>
          <a:spcPct val="0"/>
        </a:spcBef>
        <a:spcAft>
          <a:spcPct val="0"/>
        </a:spcAft>
        <a:defRPr sz="5900">
          <a:solidFill>
            <a:schemeClr val="tx1"/>
          </a:solidFill>
          <a:latin typeface="Gill Sans" pitchFamily="-1" charset="0"/>
          <a:ea typeface="ヒラギノ角ゴ ProN W3" pitchFamily="-1" charset="-128"/>
          <a:cs typeface="ヒラギノ角ゴ ProN W3" pitchFamily="-1" charset="-128"/>
          <a:sym typeface="Gill Sans" pitchFamily="-1" charset="0"/>
        </a:defRPr>
      </a:lvl3pPr>
      <a:lvl4pPr algn="ctr" rtl="0" eaLnBrk="1" fontAlgn="base" hangingPunct="1">
        <a:spcBef>
          <a:spcPct val="0"/>
        </a:spcBef>
        <a:spcAft>
          <a:spcPct val="0"/>
        </a:spcAft>
        <a:defRPr sz="5900">
          <a:solidFill>
            <a:schemeClr val="tx1"/>
          </a:solidFill>
          <a:latin typeface="Gill Sans" pitchFamily="-1" charset="0"/>
          <a:ea typeface="ヒラギノ角ゴ ProN W3" pitchFamily="-1" charset="-128"/>
          <a:cs typeface="ヒラギノ角ゴ ProN W3" pitchFamily="-1" charset="-128"/>
          <a:sym typeface="Gill Sans" pitchFamily="-1" charset="0"/>
        </a:defRPr>
      </a:lvl4pPr>
      <a:lvl5pPr algn="ctr" rtl="0" eaLnBrk="1" fontAlgn="base" hangingPunct="1">
        <a:spcBef>
          <a:spcPct val="0"/>
        </a:spcBef>
        <a:spcAft>
          <a:spcPct val="0"/>
        </a:spcAft>
        <a:defRPr sz="5900">
          <a:solidFill>
            <a:schemeClr val="tx1"/>
          </a:solidFill>
          <a:latin typeface="Gill Sans" pitchFamily="-1" charset="0"/>
          <a:ea typeface="ヒラギノ角ゴ ProN W3" pitchFamily="-1" charset="-128"/>
          <a:cs typeface="ヒラギノ角ゴ ProN W3" pitchFamily="-1" charset="-128"/>
          <a:sym typeface="Gill Sans" pitchFamily="-1" charset="0"/>
        </a:defRPr>
      </a:lvl5pPr>
      <a:lvl6pPr marL="321457" algn="ctr" rtl="0" eaLnBrk="1" fontAlgn="base" hangingPunct="1">
        <a:spcBef>
          <a:spcPct val="0"/>
        </a:spcBef>
        <a:spcAft>
          <a:spcPct val="0"/>
        </a:spcAft>
        <a:defRPr sz="5900">
          <a:solidFill>
            <a:schemeClr val="tx1"/>
          </a:solidFill>
          <a:latin typeface="Gill Sans" pitchFamily="-1" charset="0"/>
          <a:ea typeface="ヒラギノ角ゴ ProN W3" pitchFamily="-1" charset="-128"/>
          <a:cs typeface="ヒラギノ角ゴ ProN W3" pitchFamily="-1" charset="-128"/>
          <a:sym typeface="Gill Sans" pitchFamily="-1" charset="0"/>
        </a:defRPr>
      </a:lvl6pPr>
      <a:lvl7pPr marL="642915" algn="ctr" rtl="0" eaLnBrk="1" fontAlgn="base" hangingPunct="1">
        <a:spcBef>
          <a:spcPct val="0"/>
        </a:spcBef>
        <a:spcAft>
          <a:spcPct val="0"/>
        </a:spcAft>
        <a:defRPr sz="5900">
          <a:solidFill>
            <a:schemeClr val="tx1"/>
          </a:solidFill>
          <a:latin typeface="Gill Sans" pitchFamily="-1" charset="0"/>
          <a:ea typeface="ヒラギノ角ゴ ProN W3" pitchFamily="-1" charset="-128"/>
          <a:cs typeface="ヒラギノ角ゴ ProN W3" pitchFamily="-1" charset="-128"/>
          <a:sym typeface="Gill Sans" pitchFamily="-1" charset="0"/>
        </a:defRPr>
      </a:lvl7pPr>
      <a:lvl8pPr marL="964372" algn="ctr" rtl="0" eaLnBrk="1" fontAlgn="base" hangingPunct="1">
        <a:spcBef>
          <a:spcPct val="0"/>
        </a:spcBef>
        <a:spcAft>
          <a:spcPct val="0"/>
        </a:spcAft>
        <a:defRPr sz="5900">
          <a:solidFill>
            <a:schemeClr val="tx1"/>
          </a:solidFill>
          <a:latin typeface="Gill Sans" pitchFamily="-1" charset="0"/>
          <a:ea typeface="ヒラギノ角ゴ ProN W3" pitchFamily="-1" charset="-128"/>
          <a:cs typeface="ヒラギノ角ゴ ProN W3" pitchFamily="-1" charset="-128"/>
          <a:sym typeface="Gill Sans" pitchFamily="-1" charset="0"/>
        </a:defRPr>
      </a:lvl8pPr>
      <a:lvl9pPr marL="1285829" algn="ctr" rtl="0" eaLnBrk="1" fontAlgn="base" hangingPunct="1">
        <a:spcBef>
          <a:spcPct val="0"/>
        </a:spcBef>
        <a:spcAft>
          <a:spcPct val="0"/>
        </a:spcAft>
        <a:defRPr sz="5900">
          <a:solidFill>
            <a:schemeClr val="tx1"/>
          </a:solidFill>
          <a:latin typeface="Gill Sans" pitchFamily="-1" charset="0"/>
          <a:ea typeface="ヒラギノ角ゴ ProN W3" pitchFamily="-1" charset="-128"/>
          <a:cs typeface="ヒラギノ角ゴ ProN W3" pitchFamily="-1" charset="-128"/>
          <a:sym typeface="Gill Sans" pitchFamily="-1" charset="0"/>
        </a:defRPr>
      </a:lvl9pPr>
    </p:titleStyle>
    <p:bodyStyle>
      <a:lvl1pPr marL="534646" indent="-347130" algn="l" rtl="0" eaLnBrk="1" fontAlgn="base" hangingPunct="1">
        <a:spcBef>
          <a:spcPts val="2672"/>
        </a:spcBef>
        <a:spcAft>
          <a:spcPct val="0"/>
        </a:spcAft>
        <a:buClr>
          <a:schemeClr val="accent5"/>
        </a:buClr>
        <a:buSzPct val="100000"/>
        <a:buFont typeface="Gill Sans" pitchFamily="-1" charset="0"/>
        <a:buChar char="•"/>
        <a:defRPr sz="2200">
          <a:solidFill>
            <a:srgbClr val="000000"/>
          </a:solidFill>
          <a:latin typeface="+mn-lt"/>
          <a:ea typeface="+mn-ea"/>
          <a:cs typeface="+mn-cs"/>
          <a:sym typeface="Gill Sans" pitchFamily="-1" charset="0"/>
        </a:defRPr>
      </a:lvl1pPr>
      <a:lvl2pPr marL="847174" indent="-347130" algn="l" rtl="0" eaLnBrk="1" fontAlgn="base" hangingPunct="1">
        <a:spcBef>
          <a:spcPts val="2672"/>
        </a:spcBef>
        <a:spcAft>
          <a:spcPct val="0"/>
        </a:spcAft>
        <a:buClr>
          <a:schemeClr val="accent5"/>
        </a:buClr>
        <a:buSzPct val="100000"/>
        <a:buFont typeface="Gill Sans" pitchFamily="-1" charset="0"/>
        <a:buChar char="•"/>
        <a:defRPr sz="2200">
          <a:solidFill>
            <a:srgbClr val="000000"/>
          </a:solidFill>
          <a:latin typeface="+mn-lt"/>
          <a:ea typeface="+mn-ea"/>
          <a:cs typeface="+mn-cs"/>
          <a:sym typeface="Gill Sans" pitchFamily="-1" charset="0"/>
        </a:defRPr>
      </a:lvl2pPr>
      <a:lvl3pPr marL="1159702" indent="-347130" algn="l" rtl="0" eaLnBrk="1" fontAlgn="base" hangingPunct="1">
        <a:spcBef>
          <a:spcPts val="2672"/>
        </a:spcBef>
        <a:spcAft>
          <a:spcPct val="0"/>
        </a:spcAft>
        <a:buClr>
          <a:schemeClr val="accent5"/>
        </a:buClr>
        <a:buSzPct val="100000"/>
        <a:buFont typeface="Gill Sans" pitchFamily="-1" charset="0"/>
        <a:buChar char="•"/>
        <a:defRPr sz="2200">
          <a:solidFill>
            <a:srgbClr val="000000"/>
          </a:solidFill>
          <a:latin typeface="+mn-lt"/>
          <a:ea typeface="+mn-ea"/>
          <a:cs typeface="+mn-cs"/>
          <a:sym typeface="Gill Sans" pitchFamily="-1" charset="0"/>
        </a:defRPr>
      </a:lvl3pPr>
      <a:lvl4pPr marL="1472230" indent="-347130" algn="l" rtl="0" eaLnBrk="1" fontAlgn="base" hangingPunct="1">
        <a:spcBef>
          <a:spcPts val="2672"/>
        </a:spcBef>
        <a:spcAft>
          <a:spcPct val="0"/>
        </a:spcAft>
        <a:buClr>
          <a:schemeClr val="accent5"/>
        </a:buClr>
        <a:buSzPct val="100000"/>
        <a:buFont typeface="Gill Sans" pitchFamily="-1" charset="0"/>
        <a:buChar char="•"/>
        <a:defRPr sz="2200">
          <a:solidFill>
            <a:srgbClr val="000000"/>
          </a:solidFill>
          <a:latin typeface="+mn-lt"/>
          <a:ea typeface="+mn-ea"/>
          <a:cs typeface="+mn-cs"/>
          <a:sym typeface="Gill Sans" pitchFamily="-1" charset="0"/>
        </a:defRPr>
      </a:lvl4pPr>
      <a:lvl5pPr marL="1784758" indent="-347130" algn="l" rtl="0" eaLnBrk="1" fontAlgn="base" hangingPunct="1">
        <a:spcBef>
          <a:spcPts val="2672"/>
        </a:spcBef>
        <a:spcAft>
          <a:spcPct val="0"/>
        </a:spcAft>
        <a:buClr>
          <a:schemeClr val="accent5"/>
        </a:buClr>
        <a:buSzPct val="100000"/>
        <a:buFont typeface="Gill Sans" pitchFamily="-1" charset="0"/>
        <a:buChar char="•"/>
        <a:defRPr sz="2200">
          <a:solidFill>
            <a:srgbClr val="000000"/>
          </a:solidFill>
          <a:latin typeface="+mn-lt"/>
          <a:ea typeface="+mn-ea"/>
          <a:cs typeface="+mn-cs"/>
          <a:sym typeface="Gill Sans" pitchFamily="-1" charset="0"/>
        </a:defRPr>
      </a:lvl5pPr>
      <a:lvl6pPr marL="2106216" indent="-347130" algn="l" rtl="0" eaLnBrk="1" fontAlgn="base" hangingPunct="1">
        <a:spcBef>
          <a:spcPts val="2672"/>
        </a:spcBef>
        <a:spcAft>
          <a:spcPct val="0"/>
        </a:spcAft>
        <a:buSzPct val="171000"/>
        <a:buFont typeface="Gill Sans" pitchFamily="-1" charset="0"/>
        <a:buChar char="•"/>
        <a:defRPr sz="2200">
          <a:solidFill>
            <a:schemeClr val="tx1"/>
          </a:solidFill>
          <a:latin typeface="+mn-lt"/>
          <a:ea typeface="+mn-ea"/>
          <a:cs typeface="+mn-cs"/>
          <a:sym typeface="Gill Sans" pitchFamily="-1" charset="0"/>
        </a:defRPr>
      </a:lvl6pPr>
      <a:lvl7pPr marL="2427673" indent="-347130" algn="l" rtl="0" eaLnBrk="1" fontAlgn="base" hangingPunct="1">
        <a:spcBef>
          <a:spcPts val="2672"/>
        </a:spcBef>
        <a:spcAft>
          <a:spcPct val="0"/>
        </a:spcAft>
        <a:buSzPct val="171000"/>
        <a:buFont typeface="Gill Sans" pitchFamily="-1" charset="0"/>
        <a:buChar char="•"/>
        <a:defRPr sz="2200">
          <a:solidFill>
            <a:schemeClr val="tx1"/>
          </a:solidFill>
          <a:latin typeface="+mn-lt"/>
          <a:ea typeface="+mn-ea"/>
          <a:cs typeface="+mn-cs"/>
          <a:sym typeface="Gill Sans" pitchFamily="-1" charset="0"/>
        </a:defRPr>
      </a:lvl7pPr>
      <a:lvl8pPr marL="2749130" indent="-347130" algn="l" rtl="0" eaLnBrk="1" fontAlgn="base" hangingPunct="1">
        <a:spcBef>
          <a:spcPts val="2672"/>
        </a:spcBef>
        <a:spcAft>
          <a:spcPct val="0"/>
        </a:spcAft>
        <a:buSzPct val="171000"/>
        <a:buFont typeface="Gill Sans" pitchFamily="-1" charset="0"/>
        <a:buChar char="•"/>
        <a:defRPr sz="2200">
          <a:solidFill>
            <a:schemeClr val="tx1"/>
          </a:solidFill>
          <a:latin typeface="+mn-lt"/>
          <a:ea typeface="+mn-ea"/>
          <a:cs typeface="+mn-cs"/>
          <a:sym typeface="Gill Sans" pitchFamily="-1" charset="0"/>
        </a:defRPr>
      </a:lvl8pPr>
      <a:lvl9pPr marL="3070587" indent="-347130" algn="l" rtl="0" eaLnBrk="1" fontAlgn="base" hangingPunct="1">
        <a:spcBef>
          <a:spcPts val="2672"/>
        </a:spcBef>
        <a:spcAft>
          <a:spcPct val="0"/>
        </a:spcAft>
        <a:buSzPct val="171000"/>
        <a:buFont typeface="Gill Sans" pitchFamily="-1" charset="0"/>
        <a:buChar char="•"/>
        <a:defRPr sz="2200">
          <a:solidFill>
            <a:schemeClr val="tx1"/>
          </a:solidFill>
          <a:latin typeface="+mn-lt"/>
          <a:ea typeface="+mn-ea"/>
          <a:cs typeface="+mn-cs"/>
          <a:sym typeface="Gill Sans" pitchFamily="-1" charset="0"/>
        </a:defRPr>
      </a:lvl9pPr>
    </p:bodyStyle>
    <p:otherStyle>
      <a:defPPr>
        <a:defRPr lang="en-US"/>
      </a:defPPr>
      <a:lvl1pPr marL="0" algn="l" defTabSz="321457" rtl="0" eaLnBrk="1" latinLnBrk="0" hangingPunct="1">
        <a:defRPr sz="1300" kern="1200">
          <a:solidFill>
            <a:schemeClr val="tx1"/>
          </a:solidFill>
          <a:latin typeface="+mn-lt"/>
          <a:ea typeface="+mn-ea"/>
          <a:cs typeface="+mn-cs"/>
        </a:defRPr>
      </a:lvl1pPr>
      <a:lvl2pPr marL="321457" algn="l" defTabSz="321457" rtl="0" eaLnBrk="1" latinLnBrk="0" hangingPunct="1">
        <a:defRPr sz="1300" kern="1200">
          <a:solidFill>
            <a:schemeClr val="tx1"/>
          </a:solidFill>
          <a:latin typeface="+mn-lt"/>
          <a:ea typeface="+mn-ea"/>
          <a:cs typeface="+mn-cs"/>
        </a:defRPr>
      </a:lvl2pPr>
      <a:lvl3pPr marL="642915" algn="l" defTabSz="321457" rtl="0" eaLnBrk="1" latinLnBrk="0" hangingPunct="1">
        <a:defRPr sz="1300" kern="1200">
          <a:solidFill>
            <a:schemeClr val="tx1"/>
          </a:solidFill>
          <a:latin typeface="+mn-lt"/>
          <a:ea typeface="+mn-ea"/>
          <a:cs typeface="+mn-cs"/>
        </a:defRPr>
      </a:lvl3pPr>
      <a:lvl4pPr marL="964372" algn="l" defTabSz="321457" rtl="0" eaLnBrk="1" latinLnBrk="0" hangingPunct="1">
        <a:defRPr sz="1300" kern="1200">
          <a:solidFill>
            <a:schemeClr val="tx1"/>
          </a:solidFill>
          <a:latin typeface="+mn-lt"/>
          <a:ea typeface="+mn-ea"/>
          <a:cs typeface="+mn-cs"/>
        </a:defRPr>
      </a:lvl4pPr>
      <a:lvl5pPr marL="1285829" algn="l" defTabSz="321457" rtl="0" eaLnBrk="1" latinLnBrk="0" hangingPunct="1">
        <a:defRPr sz="1300" kern="1200">
          <a:solidFill>
            <a:schemeClr val="tx1"/>
          </a:solidFill>
          <a:latin typeface="+mn-lt"/>
          <a:ea typeface="+mn-ea"/>
          <a:cs typeface="+mn-cs"/>
        </a:defRPr>
      </a:lvl5pPr>
      <a:lvl6pPr marL="1607287" algn="l" defTabSz="321457" rtl="0" eaLnBrk="1" latinLnBrk="0" hangingPunct="1">
        <a:defRPr sz="1300" kern="1200">
          <a:solidFill>
            <a:schemeClr val="tx1"/>
          </a:solidFill>
          <a:latin typeface="+mn-lt"/>
          <a:ea typeface="+mn-ea"/>
          <a:cs typeface="+mn-cs"/>
        </a:defRPr>
      </a:lvl6pPr>
      <a:lvl7pPr marL="1928744" algn="l" defTabSz="321457" rtl="0" eaLnBrk="1" latinLnBrk="0" hangingPunct="1">
        <a:defRPr sz="1300" kern="1200">
          <a:solidFill>
            <a:schemeClr val="tx1"/>
          </a:solidFill>
          <a:latin typeface="+mn-lt"/>
          <a:ea typeface="+mn-ea"/>
          <a:cs typeface="+mn-cs"/>
        </a:defRPr>
      </a:lvl7pPr>
      <a:lvl8pPr marL="2250201" algn="l" defTabSz="321457" rtl="0" eaLnBrk="1" latinLnBrk="0" hangingPunct="1">
        <a:defRPr sz="1300" kern="1200">
          <a:solidFill>
            <a:schemeClr val="tx1"/>
          </a:solidFill>
          <a:latin typeface="+mn-lt"/>
          <a:ea typeface="+mn-ea"/>
          <a:cs typeface="+mn-cs"/>
        </a:defRPr>
      </a:lvl8pPr>
      <a:lvl9pPr marL="2571659" algn="l" defTabSz="321457"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18/10/relationships/comments" Target="../comments/modernComment_7FFFF1C3_58CEF50D.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microsoft.com/office/2018/10/relationships/comments" Target="../comments/modernComment_113_0.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0"/>
            <a:ext cx="9144000" cy="6858000"/>
          </a:xfrm>
          <a:prstGeom prst="rect">
            <a:avLst/>
          </a:prstGeom>
          <a:solidFill>
            <a:schemeClr val="tx2">
              <a:lumMod val="40000"/>
              <a:lumOff val="60000"/>
            </a:scheme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4200" b="0" i="0" u="none" strike="noStrike" cap="none" normalizeH="0" baseline="0">
              <a:ln>
                <a:noFill/>
              </a:ln>
              <a:solidFill>
                <a:schemeClr val="bg1"/>
              </a:solidFill>
              <a:effectLst/>
              <a:latin typeface="Gill Sans" pitchFamily="-1" charset="0"/>
              <a:ea typeface="ヒラギノ角ゴ ProN W3" pitchFamily="-1" charset="-128"/>
              <a:cs typeface="ヒラギノ角ゴ ProN W3" pitchFamily="-1" charset="-128"/>
              <a:sym typeface="Gill Sans" pitchFamily="-1" charset="0"/>
            </a:endParaRPr>
          </a:p>
        </p:txBody>
      </p:sp>
      <p:sp>
        <p:nvSpPr>
          <p:cNvPr id="19457" name="Rectangle 1"/>
          <p:cNvSpPr>
            <a:spLocks/>
          </p:cNvSpPr>
          <p:nvPr/>
        </p:nvSpPr>
        <p:spPr bwMode="auto">
          <a:xfrm>
            <a:off x="304800" y="2209800"/>
            <a:ext cx="8534400" cy="4495800"/>
          </a:xfrm>
          <a:prstGeom prst="rect">
            <a:avLst/>
          </a:prstGeom>
          <a:noFill/>
          <a:ln w="12700" cap="flat">
            <a:noFill/>
            <a:miter lim="800000"/>
            <a:headEnd type="none" w="med" len="med"/>
            <a:tailEnd type="none" w="med" len="med"/>
          </a:ln>
        </p:spPr>
        <p:txBody>
          <a:bodyPr lIns="0" tIns="0" rIns="0" bIns="0" anchor="ctr">
            <a:prstTxWarp prst="textNoShape">
              <a:avLst/>
            </a:prstTxWarp>
          </a:bodyPr>
          <a:lstStyle/>
          <a:p>
            <a:pPr algn="ctr" fontAlgn="ctr"/>
            <a:r>
              <a:rPr lang="en-US" sz="4400" b="1" dirty="0">
                <a:latin typeface="+mj-lt"/>
              </a:rPr>
              <a:t>Reducing premature mortality from cardiovascular disease in Indonesia</a:t>
            </a:r>
          </a:p>
          <a:p>
            <a:pPr algn="ctr" fontAlgn="ctr"/>
            <a:endParaRPr lang="en-US" sz="2200" b="1" dirty="0">
              <a:latin typeface="+mj-lt"/>
            </a:endParaRPr>
          </a:p>
          <a:p>
            <a:pPr algn="ctr" fontAlgn="ctr"/>
            <a:r>
              <a:rPr lang="en-US" sz="3000" dirty="0">
                <a:ea typeface="Helvetica" pitchFamily="-1" charset="0"/>
                <a:cs typeface="Helvetica" pitchFamily="-1" charset="0"/>
                <a:sym typeface="Helvetica" pitchFamily="-1" charset="0"/>
              </a:rPr>
              <a:t>Stéphane </a:t>
            </a:r>
            <a:r>
              <a:rPr lang="en-US" sz="3000" dirty="0" err="1">
                <a:ea typeface="Helvetica" pitchFamily="-1" charset="0"/>
                <a:cs typeface="Helvetica" pitchFamily="-1" charset="0"/>
                <a:sym typeface="Helvetica" pitchFamily="-1" charset="0"/>
              </a:rPr>
              <a:t>Verguet</a:t>
            </a:r>
            <a:r>
              <a:rPr lang="en-US" sz="3000" dirty="0">
                <a:ea typeface="Helvetica" pitchFamily="-1" charset="0"/>
                <a:cs typeface="Helvetica" pitchFamily="-1" charset="0"/>
                <a:sym typeface="Helvetica" pitchFamily="-1" charset="0"/>
              </a:rPr>
              <a:t> and David Watkins</a:t>
            </a:r>
          </a:p>
          <a:p>
            <a:pPr algn="ctr" fontAlgn="ctr"/>
            <a:endParaRPr lang="en-US" dirty="0">
              <a:ea typeface="Helvetica" pitchFamily="-1" charset="0"/>
              <a:cs typeface="Helvetica" pitchFamily="-1" charset="0"/>
              <a:sym typeface="Helvetica" pitchFamily="-1" charset="0"/>
            </a:endParaRPr>
          </a:p>
          <a:p>
            <a:pPr algn="ctr" fontAlgn="ctr"/>
            <a:r>
              <a:rPr lang="en-US" sz="3000" dirty="0">
                <a:latin typeface="+mj-lt"/>
                <a:ea typeface="Helvetica" pitchFamily="-1" charset="0"/>
                <a:cs typeface="Helvetica" pitchFamily="-1" charset="0"/>
                <a:sym typeface="Helvetica" pitchFamily="-1" charset="0"/>
              </a:rPr>
              <a:t>Acknowledgements: William Garcia, William </a:t>
            </a:r>
            <a:r>
              <a:rPr lang="en-US" sz="3000" dirty="0" err="1">
                <a:latin typeface="+mj-lt"/>
                <a:ea typeface="Helvetica" pitchFamily="-1" charset="0"/>
                <a:cs typeface="Helvetica" pitchFamily="-1" charset="0"/>
                <a:sym typeface="Helvetica" pitchFamily="-1" charset="0"/>
              </a:rPr>
              <a:t>Msemburi</a:t>
            </a:r>
            <a:r>
              <a:rPr lang="en-US" sz="3000" dirty="0">
                <a:latin typeface="+mj-lt"/>
                <a:ea typeface="Helvetica" pitchFamily="-1" charset="0"/>
                <a:cs typeface="Helvetica" pitchFamily="-1" charset="0"/>
                <a:sym typeface="Helvetica" pitchFamily="-1" charset="0"/>
              </a:rPr>
              <a:t>, Zili Huang &amp; Yuchen Liu </a:t>
            </a:r>
          </a:p>
          <a:p>
            <a:pPr algn="ctr"/>
            <a:endParaRPr lang="en-US" dirty="0">
              <a:latin typeface="+mj-lt"/>
              <a:ea typeface="Helvetica" pitchFamily="-1" charset="0"/>
              <a:cs typeface="Helvetica" pitchFamily="-1" charset="0"/>
              <a:sym typeface="Helvetica" pitchFamily="-1" charset="0"/>
            </a:endParaRPr>
          </a:p>
          <a:p>
            <a:pPr algn="ctr"/>
            <a:r>
              <a:rPr lang="en-US" sz="2000" dirty="0">
                <a:latin typeface="+mj-lt"/>
              </a:rPr>
              <a:t>August 31, 2026</a:t>
            </a:r>
          </a:p>
        </p:txBody>
      </p:sp>
      <p:pic>
        <p:nvPicPr>
          <p:cNvPr id="3" name="Picture 2" descr="A close up of a logo&#10;&#10;AI-generated content may be incorrect.">
            <a:extLst>
              <a:ext uri="{FF2B5EF4-FFF2-40B4-BE49-F238E27FC236}">
                <a16:creationId xmlns:a16="http://schemas.microsoft.com/office/drawing/2014/main" id="{6AEC541F-5BA3-78CA-C1C9-00C0891726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5800" y="457200"/>
            <a:ext cx="3514434" cy="1280160"/>
          </a:xfrm>
          <a:prstGeom prst="rect">
            <a:avLst/>
          </a:prstGeom>
        </p:spPr>
      </p:pic>
    </p:spTree>
    <p:extLst>
      <p:ext uri="{BB962C8B-B14F-4D97-AF65-F5344CB8AC3E}">
        <p14:creationId xmlns:p14="http://schemas.microsoft.com/office/powerpoint/2010/main" val="4030985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514600"/>
            <a:ext cx="8229600" cy="1523999"/>
          </a:xfrm>
        </p:spPr>
        <p:txBody>
          <a:bodyPr>
            <a:noAutofit/>
          </a:bodyPr>
          <a:lstStyle/>
          <a:p>
            <a:pPr marL="0" indent="0" algn="ctr">
              <a:buNone/>
            </a:pPr>
            <a:r>
              <a:rPr lang="en-US" sz="4000" b="1" dirty="0">
                <a:solidFill>
                  <a:srgbClr val="002060"/>
                </a:solidFill>
              </a:rPr>
              <a:t>Message 1. </a:t>
            </a:r>
            <a:r>
              <a:rPr lang="en-US" sz="4000" dirty="0">
                <a:solidFill>
                  <a:srgbClr val="002060"/>
                </a:solidFill>
              </a:rPr>
              <a:t>The economic value of reducing avoidable mortality is very large in Indonesia</a:t>
            </a:r>
          </a:p>
        </p:txBody>
      </p:sp>
    </p:spTree>
    <p:extLst>
      <p:ext uri="{BB962C8B-B14F-4D97-AF65-F5344CB8AC3E}">
        <p14:creationId xmlns:p14="http://schemas.microsoft.com/office/powerpoint/2010/main" val="1999605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9802E-2420-0204-3E11-AF2A334DAB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F23CF-6566-5D38-8257-2E328286B1F6}"/>
              </a:ext>
            </a:extLst>
          </p:cNvPr>
          <p:cNvSpPr>
            <a:spLocks noGrp="1"/>
          </p:cNvSpPr>
          <p:nvPr>
            <p:ph type="title"/>
          </p:nvPr>
        </p:nvSpPr>
        <p:spPr>
          <a:xfrm>
            <a:off x="627623" y="685621"/>
            <a:ext cx="7888754" cy="685979"/>
          </a:xfrm>
        </p:spPr>
        <p:txBody>
          <a:bodyPr>
            <a:noAutofit/>
          </a:bodyPr>
          <a:lstStyle/>
          <a:p>
            <a:r>
              <a:rPr lang="en-US" sz="4000" b="1" dirty="0">
                <a:solidFill>
                  <a:srgbClr val="002060"/>
                </a:solidFill>
              </a:rPr>
              <a:t>HEALTHY LONGEVITY INITIATIVE</a:t>
            </a:r>
          </a:p>
        </p:txBody>
      </p:sp>
      <p:pic>
        <p:nvPicPr>
          <p:cNvPr id="6" name="Content Placeholder 5">
            <a:extLst>
              <a:ext uri="{FF2B5EF4-FFF2-40B4-BE49-F238E27FC236}">
                <a16:creationId xmlns:a16="http://schemas.microsoft.com/office/drawing/2014/main" id="{0DB9C0F7-0B2B-43A5-B6DC-5C8645E7D6B1}"/>
              </a:ext>
            </a:extLst>
          </p:cNvPr>
          <p:cNvPicPr>
            <a:picLocks noGrp="1" noChangeAspect="1"/>
          </p:cNvPicPr>
          <p:nvPr>
            <p:ph sz="quarter" idx="13"/>
          </p:nvPr>
        </p:nvPicPr>
        <p:blipFill>
          <a:blip r:embed="rId2"/>
          <a:stretch>
            <a:fillRect/>
          </a:stretch>
        </p:blipFill>
        <p:spPr>
          <a:xfrm>
            <a:off x="228600" y="2201305"/>
            <a:ext cx="2597364" cy="3361295"/>
          </a:xfrm>
        </p:spPr>
      </p:pic>
      <p:sp>
        <p:nvSpPr>
          <p:cNvPr id="10" name="TextBox 9">
            <a:extLst>
              <a:ext uri="{FF2B5EF4-FFF2-40B4-BE49-F238E27FC236}">
                <a16:creationId xmlns:a16="http://schemas.microsoft.com/office/drawing/2014/main" id="{CCE453BC-44B7-A17D-2442-87D31A0735F9}"/>
              </a:ext>
            </a:extLst>
          </p:cNvPr>
          <p:cNvSpPr txBox="1"/>
          <p:nvPr/>
        </p:nvSpPr>
        <p:spPr>
          <a:xfrm>
            <a:off x="2971800" y="1898571"/>
            <a:ext cx="6095999" cy="3816429"/>
          </a:xfrm>
          <a:prstGeom prst="rect">
            <a:avLst/>
          </a:prstGeom>
          <a:noFill/>
        </p:spPr>
        <p:txBody>
          <a:bodyPr wrap="square">
            <a:spAutoFit/>
          </a:bodyPr>
          <a:lstStyle/>
          <a:p>
            <a:pPr marL="171496" indent="-171496">
              <a:buFont typeface="Arial" panose="020B0604020202020204" pitchFamily="34" charset="0"/>
              <a:buChar char="•"/>
            </a:pPr>
            <a:r>
              <a:rPr lang="en-US" sz="2200" dirty="0">
                <a:latin typeface="Calibri" panose="020F0502020204030204" pitchFamily="34" charset="0"/>
                <a:cs typeface="Calibri" panose="020F0502020204030204" pitchFamily="34" charset="0"/>
              </a:rPr>
              <a:t>In many countries, the </a:t>
            </a:r>
            <a:r>
              <a:rPr lang="en-US" sz="2200" b="1" dirty="0">
                <a:latin typeface="Calibri" panose="020F0502020204030204" pitchFamily="34" charset="0"/>
                <a:cs typeface="Calibri" panose="020F0502020204030204" pitchFamily="34" charset="0"/>
              </a:rPr>
              <a:t>proportion of older adults is increasing</a:t>
            </a:r>
            <a:r>
              <a:rPr lang="en-US" sz="2200" dirty="0">
                <a:latin typeface="Calibri" panose="020F0502020204030204" pitchFamily="34" charset="0"/>
                <a:cs typeface="Calibri" panose="020F0502020204030204" pitchFamily="34" charset="0"/>
              </a:rPr>
              <a:t>, with an </a:t>
            </a:r>
            <a:r>
              <a:rPr lang="en-US" sz="2200" b="1" dirty="0">
                <a:latin typeface="Calibri" panose="020F0502020204030204" pitchFamily="34" charset="0"/>
                <a:cs typeface="Calibri" panose="020F0502020204030204" pitchFamily="34" charset="0"/>
              </a:rPr>
              <a:t>ever-increasing burden of NCDs</a:t>
            </a:r>
          </a:p>
          <a:p>
            <a:pPr marL="171496" indent="-171496">
              <a:buFont typeface="Arial" panose="020B0604020202020204" pitchFamily="34" charset="0"/>
              <a:buChar char="•"/>
            </a:pPr>
            <a:endParaRPr lang="en-US" sz="2200" dirty="0">
              <a:latin typeface="Calibri" panose="020F0502020204030204" pitchFamily="34" charset="0"/>
              <a:cs typeface="Calibri" panose="020F0502020204030204" pitchFamily="34" charset="0"/>
            </a:endParaRPr>
          </a:p>
          <a:p>
            <a:pPr marL="171496" indent="-171496">
              <a:buFont typeface="Arial" panose="020B0604020202020204" pitchFamily="34" charset="0"/>
              <a:buChar char="•"/>
            </a:pPr>
            <a:endParaRPr lang="en-US" sz="2200" dirty="0">
              <a:latin typeface="Calibri" panose="020F0502020204030204" pitchFamily="34" charset="0"/>
              <a:cs typeface="Calibri" panose="020F0502020204030204" pitchFamily="34" charset="0"/>
            </a:endParaRPr>
          </a:p>
          <a:p>
            <a:pPr marL="171496" indent="-171496">
              <a:buFont typeface="Arial" panose="020B0604020202020204" pitchFamily="34" charset="0"/>
              <a:buChar char="•"/>
            </a:pPr>
            <a:r>
              <a:rPr lang="en-US" sz="2200" dirty="0">
                <a:latin typeface="Calibri" panose="020F0502020204030204" pitchFamily="34" charset="0"/>
                <a:cs typeface="Calibri" panose="020F0502020204030204" pitchFamily="34" charset="0"/>
              </a:rPr>
              <a:t>National health systems face difficult </a:t>
            </a:r>
            <a:r>
              <a:rPr lang="en-US" sz="2200" b="1" dirty="0">
                <a:latin typeface="Calibri" panose="020F0502020204030204" pitchFamily="34" charset="0"/>
                <a:cs typeface="Calibri" panose="020F0502020204030204" pitchFamily="34" charset="0"/>
              </a:rPr>
              <a:t>trade-offs when allocating health sector resources</a:t>
            </a:r>
            <a:endParaRPr lang="en-US" sz="2200" dirty="0">
              <a:latin typeface="Calibri" panose="020F0502020204030204" pitchFamily="34" charset="0"/>
              <a:cs typeface="Calibri" panose="020F0502020204030204" pitchFamily="34" charset="0"/>
            </a:endParaRPr>
          </a:p>
          <a:p>
            <a:pPr marL="171496" indent="-171496">
              <a:buFont typeface="Arial" panose="020B0604020202020204" pitchFamily="34" charset="0"/>
              <a:buChar char="•"/>
            </a:pPr>
            <a:r>
              <a:rPr lang="en-US" sz="2200" dirty="0">
                <a:latin typeface="Calibri" panose="020F0502020204030204" pitchFamily="34" charset="0"/>
                <a:cs typeface="Calibri" panose="020F0502020204030204" pitchFamily="34" charset="0"/>
              </a:rPr>
              <a:t>World Bank launched the “Healthy Longevity Initiative” to develop an evidence base for </a:t>
            </a:r>
            <a:r>
              <a:rPr lang="en-US" sz="2200" b="1" dirty="0">
                <a:latin typeface="Calibri" panose="020F0502020204030204" pitchFamily="34" charset="0"/>
                <a:cs typeface="Calibri" panose="020F0502020204030204" pitchFamily="34" charset="0"/>
              </a:rPr>
              <a:t>life-course investments in policies that can improve healthy longevity and human capital</a:t>
            </a:r>
          </a:p>
        </p:txBody>
      </p:sp>
      <p:sp>
        <p:nvSpPr>
          <p:cNvPr id="12" name="Down Arrow 11">
            <a:extLst>
              <a:ext uri="{FF2B5EF4-FFF2-40B4-BE49-F238E27FC236}">
                <a16:creationId xmlns:a16="http://schemas.microsoft.com/office/drawing/2014/main" id="{575F2A69-83B0-3948-BA53-E07D56FC531B}"/>
              </a:ext>
            </a:extLst>
          </p:cNvPr>
          <p:cNvSpPr/>
          <p:nvPr/>
        </p:nvSpPr>
        <p:spPr>
          <a:xfrm>
            <a:off x="5105400" y="2882722"/>
            <a:ext cx="1227541" cy="470078"/>
          </a:xfrm>
          <a:prstGeom prst="downArrow">
            <a:avLst/>
          </a:prstGeom>
          <a:solidFill>
            <a:schemeClr val="accent6">
              <a:lumMod val="60000"/>
              <a:lumOff val="40000"/>
            </a:schemeClr>
          </a:solidFill>
          <a:ln w="285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highlight>
                <a:srgbClr val="800080"/>
              </a:highlight>
            </a:endParaRPr>
          </a:p>
        </p:txBody>
      </p:sp>
    </p:spTree>
    <p:extLst>
      <p:ext uri="{BB962C8B-B14F-4D97-AF65-F5344CB8AC3E}">
        <p14:creationId xmlns:p14="http://schemas.microsoft.com/office/powerpoint/2010/main" val="517079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2F76019-1178-910E-CBB4-A141A1D9A952}"/>
              </a:ext>
            </a:extLst>
          </p:cNvPr>
          <p:cNvSpPr txBox="1"/>
          <p:nvPr/>
        </p:nvSpPr>
        <p:spPr>
          <a:xfrm>
            <a:off x="381000" y="1929348"/>
            <a:ext cx="8229600" cy="3785652"/>
          </a:xfrm>
          <a:prstGeom prst="rect">
            <a:avLst/>
          </a:prstGeom>
          <a:noFill/>
        </p:spPr>
        <p:txBody>
          <a:bodyPr wrap="square">
            <a:spAutoFit/>
          </a:bodyPr>
          <a:lstStyle/>
          <a:p>
            <a:pPr marL="171496" indent="-171496">
              <a:buFont typeface="Arial" panose="020B0604020202020204" pitchFamily="34" charset="0"/>
              <a:buChar char="•"/>
            </a:pPr>
            <a:endParaRPr lang="en-US" sz="2400" dirty="0">
              <a:latin typeface="Calibri" panose="020F0502020204030204" pitchFamily="34" charset="0"/>
              <a:cs typeface="Calibri" panose="020F0502020204030204" pitchFamily="34" charset="0"/>
            </a:endParaRPr>
          </a:p>
          <a:p>
            <a:pPr marL="557292" lvl="1" indent="-214370">
              <a:buFont typeface="Wingdings" pitchFamily="2" charset="2"/>
              <a:buChar char="Ø"/>
            </a:pPr>
            <a:r>
              <a:rPr lang="en-US" sz="2400" b="1" u="sng" dirty="0">
                <a:latin typeface="Calibri" panose="020F0502020204030204" pitchFamily="34" charset="0"/>
                <a:cs typeface="Calibri" panose="020F0502020204030204" pitchFamily="34" charset="0"/>
              </a:rPr>
              <a:t>Estimating the economic value of avoidable mortality from major causes of death</a:t>
            </a:r>
            <a:r>
              <a:rPr lang="en-US" sz="2400" b="1" dirty="0">
                <a:latin typeface="Calibri" panose="020F0502020204030204" pitchFamily="34" charset="0"/>
                <a:cs typeface="Calibri" panose="020F0502020204030204" pitchFamily="34" charset="0"/>
              </a:rPr>
              <a:t> </a:t>
            </a:r>
            <a:r>
              <a:rPr lang="en-US" sz="2400" dirty="0">
                <a:latin typeface="Calibri" panose="020F0502020204030204" pitchFamily="34" charset="0"/>
                <a:cs typeface="Calibri" panose="020F0502020204030204" pitchFamily="34" charset="0"/>
              </a:rPr>
              <a:t>provides the foundations for evaluating the benefits of prevention and control policies under consideration</a:t>
            </a:r>
          </a:p>
          <a:p>
            <a:pPr marL="171496" indent="-171496">
              <a:buFont typeface="Arial" panose="020B0604020202020204" pitchFamily="34" charset="0"/>
              <a:buChar char="•"/>
            </a:pPr>
            <a:endParaRPr lang="en-US" sz="2400" dirty="0">
              <a:latin typeface="Calibri" panose="020F0502020204030204" pitchFamily="34" charset="0"/>
              <a:cs typeface="Calibri" panose="020F0502020204030204" pitchFamily="34" charset="0"/>
            </a:endParaRPr>
          </a:p>
          <a:p>
            <a:pPr marL="557292" lvl="1" indent="-214370">
              <a:buFont typeface="Wingdings" pitchFamily="2" charset="2"/>
              <a:buChar char="Ø"/>
            </a:pPr>
            <a:r>
              <a:rPr lang="en-US" sz="2400" b="1" u="sng" dirty="0">
                <a:latin typeface="Calibri" panose="020F0502020204030204" pitchFamily="34" charset="0"/>
                <a:cs typeface="Calibri" panose="020F0502020204030204" pitchFamily="34" charset="0"/>
              </a:rPr>
              <a:t>Producing a monetary value</a:t>
            </a:r>
            <a:r>
              <a:rPr lang="en-US" sz="2400" dirty="0">
                <a:latin typeface="Calibri" panose="020F0502020204030204" pitchFamily="34" charset="0"/>
                <a:cs typeface="Calibri" panose="020F0502020204030204" pitchFamily="34" charset="0"/>
              </a:rPr>
              <a:t> of reducing avoidable mortality by cause of death can directly speak to decision-makers beyond ministries of health, those in other sectors and </a:t>
            </a:r>
            <a:r>
              <a:rPr lang="en-US" sz="2400" b="1" u="sng" dirty="0">
                <a:latin typeface="Calibri" panose="020F0502020204030204" pitchFamily="34" charset="0"/>
                <a:cs typeface="Calibri" panose="020F0502020204030204" pitchFamily="34" charset="0"/>
              </a:rPr>
              <a:t>ministers of finance</a:t>
            </a:r>
          </a:p>
        </p:txBody>
      </p:sp>
      <p:sp>
        <p:nvSpPr>
          <p:cNvPr id="11" name="Title 1">
            <a:extLst>
              <a:ext uri="{FF2B5EF4-FFF2-40B4-BE49-F238E27FC236}">
                <a16:creationId xmlns:a16="http://schemas.microsoft.com/office/drawing/2014/main" id="{55AF81B9-9712-50B9-D7AA-CD29F6D408EA}"/>
              </a:ext>
            </a:extLst>
          </p:cNvPr>
          <p:cNvSpPr>
            <a:spLocks noGrp="1"/>
          </p:cNvSpPr>
          <p:nvPr>
            <p:ph type="title"/>
          </p:nvPr>
        </p:nvSpPr>
        <p:spPr>
          <a:xfrm>
            <a:off x="627623" y="685621"/>
            <a:ext cx="7888754" cy="685979"/>
          </a:xfrm>
        </p:spPr>
        <p:txBody>
          <a:bodyPr>
            <a:noAutofit/>
          </a:bodyPr>
          <a:lstStyle/>
          <a:p>
            <a:r>
              <a:rPr lang="en-US" sz="4000" b="1" dirty="0">
                <a:solidFill>
                  <a:srgbClr val="002060"/>
                </a:solidFill>
              </a:rPr>
              <a:t>OBJECTIVE</a:t>
            </a:r>
          </a:p>
        </p:txBody>
      </p:sp>
      <p:sp>
        <p:nvSpPr>
          <p:cNvPr id="13" name="TextBox 12">
            <a:extLst>
              <a:ext uri="{FF2B5EF4-FFF2-40B4-BE49-F238E27FC236}">
                <a16:creationId xmlns:a16="http://schemas.microsoft.com/office/drawing/2014/main" id="{2AED5DC4-38E8-2479-3595-3A0B0EE5CAA0}"/>
              </a:ext>
            </a:extLst>
          </p:cNvPr>
          <p:cNvSpPr txBox="1"/>
          <p:nvPr/>
        </p:nvSpPr>
        <p:spPr>
          <a:xfrm>
            <a:off x="1447800" y="6248401"/>
            <a:ext cx="6476999" cy="369332"/>
          </a:xfrm>
          <a:prstGeom prst="rect">
            <a:avLst/>
          </a:prstGeom>
          <a:noFill/>
        </p:spPr>
        <p:txBody>
          <a:bodyPr wrap="square" rtlCol="0">
            <a:spAutoFit/>
          </a:bodyPr>
          <a:lstStyle/>
          <a:p>
            <a:pPr algn="ctr"/>
            <a:r>
              <a:rPr lang="en-US" dirty="0">
                <a:solidFill>
                  <a:srgbClr val="000000"/>
                </a:solidFill>
              </a:rPr>
              <a:t>Adapted from: Verguet, </a:t>
            </a:r>
            <a:r>
              <a:rPr lang="en-US" dirty="0" err="1">
                <a:solidFill>
                  <a:srgbClr val="000000"/>
                </a:solidFill>
              </a:rPr>
              <a:t>Bolongaita</a:t>
            </a:r>
            <a:r>
              <a:rPr lang="en-US" dirty="0">
                <a:solidFill>
                  <a:srgbClr val="000000"/>
                </a:solidFill>
              </a:rPr>
              <a:t>, et al. </a:t>
            </a:r>
            <a:r>
              <a:rPr lang="en-US" i="1" dirty="0">
                <a:solidFill>
                  <a:srgbClr val="000000"/>
                </a:solidFill>
              </a:rPr>
              <a:t>Nature Medicine </a:t>
            </a:r>
            <a:r>
              <a:rPr lang="en-US" dirty="0">
                <a:solidFill>
                  <a:srgbClr val="000000"/>
                </a:solidFill>
              </a:rPr>
              <a:t>2024</a:t>
            </a:r>
            <a:endParaRPr lang="en-US" i="1" dirty="0">
              <a:solidFill>
                <a:srgbClr val="000000"/>
              </a:solidFill>
            </a:endParaRPr>
          </a:p>
        </p:txBody>
      </p:sp>
    </p:spTree>
    <p:extLst>
      <p:ext uri="{BB962C8B-B14F-4D97-AF65-F5344CB8AC3E}">
        <p14:creationId xmlns:p14="http://schemas.microsoft.com/office/powerpoint/2010/main" val="2955868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67280AE-72AA-369C-928F-36F4C32C07BB}"/>
              </a:ext>
            </a:extLst>
          </p:cNvPr>
          <p:cNvSpPr>
            <a:spLocks noGrp="1"/>
          </p:cNvSpPr>
          <p:nvPr>
            <p:ph sz="quarter" idx="13"/>
          </p:nvPr>
        </p:nvSpPr>
        <p:spPr>
          <a:xfrm>
            <a:off x="340218" y="1961725"/>
            <a:ext cx="8498981" cy="2915075"/>
          </a:xfrm>
        </p:spPr>
        <p:txBody>
          <a:bodyPr>
            <a:noAutofit/>
          </a:bodyPr>
          <a:lstStyle/>
          <a:p>
            <a:r>
              <a:rPr lang="en-US" sz="2200" b="1" u="sng" dirty="0">
                <a:latin typeface="Calibri" panose="020F0502020204030204" pitchFamily="34" charset="0"/>
                <a:cs typeface="Calibri" panose="020F0502020204030204" pitchFamily="34" charset="0"/>
              </a:rPr>
              <a:t>Objective</a:t>
            </a:r>
            <a:r>
              <a:rPr lang="en-US" sz="2200" b="1" dirty="0">
                <a:latin typeface="Calibri" panose="020F0502020204030204" pitchFamily="34" charset="0"/>
                <a:cs typeface="Calibri" panose="020F0502020204030204" pitchFamily="34" charset="0"/>
              </a:rPr>
              <a:t>: To estimate the economic value associated with avoidable mortality related to NCD causes of death, over 2019-2050</a:t>
            </a:r>
          </a:p>
          <a:p>
            <a:r>
              <a:rPr lang="en-US" sz="2200" dirty="0">
                <a:latin typeface="Calibri" panose="020F0502020204030204" pitchFamily="34" charset="0"/>
                <a:cs typeface="Calibri" panose="020F0502020204030204" pitchFamily="34" charset="0"/>
              </a:rPr>
              <a:t>We assess the monetary value of hypothetical reductions in cause-specific mortality</a:t>
            </a:r>
          </a:p>
          <a:p>
            <a:pPr marL="628222" lvl="1" indent="-278681">
              <a:buFont typeface="+mj-lt"/>
              <a:buAutoNum type="arabicPeriod"/>
            </a:pPr>
            <a:r>
              <a:rPr lang="en-US" sz="2200" dirty="0">
                <a:latin typeface="Calibri" panose="020F0502020204030204" pitchFamily="34" charset="0"/>
                <a:cs typeface="Calibri" panose="020F0502020204030204" pitchFamily="34" charset="0"/>
              </a:rPr>
              <a:t>We benchmark these hypothetical reductions against a mortality frontier (lowest mortality rates achieved) by cause</a:t>
            </a:r>
          </a:p>
          <a:p>
            <a:pPr marL="628222" lvl="1" indent="-278681">
              <a:buFont typeface="+mj-lt"/>
              <a:buAutoNum type="arabicPeriod"/>
            </a:pPr>
            <a:r>
              <a:rPr lang="en-US" sz="2200" dirty="0">
                <a:latin typeface="Calibri" panose="020F0502020204030204" pitchFamily="34" charset="0"/>
                <a:cs typeface="Calibri" panose="020F0502020204030204" pitchFamily="34" charset="0"/>
              </a:rPr>
              <a:t>We assign a willingness to pay value to these hypothetical reductions in cause-specific mortality</a:t>
            </a:r>
          </a:p>
          <a:p>
            <a:endParaRPr lang="en-US" sz="2200" dirty="0">
              <a:solidFill>
                <a:srgbClr val="002060"/>
              </a:solidFill>
              <a:latin typeface="Calibri" panose="020F0502020204030204" pitchFamily="34" charset="0"/>
              <a:cs typeface="Calibri" panose="020F0502020204030204" pitchFamily="34" charset="0"/>
            </a:endParaRPr>
          </a:p>
        </p:txBody>
      </p:sp>
      <p:sp>
        <p:nvSpPr>
          <p:cNvPr id="5" name="Text Placeholder 1">
            <a:extLst>
              <a:ext uri="{FF2B5EF4-FFF2-40B4-BE49-F238E27FC236}">
                <a16:creationId xmlns:a16="http://schemas.microsoft.com/office/drawing/2014/main" id="{64ACBEED-8A82-E373-7018-4AD493CAFF61}"/>
              </a:ext>
            </a:extLst>
          </p:cNvPr>
          <p:cNvSpPr>
            <a:spLocks noGrp="1"/>
          </p:cNvSpPr>
          <p:nvPr>
            <p:ph type="body" sz="quarter" idx="12"/>
          </p:nvPr>
        </p:nvSpPr>
        <p:spPr>
          <a:xfrm>
            <a:off x="510594" y="940303"/>
            <a:ext cx="8176206" cy="431297"/>
          </a:xfrm>
        </p:spPr>
        <p:txBody>
          <a:bodyPr>
            <a:noAutofit/>
          </a:bodyPr>
          <a:lstStyle/>
          <a:p>
            <a:pPr marL="0" indent="0" algn="ctr">
              <a:buNone/>
            </a:pPr>
            <a:r>
              <a:rPr lang="en-US" sz="3600" b="1" dirty="0">
                <a:solidFill>
                  <a:srgbClr val="002060"/>
                </a:solidFill>
              </a:rPr>
              <a:t>question: </a:t>
            </a:r>
            <a:r>
              <a:rPr lang="en-US" sz="3600" dirty="0">
                <a:solidFill>
                  <a:srgbClr val="002060"/>
                </a:solidFill>
              </a:rPr>
              <a:t>What is the economic value of avoidable mortality FROM </a:t>
            </a:r>
            <a:r>
              <a:rPr lang="en-US" sz="3600" dirty="0" err="1">
                <a:solidFill>
                  <a:srgbClr val="002060"/>
                </a:solidFill>
              </a:rPr>
              <a:t>ncd</a:t>
            </a:r>
            <a:r>
              <a:rPr lang="en-US" sz="3600" dirty="0">
                <a:solidFill>
                  <a:srgbClr val="002060"/>
                </a:solidFill>
              </a:rPr>
              <a:t>?</a:t>
            </a:r>
          </a:p>
        </p:txBody>
      </p:sp>
      <p:sp>
        <p:nvSpPr>
          <p:cNvPr id="6" name="Content Placeholder 3">
            <a:extLst>
              <a:ext uri="{FF2B5EF4-FFF2-40B4-BE49-F238E27FC236}">
                <a16:creationId xmlns:a16="http://schemas.microsoft.com/office/drawing/2014/main" id="{5A96E519-97BD-4E05-B5D9-155ED7E84BF9}"/>
              </a:ext>
            </a:extLst>
          </p:cNvPr>
          <p:cNvSpPr txBox="1">
            <a:spLocks/>
          </p:cNvSpPr>
          <p:nvPr/>
        </p:nvSpPr>
        <p:spPr>
          <a:xfrm>
            <a:off x="304800" y="5008389"/>
            <a:ext cx="8534400" cy="1544811"/>
          </a:xfrm>
          <a:prstGeom prst="rect">
            <a:avLst/>
          </a:prstGeom>
          <a:ln w="28575">
            <a:solidFill>
              <a:schemeClr val="tx1"/>
            </a:solidFill>
          </a:ln>
        </p:spPr>
        <p:txBody>
          <a:bodyPr vert="horz" lIns="34299" tIns="17149" rIns="34299" bIns="17149" rtlCol="0">
            <a:no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US" sz="2200" b="1" u="sng" dirty="0">
                <a:latin typeface="Calibri" panose="020F0502020204030204" pitchFamily="34" charset="0"/>
                <a:ea typeface="Times New Roman" panose="02020603050405020304" pitchFamily="18" charset="0"/>
                <a:cs typeface="Calibri" panose="020F0502020204030204" pitchFamily="34" charset="0"/>
              </a:rPr>
              <a:t>Key numéraire obtained</a:t>
            </a:r>
            <a:r>
              <a:rPr lang="en-US" sz="2200" b="1" dirty="0">
                <a:latin typeface="Calibri" panose="020F0502020204030204" pitchFamily="34" charset="0"/>
                <a:ea typeface="Times New Roman" panose="02020603050405020304" pitchFamily="18" charset="0"/>
                <a:cs typeface="Calibri" panose="020F0502020204030204" pitchFamily="34" charset="0"/>
              </a:rPr>
              <a:t>: </a:t>
            </a:r>
          </a:p>
          <a:p>
            <a:pPr marL="214370" indent="-214370">
              <a:lnSpc>
                <a:spcPct val="100000"/>
              </a:lnSpc>
              <a:spcBef>
                <a:spcPts val="0"/>
              </a:spcBef>
              <a:spcAft>
                <a:spcPts val="0"/>
              </a:spcAft>
              <a:buFont typeface="Arial" panose="020B0604020202020204" pitchFamily="34" charset="0"/>
              <a:buChar char="•"/>
            </a:pPr>
            <a:r>
              <a:rPr lang="en-US" sz="2200" dirty="0">
                <a:latin typeface="Calibri" panose="020F0502020204030204" pitchFamily="34" charset="0"/>
                <a:ea typeface="Times New Roman" panose="02020603050405020304" pitchFamily="18" charset="0"/>
                <a:cs typeface="Calibri" panose="020F0502020204030204" pitchFamily="34" charset="0"/>
              </a:rPr>
              <a:t>% of income an individual is willing to pay to live 1 year under the lowest possible mortality rate for a given cause of death</a:t>
            </a:r>
          </a:p>
          <a:p>
            <a:pPr marL="214370" indent="-214370">
              <a:lnSpc>
                <a:spcPct val="100000"/>
              </a:lnSpc>
              <a:spcBef>
                <a:spcPts val="0"/>
              </a:spcBef>
              <a:spcAft>
                <a:spcPts val="0"/>
              </a:spcAft>
              <a:buFont typeface="Arial" panose="020B0604020202020204" pitchFamily="34" charset="0"/>
              <a:buChar char="•"/>
            </a:pPr>
            <a:r>
              <a:rPr lang="en-US" sz="2200" b="1" dirty="0">
                <a:latin typeface="Calibri" panose="020F0502020204030204" pitchFamily="34" charset="0"/>
                <a:ea typeface="Times New Roman" panose="02020603050405020304" pitchFamily="18" charset="0"/>
                <a:cs typeface="Calibri" panose="020F0502020204030204" pitchFamily="34" charset="0"/>
              </a:rPr>
              <a:t>Economic metric directly comparable to national annual incomes</a:t>
            </a:r>
            <a:r>
              <a:rPr lang="en-US" sz="2200" dirty="0">
                <a:latin typeface="Calibri" panose="020F0502020204030204" pitchFamily="34" charset="0"/>
                <a:ea typeface="Times New Roman" panose="02020603050405020304" pitchFamily="18" charset="0"/>
                <a:cs typeface="Calibri" panose="020F0502020204030204" pitchFamily="34" charset="0"/>
              </a:rPr>
              <a:t> (GNI)</a:t>
            </a:r>
          </a:p>
        </p:txBody>
      </p:sp>
      <p:sp>
        <p:nvSpPr>
          <p:cNvPr id="8" name="Content Placeholder 3">
            <a:extLst>
              <a:ext uri="{FF2B5EF4-FFF2-40B4-BE49-F238E27FC236}">
                <a16:creationId xmlns:a16="http://schemas.microsoft.com/office/drawing/2014/main" id="{279F3F6B-FB7E-0AE0-664D-57A43739CBC7}"/>
              </a:ext>
            </a:extLst>
          </p:cNvPr>
          <p:cNvSpPr txBox="1">
            <a:spLocks/>
          </p:cNvSpPr>
          <p:nvPr/>
        </p:nvSpPr>
        <p:spPr>
          <a:xfrm>
            <a:off x="756997" y="5194641"/>
            <a:ext cx="7753411" cy="595719"/>
          </a:xfrm>
          <a:prstGeom prst="rect">
            <a:avLst/>
          </a:prstGeom>
        </p:spPr>
        <p:txBody>
          <a:bodyPr vert="horz" lIns="34299" tIns="17149" rIns="34299" bIns="17149" rtlCol="0">
            <a:norm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endParaRPr lang="en-US" sz="1500" b="1" dirty="0">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859669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93B09DE-8099-8A58-5880-DE3C2E88E76B}"/>
              </a:ext>
            </a:extLst>
          </p:cNvPr>
          <p:cNvSpPr/>
          <p:nvPr/>
        </p:nvSpPr>
        <p:spPr>
          <a:xfrm>
            <a:off x="1676400" y="1333411"/>
            <a:ext cx="7096444" cy="342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rgbClr val="002060"/>
                </a:solidFill>
              </a:rPr>
              <a:t>MAIN ANALYTICAL STEPS</a:t>
            </a:r>
          </a:p>
        </p:txBody>
      </p:sp>
      <p:sp>
        <p:nvSpPr>
          <p:cNvPr id="20" name="Rectangle 19">
            <a:extLst>
              <a:ext uri="{FF2B5EF4-FFF2-40B4-BE49-F238E27FC236}">
                <a16:creationId xmlns:a16="http://schemas.microsoft.com/office/drawing/2014/main" id="{B8B90738-A6BC-E591-D124-D5CFA62613DF}"/>
              </a:ext>
            </a:extLst>
          </p:cNvPr>
          <p:cNvSpPr/>
          <p:nvPr/>
        </p:nvSpPr>
        <p:spPr>
          <a:xfrm>
            <a:off x="1083959" y="5143411"/>
            <a:ext cx="7118442" cy="342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u="sng" dirty="0">
                <a:solidFill>
                  <a:schemeClr val="tx1"/>
                </a:solidFill>
              </a:rPr>
              <a:t>Step 2</a:t>
            </a:r>
            <a:r>
              <a:rPr lang="en-US" sz="2400" dirty="0">
                <a:solidFill>
                  <a:schemeClr val="tx1"/>
                </a:solidFill>
              </a:rPr>
              <a:t>: </a:t>
            </a:r>
          </a:p>
          <a:p>
            <a:r>
              <a:rPr lang="en-US" sz="2400" dirty="0">
                <a:solidFill>
                  <a:schemeClr val="tx1"/>
                </a:solidFill>
              </a:rPr>
              <a:t>Estimate economic value associated with NCD avoidable mortality </a:t>
            </a:r>
          </a:p>
        </p:txBody>
      </p:sp>
      <p:sp>
        <p:nvSpPr>
          <p:cNvPr id="6" name="Rectangle 5">
            <a:extLst>
              <a:ext uri="{FF2B5EF4-FFF2-40B4-BE49-F238E27FC236}">
                <a16:creationId xmlns:a16="http://schemas.microsoft.com/office/drawing/2014/main" id="{EE786D6F-40BC-7AAD-F529-5057A34F0C82}"/>
              </a:ext>
            </a:extLst>
          </p:cNvPr>
          <p:cNvSpPr/>
          <p:nvPr/>
        </p:nvSpPr>
        <p:spPr>
          <a:xfrm>
            <a:off x="1083959" y="4000411"/>
            <a:ext cx="6640561" cy="342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u="sng" dirty="0">
                <a:solidFill>
                  <a:schemeClr val="tx1"/>
                </a:solidFill>
              </a:rPr>
              <a:t>Step 1</a:t>
            </a:r>
            <a:r>
              <a:rPr lang="en-US" sz="2400" dirty="0">
                <a:solidFill>
                  <a:schemeClr val="tx1"/>
                </a:solidFill>
              </a:rPr>
              <a:t>: </a:t>
            </a:r>
          </a:p>
          <a:p>
            <a:r>
              <a:rPr lang="en-US" sz="2400" dirty="0">
                <a:solidFill>
                  <a:schemeClr val="tx1"/>
                </a:solidFill>
              </a:rPr>
              <a:t>Estimate cause-specific mortality frontiers &amp; regional mortality rates</a:t>
            </a:r>
          </a:p>
        </p:txBody>
      </p:sp>
      <p:sp>
        <p:nvSpPr>
          <p:cNvPr id="16" name="Rectangle 15">
            <a:extLst>
              <a:ext uri="{FF2B5EF4-FFF2-40B4-BE49-F238E27FC236}">
                <a16:creationId xmlns:a16="http://schemas.microsoft.com/office/drawing/2014/main" id="{F6231DEA-ECF0-A8FB-9050-D0E8E09CC526}"/>
              </a:ext>
            </a:extLst>
          </p:cNvPr>
          <p:cNvSpPr/>
          <p:nvPr/>
        </p:nvSpPr>
        <p:spPr>
          <a:xfrm>
            <a:off x="1083959" y="2819400"/>
            <a:ext cx="7450441" cy="342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u="sng" dirty="0">
                <a:solidFill>
                  <a:schemeClr val="tx1"/>
                </a:solidFill>
              </a:rPr>
              <a:t>Data sources</a:t>
            </a:r>
            <a:r>
              <a:rPr lang="en-US" sz="2400" dirty="0">
                <a:solidFill>
                  <a:schemeClr val="tx1"/>
                </a:solidFill>
              </a:rPr>
              <a:t>: </a:t>
            </a:r>
          </a:p>
          <a:p>
            <a:r>
              <a:rPr lang="en-US" sz="2400" dirty="0">
                <a:solidFill>
                  <a:schemeClr val="tx1"/>
                </a:solidFill>
              </a:rPr>
              <a:t>UN’s World Population Prospects &amp; WHO’s Global Health Estimates</a:t>
            </a:r>
          </a:p>
        </p:txBody>
      </p:sp>
    </p:spTree>
    <p:extLst>
      <p:ext uri="{BB962C8B-B14F-4D97-AF65-F5344CB8AC3E}">
        <p14:creationId xmlns:p14="http://schemas.microsoft.com/office/powerpoint/2010/main" val="1682479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47302A-035D-9188-9032-472E38229C75}"/>
              </a:ext>
            </a:extLst>
          </p:cNvPr>
          <p:cNvSpPr>
            <a:spLocks noGrp="1"/>
          </p:cNvSpPr>
          <p:nvPr>
            <p:ph type="body" sz="quarter" idx="12"/>
          </p:nvPr>
        </p:nvSpPr>
        <p:spPr>
          <a:xfrm>
            <a:off x="205794" y="914400"/>
            <a:ext cx="8368939" cy="171495"/>
          </a:xfrm>
        </p:spPr>
        <p:txBody>
          <a:bodyPr>
            <a:noAutofit/>
          </a:bodyPr>
          <a:lstStyle/>
          <a:p>
            <a:pPr algn="ctr"/>
            <a:r>
              <a:rPr lang="en-US" sz="3600" b="1" dirty="0">
                <a:solidFill>
                  <a:srgbClr val="002060"/>
                </a:solidFill>
              </a:rPr>
              <a:t>Data sources: </a:t>
            </a:r>
            <a:r>
              <a:rPr lang="en-US" sz="3600" dirty="0">
                <a:solidFill>
                  <a:srgbClr val="002060"/>
                </a:solidFill>
              </a:rPr>
              <a:t>UN’s World Population prospects &amp; who’s Global health ESTIMATES</a:t>
            </a:r>
          </a:p>
        </p:txBody>
      </p:sp>
      <p:graphicFrame>
        <p:nvGraphicFramePr>
          <p:cNvPr id="9" name="Table 9">
            <a:extLst>
              <a:ext uri="{FF2B5EF4-FFF2-40B4-BE49-F238E27FC236}">
                <a16:creationId xmlns:a16="http://schemas.microsoft.com/office/drawing/2014/main" id="{6036D086-849C-C2ED-2155-9EC26A8F24B4}"/>
              </a:ext>
            </a:extLst>
          </p:cNvPr>
          <p:cNvGraphicFramePr>
            <a:graphicFrameLocks noGrp="1"/>
          </p:cNvGraphicFramePr>
          <p:nvPr>
            <p:ph sz="quarter" idx="13"/>
            <p:extLst>
              <p:ext uri="{D42A27DB-BD31-4B8C-83A1-F6EECF244321}">
                <p14:modId xmlns:p14="http://schemas.microsoft.com/office/powerpoint/2010/main" val="1047985035"/>
              </p:ext>
            </p:extLst>
          </p:nvPr>
        </p:nvGraphicFramePr>
        <p:xfrm>
          <a:off x="609600" y="3313638"/>
          <a:ext cx="7888755" cy="3468162"/>
        </p:xfrm>
        <a:graphic>
          <a:graphicData uri="http://schemas.openxmlformats.org/drawingml/2006/table">
            <a:tbl>
              <a:tblPr firstRow="1" bandRow="1">
                <a:tableStyleId>{2D5ABB26-0587-4C30-8999-92F81FD0307C}</a:tableStyleId>
              </a:tblPr>
              <a:tblGrid>
                <a:gridCol w="2629585">
                  <a:extLst>
                    <a:ext uri="{9D8B030D-6E8A-4147-A177-3AD203B41FA5}">
                      <a16:colId xmlns:a16="http://schemas.microsoft.com/office/drawing/2014/main" val="972226099"/>
                    </a:ext>
                  </a:extLst>
                </a:gridCol>
                <a:gridCol w="2629585">
                  <a:extLst>
                    <a:ext uri="{9D8B030D-6E8A-4147-A177-3AD203B41FA5}">
                      <a16:colId xmlns:a16="http://schemas.microsoft.com/office/drawing/2014/main" val="3373533407"/>
                    </a:ext>
                  </a:extLst>
                </a:gridCol>
                <a:gridCol w="2629585">
                  <a:extLst>
                    <a:ext uri="{9D8B030D-6E8A-4147-A177-3AD203B41FA5}">
                      <a16:colId xmlns:a16="http://schemas.microsoft.com/office/drawing/2014/main" val="1166421458"/>
                    </a:ext>
                  </a:extLst>
                </a:gridCol>
              </a:tblGrid>
              <a:tr h="217222">
                <a:tc gridSpan="3">
                  <a:txBody>
                    <a:bodyPr/>
                    <a:lstStyle/>
                    <a:p>
                      <a:pPr marL="0" marR="0" lvl="0" indent="0" algn="l" defTabSz="1828343"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mn-lt"/>
                          <a:cs typeface="Calibri" panose="020F0502020204030204" pitchFamily="34" charset="0"/>
                        </a:rPr>
                        <a:t>Communicable, maternal, perinatal and nutritional conditions</a:t>
                      </a:r>
                    </a:p>
                  </a:txBody>
                  <a:tcPr marL="34294" marR="34294" marT="17147" marB="17147">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4"/>
                    </a:solidFill>
                  </a:tcPr>
                </a:tc>
                <a:tc hMerge="1">
                  <a:txBody>
                    <a:bodyPr/>
                    <a:lstStyle/>
                    <a:p>
                      <a:endParaRPr lang="en-US" sz="2000" b="0" i="0" dirty="0">
                        <a:solidFill>
                          <a:schemeClr val="tx1"/>
                        </a:solidFill>
                        <a:latin typeface="Calibri" panose="020F0502020204030204" pitchFamily="34" charset="0"/>
                        <a:cs typeface="Calibri" panose="020F0502020204030204" pitchFamily="34" charset="0"/>
                      </a:endParaRPr>
                    </a:p>
                  </a:txBody>
                  <a:tcPr/>
                </a:tc>
                <a:tc hMerge="1">
                  <a:txBody>
                    <a:bodyPr/>
                    <a:lstStyle/>
                    <a:p>
                      <a:endParaRPr lang="en-US" sz="2000" b="0" i="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757584694"/>
                  </a:ext>
                </a:extLst>
              </a:tr>
              <a:tr h="217222">
                <a:tc gridSpan="3">
                  <a:txBody>
                    <a:bodyPr/>
                    <a:lstStyle/>
                    <a:p>
                      <a:pPr marL="0" marR="0" lvl="0" indent="0" algn="l" defTabSz="1828343"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mn-lt"/>
                          <a:cs typeface="Calibri" panose="020F0502020204030204" pitchFamily="34" charset="0"/>
                        </a:rPr>
                        <a:t>Non-communicable diseases (NCDs)</a:t>
                      </a:r>
                      <a:endParaRPr lang="en-US" sz="1200" b="1" i="0" dirty="0">
                        <a:solidFill>
                          <a:schemeClr val="bg1"/>
                        </a:solidFill>
                        <a:latin typeface="+mn-lt"/>
                        <a:cs typeface="Calibri" panose="020F0502020204030204" pitchFamily="34" charset="0"/>
                      </a:endParaRPr>
                    </a:p>
                  </a:txBody>
                  <a:tcPr marL="34294" marR="34294" marT="17147" marB="17147">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4"/>
                    </a:solidFill>
                  </a:tcPr>
                </a:tc>
                <a:tc hMerge="1">
                  <a:txBody>
                    <a:bodyPr/>
                    <a:lstStyle/>
                    <a:p>
                      <a:pPr marL="0" marR="0" indent="0" algn="l" defTabSz="1828343" rtl="0" eaLnBrk="1" fontAlgn="auto" latinLnBrk="0" hangingPunct="1">
                        <a:lnSpc>
                          <a:spcPct val="100000"/>
                        </a:lnSpc>
                        <a:spcBef>
                          <a:spcPts val="0"/>
                        </a:spcBef>
                        <a:spcAft>
                          <a:spcPts val="0"/>
                        </a:spcAft>
                        <a:buClrTx/>
                        <a:buSzTx/>
                        <a:buFontTx/>
                        <a:buNone/>
                        <a:tabLst/>
                        <a:defRPr/>
                      </a:pPr>
                      <a:endParaRPr lang="en-US" sz="2000" b="0" i="0" dirty="0">
                        <a:solidFill>
                          <a:schemeClr val="tx1"/>
                        </a:solidFill>
                        <a:latin typeface="Calibri" panose="020F0502020204030204" pitchFamily="34" charset="0"/>
                        <a:cs typeface="Calibri" panose="020F0502020204030204" pitchFamily="34" charset="0"/>
                      </a:endParaRPr>
                    </a:p>
                  </a:txBody>
                  <a:tcPr/>
                </a:tc>
                <a:tc hMerge="1">
                  <a:txBody>
                    <a:bodyPr/>
                    <a:lstStyle/>
                    <a:p>
                      <a:pPr marL="0" marR="0" indent="0" algn="l" defTabSz="1828343" rtl="0" eaLnBrk="1" fontAlgn="auto" latinLnBrk="0" hangingPunct="1">
                        <a:lnSpc>
                          <a:spcPct val="100000"/>
                        </a:lnSpc>
                        <a:spcBef>
                          <a:spcPts val="0"/>
                        </a:spcBef>
                        <a:spcAft>
                          <a:spcPts val="0"/>
                        </a:spcAft>
                        <a:buClrTx/>
                        <a:buSzTx/>
                        <a:buFontTx/>
                        <a:buNone/>
                        <a:tabLst/>
                        <a:defRPr/>
                      </a:pPr>
                      <a:endParaRPr lang="en-US" sz="2000" b="0" i="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528768348"/>
                  </a:ext>
                </a:extLst>
              </a:tr>
              <a:tr h="208082">
                <a:tc>
                  <a:txBody>
                    <a:bodyPr/>
                    <a:lstStyle/>
                    <a:p>
                      <a:pPr marL="0" marR="0" indent="0" algn="l" defTabSz="1828343"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Calibri" panose="020F0502020204030204" pitchFamily="34" charset="0"/>
                        </a:rPr>
                        <a:t>Cardiovascular diseases</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indent="0" algn="l" defTabSz="1828343"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Calibri" panose="020F0502020204030204" pitchFamily="34" charset="0"/>
                        </a:rPr>
                        <a:t>Malignant neoplasms </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indent="0" algn="l" defTabSz="1828343"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Calibri" panose="020F0502020204030204" pitchFamily="34" charset="0"/>
                        </a:rPr>
                        <a:t>Mental &amp; substance use disorders </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50406757"/>
                  </a:ext>
                </a:extLst>
              </a:tr>
              <a:tr h="173784">
                <a:tc>
                  <a:txBody>
                    <a:bodyPr/>
                    <a:lstStyle/>
                    <a:p>
                      <a:pPr marL="0" marR="0">
                        <a:spcBef>
                          <a:spcPts val="0"/>
                        </a:spcBef>
                        <a:spcAft>
                          <a:spcPts val="0"/>
                        </a:spcAft>
                      </a:pPr>
                      <a:r>
                        <a:rPr lang="en-US" sz="1200" b="0" dirty="0" err="1">
                          <a:effectLst/>
                          <a:latin typeface="+mn-lt"/>
                          <a:cs typeface="Calibri" panose="020F0502020204030204" pitchFamily="34" charset="0"/>
                        </a:rPr>
                        <a:t>Ischaemic</a:t>
                      </a:r>
                      <a:r>
                        <a:rPr lang="en-US" sz="1200" b="0" dirty="0">
                          <a:effectLst/>
                          <a:latin typeface="+mn-lt"/>
                          <a:cs typeface="Calibri" panose="020F0502020204030204" pitchFamily="34" charset="0"/>
                        </a:rPr>
                        <a:t> heart disease</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Breast cancer</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Alcohol use disorders</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972648847"/>
                  </a:ext>
                </a:extLst>
              </a:tr>
              <a:tr h="173784">
                <a:tc>
                  <a:txBody>
                    <a:bodyPr/>
                    <a:lstStyle/>
                    <a:p>
                      <a:pPr marL="0" marR="0">
                        <a:spcBef>
                          <a:spcPts val="0"/>
                        </a:spcBef>
                        <a:spcAft>
                          <a:spcPts val="0"/>
                        </a:spcAft>
                      </a:pPr>
                      <a:r>
                        <a:rPr lang="en-US" sz="1200" b="0" dirty="0">
                          <a:effectLst/>
                          <a:latin typeface="+mn-lt"/>
                          <a:cs typeface="Calibri" panose="020F0502020204030204" pitchFamily="34" charset="0"/>
                        </a:rPr>
                        <a:t>Stroke</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Cervix uteri cancer</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Other mental &amp; substance use disorders</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656650093"/>
                  </a:ext>
                </a:extLst>
              </a:tr>
              <a:tr h="208082">
                <a:tc>
                  <a:txBody>
                    <a:bodyPr/>
                    <a:lstStyle/>
                    <a:p>
                      <a:pPr marL="0" marR="0">
                        <a:spcBef>
                          <a:spcPts val="0"/>
                        </a:spcBef>
                        <a:spcAft>
                          <a:spcPts val="0"/>
                        </a:spcAft>
                      </a:pPr>
                      <a:r>
                        <a:rPr lang="en-US" sz="1200" b="0" dirty="0">
                          <a:effectLst/>
                          <a:latin typeface="+mn-lt"/>
                          <a:cs typeface="Calibri" panose="020F0502020204030204" pitchFamily="34" charset="0"/>
                        </a:rPr>
                        <a:t>Other cardiovascular diseases</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Liver cancer</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indent="0" algn="l" defTabSz="1828343"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Calibri" panose="020F0502020204030204" pitchFamily="34" charset="0"/>
                        </a:rPr>
                        <a:t>Respiratory diseases </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33251733"/>
                  </a:ext>
                </a:extLst>
              </a:tr>
              <a:tr h="208082">
                <a:tc>
                  <a:txBody>
                    <a:bodyPr/>
                    <a:lstStyle/>
                    <a:p>
                      <a:pPr marL="0" marR="0" lvl="0" indent="0" algn="l" defTabSz="1828343" rtl="0" eaLnBrk="1" fontAlgn="auto" latinLnBrk="0" hangingPunct="1">
                        <a:lnSpc>
                          <a:spcPct val="100000"/>
                        </a:lnSpc>
                        <a:spcBef>
                          <a:spcPts val="0"/>
                        </a:spcBef>
                        <a:spcAft>
                          <a:spcPts val="0"/>
                        </a:spcAft>
                        <a:buClrTx/>
                        <a:buSzTx/>
                        <a:buFontTx/>
                        <a:buNone/>
                        <a:tabLst/>
                        <a:defRPr/>
                      </a:pPr>
                      <a:r>
                        <a:rPr lang="en-US" sz="1200" b="1" dirty="0">
                          <a:effectLst/>
                          <a:latin typeface="+mn-lt"/>
                          <a:cs typeface="Calibri" panose="020F0502020204030204" pitchFamily="34" charset="0"/>
                        </a:rPr>
                        <a:t>Diabetes mellitus </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a:spcBef>
                          <a:spcPts val="0"/>
                        </a:spcBef>
                        <a:spcAft>
                          <a:spcPts val="0"/>
                        </a:spcAft>
                      </a:pPr>
                      <a:r>
                        <a:rPr lang="en-US" sz="1200" b="0" dirty="0">
                          <a:effectLst/>
                          <a:latin typeface="+mn-lt"/>
                          <a:cs typeface="Calibri" panose="020F0502020204030204" pitchFamily="34" charset="0"/>
                        </a:rPr>
                        <a:t>Mouth and oropharynx cancers</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Chronic obstructive pulmonary disease</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8436645"/>
                  </a:ext>
                </a:extLst>
              </a:tr>
              <a:tr h="208082">
                <a:tc>
                  <a:txBody>
                    <a:bodyPr/>
                    <a:lstStyle/>
                    <a:p>
                      <a:pPr marL="0" marR="0" indent="0" algn="l" defTabSz="1828343"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Calibri" panose="020F0502020204030204" pitchFamily="34" charset="0"/>
                        </a:rPr>
                        <a:t>Digestive diseases </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a:spcBef>
                          <a:spcPts val="0"/>
                        </a:spcBef>
                        <a:spcAft>
                          <a:spcPts val="0"/>
                        </a:spcAft>
                      </a:pPr>
                      <a:r>
                        <a:rPr lang="en-US" sz="1200" b="0" dirty="0" err="1">
                          <a:effectLst/>
                          <a:latin typeface="+mn-lt"/>
                          <a:cs typeface="Calibri" panose="020F0502020204030204" pitchFamily="34" charset="0"/>
                        </a:rPr>
                        <a:t>Oesophagus</a:t>
                      </a:r>
                      <a:r>
                        <a:rPr lang="en-US" sz="1200" b="0" dirty="0">
                          <a:effectLst/>
                          <a:latin typeface="+mn-lt"/>
                          <a:cs typeface="Calibri" panose="020F0502020204030204" pitchFamily="34" charset="0"/>
                        </a:rPr>
                        <a:t> cancer</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Other respiratory diseases</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772734911"/>
                  </a:ext>
                </a:extLst>
              </a:tr>
              <a:tr h="208082">
                <a:tc>
                  <a:txBody>
                    <a:bodyPr/>
                    <a:lstStyle/>
                    <a:p>
                      <a:pPr marL="0" marR="0">
                        <a:spcBef>
                          <a:spcPts val="0"/>
                        </a:spcBef>
                        <a:spcAft>
                          <a:spcPts val="0"/>
                        </a:spcAft>
                      </a:pPr>
                      <a:r>
                        <a:rPr lang="en-US" sz="1200" b="0" dirty="0">
                          <a:effectLst/>
                          <a:latin typeface="+mn-lt"/>
                          <a:cs typeface="Calibri" panose="020F0502020204030204" pitchFamily="34" charset="0"/>
                        </a:rPr>
                        <a:t>Cirrhosis of the liver</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Stomach cancer</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lvl="0" indent="0" algn="l" defTabSz="1828343"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Calibri" panose="020F0502020204030204" pitchFamily="34" charset="0"/>
                        </a:rPr>
                        <a:t>Other NCDs</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40406627"/>
                  </a:ext>
                </a:extLst>
              </a:tr>
              <a:tr h="173784">
                <a:tc>
                  <a:txBody>
                    <a:bodyPr/>
                    <a:lstStyle/>
                    <a:p>
                      <a:pPr marL="0" marR="0">
                        <a:spcBef>
                          <a:spcPts val="0"/>
                        </a:spcBef>
                        <a:spcAft>
                          <a:spcPts val="0"/>
                        </a:spcAft>
                      </a:pPr>
                      <a:r>
                        <a:rPr lang="en-US" sz="1200" b="0" dirty="0">
                          <a:effectLst/>
                          <a:latin typeface="+mn-lt"/>
                          <a:cs typeface="Calibri" panose="020F0502020204030204" pitchFamily="34" charset="0"/>
                        </a:rPr>
                        <a:t>Other digestive diseases</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Trachea, bronchus, lung cancers</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endParaRPr lang="en-US" sz="1200" b="0"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740463650"/>
                  </a:ext>
                </a:extLst>
              </a:tr>
              <a:tr h="173784">
                <a:tc>
                  <a:txBody>
                    <a:bodyPr/>
                    <a:lstStyle/>
                    <a:p>
                      <a:pPr marL="0" marR="0" indent="0" algn="l" defTabSz="1828343" rtl="0" eaLnBrk="1" fontAlgn="auto" latinLnBrk="0" hangingPunct="1">
                        <a:lnSpc>
                          <a:spcPct val="100000"/>
                        </a:lnSpc>
                        <a:spcBef>
                          <a:spcPts val="0"/>
                        </a:spcBef>
                        <a:spcAft>
                          <a:spcPts val="0"/>
                        </a:spcAft>
                        <a:buClrTx/>
                        <a:buSzTx/>
                        <a:buFontTx/>
                        <a:buNone/>
                        <a:tabLst/>
                        <a:defRPr/>
                      </a:pPr>
                      <a:endParaRPr lang="en-US" sz="1200" b="1" i="0" dirty="0">
                        <a:solidFill>
                          <a:schemeClr val="tx1"/>
                        </a:solidFill>
                        <a:latin typeface="+mn-lt"/>
                        <a:cs typeface="Calibri" panose="020F0502020204030204" pitchFamily="34" charset="0"/>
                      </a:endParaRPr>
                    </a:p>
                  </a:txBody>
                  <a:tcPr marL="18293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kern="1200" dirty="0">
                          <a:solidFill>
                            <a:schemeClr val="dk1"/>
                          </a:solidFill>
                          <a:effectLst/>
                          <a:latin typeface="+mn-lt"/>
                          <a:cs typeface="Calibri" panose="020F0502020204030204" pitchFamily="34" charset="0"/>
                        </a:rPr>
                        <a:t>Other malignant neoplasms</a:t>
                      </a:r>
                      <a:r>
                        <a:rPr lang="en-US" sz="1200" b="0" dirty="0">
                          <a:effectLst/>
                          <a:latin typeface="+mn-lt"/>
                          <a:cs typeface="Calibri" panose="020F0502020204030204" pitchFamily="34" charset="0"/>
                        </a:rPr>
                        <a:t> </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endParaRPr lang="en-US" sz="1200" b="0"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075191856"/>
                  </a:ext>
                </a:extLst>
              </a:tr>
              <a:tr h="217222">
                <a:tc gridSpan="3">
                  <a:txBody>
                    <a:bodyPr/>
                    <a:lstStyle/>
                    <a:p>
                      <a:r>
                        <a:rPr lang="en-US" sz="1200" b="1" dirty="0">
                          <a:solidFill>
                            <a:schemeClr val="bg1"/>
                          </a:solidFill>
                          <a:latin typeface="+mn-lt"/>
                          <a:cs typeface="Calibri" panose="020F0502020204030204" pitchFamily="34" charset="0"/>
                        </a:rPr>
                        <a:t>Injuries</a:t>
                      </a:r>
                      <a:endParaRPr lang="en-US" sz="1200" b="1" i="0" dirty="0">
                        <a:solidFill>
                          <a:schemeClr val="bg1"/>
                        </a:solidFill>
                        <a:latin typeface="+mn-lt"/>
                        <a:cs typeface="Calibri" panose="020F0502020204030204" pitchFamily="34" charset="0"/>
                      </a:endParaRPr>
                    </a:p>
                  </a:txBody>
                  <a:tcPr marL="34294" marR="34294" marT="17147" marB="17147">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4"/>
                    </a:solidFill>
                  </a:tcPr>
                </a:tc>
                <a:tc hMerge="1">
                  <a:txBody>
                    <a:bodyPr/>
                    <a:lstStyle/>
                    <a:p>
                      <a:endParaRPr lang="en-US" sz="2000" b="0" i="0" dirty="0">
                        <a:solidFill>
                          <a:schemeClr val="tx1"/>
                        </a:solidFill>
                        <a:latin typeface="Calibri" panose="020F0502020204030204" pitchFamily="34" charset="0"/>
                        <a:cs typeface="Calibri" panose="020F0502020204030204" pitchFamily="34" charset="0"/>
                      </a:endParaRPr>
                    </a:p>
                  </a:txBody>
                  <a:tcPr/>
                </a:tc>
                <a:tc hMerge="1">
                  <a:txBody>
                    <a:bodyPr/>
                    <a:lstStyle/>
                    <a:p>
                      <a:endParaRPr lang="en-US" sz="2000" b="0" i="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58049923"/>
                  </a:ext>
                </a:extLst>
              </a:tr>
              <a:tr h="208082">
                <a:tc>
                  <a:txBody>
                    <a:bodyPr/>
                    <a:lstStyle/>
                    <a:p>
                      <a:r>
                        <a:rPr lang="en-US" sz="1200" b="1" kern="1200" dirty="0">
                          <a:solidFill>
                            <a:schemeClr val="dk1"/>
                          </a:solidFill>
                          <a:effectLst/>
                          <a:latin typeface="+mn-lt"/>
                          <a:cs typeface="Calibri" panose="020F0502020204030204" pitchFamily="34" charset="0"/>
                        </a:rPr>
                        <a:t>Unintentional injuries</a:t>
                      </a:r>
                      <a:r>
                        <a:rPr lang="en-US" sz="1200" b="1" dirty="0">
                          <a:effectLst/>
                          <a:latin typeface="+mn-lt"/>
                          <a:cs typeface="Calibri" panose="020F0502020204030204" pitchFamily="34" charset="0"/>
                        </a:rPr>
                        <a:t> </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sz="1200" b="1" kern="1200" dirty="0">
                          <a:solidFill>
                            <a:schemeClr val="dk1"/>
                          </a:solidFill>
                          <a:effectLst/>
                          <a:latin typeface="+mn-lt"/>
                          <a:cs typeface="Calibri" panose="020F0502020204030204" pitchFamily="34" charset="0"/>
                        </a:rPr>
                        <a:t>Intentional injuries</a:t>
                      </a:r>
                      <a:r>
                        <a:rPr lang="en-US" sz="1200" b="1" dirty="0">
                          <a:effectLst/>
                          <a:latin typeface="+mn-lt"/>
                          <a:cs typeface="Calibri" panose="020F0502020204030204" pitchFamily="34" charset="0"/>
                        </a:rPr>
                        <a:t> </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lang="en-US" sz="1200" b="0"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462223002"/>
                  </a:ext>
                </a:extLst>
              </a:tr>
              <a:tr h="173784">
                <a:tc>
                  <a:txBody>
                    <a:bodyPr/>
                    <a:lstStyle/>
                    <a:p>
                      <a:pPr marL="0" marR="0">
                        <a:spcBef>
                          <a:spcPts val="0"/>
                        </a:spcBef>
                        <a:spcAft>
                          <a:spcPts val="0"/>
                        </a:spcAft>
                      </a:pPr>
                      <a:r>
                        <a:rPr lang="en-US" sz="1200" b="0" dirty="0">
                          <a:effectLst/>
                          <a:latin typeface="+mn-lt"/>
                          <a:cs typeface="Calibri" panose="020F0502020204030204" pitchFamily="34" charset="0"/>
                        </a:rPr>
                        <a:t>Road injury</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endParaRPr lang="en-US" sz="1200" b="0" i="0" dirty="0">
                        <a:solidFill>
                          <a:schemeClr val="tx1"/>
                        </a:solidFill>
                        <a:latin typeface="+mn-lt"/>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endParaRPr lang="en-US" sz="1200" b="0" i="0" dirty="0">
                        <a:solidFill>
                          <a:schemeClr val="tx1"/>
                        </a:solidFill>
                        <a:latin typeface="+mn-lt"/>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479323012"/>
                  </a:ext>
                </a:extLst>
              </a:tr>
              <a:tr h="173784">
                <a:tc>
                  <a:txBody>
                    <a:bodyPr/>
                    <a:lstStyle/>
                    <a:p>
                      <a:pPr marL="0" marR="0">
                        <a:spcBef>
                          <a:spcPts val="0"/>
                        </a:spcBef>
                        <a:spcAft>
                          <a:spcPts val="0"/>
                        </a:spcAft>
                      </a:pPr>
                      <a:r>
                        <a:rPr lang="en-US" sz="1200" b="0" dirty="0">
                          <a:effectLst/>
                          <a:latin typeface="+mn-lt"/>
                          <a:cs typeface="Calibri" panose="020F0502020204030204" pitchFamily="34" charset="0"/>
                        </a:rPr>
                        <a:t>Other unintentional injuries</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dirty="0">
                        <a:solidFill>
                          <a:schemeClr val="tx1"/>
                        </a:solidFill>
                        <a:latin typeface="+mn-lt"/>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dirty="0">
                        <a:solidFill>
                          <a:schemeClr val="tx1"/>
                        </a:solidFill>
                        <a:latin typeface="+mn-lt"/>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8360969"/>
                  </a:ext>
                </a:extLst>
              </a:tr>
            </a:tbl>
          </a:graphicData>
        </a:graphic>
      </p:graphicFrame>
      <p:sp>
        <p:nvSpPr>
          <p:cNvPr id="5" name="Text Placeholder 3">
            <a:extLst>
              <a:ext uri="{FF2B5EF4-FFF2-40B4-BE49-F238E27FC236}">
                <a16:creationId xmlns:a16="http://schemas.microsoft.com/office/drawing/2014/main" id="{A106D6B9-2674-CE93-869F-0CFD81E759F0}"/>
              </a:ext>
            </a:extLst>
          </p:cNvPr>
          <p:cNvSpPr txBox="1">
            <a:spLocks/>
          </p:cNvSpPr>
          <p:nvPr/>
        </p:nvSpPr>
        <p:spPr>
          <a:xfrm>
            <a:off x="297816" y="2177138"/>
            <a:ext cx="8368939" cy="794662"/>
          </a:xfrm>
          <a:prstGeom prst="rect">
            <a:avLst/>
          </a:prstGeom>
        </p:spPr>
        <p:txBody>
          <a:bodyPr vert="horz" lIns="34299" tIns="17149" rIns="34299" bIns="17149" rtlCol="0" anchor="ctr">
            <a:no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214370" indent="-214370">
              <a:lnSpc>
                <a:spcPct val="100000"/>
              </a:lnSpc>
              <a:spcBef>
                <a:spcPts val="0"/>
              </a:spcBef>
              <a:spcAft>
                <a:spcPts val="0"/>
              </a:spcAft>
              <a:buFont typeface="Arial" panose="020B0604020202020204" pitchFamily="34" charset="0"/>
              <a:buChar char="•"/>
            </a:pPr>
            <a:r>
              <a:rPr lang="en-US" sz="2200" b="1" dirty="0"/>
              <a:t>Estimates on age-sex-specific all-cause mortality rates by 5-year age group, and population sizes</a:t>
            </a:r>
          </a:p>
          <a:p>
            <a:pPr marL="214370" indent="-214370">
              <a:lnSpc>
                <a:spcPct val="100000"/>
              </a:lnSpc>
              <a:spcBef>
                <a:spcPts val="0"/>
              </a:spcBef>
              <a:spcAft>
                <a:spcPts val="0"/>
              </a:spcAft>
              <a:buFont typeface="Arial" panose="020B0604020202020204" pitchFamily="34" charset="0"/>
              <a:buChar char="•"/>
            </a:pPr>
            <a:r>
              <a:rPr lang="en-US" sz="2200" b="1" dirty="0"/>
              <a:t>Estimates on cause-specific death counts by 5-year age group and sex from WHO’s Global Health Estimates for all countries over 2000-2019</a:t>
            </a:r>
          </a:p>
        </p:txBody>
      </p:sp>
    </p:spTree>
    <p:extLst>
      <p:ext uri="{BB962C8B-B14F-4D97-AF65-F5344CB8AC3E}">
        <p14:creationId xmlns:p14="http://schemas.microsoft.com/office/powerpoint/2010/main" val="3060502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DC356BA-ACBE-6A22-FE12-2655AC751314}"/>
              </a:ext>
            </a:extLst>
          </p:cNvPr>
          <p:cNvSpPr>
            <a:spLocks noGrp="1"/>
          </p:cNvSpPr>
          <p:nvPr>
            <p:ph type="body" sz="quarter" idx="12"/>
          </p:nvPr>
        </p:nvSpPr>
        <p:spPr>
          <a:xfrm>
            <a:off x="205794" y="533400"/>
            <a:ext cx="8368939" cy="426646"/>
          </a:xfrm>
        </p:spPr>
        <p:txBody>
          <a:bodyPr>
            <a:noAutofit/>
          </a:bodyPr>
          <a:lstStyle/>
          <a:p>
            <a:pPr marL="0" indent="0" algn="ctr">
              <a:buNone/>
            </a:pPr>
            <a:r>
              <a:rPr lang="en-US" sz="3400" b="1" u="sng" dirty="0">
                <a:solidFill>
                  <a:srgbClr val="002060"/>
                </a:solidFill>
              </a:rPr>
              <a:t>STEP 1</a:t>
            </a:r>
            <a:r>
              <a:rPr lang="en-US" sz="3400" b="1" dirty="0">
                <a:solidFill>
                  <a:srgbClr val="002060"/>
                </a:solidFill>
              </a:rPr>
              <a:t>: </a:t>
            </a:r>
            <a:r>
              <a:rPr lang="en-US" sz="3400" dirty="0" err="1">
                <a:solidFill>
                  <a:srgbClr val="002060"/>
                </a:solidFill>
              </a:rPr>
              <a:t>EstimatE</a:t>
            </a:r>
            <a:r>
              <a:rPr lang="en-US" sz="3400" dirty="0">
                <a:solidFill>
                  <a:srgbClr val="002060"/>
                </a:solidFill>
              </a:rPr>
              <a:t> cause-specific mortality frontiers, 2000-2019</a:t>
            </a:r>
          </a:p>
        </p:txBody>
      </p:sp>
      <p:sp>
        <p:nvSpPr>
          <p:cNvPr id="3" name="Text Placeholder 2">
            <a:extLst>
              <a:ext uri="{FF2B5EF4-FFF2-40B4-BE49-F238E27FC236}">
                <a16:creationId xmlns:a16="http://schemas.microsoft.com/office/drawing/2014/main" id="{C372CAE0-FCFD-496B-8AC2-445DC070EEF9}"/>
              </a:ext>
            </a:extLst>
          </p:cNvPr>
          <p:cNvSpPr>
            <a:spLocks noGrp="1"/>
          </p:cNvSpPr>
          <p:nvPr>
            <p:ph type="body" sz="quarter" idx="14"/>
          </p:nvPr>
        </p:nvSpPr>
        <p:spPr>
          <a:xfrm>
            <a:off x="732880" y="1886122"/>
            <a:ext cx="8639720" cy="628478"/>
          </a:xfrm>
        </p:spPr>
        <p:txBody>
          <a:bodyPr>
            <a:noAutofit/>
          </a:bodyPr>
          <a:lstStyle/>
          <a:p>
            <a:pPr>
              <a:spcBef>
                <a:spcPts val="0"/>
              </a:spcBef>
            </a:pPr>
            <a:r>
              <a:rPr lang="en-US" sz="2400" b="1" u="sng" dirty="0"/>
              <a:t>Countries included in frontier computations (N=35) if</a:t>
            </a:r>
            <a:r>
              <a:rPr lang="en-US" sz="2400" dirty="0"/>
              <a:t>: 	</a:t>
            </a:r>
          </a:p>
          <a:p>
            <a:pPr marL="0" indent="0">
              <a:spcBef>
                <a:spcPts val="0"/>
              </a:spcBef>
              <a:buNone/>
            </a:pPr>
            <a:r>
              <a:rPr lang="en-US" sz="2400" dirty="0"/>
              <a:t>	(</a:t>
            </a:r>
            <a:r>
              <a:rPr lang="en-US" sz="2400" dirty="0" err="1"/>
              <a:t>i</a:t>
            </a:r>
            <a:r>
              <a:rPr lang="en-US" sz="2400" dirty="0"/>
              <a:t>) high-quality vital registration data</a:t>
            </a:r>
          </a:p>
          <a:p>
            <a:pPr marL="0" indent="0">
              <a:spcBef>
                <a:spcPts val="0"/>
              </a:spcBef>
              <a:buNone/>
            </a:pPr>
            <a:r>
              <a:rPr lang="en-US" sz="2400" dirty="0"/>
              <a:t>	(ii) populations &gt; 5M in 2020</a:t>
            </a:r>
          </a:p>
          <a:p>
            <a:pPr marL="0" indent="0">
              <a:spcBef>
                <a:spcPts val="0"/>
              </a:spcBef>
              <a:buNone/>
            </a:pPr>
            <a:r>
              <a:rPr lang="en-US" sz="2400" dirty="0"/>
              <a:t>	(iii) included in WHO’s Global Health Estimates</a:t>
            </a:r>
          </a:p>
        </p:txBody>
      </p:sp>
      <p:sp>
        <p:nvSpPr>
          <p:cNvPr id="11" name="Text Placeholder 2">
            <a:extLst>
              <a:ext uri="{FF2B5EF4-FFF2-40B4-BE49-F238E27FC236}">
                <a16:creationId xmlns:a16="http://schemas.microsoft.com/office/drawing/2014/main" id="{D78DC784-76D0-78B3-B339-338AF69D704E}"/>
              </a:ext>
            </a:extLst>
          </p:cNvPr>
          <p:cNvSpPr txBox="1">
            <a:spLocks/>
          </p:cNvSpPr>
          <p:nvPr/>
        </p:nvSpPr>
        <p:spPr>
          <a:xfrm>
            <a:off x="377288" y="3913756"/>
            <a:ext cx="2237401" cy="1801244"/>
          </a:xfrm>
          <a:prstGeom prst="rect">
            <a:avLst/>
          </a:prstGeom>
          <a:ln w="28575">
            <a:solidFill>
              <a:schemeClr val="tx1"/>
            </a:solidFill>
          </a:ln>
        </p:spPr>
        <p:txBody>
          <a:bodyPr vert="horz" lIns="34299" tIns="17149" rIns="34299" bIns="17149" rtlCol="0" anchor="ctr">
            <a:no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gn="ctr">
              <a:lnSpc>
                <a:spcPct val="100000"/>
              </a:lnSpc>
              <a:spcBef>
                <a:spcPts val="0"/>
              </a:spcBef>
              <a:spcAft>
                <a:spcPts val="0"/>
              </a:spcAft>
            </a:pPr>
            <a:r>
              <a:rPr lang="en-US" sz="2400" b="1" dirty="0"/>
              <a:t>Cause-specific mortality frontiers</a:t>
            </a:r>
          </a:p>
          <a:p>
            <a:pPr algn="ctr">
              <a:lnSpc>
                <a:spcPct val="100000"/>
              </a:lnSpc>
              <a:spcBef>
                <a:spcPts val="0"/>
              </a:spcBef>
              <a:spcAft>
                <a:spcPts val="0"/>
              </a:spcAft>
            </a:pPr>
            <a:r>
              <a:rPr lang="en-US" sz="2400" dirty="0"/>
              <a:t>(lowest mortality rates achieved)</a:t>
            </a:r>
          </a:p>
        </p:txBody>
      </p:sp>
      <p:pic>
        <p:nvPicPr>
          <p:cNvPr id="6" name="Picture 5">
            <a:extLst>
              <a:ext uri="{FF2B5EF4-FFF2-40B4-BE49-F238E27FC236}">
                <a16:creationId xmlns:a16="http://schemas.microsoft.com/office/drawing/2014/main" id="{B29515E7-29BD-7495-CAC7-99714B25122D}"/>
              </a:ext>
            </a:extLst>
          </p:cNvPr>
          <p:cNvPicPr>
            <a:picLocks noChangeAspect="1"/>
          </p:cNvPicPr>
          <p:nvPr/>
        </p:nvPicPr>
        <p:blipFill>
          <a:blip r:embed="rId2"/>
          <a:stretch>
            <a:fillRect/>
          </a:stretch>
        </p:blipFill>
        <p:spPr>
          <a:xfrm>
            <a:off x="2743200" y="3124200"/>
            <a:ext cx="6270171" cy="3657600"/>
          </a:xfrm>
          <a:prstGeom prst="rect">
            <a:avLst/>
          </a:prstGeom>
        </p:spPr>
      </p:pic>
    </p:spTree>
    <p:extLst>
      <p:ext uri="{BB962C8B-B14F-4D97-AF65-F5344CB8AC3E}">
        <p14:creationId xmlns:p14="http://schemas.microsoft.com/office/powerpoint/2010/main" val="3217025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A71B5AA5-903C-293A-43A5-9A494E37451C}"/>
              </a:ext>
            </a:extLst>
          </p:cNvPr>
          <p:cNvSpPr>
            <a:spLocks noGrp="1"/>
          </p:cNvSpPr>
          <p:nvPr>
            <p:ph type="body" sz="quarter" idx="12"/>
          </p:nvPr>
        </p:nvSpPr>
        <p:spPr>
          <a:xfrm>
            <a:off x="457200" y="381000"/>
            <a:ext cx="8419102" cy="970411"/>
          </a:xfrm>
        </p:spPr>
        <p:txBody>
          <a:bodyPr>
            <a:noAutofit/>
          </a:bodyPr>
          <a:lstStyle/>
          <a:p>
            <a:pPr marL="0" indent="0" algn="ctr">
              <a:buNone/>
            </a:pPr>
            <a:r>
              <a:rPr lang="en-US" sz="3800" b="1" u="sng" dirty="0">
                <a:solidFill>
                  <a:srgbClr val="002060"/>
                </a:solidFill>
              </a:rPr>
              <a:t>STEP 1</a:t>
            </a:r>
            <a:r>
              <a:rPr lang="en-US" sz="3800" b="1" dirty="0">
                <a:solidFill>
                  <a:srgbClr val="002060"/>
                </a:solidFill>
              </a:rPr>
              <a:t>: </a:t>
            </a:r>
            <a:r>
              <a:rPr lang="en-US" sz="3800" dirty="0">
                <a:solidFill>
                  <a:srgbClr val="002060"/>
                </a:solidFill>
              </a:rPr>
              <a:t>PROJECT cause-specific mortality frontiers, 2020-2050</a:t>
            </a:r>
          </a:p>
        </p:txBody>
      </p:sp>
      <p:sp>
        <p:nvSpPr>
          <p:cNvPr id="3" name="Text Placeholder 2">
            <a:extLst>
              <a:ext uri="{FF2B5EF4-FFF2-40B4-BE49-F238E27FC236}">
                <a16:creationId xmlns:a16="http://schemas.microsoft.com/office/drawing/2014/main" id="{D9E3F983-E3A8-AB86-D06F-A1DFB33A1131}"/>
              </a:ext>
            </a:extLst>
          </p:cNvPr>
          <p:cNvSpPr>
            <a:spLocks noGrp="1"/>
          </p:cNvSpPr>
          <p:nvPr>
            <p:ph type="body" sz="quarter" idx="14"/>
          </p:nvPr>
        </p:nvSpPr>
        <p:spPr>
          <a:xfrm>
            <a:off x="290277" y="1852729"/>
            <a:ext cx="3214807" cy="4776671"/>
          </a:xfrm>
        </p:spPr>
        <p:txBody>
          <a:bodyPr>
            <a:noAutofit/>
          </a:bodyPr>
          <a:lstStyle/>
          <a:p>
            <a:pPr marL="192933" indent="-192933">
              <a:buFont typeface="+mj-lt"/>
              <a:buAutoNum type="arabicPeriod"/>
            </a:pPr>
            <a:r>
              <a:rPr lang="en-US" sz="2200" dirty="0">
                <a:latin typeface="Calibri" panose="020F0502020204030204" pitchFamily="34" charset="0"/>
                <a:cs typeface="Calibri" panose="020F0502020204030204" pitchFamily="34" charset="0"/>
              </a:rPr>
              <a:t>For 2020-2050, the </a:t>
            </a:r>
            <a:r>
              <a:rPr lang="en-US" sz="2200" b="1" dirty="0">
                <a:latin typeface="Calibri" panose="020F0502020204030204" pitchFamily="34" charset="0"/>
                <a:cs typeface="Calibri" panose="020F0502020204030204" pitchFamily="34" charset="0"/>
              </a:rPr>
              <a:t>frontiers are projected based on trends underlying 2010-2019 </a:t>
            </a:r>
            <a:r>
              <a:rPr lang="en-US" sz="2200" dirty="0">
                <a:latin typeface="Calibri" panose="020F0502020204030204" pitchFamily="34" charset="0"/>
                <a:cs typeface="Calibri" panose="020F0502020204030204" pitchFamily="34" charset="0"/>
              </a:rPr>
              <a:t>frontiers by cause and large age group    </a:t>
            </a:r>
            <a:r>
              <a:rPr lang="en-US" sz="2000" dirty="0">
                <a:latin typeface="Calibri" panose="020F0502020204030204" pitchFamily="34" charset="0"/>
                <a:cs typeface="Calibri" panose="020F0502020204030204" pitchFamily="34" charset="0"/>
              </a:rPr>
              <a:t>(Mathers &amp; Loncar, 2006)</a:t>
            </a:r>
          </a:p>
          <a:p>
            <a:pPr marL="192933" indent="-192933">
              <a:buFont typeface="+mj-lt"/>
              <a:buAutoNum type="arabicPeriod"/>
            </a:pPr>
            <a:r>
              <a:rPr lang="en-US" sz="2200" dirty="0">
                <a:latin typeface="Calibri" panose="020F0502020204030204" pitchFamily="34" charset="0"/>
                <a:cs typeface="Calibri" panose="020F0502020204030204" pitchFamily="34" charset="0"/>
              </a:rPr>
              <a:t>The </a:t>
            </a:r>
            <a:r>
              <a:rPr lang="en-US" sz="2200" b="1" dirty="0">
                <a:latin typeface="Calibri" panose="020F0502020204030204" pitchFamily="34" charset="0"/>
                <a:cs typeface="Calibri" panose="020F0502020204030204" pitchFamily="34" charset="0"/>
              </a:rPr>
              <a:t>frontiers are normalized to the all-cause mortality frontiers</a:t>
            </a:r>
            <a:endParaRPr lang="en-US" sz="2200" dirty="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6B148B95-8A71-48CD-02A5-50F749662FDF}"/>
              </a:ext>
            </a:extLst>
          </p:cNvPr>
          <p:cNvSpPr/>
          <p:nvPr/>
        </p:nvSpPr>
        <p:spPr>
          <a:xfrm>
            <a:off x="4038600" y="1714963"/>
            <a:ext cx="3828131" cy="357302"/>
          </a:xfrm>
          <a:prstGeom prst="rect">
            <a:avLst/>
          </a:prstGeom>
          <a:solidFill>
            <a:schemeClr val="accent6">
              <a:lumMod val="20000"/>
              <a:lumOff val="80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002060"/>
                </a:solidFill>
              </a:rPr>
              <a:t>Example of projected frontier</a:t>
            </a:r>
          </a:p>
        </p:txBody>
      </p:sp>
      <p:pic>
        <p:nvPicPr>
          <p:cNvPr id="7" name="Picture 6">
            <a:extLst>
              <a:ext uri="{FF2B5EF4-FFF2-40B4-BE49-F238E27FC236}">
                <a16:creationId xmlns:a16="http://schemas.microsoft.com/office/drawing/2014/main" id="{37C705EB-FEFF-0DA3-575E-7CA3C6BEF668}"/>
              </a:ext>
            </a:extLst>
          </p:cNvPr>
          <p:cNvPicPr>
            <a:picLocks noChangeAspect="1"/>
          </p:cNvPicPr>
          <p:nvPr/>
        </p:nvPicPr>
        <p:blipFill>
          <a:blip r:embed="rId3"/>
          <a:stretch>
            <a:fillRect/>
          </a:stretch>
        </p:blipFill>
        <p:spPr>
          <a:xfrm>
            <a:off x="3387762" y="2316480"/>
            <a:ext cx="5680038" cy="4389120"/>
          </a:xfrm>
          <a:prstGeom prst="rect">
            <a:avLst/>
          </a:prstGeom>
        </p:spPr>
      </p:pic>
    </p:spTree>
    <p:extLst>
      <p:ext uri="{BB962C8B-B14F-4D97-AF65-F5344CB8AC3E}">
        <p14:creationId xmlns:p14="http://schemas.microsoft.com/office/powerpoint/2010/main" val="4286167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9328DC-0462-1E9A-9AC4-47D64580AD50}"/>
              </a:ext>
            </a:extLst>
          </p:cNvPr>
          <p:cNvSpPr>
            <a:spLocks noGrp="1"/>
          </p:cNvSpPr>
          <p:nvPr>
            <p:ph type="body" sz="quarter" idx="14"/>
          </p:nvPr>
        </p:nvSpPr>
        <p:spPr>
          <a:xfrm>
            <a:off x="307559" y="2438400"/>
            <a:ext cx="4797841" cy="2346247"/>
          </a:xfrm>
        </p:spPr>
        <p:txBody>
          <a:bodyPr>
            <a:noAutofit/>
          </a:bodyPr>
          <a:lstStyle/>
          <a:p>
            <a:pPr marL="192933" indent="-192933">
              <a:buFont typeface="+mj-lt"/>
              <a:buAutoNum type="arabicPeriod"/>
            </a:pPr>
            <a:r>
              <a:rPr lang="en-US" sz="2200" dirty="0"/>
              <a:t>Country-specific mortality rates for 2020-2050 are projected using the same approach                                     </a:t>
            </a:r>
          </a:p>
          <a:p>
            <a:pPr marL="192933" indent="-192933">
              <a:buFont typeface="+mj-lt"/>
              <a:buAutoNum type="arabicPeriod"/>
            </a:pPr>
            <a:r>
              <a:rPr lang="en-US" sz="2200" b="1" u="sng" dirty="0"/>
              <a:t>Mortality rates are then population-weighted</a:t>
            </a:r>
            <a:r>
              <a:rPr lang="en-US" sz="2200" b="1" dirty="0"/>
              <a:t> </a:t>
            </a:r>
            <a:r>
              <a:rPr lang="en-US" sz="2200" dirty="0"/>
              <a:t>to obtain regional age-sex-cause-specific mortality rates for 7 “regions”</a:t>
            </a:r>
          </a:p>
        </p:txBody>
      </p:sp>
      <p:sp>
        <p:nvSpPr>
          <p:cNvPr id="5" name="Text Placeholder 4">
            <a:extLst>
              <a:ext uri="{FF2B5EF4-FFF2-40B4-BE49-F238E27FC236}">
                <a16:creationId xmlns:a16="http://schemas.microsoft.com/office/drawing/2014/main" id="{F7E11150-0F60-37DF-F1CE-85CD19DDACE9}"/>
              </a:ext>
            </a:extLst>
          </p:cNvPr>
          <p:cNvSpPr>
            <a:spLocks noGrp="1"/>
          </p:cNvSpPr>
          <p:nvPr>
            <p:ph type="body" sz="quarter" idx="16"/>
          </p:nvPr>
        </p:nvSpPr>
        <p:spPr>
          <a:xfrm>
            <a:off x="398200" y="4900352"/>
            <a:ext cx="4327055" cy="1444990"/>
          </a:xfrm>
        </p:spPr>
        <p:txBody>
          <a:bodyPr>
            <a:noAutofit/>
          </a:bodyPr>
          <a:lstStyle/>
          <a:p>
            <a:pPr marL="0" indent="0">
              <a:spcBef>
                <a:spcPts val="0"/>
              </a:spcBef>
              <a:buNone/>
            </a:pPr>
            <a:r>
              <a:rPr lang="en-US" sz="2200" b="1" dirty="0"/>
              <a:t>“Regions”</a:t>
            </a:r>
            <a:r>
              <a:rPr lang="en-US" sz="2200" dirty="0"/>
              <a:t>: </a:t>
            </a:r>
          </a:p>
          <a:p>
            <a:pPr marL="128622" indent="-128622">
              <a:spcBef>
                <a:spcPts val="0"/>
              </a:spcBef>
            </a:pPr>
            <a:r>
              <a:rPr lang="en-US" sz="2200" dirty="0"/>
              <a:t>China; India; Eurasia &amp; the Mediterranean; High-income; Latin America &amp; the Caribbean; Sub-Saharan Africa; World</a:t>
            </a:r>
          </a:p>
        </p:txBody>
      </p:sp>
      <p:sp>
        <p:nvSpPr>
          <p:cNvPr id="7" name="Text Placeholder 6">
            <a:extLst>
              <a:ext uri="{FF2B5EF4-FFF2-40B4-BE49-F238E27FC236}">
                <a16:creationId xmlns:a16="http://schemas.microsoft.com/office/drawing/2014/main" id="{69DD8905-B19E-DB3B-16DB-04E89354B6FF}"/>
              </a:ext>
            </a:extLst>
          </p:cNvPr>
          <p:cNvSpPr>
            <a:spLocks noGrp="1"/>
          </p:cNvSpPr>
          <p:nvPr>
            <p:ph type="body" sz="quarter" idx="12"/>
          </p:nvPr>
        </p:nvSpPr>
        <p:spPr>
          <a:xfrm>
            <a:off x="398200" y="863725"/>
            <a:ext cx="4455423" cy="736475"/>
          </a:xfrm>
        </p:spPr>
        <p:txBody>
          <a:bodyPr>
            <a:noAutofit/>
          </a:bodyPr>
          <a:lstStyle/>
          <a:p>
            <a:pPr marL="0" indent="0">
              <a:buNone/>
            </a:pPr>
            <a:r>
              <a:rPr lang="en-US" sz="3400" b="1" u="sng" dirty="0">
                <a:solidFill>
                  <a:srgbClr val="002060"/>
                </a:solidFill>
              </a:rPr>
              <a:t>STEP 1</a:t>
            </a:r>
            <a:r>
              <a:rPr lang="en-US" sz="3400" b="1" dirty="0">
                <a:solidFill>
                  <a:srgbClr val="002060"/>
                </a:solidFill>
              </a:rPr>
              <a:t>: </a:t>
            </a:r>
            <a:r>
              <a:rPr lang="en-US" sz="3400" dirty="0">
                <a:solidFill>
                  <a:srgbClr val="002060"/>
                </a:solidFill>
              </a:rPr>
              <a:t>PROJECT regional cause-specific MORTALITY RATES, 2020-2050</a:t>
            </a:r>
          </a:p>
        </p:txBody>
      </p:sp>
      <p:sp>
        <p:nvSpPr>
          <p:cNvPr id="2" name="Rectangle 1">
            <a:extLst>
              <a:ext uri="{FF2B5EF4-FFF2-40B4-BE49-F238E27FC236}">
                <a16:creationId xmlns:a16="http://schemas.microsoft.com/office/drawing/2014/main" id="{B0F143D3-7FFF-B805-CD3B-03D0A4DF6A43}"/>
              </a:ext>
            </a:extLst>
          </p:cNvPr>
          <p:cNvSpPr/>
          <p:nvPr/>
        </p:nvSpPr>
        <p:spPr>
          <a:xfrm>
            <a:off x="5275000" y="304800"/>
            <a:ext cx="3488000" cy="630276"/>
          </a:xfrm>
          <a:prstGeom prst="rect">
            <a:avLst/>
          </a:prstGeom>
          <a:solidFill>
            <a:schemeClr val="accent6">
              <a:lumMod val="20000"/>
              <a:lumOff val="80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002060"/>
                </a:solidFill>
              </a:rPr>
              <a:t>Latin America &amp; the Caribbean </a:t>
            </a:r>
          </a:p>
          <a:p>
            <a:pPr algn="ctr"/>
            <a:r>
              <a:rPr lang="en-US" sz="2000" dirty="0">
                <a:solidFill>
                  <a:srgbClr val="002060"/>
                </a:solidFill>
              </a:rPr>
              <a:t>vs. Frontier</a:t>
            </a:r>
          </a:p>
        </p:txBody>
      </p:sp>
      <p:pic>
        <p:nvPicPr>
          <p:cNvPr id="4" name="Content Placeholder 6">
            <a:extLst>
              <a:ext uri="{FF2B5EF4-FFF2-40B4-BE49-F238E27FC236}">
                <a16:creationId xmlns:a16="http://schemas.microsoft.com/office/drawing/2014/main" id="{01A117BF-670E-6B7B-CABB-F6598D0FDA90}"/>
              </a:ext>
            </a:extLst>
          </p:cNvPr>
          <p:cNvPicPr>
            <a:picLocks noGrp="1" noChangeAspect="1"/>
          </p:cNvPicPr>
          <p:nvPr>
            <p:ph sz="quarter" idx="15"/>
          </p:nvPr>
        </p:nvPicPr>
        <p:blipFill>
          <a:blip r:embed="rId2"/>
          <a:stretch>
            <a:fillRect/>
          </a:stretch>
        </p:blipFill>
        <p:spPr>
          <a:xfrm>
            <a:off x="4800600" y="1112520"/>
            <a:ext cx="4251960" cy="5669280"/>
          </a:xfrm>
        </p:spPr>
      </p:pic>
    </p:spTree>
    <p:extLst>
      <p:ext uri="{BB962C8B-B14F-4D97-AF65-F5344CB8AC3E}">
        <p14:creationId xmlns:p14="http://schemas.microsoft.com/office/powerpoint/2010/main" val="485328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722B5DC-5079-8E85-3C9D-59230A5ABD04}"/>
              </a:ext>
            </a:extLst>
          </p:cNvPr>
          <p:cNvSpPr>
            <a:spLocks noGrp="1"/>
          </p:cNvSpPr>
          <p:nvPr>
            <p:ph type="body" sz="quarter" idx="12"/>
          </p:nvPr>
        </p:nvSpPr>
        <p:spPr>
          <a:xfrm>
            <a:off x="394061" y="1047705"/>
            <a:ext cx="8368939" cy="171495"/>
          </a:xfrm>
        </p:spPr>
        <p:txBody>
          <a:bodyPr>
            <a:noAutofit/>
          </a:bodyPr>
          <a:lstStyle/>
          <a:p>
            <a:pPr marL="0" indent="0" algn="ctr">
              <a:buNone/>
            </a:pPr>
            <a:r>
              <a:rPr lang="en-US" sz="3800" b="1" u="sng" dirty="0">
                <a:solidFill>
                  <a:srgbClr val="002060"/>
                </a:solidFill>
              </a:rPr>
              <a:t>STEP 2</a:t>
            </a:r>
            <a:r>
              <a:rPr lang="en-US" sz="3800" b="1" dirty="0">
                <a:solidFill>
                  <a:srgbClr val="002060"/>
                </a:solidFill>
              </a:rPr>
              <a:t>: </a:t>
            </a:r>
            <a:r>
              <a:rPr lang="en-US" sz="3800" dirty="0" err="1">
                <a:solidFill>
                  <a:srgbClr val="002060"/>
                </a:solidFill>
              </a:rPr>
              <a:t>EstimatE</a:t>
            </a:r>
            <a:r>
              <a:rPr lang="en-US" sz="3800" dirty="0">
                <a:solidFill>
                  <a:srgbClr val="002060"/>
                </a:solidFill>
              </a:rPr>
              <a:t> ECONOMIC VALUE Associated with NCD avoidable Mortality, 2019-2050</a:t>
            </a:r>
          </a:p>
        </p:txBody>
      </p:sp>
      <mc:AlternateContent xmlns:mc="http://schemas.openxmlformats.org/markup-compatibility/2006" xmlns:a14="http://schemas.microsoft.com/office/drawing/2010/main">
        <mc:Choice Requires="a14">
          <p:sp>
            <p:nvSpPr>
              <p:cNvPr id="19" name="Text Placeholder 2">
                <a:extLst>
                  <a:ext uri="{FF2B5EF4-FFF2-40B4-BE49-F238E27FC236}">
                    <a16:creationId xmlns:a16="http://schemas.microsoft.com/office/drawing/2014/main" id="{FBC4CA6F-3BB3-540D-037F-496FD0E3A990}"/>
                  </a:ext>
                </a:extLst>
              </p:cNvPr>
              <p:cNvSpPr>
                <a:spLocks noGrp="1"/>
              </p:cNvSpPr>
              <p:nvPr>
                <p:ph type="body" sz="quarter" idx="14"/>
              </p:nvPr>
            </p:nvSpPr>
            <p:spPr>
              <a:xfrm>
                <a:off x="257055" y="2438400"/>
                <a:ext cx="4979286" cy="3827040"/>
              </a:xfrm>
            </p:spPr>
            <p:txBody>
              <a:bodyPr>
                <a:noAutofit/>
              </a:bodyPr>
              <a:lstStyle/>
              <a:p>
                <a:pPr marL="0" indent="0">
                  <a:buNone/>
                </a:pPr>
                <a:r>
                  <a:rPr lang="en-US" sz="2200" b="1" u="sng" dirty="0">
                    <a:latin typeface="Calibri" panose="020F0502020204030204" pitchFamily="34" charset="0"/>
                    <a:cs typeface="Calibri" panose="020F0502020204030204" pitchFamily="34" charset="0"/>
                  </a:rPr>
                  <a:t>For each region</a:t>
                </a:r>
                <a:r>
                  <a:rPr lang="en-US" sz="2200" b="1" dirty="0">
                    <a:latin typeface="Calibri" panose="020F0502020204030204" pitchFamily="34" charset="0"/>
                    <a:cs typeface="Calibri" panose="020F0502020204030204" pitchFamily="34" charset="0"/>
                  </a:rPr>
                  <a:t>:</a:t>
                </a:r>
              </a:p>
              <a:p>
                <a:pPr marL="278681" indent="-278681">
                  <a:buFont typeface="+mj-lt"/>
                  <a:buAutoNum type="arabicPeriod"/>
                </a:pPr>
                <a:r>
                  <a:rPr lang="en-US" sz="2200" dirty="0">
                    <a:latin typeface="Calibri" panose="020F0502020204030204" pitchFamily="34" charset="0"/>
                    <a:cs typeface="Calibri" panose="020F0502020204030204" pitchFamily="34" charset="0"/>
                  </a:rPr>
                  <a:t>Calculate the change in the probability of dying per age group </a:t>
                </a:r>
                <a:r>
                  <a:rPr lang="en-US" sz="2200" i="1" dirty="0">
                    <a:latin typeface="Calibri" panose="020F0502020204030204" pitchFamily="34" charset="0"/>
                    <a:cs typeface="Calibri" panose="020F0502020204030204" pitchFamily="34" charset="0"/>
                  </a:rPr>
                  <a:t>a</a:t>
                </a:r>
                <a:r>
                  <a:rPr lang="en-US" sz="2200" dirty="0">
                    <a:latin typeface="Calibri" panose="020F0502020204030204" pitchFamily="34" charset="0"/>
                    <a:cs typeface="Calibri" panose="020F0502020204030204" pitchFamily="34" charset="0"/>
                  </a:rPr>
                  <a:t> (vs. Frontier):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𝛿</m:t>
                        </m:r>
                      </m:e>
                      <m:sub>
                        <m:r>
                          <a:rPr lang="en-US" sz="2200" i="1">
                            <a:latin typeface="Cambria Math" panose="02040503050406030204" pitchFamily="18" charset="0"/>
                          </a:rPr>
                          <m:t>𝑅𝑒𝑔𝑖𝑜𝑛</m:t>
                        </m:r>
                        <m:r>
                          <a:rPr lang="en-US" sz="2200" i="1">
                            <a:latin typeface="Cambria Math" panose="02040503050406030204" pitchFamily="18" charset="0"/>
                          </a:rPr>
                          <m:t>,</m:t>
                        </m:r>
                        <m:r>
                          <a:rPr lang="en-US" sz="2200" i="1">
                            <a:latin typeface="Cambria Math" panose="02040503050406030204" pitchFamily="18" charset="0"/>
                          </a:rPr>
                          <m:t>ℱ</m:t>
                        </m:r>
                      </m:sub>
                    </m:sSub>
                    <m:d>
                      <m:dPr>
                        <m:ctrlPr>
                          <a:rPr lang="en-US" sz="2200" i="1">
                            <a:latin typeface="Cambria Math" panose="02040503050406030204" pitchFamily="18" charset="0"/>
                          </a:rPr>
                        </m:ctrlPr>
                      </m:dPr>
                      <m:e>
                        <m:r>
                          <a:rPr lang="en-US" sz="2200" i="1">
                            <a:latin typeface="Cambria Math" panose="02040503050406030204" pitchFamily="18" charset="0"/>
                          </a:rPr>
                          <m:t>𝑎</m:t>
                        </m:r>
                      </m:e>
                    </m:d>
                    <m:r>
                      <a:rPr lang="en-US" sz="2200" i="1">
                        <a:latin typeface="Cambria Math" panose="02040503050406030204" pitchFamily="18" charset="0"/>
                      </a:rPr>
                      <m:t>=</m:t>
                    </m:r>
                  </m:oMath>
                </a14:m>
                <a:r>
                  <a:rPr lang="en-US" sz="2200" i="1" dirty="0">
                    <a:latin typeface="Calibri" panose="020F0502020204030204" pitchFamily="34" charset="0"/>
                    <a:cs typeface="Calibri" panose="020F0502020204030204" pitchFamily="34" charset="0"/>
                  </a:rPr>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𝑞</m:t>
                        </m:r>
                      </m:e>
                      <m:sub>
                        <m:r>
                          <a:rPr lang="en-US" sz="2200" i="1">
                            <a:latin typeface="Cambria Math" panose="02040503050406030204" pitchFamily="18" charset="0"/>
                          </a:rPr>
                          <m:t>𝑅𝑒𝑔𝑖𝑜𝑛</m:t>
                        </m:r>
                        <m:r>
                          <a:rPr lang="en-US" sz="2200" i="1">
                            <a:latin typeface="Cambria Math" panose="02040503050406030204" pitchFamily="18" charset="0"/>
                          </a:rPr>
                          <m:t> </m:t>
                        </m:r>
                      </m:sub>
                    </m:sSub>
                    <m:d>
                      <m:dPr>
                        <m:ctrlPr>
                          <a:rPr lang="en-US" sz="2200" i="1">
                            <a:latin typeface="Cambria Math" panose="02040503050406030204" pitchFamily="18" charset="0"/>
                          </a:rPr>
                        </m:ctrlPr>
                      </m:dPr>
                      <m:e>
                        <m:r>
                          <a:rPr lang="en-US" sz="2200" i="1">
                            <a:latin typeface="Cambria Math" panose="02040503050406030204" pitchFamily="18" charset="0"/>
                          </a:rPr>
                          <m:t>𝑎</m:t>
                        </m:r>
                      </m:e>
                    </m:d>
                  </m:oMath>
                </a14:m>
                <a:r>
                  <a:rPr lang="en-US" sz="2200" i="1" dirty="0">
                    <a:latin typeface="Calibri" panose="020F0502020204030204" pitchFamily="34" charset="0"/>
                    <a:cs typeface="Calibri" panose="020F0502020204030204" pitchFamily="34" charset="0"/>
                  </a:rPr>
                  <a:t> -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𝑞</m:t>
                        </m:r>
                      </m:e>
                      <m:sub>
                        <m:r>
                          <a:rPr lang="en-US" sz="2200" i="1">
                            <a:latin typeface="Cambria Math" panose="02040503050406030204" pitchFamily="18" charset="0"/>
                          </a:rPr>
                          <m:t>ℱ</m:t>
                        </m:r>
                      </m:sub>
                    </m:sSub>
                    <m:d>
                      <m:dPr>
                        <m:ctrlPr>
                          <a:rPr lang="en-US" sz="2200" i="1">
                            <a:latin typeface="Cambria Math" panose="02040503050406030204" pitchFamily="18" charset="0"/>
                          </a:rPr>
                        </m:ctrlPr>
                      </m:dPr>
                      <m:e>
                        <m:r>
                          <a:rPr lang="en-US" sz="2200" i="1">
                            <a:latin typeface="Cambria Math" panose="02040503050406030204" pitchFamily="18" charset="0"/>
                          </a:rPr>
                          <m:t>𝑎</m:t>
                        </m:r>
                      </m:e>
                    </m:d>
                  </m:oMath>
                </a14:m>
                <a:endParaRPr lang="en-US" sz="2200" i="1" dirty="0">
                  <a:latin typeface="Calibri" panose="020F0502020204030204" pitchFamily="34" charset="0"/>
                  <a:cs typeface="Calibri" panose="020F0502020204030204" pitchFamily="34" charset="0"/>
                </a:endParaRPr>
              </a:p>
              <a:p>
                <a:pPr marL="278681" indent="-278681">
                  <a:buFont typeface="+mj-lt"/>
                  <a:buAutoNum type="arabicPeriod"/>
                </a:pPr>
                <a:r>
                  <a:rPr lang="en-US" sz="2200" dirty="0">
                    <a:latin typeface="Calibri" panose="020F0502020204030204" pitchFamily="34" charset="0"/>
                    <a:cs typeface="Calibri" panose="020F0502020204030204" pitchFamily="34" charset="0"/>
                  </a:rPr>
                  <a:t>Assign a monetary value to the change depending on: </a:t>
                </a:r>
              </a:p>
              <a:p>
                <a:pPr marL="521038" lvl="1" indent="-171496">
                  <a:buFont typeface="Arial" panose="020B0604020202020204" pitchFamily="34" charset="0"/>
                  <a:buChar char="•"/>
                </a:pPr>
                <a:r>
                  <a:rPr lang="en-US" sz="2200" dirty="0">
                    <a:latin typeface="Calibri" panose="020F0502020204030204" pitchFamily="34" charset="0"/>
                    <a:cs typeface="Calibri" panose="020F0502020204030204" pitchFamily="34" charset="0"/>
                  </a:rPr>
                  <a:t>extent of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𝛿</m:t>
                        </m:r>
                      </m:e>
                      <m:sub>
                        <m:r>
                          <a:rPr lang="en-US" sz="2200" i="1">
                            <a:latin typeface="Cambria Math" panose="02040503050406030204" pitchFamily="18" charset="0"/>
                          </a:rPr>
                          <m:t>𝑅𝑒𝑔𝑖𝑜𝑛</m:t>
                        </m:r>
                        <m:r>
                          <a:rPr lang="en-US" sz="2200" i="1">
                            <a:latin typeface="Cambria Math" panose="02040503050406030204" pitchFamily="18" charset="0"/>
                          </a:rPr>
                          <m:t>,</m:t>
                        </m:r>
                        <m:r>
                          <a:rPr lang="en-US" sz="2200" i="1">
                            <a:latin typeface="Cambria Math" panose="02040503050406030204" pitchFamily="18" charset="0"/>
                          </a:rPr>
                          <m:t>ℱ</m:t>
                        </m:r>
                      </m:sub>
                    </m:sSub>
                  </m:oMath>
                </a14:m>
                <a:r>
                  <a:rPr lang="en-US" sz="2200" dirty="0">
                    <a:latin typeface="Calibri" panose="020F0502020204030204" pitchFamily="34" charset="0"/>
                    <a:cs typeface="Calibri" panose="020F0502020204030204" pitchFamily="34" charset="0"/>
                  </a:rPr>
                  <a:t> modulated by decreasing marginal returns</a:t>
                </a:r>
              </a:p>
              <a:p>
                <a:pPr marL="521038" lvl="1" indent="-171496">
                  <a:buFont typeface="Arial" panose="020B0604020202020204" pitchFamily="34" charset="0"/>
                  <a:buChar char="•"/>
                </a:pPr>
                <a:r>
                  <a:rPr lang="en-US" sz="2200" dirty="0">
                    <a:latin typeface="Calibri" panose="020F0502020204030204" pitchFamily="34" charset="0"/>
                    <a:cs typeface="Calibri" panose="020F0502020204030204" pitchFamily="34" charset="0"/>
                  </a:rPr>
                  <a:t>value of statistical life in countries within region</a:t>
                </a:r>
              </a:p>
              <a:p>
                <a:pPr marL="278681" indent="-278681">
                  <a:buFont typeface="+mj-lt"/>
                  <a:buAutoNum type="arabicPeriod"/>
                </a:pPr>
                <a:r>
                  <a:rPr lang="en-US" sz="2200" dirty="0">
                    <a:latin typeface="Calibri" panose="020F0502020204030204" pitchFamily="34" charset="0"/>
                    <a:cs typeface="Calibri" panose="020F0502020204030204" pitchFamily="34" charset="0"/>
                  </a:rPr>
                  <a:t>Apply age distributions and sum across age groups to yield an aggregate value</a:t>
                </a:r>
              </a:p>
            </p:txBody>
          </p:sp>
        </mc:Choice>
        <mc:Fallback xmlns="">
          <p:sp>
            <p:nvSpPr>
              <p:cNvPr id="19" name="Text Placeholder 2">
                <a:extLst>
                  <a:ext uri="{FF2B5EF4-FFF2-40B4-BE49-F238E27FC236}">
                    <a16:creationId xmlns:a16="http://schemas.microsoft.com/office/drawing/2014/main" id="{FBC4CA6F-3BB3-540D-037F-496FD0E3A990}"/>
                  </a:ext>
                </a:extLst>
              </p:cNvPr>
              <p:cNvSpPr>
                <a:spLocks noGrp="1" noRot="1" noChangeAspect="1" noMove="1" noResize="1" noEditPoints="1" noAdjustHandles="1" noChangeArrowheads="1" noChangeShapeType="1" noTextEdit="1"/>
              </p:cNvSpPr>
              <p:nvPr>
                <p:ph type="body" sz="quarter" idx="14"/>
              </p:nvPr>
            </p:nvSpPr>
            <p:spPr>
              <a:xfrm>
                <a:off x="257055" y="2438400"/>
                <a:ext cx="4979286" cy="3827040"/>
              </a:xfrm>
              <a:blipFill>
                <a:blip r:embed="rId3"/>
                <a:stretch>
                  <a:fillRect l="-1781" t="-10265" r="-11705" b="-11921"/>
                </a:stretch>
              </a:blipFill>
            </p:spPr>
            <p:txBody>
              <a:bodyPr/>
              <a:lstStyle/>
              <a:p>
                <a:r>
                  <a:rPr lang="en-US">
                    <a:noFill/>
                  </a:rPr>
                  <a:t> </a:t>
                </a:r>
              </a:p>
            </p:txBody>
          </p:sp>
        </mc:Fallback>
      </mc:AlternateContent>
      <p:sp>
        <p:nvSpPr>
          <p:cNvPr id="20" name="Text Placeholder 4">
            <a:extLst>
              <a:ext uri="{FF2B5EF4-FFF2-40B4-BE49-F238E27FC236}">
                <a16:creationId xmlns:a16="http://schemas.microsoft.com/office/drawing/2014/main" id="{8A3B4DC7-F33A-8148-FEEE-1130F01719C4}"/>
              </a:ext>
            </a:extLst>
          </p:cNvPr>
          <p:cNvSpPr>
            <a:spLocks noGrp="1"/>
          </p:cNvSpPr>
          <p:nvPr>
            <p:ph type="body" sz="quarter" idx="16"/>
          </p:nvPr>
        </p:nvSpPr>
        <p:spPr>
          <a:xfrm>
            <a:off x="5638800" y="6096000"/>
            <a:ext cx="3095375" cy="473503"/>
          </a:xfrm>
        </p:spPr>
        <p:txBody>
          <a:bodyPr>
            <a:noAutofit/>
          </a:bodyPr>
          <a:lstStyle/>
          <a:p>
            <a:pPr marL="0" indent="0" algn="ctr">
              <a:buNone/>
            </a:pPr>
            <a:r>
              <a:rPr lang="en-US" sz="1400" dirty="0">
                <a:latin typeface="Calibri" panose="020F0502020204030204" pitchFamily="34" charset="0"/>
                <a:cs typeface="Calibri" panose="020F0502020204030204" pitchFamily="34" charset="0"/>
              </a:rPr>
              <a:t>Adapted from: </a:t>
            </a:r>
            <a:r>
              <a:rPr lang="en-US" sz="1400" dirty="0" err="1">
                <a:latin typeface="Calibri" panose="020F0502020204030204" pitchFamily="34" charset="0"/>
                <a:cs typeface="Calibri" panose="020F0502020204030204" pitchFamily="34" charset="0"/>
              </a:rPr>
              <a:t>Hammitt</a:t>
            </a:r>
            <a:r>
              <a:rPr lang="en-US" sz="1400" dirty="0">
                <a:latin typeface="Calibri" panose="020F0502020204030204" pitchFamily="34" charset="0"/>
                <a:cs typeface="Calibri" panose="020F0502020204030204" pitchFamily="34" charset="0"/>
              </a:rPr>
              <a:t> et al., 2020; Cardoso &amp; </a:t>
            </a:r>
            <a:r>
              <a:rPr lang="en-US" sz="1400" dirty="0" err="1">
                <a:latin typeface="Calibri" panose="020F0502020204030204" pitchFamily="34" charset="0"/>
                <a:cs typeface="Calibri" panose="020F0502020204030204" pitchFamily="34" charset="0"/>
              </a:rPr>
              <a:t>Dahis</a:t>
            </a:r>
            <a:r>
              <a:rPr lang="en-US" sz="1400" dirty="0">
                <a:latin typeface="Calibri" panose="020F0502020204030204" pitchFamily="34" charset="0"/>
                <a:cs typeface="Calibri" panose="020F0502020204030204" pitchFamily="34" charset="0"/>
              </a:rPr>
              <a:t> 2024</a:t>
            </a:r>
          </a:p>
        </p:txBody>
      </p:sp>
      <p:grpSp>
        <p:nvGrpSpPr>
          <p:cNvPr id="2" name="Group 1">
            <a:extLst>
              <a:ext uri="{FF2B5EF4-FFF2-40B4-BE49-F238E27FC236}">
                <a16:creationId xmlns:a16="http://schemas.microsoft.com/office/drawing/2014/main" id="{1593AA73-96BF-0110-FA9E-3CA0489D4F57}"/>
              </a:ext>
            </a:extLst>
          </p:cNvPr>
          <p:cNvGrpSpPr/>
          <p:nvPr/>
        </p:nvGrpSpPr>
        <p:grpSpPr>
          <a:xfrm>
            <a:off x="4977526" y="2679287"/>
            <a:ext cx="4023852" cy="3190024"/>
            <a:chOff x="6041535" y="1538353"/>
            <a:chExt cx="5838654" cy="4272797"/>
          </a:xfrm>
        </p:grpSpPr>
        <p:cxnSp>
          <p:nvCxnSpPr>
            <p:cNvPr id="3" name="Straight Arrow Connector 2">
              <a:extLst>
                <a:ext uri="{FF2B5EF4-FFF2-40B4-BE49-F238E27FC236}">
                  <a16:creationId xmlns:a16="http://schemas.microsoft.com/office/drawing/2014/main" id="{B5283923-9A56-8E0C-C650-EE845B1954BE}"/>
                </a:ext>
              </a:extLst>
            </p:cNvPr>
            <p:cNvCxnSpPr>
              <a:cxnSpLocks/>
            </p:cNvCxnSpPr>
            <p:nvPr/>
          </p:nvCxnSpPr>
          <p:spPr>
            <a:xfrm flipV="1">
              <a:off x="7189365" y="2357306"/>
              <a:ext cx="0" cy="283547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 name="Straight Arrow Connector 3">
              <a:extLst>
                <a:ext uri="{FF2B5EF4-FFF2-40B4-BE49-F238E27FC236}">
                  <a16:creationId xmlns:a16="http://schemas.microsoft.com/office/drawing/2014/main" id="{D1346794-B177-8140-C8C8-D4252BC01E86}"/>
                </a:ext>
              </a:extLst>
            </p:cNvPr>
            <p:cNvCxnSpPr>
              <a:cxnSpLocks/>
            </p:cNvCxnSpPr>
            <p:nvPr/>
          </p:nvCxnSpPr>
          <p:spPr>
            <a:xfrm>
              <a:off x="7048150" y="5101904"/>
              <a:ext cx="4453156"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746D9E85-71B1-C20D-6038-520F599D0933}"/>
                </a:ext>
              </a:extLst>
            </p:cNvPr>
            <p:cNvSpPr txBox="1"/>
            <p:nvPr/>
          </p:nvSpPr>
          <p:spPr>
            <a:xfrm>
              <a:off x="6475001" y="1538353"/>
              <a:ext cx="1523893" cy="865712"/>
            </a:xfrm>
            <a:prstGeom prst="rect">
              <a:avLst/>
            </a:prstGeom>
            <a:noFill/>
            <a:ln w="28575">
              <a:solidFill>
                <a:schemeClr val="tx1"/>
              </a:solidFill>
            </a:ln>
          </p:spPr>
          <p:txBody>
            <a:bodyPr wrap="square" rtlCol="0">
              <a:spAutoFit/>
            </a:bodyPr>
            <a:lstStyle/>
            <a:p>
              <a:pPr algn="ctr"/>
              <a:r>
                <a:rPr lang="pt-BR" sz="1200" dirty="0" err="1">
                  <a:latin typeface="Calibri" panose="020F0502020204030204" pitchFamily="34" charset="0"/>
                  <a:cs typeface="Calibri" panose="020F0502020204030204" pitchFamily="34" charset="0"/>
                </a:rPr>
                <a:t>Share</a:t>
              </a:r>
              <a:r>
                <a:rPr lang="pt-BR" sz="1200" dirty="0">
                  <a:latin typeface="Calibri" panose="020F0502020204030204" pitchFamily="34" charset="0"/>
                  <a:cs typeface="Calibri" panose="020F0502020204030204" pitchFamily="34" charset="0"/>
                </a:rPr>
                <a:t> </a:t>
              </a:r>
              <a:r>
                <a:rPr lang="pt-BR" sz="1200" dirty="0" err="1">
                  <a:latin typeface="Calibri" panose="020F0502020204030204" pitchFamily="34" charset="0"/>
                  <a:cs typeface="Calibri" panose="020F0502020204030204" pitchFamily="34" charset="0"/>
                </a:rPr>
                <a:t>of</a:t>
              </a:r>
              <a:r>
                <a:rPr lang="pt-BR" sz="1200" dirty="0">
                  <a:latin typeface="Calibri" panose="020F0502020204030204" pitchFamily="34" charset="0"/>
                  <a:cs typeface="Calibri" panose="020F0502020204030204" pitchFamily="34" charset="0"/>
                </a:rPr>
                <a:t> individual income (%)</a:t>
              </a:r>
            </a:p>
          </p:txBody>
        </p:sp>
        <p:sp>
          <p:nvSpPr>
            <p:cNvPr id="6" name="TextBox 5">
              <a:extLst>
                <a:ext uri="{FF2B5EF4-FFF2-40B4-BE49-F238E27FC236}">
                  <a16:creationId xmlns:a16="http://schemas.microsoft.com/office/drawing/2014/main" id="{97BDABB9-AC90-6BF5-CCC1-27EEDCD0B28B}"/>
                </a:ext>
              </a:extLst>
            </p:cNvPr>
            <p:cNvSpPr txBox="1"/>
            <p:nvPr/>
          </p:nvSpPr>
          <p:spPr>
            <a:xfrm>
              <a:off x="9853050" y="5192784"/>
              <a:ext cx="2027139" cy="618366"/>
            </a:xfrm>
            <a:prstGeom prst="rect">
              <a:avLst/>
            </a:prstGeom>
            <a:noFill/>
            <a:ln w="28575">
              <a:solidFill>
                <a:schemeClr val="tx1"/>
              </a:solidFill>
            </a:ln>
          </p:spPr>
          <p:txBody>
            <a:bodyPr wrap="square" rtlCol="0">
              <a:spAutoFit/>
            </a:bodyPr>
            <a:lstStyle/>
            <a:p>
              <a:pPr algn="ctr"/>
              <a:r>
                <a:rPr lang="pt-BR" sz="1200" dirty="0" err="1">
                  <a:latin typeface="Calibri" panose="020F0502020204030204" pitchFamily="34" charset="0"/>
                  <a:cs typeface="Calibri" panose="020F0502020204030204" pitchFamily="34" charset="0"/>
                </a:rPr>
                <a:t>Change</a:t>
              </a:r>
              <a:r>
                <a:rPr lang="pt-BR" sz="1200" dirty="0">
                  <a:latin typeface="Calibri" panose="020F0502020204030204" pitchFamily="34" charset="0"/>
                  <a:cs typeface="Calibri" panose="020F0502020204030204" pitchFamily="34" charset="0"/>
                </a:rPr>
                <a:t> in </a:t>
              </a:r>
              <a:r>
                <a:rPr lang="pt-BR" sz="1200" dirty="0" err="1">
                  <a:latin typeface="Calibri" panose="020F0502020204030204" pitchFamily="34" charset="0"/>
                  <a:cs typeface="Calibri" panose="020F0502020204030204" pitchFamily="34" charset="0"/>
                </a:rPr>
                <a:t>probability</a:t>
              </a:r>
              <a:r>
                <a:rPr lang="pt-BR" sz="1200" dirty="0">
                  <a:latin typeface="Calibri" panose="020F0502020204030204" pitchFamily="34" charset="0"/>
                  <a:cs typeface="Calibri" panose="020F0502020204030204" pitchFamily="34" charset="0"/>
                </a:rPr>
                <a:t> </a:t>
              </a:r>
              <a:r>
                <a:rPr lang="pt-BR" sz="1200" dirty="0" err="1">
                  <a:latin typeface="Calibri" panose="020F0502020204030204" pitchFamily="34" charset="0"/>
                  <a:cs typeface="Calibri" panose="020F0502020204030204" pitchFamily="34" charset="0"/>
                </a:rPr>
                <a:t>of</a:t>
              </a:r>
              <a:r>
                <a:rPr lang="pt-BR" sz="1200" dirty="0">
                  <a:latin typeface="Calibri" panose="020F0502020204030204" pitchFamily="34" charset="0"/>
                  <a:cs typeface="Calibri" panose="020F0502020204030204" pitchFamily="34" charset="0"/>
                </a:rPr>
                <a:t> </a:t>
              </a:r>
              <a:r>
                <a:rPr lang="pt-BR" sz="1200" dirty="0" err="1">
                  <a:latin typeface="Calibri" panose="020F0502020204030204" pitchFamily="34" charset="0"/>
                  <a:cs typeface="Calibri" panose="020F0502020204030204" pitchFamily="34" charset="0"/>
                </a:rPr>
                <a:t>dying</a:t>
              </a:r>
              <a:endParaRPr lang="pt-BR" sz="1200" dirty="0">
                <a:latin typeface="Calibri" panose="020F0502020204030204" pitchFamily="34" charset="0"/>
                <a:cs typeface="Calibri" panose="020F0502020204030204" pitchFamily="34" charset="0"/>
              </a:endParaRPr>
            </a:p>
          </p:txBody>
        </p:sp>
        <p:sp>
          <p:nvSpPr>
            <p:cNvPr id="8" name="Freeform: Shape 15">
              <a:extLst>
                <a:ext uri="{FF2B5EF4-FFF2-40B4-BE49-F238E27FC236}">
                  <a16:creationId xmlns:a16="http://schemas.microsoft.com/office/drawing/2014/main" id="{223584A4-A15F-8621-DB08-1180B67AFE14}"/>
                </a:ext>
              </a:extLst>
            </p:cNvPr>
            <p:cNvSpPr/>
            <p:nvPr/>
          </p:nvSpPr>
          <p:spPr>
            <a:xfrm>
              <a:off x="7189363" y="2938461"/>
              <a:ext cx="4278208" cy="2050033"/>
            </a:xfrm>
            <a:custGeom>
              <a:avLst/>
              <a:gdLst>
                <a:gd name="connsiteX0" fmla="*/ 0 w 3053593"/>
                <a:gd name="connsiteY0" fmla="*/ 0 h 2197916"/>
                <a:gd name="connsiteX1" fmla="*/ 939567 w 3053593"/>
                <a:gd name="connsiteY1" fmla="*/ 1510019 h 2197916"/>
                <a:gd name="connsiteX2" fmla="*/ 3053593 w 3053593"/>
                <a:gd name="connsiteY2" fmla="*/ 2197916 h 2197916"/>
              </a:gdLst>
              <a:ahLst/>
              <a:cxnLst>
                <a:cxn ang="0">
                  <a:pos x="connsiteX0" y="connsiteY0"/>
                </a:cxn>
                <a:cxn ang="0">
                  <a:pos x="connsiteX1" y="connsiteY1"/>
                </a:cxn>
                <a:cxn ang="0">
                  <a:pos x="connsiteX2" y="connsiteY2"/>
                </a:cxn>
              </a:cxnLst>
              <a:rect l="l" t="t" r="r" b="b"/>
              <a:pathLst>
                <a:path w="3053593" h="2197916">
                  <a:moveTo>
                    <a:pt x="0" y="0"/>
                  </a:moveTo>
                  <a:cubicBezTo>
                    <a:pt x="215317" y="571850"/>
                    <a:pt x="430635" y="1143700"/>
                    <a:pt x="939567" y="1510019"/>
                  </a:cubicBezTo>
                  <a:cubicBezTo>
                    <a:pt x="1448499" y="1876338"/>
                    <a:pt x="2251046" y="2037127"/>
                    <a:pt x="3053593" y="2197916"/>
                  </a:cubicBezTo>
                </a:path>
              </a:pathLst>
            </a:custGeom>
            <a:noFill/>
            <a:ln w="38100">
              <a:solidFill>
                <a:srgbClr val="972D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latin typeface="Garamond" panose="02020404030301010803" pitchFamily="18" charset="0"/>
              </a:endParaRPr>
            </a:p>
          </p:txBody>
        </p:sp>
        <p:cxnSp>
          <p:nvCxnSpPr>
            <p:cNvPr id="9" name="Straight Connector 8">
              <a:extLst>
                <a:ext uri="{FF2B5EF4-FFF2-40B4-BE49-F238E27FC236}">
                  <a16:creationId xmlns:a16="http://schemas.microsoft.com/office/drawing/2014/main" id="{1F454573-647B-5E7F-4F2F-D151983D1E3D}"/>
                </a:ext>
              </a:extLst>
            </p:cNvPr>
            <p:cNvCxnSpPr>
              <a:cxnSpLocks/>
            </p:cNvCxnSpPr>
            <p:nvPr/>
          </p:nvCxnSpPr>
          <p:spPr>
            <a:xfrm>
              <a:off x="7189365" y="2938463"/>
              <a:ext cx="1189932" cy="2163441"/>
            </a:xfrm>
            <a:prstGeom prst="line">
              <a:avLst/>
            </a:prstGeom>
            <a:ln w="28575">
              <a:solidFill>
                <a:srgbClr val="D8B70A"/>
              </a:solidFill>
              <a:prstDash val="sysDash"/>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E1F66266-A973-C22D-B374-61015C013D3A}"/>
                </a:ext>
              </a:extLst>
            </p:cNvPr>
            <p:cNvSpPr/>
            <p:nvPr/>
          </p:nvSpPr>
          <p:spPr>
            <a:xfrm>
              <a:off x="7155986" y="2921912"/>
              <a:ext cx="80962" cy="80963"/>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latin typeface="Garamond" panose="02020404030301010803" pitchFamily="18" charset="0"/>
              </a:endParaRPr>
            </a:p>
          </p:txBody>
        </p:sp>
        <p:sp>
          <p:nvSpPr>
            <p:cNvPr id="11" name="TextBox 10">
              <a:extLst>
                <a:ext uri="{FF2B5EF4-FFF2-40B4-BE49-F238E27FC236}">
                  <a16:creationId xmlns:a16="http://schemas.microsoft.com/office/drawing/2014/main" id="{8DCAF71A-9911-8B9D-F70A-4455ADF4E89E}"/>
                </a:ext>
              </a:extLst>
            </p:cNvPr>
            <p:cNvSpPr txBox="1"/>
            <p:nvPr/>
          </p:nvSpPr>
          <p:spPr>
            <a:xfrm>
              <a:off x="6041535" y="4004147"/>
              <a:ext cx="1107343" cy="231887"/>
            </a:xfrm>
            <a:prstGeom prst="rect">
              <a:avLst/>
            </a:prstGeom>
            <a:noFill/>
          </p:spPr>
          <p:txBody>
            <a:bodyPr wrap="square" rtlCol="0">
              <a:spAutoFit/>
            </a:bodyPr>
            <a:lstStyle/>
            <a:p>
              <a:pPr algn="ctr"/>
              <a:endParaRPr lang="en-US" sz="525">
                <a:solidFill>
                  <a:srgbClr val="C00000"/>
                </a:solidFill>
                <a:latin typeface="Garamond" panose="02020404030301010803" pitchFamily="18" charset="0"/>
              </a:endParaRPr>
            </a:p>
          </p:txBody>
        </p:sp>
        <p:sp>
          <p:nvSpPr>
            <p:cNvPr id="12" name="TextBox 11">
              <a:extLst>
                <a:ext uri="{FF2B5EF4-FFF2-40B4-BE49-F238E27FC236}">
                  <a16:creationId xmlns:a16="http://schemas.microsoft.com/office/drawing/2014/main" id="{464D243B-52ED-04EC-1781-BA3DB32DCD8F}"/>
                </a:ext>
              </a:extLst>
            </p:cNvPr>
            <p:cNvSpPr txBox="1"/>
            <p:nvPr/>
          </p:nvSpPr>
          <p:spPr>
            <a:xfrm>
              <a:off x="6196425" y="2798681"/>
              <a:ext cx="1107343" cy="355560"/>
            </a:xfrm>
            <a:prstGeom prst="rect">
              <a:avLst/>
            </a:prstGeom>
            <a:noFill/>
          </p:spPr>
          <p:txBody>
            <a:bodyPr wrap="square" rtlCol="0">
              <a:spAutoFit/>
            </a:bodyPr>
            <a:lstStyle/>
            <a:p>
              <a:pPr algn="ctr"/>
              <a:r>
                <a:rPr lang="pt-BR" sz="1125" dirty="0">
                  <a:latin typeface="Arial" panose="020B0604020202020204" pitchFamily="34" charset="0"/>
                  <a:cs typeface="Arial" panose="020B0604020202020204" pitchFamily="34" charset="0"/>
                </a:rPr>
                <a:t>100%</a:t>
              </a:r>
            </a:p>
          </p:txBody>
        </p:sp>
      </p:grpSp>
      <p:sp>
        <p:nvSpPr>
          <p:cNvPr id="14" name="TextBox 13">
            <a:extLst>
              <a:ext uri="{FF2B5EF4-FFF2-40B4-BE49-F238E27FC236}">
                <a16:creationId xmlns:a16="http://schemas.microsoft.com/office/drawing/2014/main" id="{57803296-56B4-30A9-3AEF-6AEF9189498A}"/>
              </a:ext>
            </a:extLst>
          </p:cNvPr>
          <p:cNvSpPr txBox="1"/>
          <p:nvPr/>
        </p:nvSpPr>
        <p:spPr>
          <a:xfrm>
            <a:off x="5370982" y="5351831"/>
            <a:ext cx="654982" cy="265457"/>
          </a:xfrm>
          <a:prstGeom prst="rect">
            <a:avLst/>
          </a:prstGeom>
          <a:noFill/>
        </p:spPr>
        <p:txBody>
          <a:bodyPr wrap="square" rtlCol="0">
            <a:spAutoFit/>
          </a:bodyPr>
          <a:lstStyle/>
          <a:p>
            <a:pPr algn="ctr"/>
            <a:r>
              <a:rPr lang="pt-BR" sz="1125" dirty="0">
                <a:latin typeface="Arial" panose="020B0604020202020204" pitchFamily="34" charset="0"/>
                <a:cs typeface="Arial" panose="020B0604020202020204" pitchFamily="34" charset="0"/>
              </a:rPr>
              <a:t>0</a:t>
            </a:r>
          </a:p>
        </p:txBody>
      </p:sp>
    </p:spTree>
    <p:extLst>
      <p:ext uri="{BB962C8B-B14F-4D97-AF65-F5344CB8AC3E}">
        <p14:creationId xmlns:p14="http://schemas.microsoft.com/office/powerpoint/2010/main" val="1300635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F92A813-6AF5-B2FB-0532-9DC91D38BA17}"/>
              </a:ext>
            </a:extLst>
          </p:cNvPr>
          <p:cNvPicPr>
            <a:picLocks noChangeAspect="1"/>
          </p:cNvPicPr>
          <p:nvPr/>
        </p:nvPicPr>
        <p:blipFill>
          <a:blip r:embed="rId3"/>
          <a:stretch>
            <a:fillRect/>
          </a:stretch>
        </p:blipFill>
        <p:spPr>
          <a:xfrm>
            <a:off x="609600" y="1752600"/>
            <a:ext cx="8503920" cy="5102352"/>
          </a:xfrm>
          <a:prstGeom prst="rect">
            <a:avLst/>
          </a:prstGeom>
        </p:spPr>
      </p:pic>
      <p:sp>
        <p:nvSpPr>
          <p:cNvPr id="5" name="Text Placeholder 6">
            <a:extLst>
              <a:ext uri="{FF2B5EF4-FFF2-40B4-BE49-F238E27FC236}">
                <a16:creationId xmlns:a16="http://schemas.microsoft.com/office/drawing/2014/main" id="{2CFC22C7-20F4-78B2-1DDB-EA0A77EB68BB}"/>
              </a:ext>
            </a:extLst>
          </p:cNvPr>
          <p:cNvSpPr>
            <a:spLocks noGrp="1"/>
          </p:cNvSpPr>
          <p:nvPr>
            <p:ph type="body" sz="quarter" idx="12"/>
          </p:nvPr>
        </p:nvSpPr>
        <p:spPr>
          <a:xfrm>
            <a:off x="252388" y="138116"/>
            <a:ext cx="8663012" cy="1538284"/>
          </a:xfrm>
        </p:spPr>
        <p:txBody>
          <a:bodyPr anchor="t">
            <a:noAutofit/>
          </a:bodyPr>
          <a:lstStyle/>
          <a:p>
            <a:pPr marL="0" indent="0">
              <a:buNone/>
            </a:pPr>
            <a:r>
              <a:rPr lang="en-US" sz="2400" b="1" u="sng" dirty="0">
                <a:solidFill>
                  <a:srgbClr val="002060"/>
                </a:solidFill>
              </a:rPr>
              <a:t>Key finding #1</a:t>
            </a:r>
            <a:r>
              <a:rPr lang="en-US" sz="2400" b="1" dirty="0">
                <a:solidFill>
                  <a:srgbClr val="002060"/>
                </a:solidFill>
              </a:rPr>
              <a:t>: </a:t>
            </a:r>
          </a:p>
          <a:p>
            <a:pPr marL="0" indent="0">
              <a:buNone/>
            </a:pPr>
            <a:r>
              <a:rPr lang="en-US" sz="2400" dirty="0">
                <a:solidFill>
                  <a:srgbClr val="002060"/>
                </a:solidFill>
              </a:rPr>
              <a:t>The NCD &amp; injury share of the economic value associated with AVOIDABLE mortality is dominant in Every Region BUT sub-Saharan Africa</a:t>
            </a:r>
          </a:p>
        </p:txBody>
      </p:sp>
      <p:sp>
        <p:nvSpPr>
          <p:cNvPr id="2" name="TextBox 1">
            <a:extLst>
              <a:ext uri="{FF2B5EF4-FFF2-40B4-BE49-F238E27FC236}">
                <a16:creationId xmlns:a16="http://schemas.microsoft.com/office/drawing/2014/main" id="{042E4813-75FA-8724-6E67-3A05AA7981F5}"/>
              </a:ext>
            </a:extLst>
          </p:cNvPr>
          <p:cNvSpPr txBox="1"/>
          <p:nvPr/>
        </p:nvSpPr>
        <p:spPr>
          <a:xfrm rot="16200000">
            <a:off x="-1194779" y="3758222"/>
            <a:ext cx="3695136" cy="523220"/>
          </a:xfrm>
          <a:prstGeom prst="rect">
            <a:avLst/>
          </a:prstGeom>
          <a:solidFill>
            <a:schemeClr val="bg1"/>
          </a:solidFill>
          <a:ln>
            <a:solidFill>
              <a:schemeClr val="tx1"/>
            </a:solidFill>
          </a:ln>
        </p:spPr>
        <p:txBody>
          <a:bodyPr wrap="square" rtlCol="0">
            <a:spAutoFit/>
          </a:bodyPr>
          <a:lstStyle/>
          <a:p>
            <a:pPr algn="ctr"/>
            <a:r>
              <a:rPr lang="en-US" sz="1400" b="1" dirty="0">
                <a:latin typeface="Rubik" pitchFamily="2" charset="-79"/>
                <a:cs typeface="Rubik" pitchFamily="2" charset="-79"/>
              </a:rPr>
              <a:t>Fraction of economic value associated with avoidable mortality, by cause</a:t>
            </a:r>
          </a:p>
        </p:txBody>
      </p:sp>
    </p:spTree>
    <p:extLst>
      <p:ext uri="{BB962C8B-B14F-4D97-AF65-F5344CB8AC3E}">
        <p14:creationId xmlns:p14="http://schemas.microsoft.com/office/powerpoint/2010/main" val="36596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5">
            <a:extLst>
              <a:ext uri="{FF2B5EF4-FFF2-40B4-BE49-F238E27FC236}">
                <a16:creationId xmlns:a16="http://schemas.microsoft.com/office/drawing/2014/main" id="{277D925B-22B3-814F-ED17-A2BE341F4272}"/>
              </a:ext>
            </a:extLst>
          </p:cNvPr>
          <p:cNvPicPr>
            <a:picLocks noGrp="1" noChangeAspect="1"/>
          </p:cNvPicPr>
          <p:nvPr>
            <p:ph sz="quarter" idx="13"/>
          </p:nvPr>
        </p:nvPicPr>
        <p:blipFill>
          <a:blip r:embed="rId3"/>
          <a:stretch>
            <a:fillRect/>
          </a:stretch>
        </p:blipFill>
        <p:spPr>
          <a:xfrm>
            <a:off x="3733800" y="1005840"/>
            <a:ext cx="5349239" cy="4937760"/>
          </a:xfrm>
        </p:spPr>
      </p:pic>
      <p:sp>
        <p:nvSpPr>
          <p:cNvPr id="7" name="Text Placeholder 6">
            <a:extLst>
              <a:ext uri="{FF2B5EF4-FFF2-40B4-BE49-F238E27FC236}">
                <a16:creationId xmlns:a16="http://schemas.microsoft.com/office/drawing/2014/main" id="{24637316-1672-A40E-F1CE-ECEA4F138441}"/>
              </a:ext>
            </a:extLst>
          </p:cNvPr>
          <p:cNvSpPr txBox="1">
            <a:spLocks/>
          </p:cNvSpPr>
          <p:nvPr/>
        </p:nvSpPr>
        <p:spPr>
          <a:xfrm>
            <a:off x="228600" y="533400"/>
            <a:ext cx="3195933" cy="5715000"/>
          </a:xfrm>
          <a:prstGeom prst="rect">
            <a:avLst/>
          </a:prstGeom>
        </p:spPr>
        <p:txBody>
          <a:bodyPr vert="horz" lIns="34299" tIns="17149" rIns="34299" bIns="17149" rtlCol="0" anchor="ctr">
            <a:no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1800" b="0" kern="1200" cap="all" spc="600" baseline="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US" sz="2400" b="1" u="sng" dirty="0">
                <a:solidFill>
                  <a:srgbClr val="002060"/>
                </a:solidFill>
              </a:rPr>
              <a:t>Key </a:t>
            </a:r>
            <a:r>
              <a:rPr lang="en-US" sz="2400" b="1" u="sng" dirty="0" err="1">
                <a:solidFill>
                  <a:srgbClr val="002060"/>
                </a:solidFill>
              </a:rPr>
              <a:t>findinG</a:t>
            </a:r>
            <a:r>
              <a:rPr lang="en-US" sz="2400" b="1" u="sng" dirty="0">
                <a:solidFill>
                  <a:srgbClr val="002060"/>
                </a:solidFill>
              </a:rPr>
              <a:t> #2</a:t>
            </a:r>
            <a:r>
              <a:rPr lang="en-US" sz="2400" b="1" dirty="0">
                <a:solidFill>
                  <a:srgbClr val="002060"/>
                </a:solidFill>
              </a:rPr>
              <a:t>: </a:t>
            </a:r>
          </a:p>
          <a:p>
            <a:r>
              <a:rPr lang="en-US" sz="2400" dirty="0">
                <a:solidFill>
                  <a:srgbClr val="002060"/>
                </a:solidFill>
              </a:rPr>
              <a:t>The economic value associated with avoidable mortality varies greatly across NCD causes in EACH REGION</a:t>
            </a:r>
          </a:p>
        </p:txBody>
      </p:sp>
      <p:sp>
        <p:nvSpPr>
          <p:cNvPr id="8" name="TextBox 7">
            <a:extLst>
              <a:ext uri="{FF2B5EF4-FFF2-40B4-BE49-F238E27FC236}">
                <a16:creationId xmlns:a16="http://schemas.microsoft.com/office/drawing/2014/main" id="{C6D8EE9D-5227-C5D8-8F0C-951E30BA04F6}"/>
              </a:ext>
            </a:extLst>
          </p:cNvPr>
          <p:cNvSpPr txBox="1"/>
          <p:nvPr/>
        </p:nvSpPr>
        <p:spPr>
          <a:xfrm rot="16200000">
            <a:off x="1902767" y="3426767"/>
            <a:ext cx="3505200" cy="461665"/>
          </a:xfrm>
          <a:prstGeom prst="rect">
            <a:avLst/>
          </a:prstGeom>
          <a:solidFill>
            <a:schemeClr val="bg2"/>
          </a:solidFill>
          <a:ln>
            <a:solidFill>
              <a:schemeClr val="tx1"/>
            </a:solidFill>
          </a:ln>
        </p:spPr>
        <p:txBody>
          <a:bodyPr wrap="square" rtlCol="0">
            <a:spAutoFit/>
          </a:bodyPr>
          <a:lstStyle/>
          <a:p>
            <a:pPr algn="ctr"/>
            <a:r>
              <a:rPr lang="en-US" sz="1200" b="1" dirty="0">
                <a:latin typeface="Rubik" pitchFamily="2" charset="-79"/>
                <a:cs typeface="Rubik" pitchFamily="2" charset="-79"/>
              </a:rPr>
              <a:t>Fraction of annual income associated with avoidable mortality, by cause</a:t>
            </a:r>
          </a:p>
        </p:txBody>
      </p:sp>
    </p:spTree>
    <p:extLst>
      <p:ext uri="{BB962C8B-B14F-4D97-AF65-F5344CB8AC3E}">
        <p14:creationId xmlns:p14="http://schemas.microsoft.com/office/powerpoint/2010/main" val="1749528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5">
            <a:extLst>
              <a:ext uri="{FF2B5EF4-FFF2-40B4-BE49-F238E27FC236}">
                <a16:creationId xmlns:a16="http://schemas.microsoft.com/office/drawing/2014/main" id="{277D925B-22B3-814F-ED17-A2BE341F4272}"/>
              </a:ext>
            </a:extLst>
          </p:cNvPr>
          <p:cNvPicPr>
            <a:picLocks noGrp="1" noChangeAspect="1"/>
          </p:cNvPicPr>
          <p:nvPr>
            <p:ph sz="quarter" idx="13"/>
          </p:nvPr>
        </p:nvPicPr>
        <p:blipFill>
          <a:blip r:embed="rId3"/>
          <a:stretch>
            <a:fillRect/>
          </a:stretch>
        </p:blipFill>
        <p:spPr>
          <a:xfrm>
            <a:off x="3718561" y="1005840"/>
            <a:ext cx="5349239" cy="4937760"/>
          </a:xfrm>
        </p:spPr>
      </p:pic>
      <p:sp>
        <p:nvSpPr>
          <p:cNvPr id="7" name="Text Placeholder 6">
            <a:extLst>
              <a:ext uri="{FF2B5EF4-FFF2-40B4-BE49-F238E27FC236}">
                <a16:creationId xmlns:a16="http://schemas.microsoft.com/office/drawing/2014/main" id="{24637316-1672-A40E-F1CE-ECEA4F138441}"/>
              </a:ext>
            </a:extLst>
          </p:cNvPr>
          <p:cNvSpPr txBox="1">
            <a:spLocks/>
          </p:cNvSpPr>
          <p:nvPr/>
        </p:nvSpPr>
        <p:spPr>
          <a:xfrm>
            <a:off x="295338" y="1787677"/>
            <a:ext cx="3288234" cy="3774923"/>
          </a:xfrm>
          <a:prstGeom prst="rect">
            <a:avLst/>
          </a:prstGeom>
        </p:spPr>
        <p:txBody>
          <a:bodyPr vert="horz" lIns="34299" tIns="17149" rIns="34299" bIns="17149" rtlCol="0" anchor="ctr">
            <a:no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1800" b="0" kern="1200" cap="all" spc="600" baseline="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US" sz="2400" b="1" u="sng" dirty="0">
                <a:solidFill>
                  <a:srgbClr val="002060"/>
                </a:solidFill>
              </a:rPr>
              <a:t>Key finding #3 </a:t>
            </a:r>
            <a:r>
              <a:rPr lang="en-US" sz="2400" dirty="0">
                <a:solidFill>
                  <a:srgbClr val="002060"/>
                </a:solidFill>
              </a:rPr>
              <a:t>The economic value </a:t>
            </a:r>
            <a:r>
              <a:rPr lang="en-US" sz="2400" b="1" dirty="0">
                <a:solidFill>
                  <a:srgbClr val="002060"/>
                </a:solidFill>
              </a:rPr>
              <a:t>(% of annual income</a:t>
            </a:r>
            <a:r>
              <a:rPr lang="en-US" sz="2400" dirty="0">
                <a:solidFill>
                  <a:srgbClr val="002060"/>
                </a:solidFill>
              </a:rPr>
              <a:t>) associated WITH AVOIDABLE</a:t>
            </a:r>
            <a:r>
              <a:rPr lang="en-US" sz="2400" b="1" u="sng" dirty="0">
                <a:solidFill>
                  <a:srgbClr val="002060"/>
                </a:solidFill>
              </a:rPr>
              <a:t>CVD </a:t>
            </a:r>
            <a:r>
              <a:rPr lang="en-US" sz="2400" b="1" u="sng" dirty="0" err="1">
                <a:solidFill>
                  <a:srgbClr val="002060"/>
                </a:solidFill>
              </a:rPr>
              <a:t>MOrtality</a:t>
            </a:r>
            <a:r>
              <a:rPr lang="en-US" sz="2400" b="1" dirty="0">
                <a:solidFill>
                  <a:srgbClr val="002060"/>
                </a:solidFill>
              </a:rPr>
              <a:t> </a:t>
            </a:r>
            <a:r>
              <a:rPr lang="en-US" sz="2400" dirty="0">
                <a:solidFill>
                  <a:srgbClr val="002060"/>
                </a:solidFill>
              </a:rPr>
              <a:t>is UNIVERSALLY LARGE </a:t>
            </a:r>
          </a:p>
          <a:p>
            <a:pPr marL="214370" indent="-214370">
              <a:lnSpc>
                <a:spcPct val="100000"/>
              </a:lnSpc>
              <a:spcBef>
                <a:spcPts val="0"/>
              </a:spcBef>
              <a:spcAft>
                <a:spcPts val="0"/>
              </a:spcAft>
              <a:buFont typeface="Arial" panose="020B0604020202020204" pitchFamily="34" charset="0"/>
              <a:buChar char="•"/>
            </a:pPr>
            <a:endParaRPr lang="en-US" sz="2400" dirty="0">
              <a:solidFill>
                <a:srgbClr val="002060"/>
              </a:solidFill>
            </a:endParaRPr>
          </a:p>
        </p:txBody>
      </p:sp>
      <p:sp>
        <p:nvSpPr>
          <p:cNvPr id="8" name="TextBox 7">
            <a:extLst>
              <a:ext uri="{FF2B5EF4-FFF2-40B4-BE49-F238E27FC236}">
                <a16:creationId xmlns:a16="http://schemas.microsoft.com/office/drawing/2014/main" id="{C6D8EE9D-5227-C5D8-8F0C-951E30BA04F6}"/>
              </a:ext>
            </a:extLst>
          </p:cNvPr>
          <p:cNvSpPr txBox="1"/>
          <p:nvPr/>
        </p:nvSpPr>
        <p:spPr>
          <a:xfrm rot="16200000">
            <a:off x="1632290" y="3244511"/>
            <a:ext cx="3902687" cy="461665"/>
          </a:xfrm>
          <a:prstGeom prst="rect">
            <a:avLst/>
          </a:prstGeom>
          <a:solidFill>
            <a:schemeClr val="bg2"/>
          </a:solidFill>
          <a:ln>
            <a:solidFill>
              <a:schemeClr val="tx1"/>
            </a:solidFill>
          </a:ln>
        </p:spPr>
        <p:txBody>
          <a:bodyPr wrap="square" rtlCol="0">
            <a:spAutoFit/>
          </a:bodyPr>
          <a:lstStyle/>
          <a:p>
            <a:pPr algn="ctr"/>
            <a:r>
              <a:rPr lang="en-US" sz="1200" b="1" dirty="0">
                <a:latin typeface="Rubik" pitchFamily="2" charset="-79"/>
                <a:cs typeface="Rubik" pitchFamily="2" charset="-79"/>
              </a:rPr>
              <a:t>Fraction of annual income associated with avoidable mortality, by cause</a:t>
            </a:r>
          </a:p>
        </p:txBody>
      </p:sp>
    </p:spTree>
    <p:extLst>
      <p:ext uri="{BB962C8B-B14F-4D97-AF65-F5344CB8AC3E}">
        <p14:creationId xmlns:p14="http://schemas.microsoft.com/office/powerpoint/2010/main" val="2539755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2CFC22C7-20F4-78B2-1DDB-EA0A77EB68BB}"/>
              </a:ext>
            </a:extLst>
          </p:cNvPr>
          <p:cNvSpPr>
            <a:spLocks noGrp="1"/>
          </p:cNvSpPr>
          <p:nvPr>
            <p:ph type="body" sz="quarter" idx="12"/>
          </p:nvPr>
        </p:nvSpPr>
        <p:spPr>
          <a:xfrm>
            <a:off x="324408" y="228600"/>
            <a:ext cx="8743392" cy="1103299"/>
          </a:xfrm>
        </p:spPr>
        <p:txBody>
          <a:bodyPr anchor="t">
            <a:noAutofit/>
          </a:bodyPr>
          <a:lstStyle/>
          <a:p>
            <a:pPr marL="0" indent="0">
              <a:buNone/>
            </a:pPr>
            <a:r>
              <a:rPr lang="en-US" sz="2200" b="1" u="sng" dirty="0">
                <a:solidFill>
                  <a:srgbClr val="002060"/>
                </a:solidFill>
              </a:rPr>
              <a:t>Take-home messages</a:t>
            </a:r>
            <a:endParaRPr lang="en-US" sz="2200" b="1" dirty="0">
              <a:solidFill>
                <a:srgbClr val="002060"/>
              </a:solidFill>
            </a:endParaRPr>
          </a:p>
          <a:p>
            <a:pPr marL="0" indent="0">
              <a:buNone/>
            </a:pPr>
            <a:r>
              <a:rPr lang="en-US" sz="2200" dirty="0">
                <a:solidFill>
                  <a:srgbClr val="002060"/>
                </a:solidFill>
              </a:rPr>
              <a:t>a novel measure for priority setting within and beyond the health sector</a:t>
            </a:r>
          </a:p>
        </p:txBody>
      </p:sp>
      <p:sp>
        <p:nvSpPr>
          <p:cNvPr id="7" name="TextBox 6">
            <a:extLst>
              <a:ext uri="{FF2B5EF4-FFF2-40B4-BE49-F238E27FC236}">
                <a16:creationId xmlns:a16="http://schemas.microsoft.com/office/drawing/2014/main" id="{DD2A7EB3-078D-BC5C-B5FE-4B41CBFDF932}"/>
              </a:ext>
            </a:extLst>
          </p:cNvPr>
          <p:cNvSpPr txBox="1"/>
          <p:nvPr/>
        </p:nvSpPr>
        <p:spPr>
          <a:xfrm>
            <a:off x="294349" y="1690062"/>
            <a:ext cx="4794401" cy="3139321"/>
          </a:xfrm>
          <a:prstGeom prst="rect">
            <a:avLst/>
          </a:prstGeom>
          <a:noFill/>
        </p:spPr>
        <p:txBody>
          <a:bodyPr wrap="square" rtlCol="0">
            <a:spAutoFit/>
          </a:bodyPr>
          <a:lstStyle/>
          <a:p>
            <a:pPr marL="278681" indent="-278681">
              <a:buAutoNum type="arabicPeriod"/>
            </a:pPr>
            <a:r>
              <a:rPr lang="en-US" sz="2200" b="1" dirty="0"/>
              <a:t>Economic metric </a:t>
            </a:r>
            <a:r>
              <a:rPr lang="en-US" sz="2200" dirty="0"/>
              <a:t>directly comparable </a:t>
            </a:r>
            <a:r>
              <a:rPr lang="en-US" sz="2200" b="1" dirty="0"/>
              <a:t>to national incomes and willingness to pay thresholds </a:t>
            </a:r>
            <a:r>
              <a:rPr lang="en-US" sz="2200" dirty="0"/>
              <a:t>for 1 life year</a:t>
            </a:r>
          </a:p>
          <a:p>
            <a:pPr marL="278681" indent="-278681">
              <a:buAutoNum type="arabicPeriod"/>
            </a:pPr>
            <a:r>
              <a:rPr lang="en-US" sz="2200" dirty="0"/>
              <a:t>Dual focus on </a:t>
            </a:r>
            <a:r>
              <a:rPr lang="en-US" sz="2200" b="1" dirty="0"/>
              <a:t>cause mortality frontiers</a:t>
            </a:r>
            <a:r>
              <a:rPr lang="en-US" sz="2200" dirty="0"/>
              <a:t> and </a:t>
            </a:r>
            <a:r>
              <a:rPr lang="en-US" sz="2200" b="1" dirty="0"/>
              <a:t>modulated valuation of size of mortality risk reduction </a:t>
            </a:r>
            <a:r>
              <a:rPr lang="en-US" sz="2200" dirty="0"/>
              <a:t>provides a metric </a:t>
            </a:r>
            <a:r>
              <a:rPr lang="en-US" sz="2200" b="1" dirty="0"/>
              <a:t>complementary to cause of death distributions </a:t>
            </a:r>
            <a:r>
              <a:rPr lang="en-US" sz="2200" dirty="0"/>
              <a:t>within countries</a:t>
            </a:r>
          </a:p>
        </p:txBody>
      </p:sp>
      <p:sp>
        <p:nvSpPr>
          <p:cNvPr id="3" name="Down Arrow 2">
            <a:extLst>
              <a:ext uri="{FF2B5EF4-FFF2-40B4-BE49-F238E27FC236}">
                <a16:creationId xmlns:a16="http://schemas.microsoft.com/office/drawing/2014/main" id="{8FBEF74C-61CA-C6FD-68AF-BB789FC4F72B}"/>
              </a:ext>
            </a:extLst>
          </p:cNvPr>
          <p:cNvSpPr/>
          <p:nvPr/>
        </p:nvSpPr>
        <p:spPr>
          <a:xfrm>
            <a:off x="2217156" y="4766168"/>
            <a:ext cx="1227541" cy="379982"/>
          </a:xfrm>
          <a:prstGeom prst="downArrow">
            <a:avLst/>
          </a:prstGeom>
          <a:solidFill>
            <a:schemeClr val="accent6">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highlight>
                <a:srgbClr val="800080"/>
              </a:highlight>
            </a:endParaRPr>
          </a:p>
        </p:txBody>
      </p:sp>
      <p:sp>
        <p:nvSpPr>
          <p:cNvPr id="28" name="Text Placeholder 6">
            <a:extLst>
              <a:ext uri="{FF2B5EF4-FFF2-40B4-BE49-F238E27FC236}">
                <a16:creationId xmlns:a16="http://schemas.microsoft.com/office/drawing/2014/main" id="{034C629F-3C54-35A7-C748-4D93C1300104}"/>
              </a:ext>
            </a:extLst>
          </p:cNvPr>
          <p:cNvSpPr txBox="1">
            <a:spLocks/>
          </p:cNvSpPr>
          <p:nvPr/>
        </p:nvSpPr>
        <p:spPr>
          <a:xfrm>
            <a:off x="5629767" y="1671919"/>
            <a:ext cx="2949745" cy="538900"/>
          </a:xfrm>
          <a:prstGeom prst="rect">
            <a:avLst/>
          </a:prstGeom>
          <a:ln w="28575">
            <a:solidFill>
              <a:schemeClr val="tx1"/>
            </a:solidFill>
          </a:ln>
        </p:spPr>
        <p:txBody>
          <a:bodyPr vert="horz" lIns="34299" tIns="17149" rIns="34299" bIns="17149" rtlCol="0" anchor="t">
            <a:no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1800" b="0" kern="1200" cap="all" spc="600" baseline="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gn="ctr"/>
            <a:r>
              <a:rPr lang="en-US" sz="1500" b="1" dirty="0"/>
              <a:t>Does it re-rank priorities?</a:t>
            </a:r>
          </a:p>
        </p:txBody>
      </p:sp>
      <p:sp>
        <p:nvSpPr>
          <p:cNvPr id="2" name="TextBox 1">
            <a:extLst>
              <a:ext uri="{FF2B5EF4-FFF2-40B4-BE49-F238E27FC236}">
                <a16:creationId xmlns:a16="http://schemas.microsoft.com/office/drawing/2014/main" id="{654704FA-9684-C94A-93BE-866B219F1416}"/>
              </a:ext>
            </a:extLst>
          </p:cNvPr>
          <p:cNvSpPr txBox="1"/>
          <p:nvPr/>
        </p:nvSpPr>
        <p:spPr>
          <a:xfrm>
            <a:off x="596578" y="5313402"/>
            <a:ext cx="4204022" cy="553998"/>
          </a:xfrm>
          <a:prstGeom prst="rect">
            <a:avLst/>
          </a:prstGeom>
          <a:noFill/>
          <a:ln w="38100">
            <a:solidFill>
              <a:schemeClr val="tx1"/>
            </a:solidFill>
          </a:ln>
        </p:spPr>
        <p:txBody>
          <a:bodyPr wrap="square" rtlCol="0">
            <a:spAutoFit/>
          </a:bodyPr>
          <a:lstStyle/>
          <a:p>
            <a:pPr algn="ctr"/>
            <a:r>
              <a:rPr lang="en-US" sz="1500" dirty="0"/>
              <a:t>Important implications for economic evaluations, priority setting and resource allocation</a:t>
            </a:r>
          </a:p>
        </p:txBody>
      </p:sp>
      <p:sp>
        <p:nvSpPr>
          <p:cNvPr id="4" name="Text Placeholder 6">
            <a:extLst>
              <a:ext uri="{FF2B5EF4-FFF2-40B4-BE49-F238E27FC236}">
                <a16:creationId xmlns:a16="http://schemas.microsoft.com/office/drawing/2014/main" id="{87A70C28-A514-520B-D0EB-0282E69B3975}"/>
              </a:ext>
            </a:extLst>
          </p:cNvPr>
          <p:cNvSpPr txBox="1">
            <a:spLocks/>
          </p:cNvSpPr>
          <p:nvPr/>
        </p:nvSpPr>
        <p:spPr>
          <a:xfrm>
            <a:off x="5378159" y="5867400"/>
            <a:ext cx="3599167" cy="307834"/>
          </a:xfrm>
          <a:prstGeom prst="rect">
            <a:avLst/>
          </a:prstGeom>
        </p:spPr>
        <p:txBody>
          <a:bodyPr vert="horz" lIns="34299" tIns="17149" rIns="34299" bIns="17149" rtlCol="0" anchor="t">
            <a:no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1800" b="0" kern="1200" cap="all" spc="600" baseline="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gn="ctr"/>
            <a:r>
              <a:rPr lang="en-US" sz="1200" dirty="0">
                <a:solidFill>
                  <a:srgbClr val="002060"/>
                </a:solidFill>
              </a:rPr>
              <a:t>LATIN AMERICA &amp; </a:t>
            </a:r>
            <a:r>
              <a:rPr lang="en-US" sz="1200" dirty="0" err="1">
                <a:solidFill>
                  <a:srgbClr val="002060"/>
                </a:solidFill>
              </a:rPr>
              <a:t>CaribBean</a:t>
            </a:r>
            <a:r>
              <a:rPr lang="en-US" sz="1200" dirty="0">
                <a:solidFill>
                  <a:srgbClr val="002060"/>
                </a:solidFill>
              </a:rPr>
              <a:t>, MALES, 2019</a:t>
            </a:r>
          </a:p>
        </p:txBody>
      </p:sp>
      <p:pic>
        <p:nvPicPr>
          <p:cNvPr id="6" name="Picture 5">
            <a:extLst>
              <a:ext uri="{FF2B5EF4-FFF2-40B4-BE49-F238E27FC236}">
                <a16:creationId xmlns:a16="http://schemas.microsoft.com/office/drawing/2014/main" id="{B618D972-F31B-D3B8-D57E-D100E9F0DB47}"/>
              </a:ext>
            </a:extLst>
          </p:cNvPr>
          <p:cNvPicPr>
            <a:picLocks noChangeAspect="1"/>
          </p:cNvPicPr>
          <p:nvPr/>
        </p:nvPicPr>
        <p:blipFill>
          <a:blip r:embed="rId3">
            <a:extLst>
              <a:ext uri="{28A0092B-C50C-407E-A947-70E740481C1C}">
                <a14:useLocalDpi xmlns:a14="http://schemas.microsoft.com/office/drawing/2010/main" val="0"/>
              </a:ext>
            </a:extLst>
          </a:blip>
          <a:srcRect l="51254" t="9214" r="4942" b="49284"/>
          <a:stretch/>
        </p:blipFill>
        <p:spPr>
          <a:xfrm>
            <a:off x="5367504" y="2438400"/>
            <a:ext cx="3474273" cy="3291840"/>
          </a:xfrm>
          <a:prstGeom prst="rect">
            <a:avLst/>
          </a:prstGeom>
        </p:spPr>
      </p:pic>
      <p:sp>
        <p:nvSpPr>
          <p:cNvPr id="8" name="TextBox 7">
            <a:extLst>
              <a:ext uri="{FF2B5EF4-FFF2-40B4-BE49-F238E27FC236}">
                <a16:creationId xmlns:a16="http://schemas.microsoft.com/office/drawing/2014/main" id="{8C1B472B-61E0-521D-40EA-668AEE283048}"/>
              </a:ext>
            </a:extLst>
          </p:cNvPr>
          <p:cNvSpPr txBox="1"/>
          <p:nvPr/>
        </p:nvSpPr>
        <p:spPr>
          <a:xfrm>
            <a:off x="596578" y="5943600"/>
            <a:ext cx="4204022" cy="553998"/>
          </a:xfrm>
          <a:prstGeom prst="rect">
            <a:avLst/>
          </a:prstGeom>
          <a:noFill/>
          <a:ln w="38100">
            <a:solidFill>
              <a:schemeClr val="tx1"/>
            </a:solidFill>
          </a:ln>
        </p:spPr>
        <p:txBody>
          <a:bodyPr wrap="square" rtlCol="0">
            <a:spAutoFit/>
          </a:bodyPr>
          <a:lstStyle/>
          <a:p>
            <a:pPr algn="ctr"/>
            <a:r>
              <a:rPr lang="en-US" sz="1500" b="1" u="sng" dirty="0"/>
              <a:t>Next step</a:t>
            </a:r>
            <a:r>
              <a:rPr lang="en-US" sz="1500" dirty="0"/>
              <a:t>: implement at national level with country-specific studies</a:t>
            </a:r>
          </a:p>
        </p:txBody>
      </p:sp>
    </p:spTree>
    <p:extLst>
      <p:ext uri="{BB962C8B-B14F-4D97-AF65-F5344CB8AC3E}">
        <p14:creationId xmlns:p14="http://schemas.microsoft.com/office/powerpoint/2010/main" val="2570498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5EFB6-7D07-1173-533D-10E606B6C5F8}"/>
            </a:ext>
          </a:extLst>
        </p:cNvPr>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4B639B2C-BE61-142E-CDDB-E2A222200F3E}"/>
              </a:ext>
            </a:extLst>
          </p:cNvPr>
          <p:cNvSpPr>
            <a:spLocks noGrp="1"/>
          </p:cNvSpPr>
          <p:nvPr>
            <p:ph sz="quarter" idx="13"/>
          </p:nvPr>
        </p:nvSpPr>
        <p:spPr>
          <a:xfrm>
            <a:off x="533400" y="1219200"/>
            <a:ext cx="8229600" cy="901196"/>
          </a:xfrm>
        </p:spPr>
        <p:txBody>
          <a:bodyPr>
            <a:noAutofit/>
          </a:bodyPr>
          <a:lstStyle/>
          <a:p>
            <a:pPr marL="0" indent="-57128" algn="ctr">
              <a:buNone/>
            </a:pPr>
            <a:r>
              <a:rPr lang="en-US" sz="3000" b="1" dirty="0">
                <a:latin typeface="Calibri" panose="020F0502020204030204" pitchFamily="34" charset="0"/>
                <a:cs typeface="Calibri" panose="020F0502020204030204" pitchFamily="34" charset="0"/>
              </a:rPr>
              <a:t>Estimating the economic value of avoidable mortality from major causes of death to evaluate the benefits of health policies</a:t>
            </a:r>
            <a:endParaRPr lang="en-US" sz="3000" dirty="0">
              <a:latin typeface="Calibri" panose="020F0502020204030204" pitchFamily="34" charset="0"/>
              <a:cs typeface="Calibri" panose="020F0502020204030204" pitchFamily="34" charset="0"/>
            </a:endParaRPr>
          </a:p>
          <a:p>
            <a:pPr marL="0" indent="-57128">
              <a:buNone/>
            </a:pPr>
            <a:endParaRPr lang="en-US" sz="2000" b="1" dirty="0">
              <a:latin typeface="Calibri" panose="020F0502020204030204" pitchFamily="34" charset="0"/>
              <a:cs typeface="Calibri" panose="020F0502020204030204" pitchFamily="34" charset="0"/>
            </a:endParaRPr>
          </a:p>
        </p:txBody>
      </p:sp>
      <p:sp>
        <p:nvSpPr>
          <p:cNvPr id="18" name="Content Placeholder 10">
            <a:extLst>
              <a:ext uri="{FF2B5EF4-FFF2-40B4-BE49-F238E27FC236}">
                <a16:creationId xmlns:a16="http://schemas.microsoft.com/office/drawing/2014/main" id="{2F25E484-F643-C6E7-0107-8B072B36D89D}"/>
              </a:ext>
            </a:extLst>
          </p:cNvPr>
          <p:cNvSpPr txBox="1">
            <a:spLocks/>
          </p:cNvSpPr>
          <p:nvPr/>
        </p:nvSpPr>
        <p:spPr>
          <a:xfrm>
            <a:off x="762000" y="4191000"/>
            <a:ext cx="7772400" cy="1905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57128">
              <a:buFont typeface="Arial" pitchFamily="34" charset="0"/>
              <a:buNone/>
            </a:pPr>
            <a:r>
              <a:rPr lang="en-US" sz="2400" dirty="0">
                <a:latin typeface="Calibri" panose="020F0502020204030204" pitchFamily="34" charset="0"/>
                <a:cs typeface="Calibri" panose="020F0502020204030204" pitchFamily="34" charset="0"/>
              </a:rPr>
              <a:t>Monetary value speaks to decision-makers beyond ministries of health, in other sectors (e.g. finance ministries)</a:t>
            </a:r>
          </a:p>
          <a:p>
            <a:pPr marL="0" indent="0">
              <a:buFont typeface="Arial" pitchFamily="34" charset="0"/>
              <a:buNone/>
            </a:pPr>
            <a:r>
              <a:rPr lang="en-US" sz="2400" b="1" dirty="0">
                <a:latin typeface="Calibri" panose="020F0502020204030204" pitchFamily="34" charset="0"/>
                <a:ea typeface="Times New Roman" panose="02020603050405020304" pitchFamily="18" charset="0"/>
                <a:cs typeface="Calibri" panose="020F0502020204030204" pitchFamily="34" charset="0"/>
              </a:rPr>
              <a:t>Key numéraire obtained</a:t>
            </a:r>
            <a:r>
              <a:rPr lang="en-US" sz="2400" dirty="0">
                <a:latin typeface="Calibri" panose="020F0502020204030204" pitchFamily="34" charset="0"/>
                <a:ea typeface="Times New Roman" panose="02020603050405020304" pitchFamily="18" charset="0"/>
                <a:cs typeface="Calibri" panose="020F0502020204030204" pitchFamily="34" charset="0"/>
              </a:rPr>
              <a:t>: Economic metric comparable to national annual incomes (e.g. GNI)</a:t>
            </a:r>
            <a:endParaRPr lang="en-US" sz="2400" dirty="0">
              <a:latin typeface="Calibri" panose="020F0502020204030204" pitchFamily="34" charset="0"/>
              <a:cs typeface="Calibri" panose="020F0502020204030204" pitchFamily="34" charset="0"/>
            </a:endParaRPr>
          </a:p>
        </p:txBody>
      </p:sp>
      <p:sp>
        <p:nvSpPr>
          <p:cNvPr id="2" name="Down Arrow 1">
            <a:extLst>
              <a:ext uri="{FF2B5EF4-FFF2-40B4-BE49-F238E27FC236}">
                <a16:creationId xmlns:a16="http://schemas.microsoft.com/office/drawing/2014/main" id="{2F5825C2-04FF-E389-3C5D-64A0C623C30D}"/>
              </a:ext>
            </a:extLst>
          </p:cNvPr>
          <p:cNvSpPr/>
          <p:nvPr/>
        </p:nvSpPr>
        <p:spPr>
          <a:xfrm>
            <a:off x="3653429" y="3061204"/>
            <a:ext cx="1837141" cy="901196"/>
          </a:xfrm>
          <a:prstGeom prst="downArrow">
            <a:avLst/>
          </a:prstGeom>
          <a:solidFill>
            <a:schemeClr val="accent6">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highlight>
                <a:srgbClr val="800080"/>
              </a:highlight>
            </a:endParaRPr>
          </a:p>
        </p:txBody>
      </p:sp>
    </p:spTree>
    <p:extLst>
      <p:ext uri="{BB962C8B-B14F-4D97-AF65-F5344CB8AC3E}">
        <p14:creationId xmlns:p14="http://schemas.microsoft.com/office/powerpoint/2010/main" val="4238172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6C614-4D82-4EBD-FD01-2D16F92DD4F2}"/>
            </a:ext>
          </a:extLst>
        </p:cNvPr>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00977C94-54FC-BB72-F01D-66CFABE73810}"/>
              </a:ext>
            </a:extLst>
          </p:cNvPr>
          <p:cNvSpPr>
            <a:spLocks noGrp="1"/>
          </p:cNvSpPr>
          <p:nvPr>
            <p:ph sz="quarter" idx="13"/>
          </p:nvPr>
        </p:nvSpPr>
        <p:spPr>
          <a:xfrm>
            <a:off x="0" y="685800"/>
            <a:ext cx="2667000" cy="5943600"/>
          </a:xfrm>
        </p:spPr>
        <p:txBody>
          <a:bodyPr>
            <a:noAutofit/>
          </a:bodyPr>
          <a:lstStyle/>
          <a:p>
            <a:pPr marL="0" indent="-57128" algn="ctr">
              <a:buNone/>
            </a:pPr>
            <a:r>
              <a:rPr lang="en-US" sz="4200" b="1" dirty="0">
                <a:solidFill>
                  <a:srgbClr val="002060"/>
                </a:solidFill>
                <a:latin typeface="Calibri" panose="020F0502020204030204" pitchFamily="34" charset="0"/>
                <a:cs typeface="Calibri" panose="020F0502020204030204" pitchFamily="34" charset="0"/>
              </a:rPr>
              <a:t>Economic value of avoidable mortality</a:t>
            </a:r>
          </a:p>
          <a:p>
            <a:pPr marL="0" indent="-57128" algn="ctr">
              <a:buNone/>
            </a:pPr>
            <a:r>
              <a:rPr lang="en-US" sz="4200" b="1" dirty="0">
                <a:solidFill>
                  <a:srgbClr val="002060"/>
                </a:solidFill>
                <a:latin typeface="Calibri" panose="020F0502020204030204" pitchFamily="34" charset="0"/>
                <a:cs typeface="Calibri" panose="020F0502020204030204" pitchFamily="34" charset="0"/>
              </a:rPr>
              <a:t>Indonesia vs. selected others</a:t>
            </a:r>
          </a:p>
        </p:txBody>
      </p:sp>
      <p:pic>
        <p:nvPicPr>
          <p:cNvPr id="3" name="Picture 2">
            <a:extLst>
              <a:ext uri="{FF2B5EF4-FFF2-40B4-BE49-F238E27FC236}">
                <a16:creationId xmlns:a16="http://schemas.microsoft.com/office/drawing/2014/main" id="{65470B9B-2ED4-9BCD-2353-F0B12B0876ED}"/>
              </a:ext>
            </a:extLst>
          </p:cNvPr>
          <p:cNvPicPr>
            <a:picLocks noChangeAspect="1"/>
          </p:cNvPicPr>
          <p:nvPr/>
        </p:nvPicPr>
        <p:blipFill>
          <a:blip r:embed="rId3"/>
          <a:stretch>
            <a:fillRect/>
          </a:stretch>
        </p:blipFill>
        <p:spPr>
          <a:xfrm>
            <a:off x="2631882" y="533400"/>
            <a:ext cx="6512118" cy="5760720"/>
          </a:xfrm>
          <a:prstGeom prst="rect">
            <a:avLst/>
          </a:prstGeom>
        </p:spPr>
      </p:pic>
    </p:spTree>
    <p:extLst>
      <p:ext uri="{BB962C8B-B14F-4D97-AF65-F5344CB8AC3E}">
        <p14:creationId xmlns:p14="http://schemas.microsoft.com/office/powerpoint/2010/main" val="3317852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19EB13-C909-AEF0-FE2E-9C309E09ACC8}"/>
              </a:ext>
            </a:extLst>
          </p:cNvPr>
          <p:cNvPicPr>
            <a:picLocks noChangeAspect="1"/>
          </p:cNvPicPr>
          <p:nvPr/>
        </p:nvPicPr>
        <p:blipFill>
          <a:blip r:embed="rId2"/>
          <a:stretch>
            <a:fillRect/>
          </a:stretch>
        </p:blipFill>
        <p:spPr>
          <a:xfrm>
            <a:off x="685800" y="2270760"/>
            <a:ext cx="7927140" cy="4206240"/>
          </a:xfrm>
          <a:prstGeom prst="rect">
            <a:avLst/>
          </a:prstGeom>
        </p:spPr>
      </p:pic>
      <p:sp>
        <p:nvSpPr>
          <p:cNvPr id="8" name="TextBox 7">
            <a:extLst>
              <a:ext uri="{FF2B5EF4-FFF2-40B4-BE49-F238E27FC236}">
                <a16:creationId xmlns:a16="http://schemas.microsoft.com/office/drawing/2014/main" id="{48023F77-F2F7-9F8F-C65D-CDC151431E23}"/>
              </a:ext>
            </a:extLst>
          </p:cNvPr>
          <p:cNvSpPr txBox="1"/>
          <p:nvPr/>
        </p:nvSpPr>
        <p:spPr>
          <a:xfrm>
            <a:off x="454860" y="443805"/>
            <a:ext cx="8234280" cy="1384995"/>
          </a:xfrm>
          <a:prstGeom prst="rect">
            <a:avLst/>
          </a:prstGeom>
          <a:noFill/>
        </p:spPr>
        <p:txBody>
          <a:bodyPr wrap="square">
            <a:spAutoFit/>
          </a:bodyPr>
          <a:lstStyle/>
          <a:p>
            <a:pPr marL="0" indent="-57128" algn="ctr">
              <a:buNone/>
            </a:pPr>
            <a:r>
              <a:rPr lang="en-US" sz="4200" b="1" dirty="0">
                <a:solidFill>
                  <a:srgbClr val="002060"/>
                </a:solidFill>
                <a:latin typeface="Calibri" panose="020F0502020204030204" pitchFamily="34" charset="0"/>
                <a:cs typeface="Calibri" panose="020F0502020204030204" pitchFamily="34" charset="0"/>
              </a:rPr>
              <a:t>Indonesia’s economic value of avoidable mortality, 2019 &amp; 2050</a:t>
            </a:r>
          </a:p>
        </p:txBody>
      </p:sp>
    </p:spTree>
    <p:extLst>
      <p:ext uri="{BB962C8B-B14F-4D97-AF65-F5344CB8AC3E}">
        <p14:creationId xmlns:p14="http://schemas.microsoft.com/office/powerpoint/2010/main" val="3909750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7E1BC-5548-DDB5-A6D7-03CE0C44C1A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CE7956-B98B-5186-5E6F-77AAE78DE411}"/>
              </a:ext>
            </a:extLst>
          </p:cNvPr>
          <p:cNvSpPr>
            <a:spLocks noGrp="1"/>
          </p:cNvSpPr>
          <p:nvPr>
            <p:ph idx="1"/>
          </p:nvPr>
        </p:nvSpPr>
        <p:spPr>
          <a:xfrm>
            <a:off x="457200" y="1981200"/>
            <a:ext cx="8229600" cy="2895599"/>
          </a:xfrm>
        </p:spPr>
        <p:txBody>
          <a:bodyPr>
            <a:normAutofit lnSpcReduction="10000"/>
          </a:bodyPr>
          <a:lstStyle/>
          <a:p>
            <a:pPr marL="0" indent="0" algn="ctr">
              <a:buNone/>
            </a:pPr>
            <a:r>
              <a:rPr lang="en-US" sz="4000" b="1" dirty="0">
                <a:solidFill>
                  <a:srgbClr val="002060"/>
                </a:solidFill>
              </a:rPr>
              <a:t>Message 2.</a:t>
            </a:r>
            <a:r>
              <a:rPr lang="en-US" sz="4000" dirty="0">
                <a:solidFill>
                  <a:srgbClr val="002060"/>
                </a:solidFill>
              </a:rPr>
              <a:t> Improving access to a basic package of CVD interventions, and tackling tobacco, could reduce Indonesia’s CVD mortality rates to those of peer countries</a:t>
            </a:r>
          </a:p>
        </p:txBody>
      </p:sp>
    </p:spTree>
    <p:extLst>
      <p:ext uri="{BB962C8B-B14F-4D97-AF65-F5344CB8AC3E}">
        <p14:creationId xmlns:p14="http://schemas.microsoft.com/office/powerpoint/2010/main" val="1409562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1FD8427-FF15-406B-B9F4-FE8554078CF0}"/>
              </a:ext>
            </a:extLst>
          </p:cNvPr>
          <p:cNvSpPr>
            <a:spLocks noGrp="1"/>
          </p:cNvSpPr>
          <p:nvPr>
            <p:ph type="title"/>
          </p:nvPr>
        </p:nvSpPr>
        <p:spPr>
          <a:xfrm>
            <a:off x="363319" y="201841"/>
            <a:ext cx="8417357" cy="1129350"/>
          </a:xfrm>
          <a:prstGeom prst="rect">
            <a:avLst/>
          </a:prstGeom>
        </p:spPr>
        <p:txBody>
          <a:bodyPr vert="horz" wrap="square" lIns="0" tIns="21148" rIns="0" bIns="0" anchor="ctr">
            <a:spAutoFit/>
          </a:bodyPr>
          <a:lstStyle/>
          <a:p>
            <a:pPr marL="20141" algn="ctr">
              <a:spcBef>
                <a:spcPts val="167"/>
              </a:spcBef>
              <a:buNone/>
              <a:defRPr sz="2400">
                <a:solidFill>
                  <a:srgbClr val="17365D"/>
                </a:solidFill>
                <a:latin typeface="Arial"/>
                <a:ea typeface="Arial"/>
                <a:cs typeface="Arial"/>
              </a:defRPr>
            </a:pPr>
            <a:r>
              <a:rPr lang="en-US" sz="3600" b="1" dirty="0">
                <a:latin typeface="Calibri" panose="020F0502020204030204" pitchFamily="34" charset="0"/>
                <a:cs typeface="Calibri" panose="020F0502020204030204" pitchFamily="34" charset="0"/>
              </a:rPr>
              <a:t>Methods: how</a:t>
            </a:r>
            <a:r>
              <a:rPr sz="3600" b="1" dirty="0">
                <a:latin typeface="Calibri" panose="020F0502020204030204" pitchFamily="34" charset="0"/>
                <a:cs typeface="Calibri" panose="020F0502020204030204" pitchFamily="34" charset="0"/>
              </a:rPr>
              <a:t> interventions change the disease pathway</a:t>
            </a:r>
          </a:p>
        </p:txBody>
      </p:sp>
      <p:sp>
        <p:nvSpPr>
          <p:cNvPr id="4" name="object 4">
            <a:extLst>
              <a:ext uri="{FF2B5EF4-FFF2-40B4-BE49-F238E27FC236}">
                <a16:creationId xmlns:a16="http://schemas.microsoft.com/office/drawing/2014/main" id="{EE624097-ED75-42A8-AEB2-67935187228C}"/>
              </a:ext>
            </a:extLst>
          </p:cNvPr>
          <p:cNvSpPr>
            <a:spLocks noGrp="1"/>
          </p:cNvSpPr>
          <p:nvPr/>
        </p:nvSpPr>
        <p:spPr>
          <a:xfrm>
            <a:off x="2476500" y="2071164"/>
            <a:ext cx="1285875" cy="0"/>
          </a:xfrm>
          <a:custGeom>
            <a:avLst/>
            <a:gdLst/>
            <a:ahLst/>
            <a:cxnLst/>
            <a:rect l="l" t="t" r="r" b="b"/>
            <a:pathLst>
              <a:path w="4700905">
                <a:moveTo>
                  <a:pt x="0" y="0"/>
                </a:moveTo>
                <a:lnTo>
                  <a:pt x="4700378" y="0"/>
                </a:lnTo>
              </a:path>
            </a:pathLst>
          </a:custGeom>
          <a:noFill/>
          <a:ln w="19050">
            <a:solidFill>
              <a:srgbClr val="4B6F93"/>
            </a:solidFill>
            <a:prstDash val="solid"/>
          </a:ln>
        </p:spPr>
        <p:txBody>
          <a:bodyPr wrap="square" lIns="0" tIns="0" rIns="0" bIns="0"/>
          <a:lstStyle/>
          <a:p>
            <a:endParaRPr sz="4000">
              <a:latin typeface="Calibri" panose="020F0502020204030204" pitchFamily="34" charset="0"/>
              <a:cs typeface="Calibri" panose="020F0502020204030204" pitchFamily="34" charset="0"/>
            </a:endParaRPr>
          </a:p>
        </p:txBody>
      </p:sp>
      <p:sp>
        <p:nvSpPr>
          <p:cNvPr id="5" name="object 5">
            <a:extLst>
              <a:ext uri="{FF2B5EF4-FFF2-40B4-BE49-F238E27FC236}">
                <a16:creationId xmlns:a16="http://schemas.microsoft.com/office/drawing/2014/main" id="{02CAB6A2-4AD4-4D08-B92C-F3035519B313}"/>
              </a:ext>
            </a:extLst>
          </p:cNvPr>
          <p:cNvSpPr>
            <a:spLocks noGrp="1"/>
          </p:cNvSpPr>
          <p:nvPr/>
        </p:nvSpPr>
        <p:spPr>
          <a:xfrm>
            <a:off x="5572125" y="2071164"/>
            <a:ext cx="1333500" cy="0"/>
          </a:xfrm>
          <a:custGeom>
            <a:avLst/>
            <a:gdLst/>
            <a:ahLst/>
            <a:cxnLst/>
            <a:rect l="l" t="t" r="r" b="b"/>
            <a:pathLst>
              <a:path w="4700905">
                <a:moveTo>
                  <a:pt x="0" y="0"/>
                </a:moveTo>
                <a:lnTo>
                  <a:pt x="4700378" y="0"/>
                </a:lnTo>
              </a:path>
            </a:pathLst>
          </a:custGeom>
          <a:noFill/>
          <a:ln w="19050">
            <a:solidFill>
              <a:srgbClr val="B54A4A"/>
            </a:solidFill>
            <a:prstDash val="solid"/>
          </a:ln>
        </p:spPr>
        <p:txBody>
          <a:bodyPr wrap="square" lIns="0" tIns="0" rIns="0" bIns="0"/>
          <a:lstStyle/>
          <a:p>
            <a:endParaRPr sz="4000">
              <a:latin typeface="Calibri" panose="020F0502020204030204" pitchFamily="34" charset="0"/>
              <a:cs typeface="Calibri" panose="020F0502020204030204" pitchFamily="34" charset="0"/>
            </a:endParaRPr>
          </a:p>
        </p:txBody>
      </p:sp>
      <p:sp>
        <p:nvSpPr>
          <p:cNvPr id="6" name="object 6">
            <a:extLst>
              <a:ext uri="{FF2B5EF4-FFF2-40B4-BE49-F238E27FC236}">
                <a16:creationId xmlns:a16="http://schemas.microsoft.com/office/drawing/2014/main" id="{1EBEC810-E61B-4BB8-84A3-D3A120E7E14D}"/>
              </a:ext>
            </a:extLst>
          </p:cNvPr>
          <p:cNvSpPr>
            <a:spLocks noGrp="1"/>
          </p:cNvSpPr>
          <p:nvPr/>
        </p:nvSpPr>
        <p:spPr>
          <a:xfrm>
            <a:off x="1666875" y="2471214"/>
            <a:ext cx="2428875" cy="1171575"/>
          </a:xfrm>
          <a:custGeom>
            <a:avLst/>
            <a:gdLst/>
            <a:ahLst/>
            <a:cxnLst/>
            <a:rect l="l" t="t" r="r" b="b"/>
            <a:pathLst>
              <a:path w="4700905">
                <a:moveTo>
                  <a:pt x="0" y="0"/>
                </a:moveTo>
                <a:lnTo>
                  <a:pt x="4700378" y="0"/>
                </a:lnTo>
              </a:path>
            </a:pathLst>
          </a:custGeom>
          <a:noFill/>
          <a:ln w="14288">
            <a:solidFill>
              <a:srgbClr val="7A8793"/>
            </a:solidFill>
            <a:prstDash val="solid"/>
          </a:ln>
        </p:spPr>
        <p:txBody>
          <a:bodyPr wrap="square" lIns="0" tIns="0" rIns="0" bIns="0"/>
          <a:lstStyle/>
          <a:p>
            <a:endParaRPr sz="4000">
              <a:latin typeface="Calibri" panose="020F0502020204030204" pitchFamily="34" charset="0"/>
              <a:cs typeface="Calibri" panose="020F0502020204030204" pitchFamily="34" charset="0"/>
            </a:endParaRPr>
          </a:p>
        </p:txBody>
      </p:sp>
      <p:sp>
        <p:nvSpPr>
          <p:cNvPr id="7" name="object 7">
            <a:extLst>
              <a:ext uri="{FF2B5EF4-FFF2-40B4-BE49-F238E27FC236}">
                <a16:creationId xmlns:a16="http://schemas.microsoft.com/office/drawing/2014/main" id="{F3199CC0-CD95-47CF-978E-6FE78D2DE4E2}"/>
              </a:ext>
            </a:extLst>
          </p:cNvPr>
          <p:cNvSpPr>
            <a:spLocks noGrp="1"/>
          </p:cNvSpPr>
          <p:nvPr/>
        </p:nvSpPr>
        <p:spPr>
          <a:xfrm>
            <a:off x="5191125" y="2471214"/>
            <a:ext cx="0" cy="1171575"/>
          </a:xfrm>
          <a:custGeom>
            <a:avLst/>
            <a:gdLst/>
            <a:ahLst/>
            <a:cxnLst/>
            <a:rect l="l" t="t" r="r" b="b"/>
            <a:pathLst>
              <a:path w="4700905">
                <a:moveTo>
                  <a:pt x="0" y="0"/>
                </a:moveTo>
                <a:lnTo>
                  <a:pt x="4700378" y="0"/>
                </a:lnTo>
              </a:path>
            </a:pathLst>
          </a:custGeom>
          <a:noFill/>
          <a:ln w="14288">
            <a:solidFill>
              <a:srgbClr val="7A8793"/>
            </a:solidFill>
            <a:prstDash val="solid"/>
          </a:ln>
        </p:spPr>
        <p:txBody>
          <a:bodyPr wrap="square" lIns="0" tIns="0" rIns="0" bIns="0"/>
          <a:lstStyle/>
          <a:p>
            <a:endParaRPr sz="4000">
              <a:latin typeface="Calibri" panose="020F0502020204030204" pitchFamily="34" charset="0"/>
              <a:cs typeface="Calibri" panose="020F0502020204030204" pitchFamily="34" charset="0"/>
            </a:endParaRPr>
          </a:p>
        </p:txBody>
      </p:sp>
      <p:sp>
        <p:nvSpPr>
          <p:cNvPr id="22" name="object 22">
            <a:extLst>
              <a:ext uri="{FF2B5EF4-FFF2-40B4-BE49-F238E27FC236}">
                <a16:creationId xmlns:a16="http://schemas.microsoft.com/office/drawing/2014/main" id="{BDB82562-24A7-4DD8-AE8D-8220EBF00722}"/>
              </a:ext>
            </a:extLst>
          </p:cNvPr>
          <p:cNvSpPr>
            <a:spLocks noGrp="1"/>
          </p:cNvSpPr>
          <p:nvPr/>
        </p:nvSpPr>
        <p:spPr>
          <a:xfrm>
            <a:off x="895350" y="1690164"/>
            <a:ext cx="1619250" cy="781050"/>
          </a:xfrm>
          <a:prstGeom prst="rect">
            <a:avLst/>
          </a:prstGeom>
          <a:solidFill>
            <a:srgbClr val="EDF3F8"/>
          </a:solidFill>
          <a:ln w="11430">
            <a:solidFill>
              <a:srgbClr val="8FA7C1"/>
            </a:solidFill>
            <a:prstDash val="solid"/>
          </a:ln>
        </p:spPr>
        <p:txBody>
          <a:bodyPr vert="horz" wrap="square" lIns="0" tIns="19134" rIns="0" bIns="0" anchor="ctr">
            <a:normAutofit/>
          </a:bodyPr>
          <a:lstStyle/>
          <a:p>
            <a:pPr marL="20141" marR="8056" algn="ctr">
              <a:lnSpc>
                <a:spcPct val="117900"/>
              </a:lnSpc>
              <a:spcBef>
                <a:spcPts val="151"/>
              </a:spcBef>
              <a:buNone/>
              <a:defRPr sz="1425" b="1">
                <a:solidFill>
                  <a:srgbClr val="17365D"/>
                </a:solidFill>
                <a:latin typeface="Arial"/>
                <a:ea typeface="Arial"/>
                <a:cs typeface="Arial"/>
              </a:defRPr>
            </a:pPr>
            <a:r>
              <a:rPr sz="1600" b="1" spc="-16" dirty="0">
                <a:solidFill>
                  <a:srgbClr val="17365D"/>
                </a:solidFill>
                <a:latin typeface="Calibri" panose="020F0502020204030204" pitchFamily="34" charset="0"/>
                <a:ea typeface="Arial"/>
                <a:cs typeface="Calibri" panose="020F0502020204030204" pitchFamily="34" charset="0"/>
              </a:rPr>
              <a:t>Healthy</a:t>
            </a:r>
            <a:endParaRPr sz="900" dirty="0">
              <a:latin typeface="Calibri" panose="020F0502020204030204" pitchFamily="34" charset="0"/>
              <a:ea typeface="Arial MT"/>
              <a:cs typeface="Calibri" panose="020F0502020204030204" pitchFamily="34" charset="0"/>
            </a:endParaRPr>
          </a:p>
          <a:p>
            <a:pPr marL="20141" marR="8056" algn="ctr">
              <a:lnSpc>
                <a:spcPct val="117900"/>
              </a:lnSpc>
              <a:spcBef>
                <a:spcPts val="151"/>
              </a:spcBef>
              <a:buNone/>
              <a:defRPr sz="1425" b="1">
                <a:solidFill>
                  <a:srgbClr val="17365D"/>
                </a:solidFill>
                <a:latin typeface="Arial"/>
                <a:ea typeface="Arial"/>
                <a:cs typeface="Arial"/>
              </a:defRPr>
            </a:pPr>
            <a:r>
              <a:rPr sz="1600" b="1" spc="-16" dirty="0">
                <a:solidFill>
                  <a:srgbClr val="17365D"/>
                </a:solidFill>
                <a:latin typeface="Calibri" panose="020F0502020204030204" pitchFamily="34" charset="0"/>
                <a:ea typeface="Arial"/>
                <a:cs typeface="Calibri" panose="020F0502020204030204" pitchFamily="34" charset="0"/>
              </a:rPr>
              <a:t>(no CVD)</a:t>
            </a:r>
            <a:endParaRPr sz="900" dirty="0">
              <a:latin typeface="Calibri" panose="020F0502020204030204" pitchFamily="34" charset="0"/>
              <a:ea typeface="Arial MT"/>
              <a:cs typeface="Calibri" panose="020F0502020204030204" pitchFamily="34" charset="0"/>
            </a:endParaRPr>
          </a:p>
        </p:txBody>
      </p:sp>
      <p:sp>
        <p:nvSpPr>
          <p:cNvPr id="23" name="object 23">
            <a:extLst>
              <a:ext uri="{FF2B5EF4-FFF2-40B4-BE49-F238E27FC236}">
                <a16:creationId xmlns:a16="http://schemas.microsoft.com/office/drawing/2014/main" id="{EF34184F-D6DA-429F-9871-200AFA25F898}"/>
              </a:ext>
            </a:extLst>
          </p:cNvPr>
          <p:cNvSpPr>
            <a:spLocks noGrp="1"/>
          </p:cNvSpPr>
          <p:nvPr/>
        </p:nvSpPr>
        <p:spPr>
          <a:xfrm>
            <a:off x="3762375" y="1690164"/>
            <a:ext cx="1809750" cy="781050"/>
          </a:xfrm>
          <a:prstGeom prst="rect">
            <a:avLst/>
          </a:prstGeom>
          <a:solidFill>
            <a:srgbClr val="EDF3F8"/>
          </a:solidFill>
          <a:ln w="11430">
            <a:solidFill>
              <a:srgbClr val="8FA7C1"/>
            </a:solidFill>
            <a:prstDash val="solid"/>
          </a:ln>
        </p:spPr>
        <p:txBody>
          <a:bodyPr vert="horz" wrap="square" lIns="0" tIns="19134" rIns="0" bIns="0" anchor="ctr">
            <a:normAutofit/>
          </a:bodyPr>
          <a:lstStyle/>
          <a:p>
            <a:pPr marL="20141" marR="8056" algn="ctr">
              <a:lnSpc>
                <a:spcPct val="117400"/>
              </a:lnSpc>
              <a:spcBef>
                <a:spcPts val="151"/>
              </a:spcBef>
              <a:buNone/>
              <a:defRPr sz="1425" b="1">
                <a:solidFill>
                  <a:srgbClr val="17365D"/>
                </a:solidFill>
                <a:latin typeface="Arial"/>
                <a:ea typeface="Arial"/>
                <a:cs typeface="Arial"/>
              </a:defRPr>
            </a:pPr>
            <a:r>
              <a:rPr sz="1600" b="1" spc="-16">
                <a:solidFill>
                  <a:srgbClr val="17365D"/>
                </a:solidFill>
                <a:latin typeface="Calibri" panose="020F0502020204030204" pitchFamily="34" charset="0"/>
                <a:ea typeface="Arial"/>
                <a:cs typeface="Calibri" panose="020F0502020204030204" pitchFamily="34" charset="0"/>
              </a:rPr>
              <a:t>Living with CVD</a:t>
            </a:r>
            <a:endParaRPr sz="900">
              <a:latin typeface="Calibri" panose="020F0502020204030204" pitchFamily="34" charset="0"/>
              <a:ea typeface="Arial MT"/>
              <a:cs typeface="Calibri" panose="020F0502020204030204" pitchFamily="34" charset="0"/>
            </a:endParaRPr>
          </a:p>
          <a:p>
            <a:pPr marL="20141" marR="8056" algn="ctr">
              <a:lnSpc>
                <a:spcPct val="117400"/>
              </a:lnSpc>
              <a:spcBef>
                <a:spcPts val="151"/>
              </a:spcBef>
              <a:buNone/>
              <a:defRPr sz="1425" b="1">
                <a:solidFill>
                  <a:srgbClr val="17365D"/>
                </a:solidFill>
                <a:latin typeface="Arial"/>
                <a:ea typeface="Arial"/>
                <a:cs typeface="Arial"/>
              </a:defRPr>
            </a:pPr>
            <a:r>
              <a:rPr sz="1600" b="1" spc="-16">
                <a:solidFill>
                  <a:srgbClr val="17365D"/>
                </a:solidFill>
                <a:latin typeface="Calibri" panose="020F0502020204030204" pitchFamily="34" charset="0"/>
                <a:ea typeface="Arial"/>
                <a:cs typeface="Calibri" panose="020F0502020204030204" pitchFamily="34" charset="0"/>
              </a:rPr>
              <a:t>(or diabetes)</a:t>
            </a:r>
            <a:endParaRPr sz="900">
              <a:latin typeface="Calibri" panose="020F0502020204030204" pitchFamily="34" charset="0"/>
              <a:ea typeface="Arial MT"/>
              <a:cs typeface="Calibri" panose="020F0502020204030204" pitchFamily="34" charset="0"/>
            </a:endParaRPr>
          </a:p>
        </p:txBody>
      </p:sp>
      <p:sp>
        <p:nvSpPr>
          <p:cNvPr id="32" name="object 32">
            <a:extLst>
              <a:ext uri="{FF2B5EF4-FFF2-40B4-BE49-F238E27FC236}">
                <a16:creationId xmlns:a16="http://schemas.microsoft.com/office/drawing/2014/main" id="{A4496290-13C8-40B2-B5FF-E3DD64B2E2DE}"/>
              </a:ext>
            </a:extLst>
          </p:cNvPr>
          <p:cNvSpPr>
            <a:spLocks noGrp="1"/>
          </p:cNvSpPr>
          <p:nvPr/>
        </p:nvSpPr>
        <p:spPr>
          <a:xfrm>
            <a:off x="6905625" y="1690164"/>
            <a:ext cx="1381125" cy="781050"/>
          </a:xfrm>
          <a:prstGeom prst="rect">
            <a:avLst/>
          </a:prstGeom>
          <a:solidFill>
            <a:srgbClr val="F6E7E7"/>
          </a:solidFill>
          <a:ln w="11430">
            <a:solidFill>
              <a:srgbClr val="8FA7C1"/>
            </a:solidFill>
            <a:prstDash val="solid"/>
          </a:ln>
        </p:spPr>
        <p:txBody>
          <a:bodyPr vert="horz" wrap="square" lIns="0" tIns="18127" rIns="0" bIns="0" anchor="ctr">
            <a:normAutofit/>
          </a:bodyPr>
          <a:lstStyle/>
          <a:p>
            <a:pPr marL="20141" algn="ctr">
              <a:spcBef>
                <a:spcPts val="143"/>
              </a:spcBef>
              <a:buNone/>
              <a:defRPr sz="1425" b="1">
                <a:solidFill>
                  <a:srgbClr val="9B2C2C"/>
                </a:solidFill>
                <a:latin typeface="Arial"/>
                <a:ea typeface="Arial"/>
                <a:cs typeface="Arial"/>
              </a:defRPr>
            </a:pPr>
            <a:r>
              <a:rPr sz="1600" b="1" spc="-16">
                <a:solidFill>
                  <a:srgbClr val="9B2C2C"/>
                </a:solidFill>
                <a:latin typeface="Calibri" panose="020F0502020204030204" pitchFamily="34" charset="0"/>
                <a:ea typeface="Arial"/>
                <a:cs typeface="Calibri" panose="020F0502020204030204" pitchFamily="34" charset="0"/>
              </a:rPr>
              <a:t>CVD death</a:t>
            </a:r>
            <a:endParaRPr sz="1000">
              <a:latin typeface="Calibri" panose="020F0502020204030204" pitchFamily="34" charset="0"/>
              <a:ea typeface="Arial"/>
              <a:cs typeface="Calibri" panose="020F0502020204030204" pitchFamily="34" charset="0"/>
            </a:endParaRPr>
          </a:p>
        </p:txBody>
      </p:sp>
      <p:sp>
        <p:nvSpPr>
          <p:cNvPr id="33" name="object 33">
            <a:extLst>
              <a:ext uri="{FF2B5EF4-FFF2-40B4-BE49-F238E27FC236}">
                <a16:creationId xmlns:a16="http://schemas.microsoft.com/office/drawing/2014/main" id="{7631B7D2-8A96-468C-9BFE-4307E7093993}"/>
              </a:ext>
            </a:extLst>
          </p:cNvPr>
          <p:cNvSpPr>
            <a:spLocks noGrp="1"/>
          </p:cNvSpPr>
          <p:nvPr/>
        </p:nvSpPr>
        <p:spPr>
          <a:xfrm>
            <a:off x="3619500" y="3929991"/>
            <a:ext cx="2095500" cy="781050"/>
          </a:xfrm>
          <a:prstGeom prst="rect">
            <a:avLst/>
          </a:prstGeom>
          <a:solidFill>
            <a:srgbClr val="F2F2F2"/>
          </a:solidFill>
          <a:ln w="11430">
            <a:solidFill>
              <a:srgbClr val="8FA7C1"/>
            </a:solidFill>
            <a:prstDash val="solid"/>
          </a:ln>
        </p:spPr>
        <p:txBody>
          <a:bodyPr vert="horz" wrap="square" lIns="0" tIns="18127" rIns="0" bIns="0" anchor="ctr">
            <a:normAutofit/>
          </a:bodyPr>
          <a:lstStyle/>
          <a:p>
            <a:pPr marL="27190" algn="ctr">
              <a:spcBef>
                <a:spcPts val="143"/>
              </a:spcBef>
              <a:buNone/>
              <a:defRPr sz="1275" b="1">
                <a:solidFill>
                  <a:srgbClr val="4B5563"/>
                </a:solidFill>
                <a:latin typeface="Arial"/>
                <a:ea typeface="Arial"/>
                <a:cs typeface="Arial"/>
              </a:defRPr>
            </a:pPr>
            <a:r>
              <a:rPr sz="1600" b="1" dirty="0">
                <a:solidFill>
                  <a:srgbClr val="4B5563"/>
                </a:solidFill>
                <a:latin typeface="Calibri" panose="020F0502020204030204" pitchFamily="34" charset="0"/>
                <a:ea typeface="Arial"/>
                <a:cs typeface="Calibri" panose="020F0502020204030204" pitchFamily="34" charset="0"/>
              </a:rPr>
              <a:t>Other</a:t>
            </a:r>
            <a:r>
              <a:rPr lang="en-US" sz="1600" b="1" dirty="0">
                <a:solidFill>
                  <a:srgbClr val="4B5563"/>
                </a:solidFill>
                <a:latin typeface="Calibri" panose="020F0502020204030204" pitchFamily="34" charset="0"/>
                <a:ea typeface="Arial"/>
                <a:cs typeface="Calibri" panose="020F0502020204030204" pitchFamily="34" charset="0"/>
              </a:rPr>
              <a:t> </a:t>
            </a:r>
            <a:r>
              <a:rPr sz="1600" b="1" dirty="0">
                <a:solidFill>
                  <a:srgbClr val="4B5563"/>
                </a:solidFill>
                <a:latin typeface="Calibri" panose="020F0502020204030204" pitchFamily="34" charset="0"/>
                <a:ea typeface="Arial"/>
                <a:cs typeface="Calibri" panose="020F0502020204030204" pitchFamily="34" charset="0"/>
              </a:rPr>
              <a:t>cause</a:t>
            </a:r>
            <a:endParaRPr sz="1600" dirty="0">
              <a:latin typeface="Calibri" panose="020F0502020204030204" pitchFamily="34" charset="0"/>
              <a:ea typeface="Arial"/>
              <a:cs typeface="Calibri" panose="020F0502020204030204" pitchFamily="34" charset="0"/>
            </a:endParaRPr>
          </a:p>
          <a:p>
            <a:pPr marL="20141" algn="ctr">
              <a:spcBef>
                <a:spcPts val="563"/>
              </a:spcBef>
              <a:buNone/>
              <a:defRPr sz="1275" b="1">
                <a:solidFill>
                  <a:srgbClr val="4B5563"/>
                </a:solidFill>
                <a:latin typeface="Arial"/>
                <a:ea typeface="Arial"/>
                <a:cs typeface="Arial"/>
              </a:defRPr>
            </a:pPr>
            <a:r>
              <a:rPr sz="1600" b="1" dirty="0">
                <a:solidFill>
                  <a:srgbClr val="4B5563"/>
                </a:solidFill>
                <a:latin typeface="Calibri" panose="020F0502020204030204" pitchFamily="34" charset="0"/>
                <a:ea typeface="Arial"/>
                <a:cs typeface="Calibri" panose="020F0502020204030204" pitchFamily="34" charset="0"/>
              </a:rPr>
              <a:t>(background) death</a:t>
            </a:r>
            <a:endParaRPr sz="1600" dirty="0">
              <a:latin typeface="Calibri" panose="020F0502020204030204" pitchFamily="34" charset="0"/>
              <a:ea typeface="Arial"/>
              <a:cs typeface="Calibri" panose="020F0502020204030204" pitchFamily="34" charset="0"/>
            </a:endParaRPr>
          </a:p>
        </p:txBody>
      </p:sp>
      <p:sp>
        <p:nvSpPr>
          <p:cNvPr id="34" name="object 34">
            <a:extLst>
              <a:ext uri="{FF2B5EF4-FFF2-40B4-BE49-F238E27FC236}">
                <a16:creationId xmlns:a16="http://schemas.microsoft.com/office/drawing/2014/main" id="{2B596B52-4D0E-42C2-A686-1DFB8D74E016}"/>
              </a:ext>
            </a:extLst>
          </p:cNvPr>
          <p:cNvSpPr>
            <a:spLocks noGrp="1"/>
          </p:cNvSpPr>
          <p:nvPr/>
        </p:nvSpPr>
        <p:spPr>
          <a:xfrm>
            <a:off x="2492486" y="1447800"/>
            <a:ext cx="1190625" cy="516501"/>
          </a:xfrm>
          <a:prstGeom prst="rect">
            <a:avLst/>
          </a:prstGeom>
          <a:noFill/>
          <a:ln>
            <a:noFill/>
          </a:ln>
        </p:spPr>
        <p:txBody>
          <a:bodyPr vert="horz" wrap="square" lIns="0" tIns="18127" rIns="0" bIns="0" anchor="ctr">
            <a:normAutofit/>
          </a:bodyPr>
          <a:lstStyle/>
          <a:p>
            <a:pPr marL="20141" algn="ctr">
              <a:spcBef>
                <a:spcPts val="143"/>
              </a:spcBef>
              <a:buNone/>
              <a:defRPr sz="1125" b="1">
                <a:solidFill>
                  <a:srgbClr val="1F77B4"/>
                </a:solidFill>
                <a:latin typeface="Arial"/>
                <a:ea typeface="Arial"/>
                <a:cs typeface="Arial"/>
              </a:defRPr>
            </a:pPr>
            <a:r>
              <a:rPr lang="en-US" sz="1600" b="1" spc="-16" dirty="0">
                <a:solidFill>
                  <a:srgbClr val="1F77B4"/>
                </a:solidFill>
                <a:latin typeface="Calibri" panose="020F0502020204030204" pitchFamily="34" charset="0"/>
                <a:ea typeface="Arial"/>
                <a:cs typeface="Calibri" panose="020F0502020204030204" pitchFamily="34" charset="0"/>
              </a:rPr>
              <a:t>N</a:t>
            </a:r>
            <a:r>
              <a:rPr sz="1600" b="1" spc="-16" dirty="0">
                <a:solidFill>
                  <a:srgbClr val="1F77B4"/>
                </a:solidFill>
                <a:latin typeface="Calibri" panose="020F0502020204030204" pitchFamily="34" charset="0"/>
                <a:ea typeface="Arial"/>
                <a:cs typeface="Calibri" panose="020F0502020204030204" pitchFamily="34" charset="0"/>
              </a:rPr>
              <a:t>ew CVD incidence  →</a:t>
            </a:r>
            <a:endParaRPr sz="1000" dirty="0">
              <a:latin typeface="Calibri" panose="020F0502020204030204" pitchFamily="34" charset="0"/>
              <a:ea typeface="Arial"/>
              <a:cs typeface="Calibri" panose="020F0502020204030204" pitchFamily="34" charset="0"/>
            </a:endParaRPr>
          </a:p>
        </p:txBody>
      </p:sp>
      <p:sp>
        <p:nvSpPr>
          <p:cNvPr id="40" name="object 40">
            <a:extLst>
              <a:ext uri="{FF2B5EF4-FFF2-40B4-BE49-F238E27FC236}">
                <a16:creationId xmlns:a16="http://schemas.microsoft.com/office/drawing/2014/main" id="{292A37CA-A00A-4EA6-9435-CED5F41DDEEA}"/>
              </a:ext>
            </a:extLst>
          </p:cNvPr>
          <p:cNvSpPr>
            <a:spLocks noGrp="1"/>
          </p:cNvSpPr>
          <p:nvPr/>
        </p:nvSpPr>
        <p:spPr>
          <a:xfrm>
            <a:off x="2762250" y="4711041"/>
            <a:ext cx="3810000" cy="677727"/>
          </a:xfrm>
          <a:prstGeom prst="rect">
            <a:avLst/>
          </a:prstGeom>
          <a:noFill/>
          <a:ln>
            <a:noFill/>
          </a:ln>
        </p:spPr>
        <p:txBody>
          <a:bodyPr vert="horz" wrap="square" lIns="0" tIns="21148" rIns="0" bIns="0" anchor="ctr">
            <a:noAutofit/>
          </a:bodyPr>
          <a:lstStyle/>
          <a:p>
            <a:pPr marL="20141" algn="ctr">
              <a:spcBef>
                <a:spcPts val="167"/>
              </a:spcBef>
              <a:buNone/>
              <a:defRPr sz="975" b="0">
                <a:solidFill>
                  <a:srgbClr val="4B5563"/>
                </a:solidFill>
                <a:latin typeface="Arial"/>
                <a:ea typeface="Arial"/>
                <a:cs typeface="Arial"/>
              </a:defRPr>
            </a:pPr>
            <a:r>
              <a:rPr sz="1600" b="0" spc="-32" dirty="0">
                <a:solidFill>
                  <a:srgbClr val="4B5563"/>
                </a:solidFill>
                <a:latin typeface="Calibri" panose="020F0502020204030204" pitchFamily="34" charset="0"/>
                <a:ea typeface="Arial"/>
                <a:cs typeface="Calibri" panose="020F0502020204030204" pitchFamily="34" charset="0"/>
              </a:rPr>
              <a:t>Background mortality is driven by demography and remains unchanged by </a:t>
            </a:r>
            <a:r>
              <a:rPr lang="en-US" sz="1600" b="0" spc="-32" dirty="0">
                <a:solidFill>
                  <a:srgbClr val="4B5563"/>
                </a:solidFill>
                <a:latin typeface="Calibri" panose="020F0502020204030204" pitchFamily="34" charset="0"/>
                <a:ea typeface="Arial"/>
                <a:cs typeface="Calibri" panose="020F0502020204030204" pitchFamily="34" charset="0"/>
              </a:rPr>
              <a:t>health</a:t>
            </a:r>
            <a:r>
              <a:rPr sz="1600" b="0" spc="-32" dirty="0">
                <a:solidFill>
                  <a:srgbClr val="4B5563"/>
                </a:solidFill>
                <a:latin typeface="Calibri" panose="020F0502020204030204" pitchFamily="34" charset="0"/>
                <a:ea typeface="Arial"/>
                <a:cs typeface="Calibri" panose="020F0502020204030204" pitchFamily="34" charset="0"/>
              </a:rPr>
              <a:t> interventions</a:t>
            </a:r>
            <a:endParaRPr sz="1600" dirty="0">
              <a:latin typeface="Calibri" panose="020F0502020204030204" pitchFamily="34" charset="0"/>
              <a:ea typeface="Arial MT"/>
              <a:cs typeface="Calibri" panose="020F0502020204030204" pitchFamily="34" charset="0"/>
            </a:endParaRPr>
          </a:p>
        </p:txBody>
      </p:sp>
      <p:sp>
        <p:nvSpPr>
          <p:cNvPr id="41" name="object 41">
            <a:extLst>
              <a:ext uri="{FF2B5EF4-FFF2-40B4-BE49-F238E27FC236}">
                <a16:creationId xmlns:a16="http://schemas.microsoft.com/office/drawing/2014/main" id="{EEFF8624-8A59-4215-85AC-E81E76888B13}"/>
              </a:ext>
            </a:extLst>
          </p:cNvPr>
          <p:cNvSpPr>
            <a:spLocks noGrp="1"/>
          </p:cNvSpPr>
          <p:nvPr/>
        </p:nvSpPr>
        <p:spPr>
          <a:xfrm>
            <a:off x="5119692" y="2347389"/>
            <a:ext cx="2162175" cy="1171563"/>
          </a:xfrm>
          <a:prstGeom prst="rect">
            <a:avLst/>
          </a:prstGeom>
          <a:noFill/>
          <a:ln>
            <a:noFill/>
          </a:ln>
        </p:spPr>
        <p:txBody>
          <a:bodyPr vert="horz" wrap="square" lIns="0" tIns="21148" rIns="0" bIns="0" anchor="ctr">
            <a:normAutofit/>
          </a:bodyPr>
          <a:lstStyle/>
          <a:p>
            <a:pPr marL="20141" algn="ctr">
              <a:spcBef>
                <a:spcPts val="167"/>
              </a:spcBef>
              <a:buNone/>
              <a:defRPr sz="975" b="1">
                <a:solidFill>
                  <a:srgbClr val="B54A4A"/>
                </a:solidFill>
                <a:latin typeface="Arial"/>
                <a:ea typeface="Arial"/>
                <a:cs typeface="Arial"/>
              </a:defRPr>
            </a:pPr>
            <a:r>
              <a:rPr sz="1600" b="1" spc="-32" dirty="0">
                <a:solidFill>
                  <a:srgbClr val="B54A4A"/>
                </a:solidFill>
                <a:latin typeface="Calibri" panose="020F0502020204030204" pitchFamily="34" charset="0"/>
                <a:ea typeface="Arial"/>
                <a:cs typeface="Calibri" panose="020F0502020204030204" pitchFamily="34" charset="0"/>
              </a:rPr>
              <a:t>More people survive</a:t>
            </a:r>
            <a:r>
              <a:rPr lang="en-US" sz="1600" b="1" spc="-32" dirty="0">
                <a:solidFill>
                  <a:srgbClr val="B54A4A"/>
                </a:solidFill>
                <a:latin typeface="Calibri" panose="020F0502020204030204" pitchFamily="34" charset="0"/>
                <a:ea typeface="Arial"/>
                <a:cs typeface="Calibri" panose="020F0502020204030204" pitchFamily="34" charset="0"/>
              </a:rPr>
              <a:t> due to treatment interventions</a:t>
            </a:r>
            <a:endParaRPr sz="1600" dirty="0">
              <a:latin typeface="Calibri" panose="020F0502020204030204" pitchFamily="34" charset="0"/>
              <a:ea typeface="Arial MT"/>
              <a:cs typeface="Calibri" panose="020F0502020204030204" pitchFamily="34" charset="0"/>
            </a:endParaRPr>
          </a:p>
        </p:txBody>
      </p:sp>
      <p:sp>
        <p:nvSpPr>
          <p:cNvPr id="3" name="object 34">
            <a:extLst>
              <a:ext uri="{FF2B5EF4-FFF2-40B4-BE49-F238E27FC236}">
                <a16:creationId xmlns:a16="http://schemas.microsoft.com/office/drawing/2014/main" id="{5AAF8DFB-433A-23E6-3591-11DFBCA1F025}"/>
              </a:ext>
            </a:extLst>
          </p:cNvPr>
          <p:cNvSpPr>
            <a:spLocks noGrp="1"/>
          </p:cNvSpPr>
          <p:nvPr/>
        </p:nvSpPr>
        <p:spPr>
          <a:xfrm>
            <a:off x="2214564" y="2388833"/>
            <a:ext cx="1809746" cy="1132552"/>
          </a:xfrm>
          <a:prstGeom prst="rect">
            <a:avLst/>
          </a:prstGeom>
          <a:noFill/>
          <a:ln>
            <a:noFill/>
          </a:ln>
        </p:spPr>
        <p:txBody>
          <a:bodyPr vert="horz" wrap="square" lIns="0" tIns="18127" rIns="0" bIns="0" anchor="ctr">
            <a:normAutofit/>
          </a:bodyPr>
          <a:lstStyle/>
          <a:p>
            <a:pPr marL="20141" algn="ctr">
              <a:spcBef>
                <a:spcPts val="143"/>
              </a:spcBef>
              <a:buNone/>
              <a:defRPr sz="1125" b="1">
                <a:solidFill>
                  <a:srgbClr val="1F77B4"/>
                </a:solidFill>
                <a:latin typeface="Arial"/>
                <a:ea typeface="Arial"/>
                <a:cs typeface="Arial"/>
              </a:defRPr>
            </a:pPr>
            <a:r>
              <a:rPr lang="en-US" sz="1600" b="1" spc="-16" dirty="0">
                <a:solidFill>
                  <a:srgbClr val="1F77B4"/>
                </a:solidFill>
                <a:latin typeface="Calibri" panose="020F0502020204030204" pitchFamily="34" charset="0"/>
                <a:ea typeface="Arial"/>
                <a:cs typeface="Calibri" panose="020F0502020204030204" pitchFamily="34" charset="0"/>
              </a:rPr>
              <a:t>Fewer people fall ill due to preventive interventions</a:t>
            </a:r>
            <a:endParaRPr sz="1000" dirty="0">
              <a:latin typeface="Calibri" panose="020F0502020204030204" pitchFamily="34" charset="0"/>
              <a:ea typeface="Arial"/>
              <a:cs typeface="Calibri" panose="020F0502020204030204" pitchFamily="34" charset="0"/>
            </a:endParaRPr>
          </a:p>
        </p:txBody>
      </p:sp>
      <p:sp>
        <p:nvSpPr>
          <p:cNvPr id="9" name="object 34">
            <a:extLst>
              <a:ext uri="{FF2B5EF4-FFF2-40B4-BE49-F238E27FC236}">
                <a16:creationId xmlns:a16="http://schemas.microsoft.com/office/drawing/2014/main" id="{79E2F815-BD35-7934-D63D-F068E2A54594}"/>
              </a:ext>
            </a:extLst>
          </p:cNvPr>
          <p:cNvSpPr>
            <a:spLocks noGrp="1"/>
          </p:cNvSpPr>
          <p:nvPr/>
        </p:nvSpPr>
        <p:spPr>
          <a:xfrm>
            <a:off x="5638800" y="1467101"/>
            <a:ext cx="1190625" cy="516501"/>
          </a:xfrm>
          <a:prstGeom prst="rect">
            <a:avLst/>
          </a:prstGeom>
          <a:noFill/>
          <a:ln>
            <a:noFill/>
          </a:ln>
        </p:spPr>
        <p:txBody>
          <a:bodyPr vert="horz" wrap="square" lIns="0" tIns="21148" rIns="0" bIns="0" anchor="ctr">
            <a:normAutofit fontScale="92500"/>
          </a:bodyPr>
          <a:lstStyle/>
          <a:p>
            <a:pPr marL="20141" algn="ctr">
              <a:spcBef>
                <a:spcPts val="167"/>
              </a:spcBef>
            </a:pPr>
            <a:r>
              <a:rPr lang="en-US" sz="1600" b="1" spc="-32" dirty="0">
                <a:solidFill>
                  <a:srgbClr val="B54A4A"/>
                </a:solidFill>
                <a:latin typeface="Calibri" panose="020F0502020204030204" pitchFamily="34" charset="0"/>
                <a:cs typeface="Calibri" panose="020F0502020204030204" pitchFamily="34" charset="0"/>
              </a:rPr>
              <a:t>Fatal </a:t>
            </a:r>
            <a:r>
              <a:rPr sz="1600" b="1" spc="-32" dirty="0">
                <a:solidFill>
                  <a:srgbClr val="B54A4A"/>
                </a:solidFill>
                <a:latin typeface="Calibri" panose="020F0502020204030204" pitchFamily="34" charset="0"/>
                <a:cs typeface="Calibri" panose="020F0502020204030204" pitchFamily="34" charset="0"/>
              </a:rPr>
              <a:t>CVD </a:t>
            </a:r>
            <a:endParaRPr lang="en-US" sz="1600" b="1" spc="-32" dirty="0">
              <a:solidFill>
                <a:srgbClr val="B54A4A"/>
              </a:solidFill>
              <a:latin typeface="Calibri" panose="020F0502020204030204" pitchFamily="34" charset="0"/>
              <a:cs typeface="Calibri" panose="020F0502020204030204" pitchFamily="34" charset="0"/>
            </a:endParaRPr>
          </a:p>
          <a:p>
            <a:pPr marL="20141" algn="ctr">
              <a:spcBef>
                <a:spcPts val="167"/>
              </a:spcBef>
            </a:pPr>
            <a:r>
              <a:rPr lang="en-US" sz="1600" b="1" spc="-32" dirty="0">
                <a:solidFill>
                  <a:srgbClr val="B54A4A"/>
                </a:solidFill>
                <a:latin typeface="Calibri" panose="020F0502020204030204" pitchFamily="34" charset="0"/>
                <a:cs typeface="Calibri" panose="020F0502020204030204" pitchFamily="34" charset="0"/>
              </a:rPr>
              <a:t>case-fatality</a:t>
            </a:r>
            <a:r>
              <a:rPr sz="1600" b="1" spc="-32" dirty="0">
                <a:solidFill>
                  <a:srgbClr val="B54A4A"/>
                </a:solidFill>
                <a:latin typeface="Calibri" panose="020F0502020204030204" pitchFamily="34" charset="0"/>
                <a:cs typeface="Calibri" panose="020F0502020204030204" pitchFamily="34" charset="0"/>
              </a:rPr>
              <a:t>  →</a:t>
            </a:r>
          </a:p>
        </p:txBody>
      </p:sp>
      <p:cxnSp>
        <p:nvCxnSpPr>
          <p:cNvPr id="12" name="Straight Connector 11">
            <a:extLst>
              <a:ext uri="{FF2B5EF4-FFF2-40B4-BE49-F238E27FC236}">
                <a16:creationId xmlns:a16="http://schemas.microsoft.com/office/drawing/2014/main" id="{C0D3D0F9-3B25-F339-D848-525D9541019D}"/>
              </a:ext>
            </a:extLst>
          </p:cNvPr>
          <p:cNvCxnSpPr>
            <a:stCxn id="22" idx="2"/>
            <a:endCxn id="33" idx="1"/>
          </p:cNvCxnSpPr>
          <p:nvPr/>
        </p:nvCxnSpPr>
        <p:spPr>
          <a:xfrm>
            <a:off x="1704975" y="2471214"/>
            <a:ext cx="1914525" cy="1849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5484861-0047-A26C-8907-559F27786E9C}"/>
              </a:ext>
            </a:extLst>
          </p:cNvPr>
          <p:cNvCxnSpPr>
            <a:cxnSpLocks/>
            <a:stCxn id="23" idx="2"/>
            <a:endCxn id="33" idx="0"/>
          </p:cNvCxnSpPr>
          <p:nvPr/>
        </p:nvCxnSpPr>
        <p:spPr>
          <a:xfrm>
            <a:off x="4667250" y="2471214"/>
            <a:ext cx="0" cy="1458777"/>
          </a:xfrm>
          <a:prstGeom prst="line">
            <a:avLst/>
          </a:prstGeom>
        </p:spPr>
        <p:style>
          <a:lnRef idx="1">
            <a:schemeClr val="accent1"/>
          </a:lnRef>
          <a:fillRef idx="0">
            <a:schemeClr val="accent1"/>
          </a:fillRef>
          <a:effectRef idx="0">
            <a:schemeClr val="accent1"/>
          </a:effectRef>
          <a:fontRef idx="minor">
            <a:schemeClr val="tx1"/>
          </a:fontRef>
        </p:style>
      </p:cxnSp>
      <p:sp>
        <p:nvSpPr>
          <p:cNvPr id="17" name="object 57">
            <a:extLst>
              <a:ext uri="{FF2B5EF4-FFF2-40B4-BE49-F238E27FC236}">
                <a16:creationId xmlns:a16="http://schemas.microsoft.com/office/drawing/2014/main" id="{A70CC8B5-DFC7-41F5-795E-72839794F2FD}"/>
              </a:ext>
            </a:extLst>
          </p:cNvPr>
          <p:cNvSpPr txBox="1"/>
          <p:nvPr/>
        </p:nvSpPr>
        <p:spPr>
          <a:xfrm>
            <a:off x="181659" y="5562600"/>
            <a:ext cx="8780679" cy="1035817"/>
          </a:xfrm>
          <a:prstGeom prst="rect">
            <a:avLst/>
          </a:prstGeom>
        </p:spPr>
        <p:txBody>
          <a:bodyPr vert="horz" wrap="square" lIns="0" tIns="12085" rIns="0" bIns="0" rtlCol="0">
            <a:spAutoFit/>
          </a:bodyPr>
          <a:lstStyle/>
          <a:p>
            <a:pPr marL="20141" marR="8056">
              <a:lnSpc>
                <a:spcPct val="105200"/>
              </a:lnSpc>
              <a:spcBef>
                <a:spcPts val="95"/>
              </a:spcBef>
            </a:pPr>
            <a:r>
              <a:rPr lang="en-US" sz="1600" b="1" i="1" dirty="0">
                <a:solidFill>
                  <a:srgbClr val="5B6B7A"/>
                </a:solidFill>
                <a:latin typeface="Calibri"/>
                <a:cs typeface="Calibri"/>
              </a:rPr>
              <a:t>Method:</a:t>
            </a:r>
            <a:r>
              <a:rPr lang="en-US" sz="1600" i="1" dirty="0">
                <a:solidFill>
                  <a:srgbClr val="5B6B7A"/>
                </a:solidFill>
                <a:latin typeface="Calibri"/>
                <a:cs typeface="Calibri"/>
              </a:rPr>
              <a:t> Five independent Markov cohort state-transition models (ischemic heart disease, ischemic stroke, intracerebral hemorrhage, hypertensive heart disease, cardiomyopathy and myocarditis)</a:t>
            </a:r>
            <a:r>
              <a:rPr lang="en-US" sz="1600" dirty="0">
                <a:solidFill>
                  <a:srgbClr val="5B6B7A"/>
                </a:solidFill>
                <a:latin typeface="Calibri"/>
                <a:cs typeface="Calibri"/>
              </a:rPr>
              <a:t> </a:t>
            </a:r>
            <a:r>
              <a:rPr lang="en-US" sz="1600" i="1" dirty="0">
                <a:solidFill>
                  <a:srgbClr val="5B6B7A"/>
                </a:solidFill>
                <a:latin typeface="Calibri"/>
                <a:cs typeface="Calibri"/>
              </a:rPr>
              <a:t>integrated within a cohort-component demographic projection model. </a:t>
            </a:r>
            <a:r>
              <a:rPr lang="en-US" sz="1600" b="1" i="1" dirty="0">
                <a:solidFill>
                  <a:srgbClr val="5B6B7A"/>
                </a:solidFill>
                <a:latin typeface="Calibri"/>
                <a:cs typeface="Calibri"/>
              </a:rPr>
              <a:t>Parameters</a:t>
            </a:r>
            <a:r>
              <a:rPr lang="en-US" sz="1600" i="1" dirty="0">
                <a:solidFill>
                  <a:srgbClr val="5B6B7A"/>
                </a:solidFill>
                <a:latin typeface="Calibri"/>
                <a:cs typeface="Calibri"/>
              </a:rPr>
              <a:t> from GBD 2023 and World Population Prospects 2024, calibrated to fit recent historical trends.</a:t>
            </a:r>
            <a:r>
              <a:rPr lang="en-US" sz="1600" b="1" i="1" dirty="0">
                <a:solidFill>
                  <a:srgbClr val="5B6B7A"/>
                </a:solidFill>
                <a:latin typeface="Calibri"/>
                <a:cs typeface="Calibri"/>
              </a:rPr>
              <a:t> </a:t>
            </a:r>
            <a:endParaRPr sz="1600" i="1" dirty="0">
              <a:latin typeface="Calibri"/>
              <a:cs typeface="Calibri"/>
            </a:endParaRPr>
          </a:p>
        </p:txBody>
      </p:sp>
    </p:spTree>
    <p:extLst>
      <p:ext uri="{BB962C8B-B14F-4D97-AF65-F5344CB8AC3E}">
        <p14:creationId xmlns:p14="http://schemas.microsoft.com/office/powerpoint/2010/main" val="15372116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A0D50-6714-C788-A0A8-7F1CFBC266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7E3A686-4C4C-5783-666C-488B25F9E65F}"/>
              </a:ext>
            </a:extLst>
          </p:cNvPr>
          <p:cNvSpPr>
            <a:spLocks noGrp="1"/>
          </p:cNvSpPr>
          <p:nvPr>
            <p:ph type="title"/>
          </p:nvPr>
        </p:nvSpPr>
        <p:spPr>
          <a:xfrm>
            <a:off x="235902" y="228600"/>
            <a:ext cx="8672196" cy="1683348"/>
          </a:xfrm>
          <a:prstGeom prst="rect">
            <a:avLst/>
          </a:prstGeom>
        </p:spPr>
        <p:txBody>
          <a:bodyPr vert="horz" wrap="square" lIns="0" tIns="21148" rIns="0" bIns="0" anchor="ctr">
            <a:spAutoFit/>
          </a:bodyPr>
          <a:lstStyle/>
          <a:p>
            <a:pPr marL="20141" algn="ctr">
              <a:spcBef>
                <a:spcPts val="167"/>
              </a:spcBef>
              <a:buNone/>
              <a:defRPr sz="2400">
                <a:solidFill>
                  <a:srgbClr val="17365D"/>
                </a:solidFill>
                <a:latin typeface="Arial"/>
                <a:ea typeface="Arial"/>
                <a:cs typeface="Arial"/>
              </a:defRPr>
            </a:pPr>
            <a:r>
              <a:rPr lang="en-US" sz="3600" b="1" dirty="0">
                <a:latin typeface="+mn-lt"/>
              </a:rPr>
              <a:t>Analytical framework: increases in intervention utilization leads to lower mortality (at additional costs)</a:t>
            </a:r>
            <a:endParaRPr sz="3600" b="1" dirty="0">
              <a:latin typeface="+mn-lt"/>
            </a:endParaRPr>
          </a:p>
        </p:txBody>
      </p:sp>
      <p:pic>
        <p:nvPicPr>
          <p:cNvPr id="10" name="Picture 9">
            <a:extLst>
              <a:ext uri="{FF2B5EF4-FFF2-40B4-BE49-F238E27FC236}">
                <a16:creationId xmlns:a16="http://schemas.microsoft.com/office/drawing/2014/main" id="{17695F8B-43E3-2CC6-80FB-93C54C4D7429}"/>
              </a:ext>
            </a:extLst>
          </p:cNvPr>
          <p:cNvPicPr>
            <a:picLocks noChangeAspect="1"/>
          </p:cNvPicPr>
          <p:nvPr/>
        </p:nvPicPr>
        <p:blipFill>
          <a:blip r:embed="rId3"/>
          <a:stretch>
            <a:fillRect/>
          </a:stretch>
        </p:blipFill>
        <p:spPr>
          <a:xfrm>
            <a:off x="419100" y="2057400"/>
            <a:ext cx="8305800" cy="3841934"/>
          </a:xfrm>
          <a:prstGeom prst="rect">
            <a:avLst/>
          </a:prstGeom>
        </p:spPr>
      </p:pic>
      <p:sp>
        <p:nvSpPr>
          <p:cNvPr id="11" name="object 57">
            <a:extLst>
              <a:ext uri="{FF2B5EF4-FFF2-40B4-BE49-F238E27FC236}">
                <a16:creationId xmlns:a16="http://schemas.microsoft.com/office/drawing/2014/main" id="{5B0DD984-606E-6E93-B62C-1589291F9692}"/>
              </a:ext>
            </a:extLst>
          </p:cNvPr>
          <p:cNvSpPr txBox="1"/>
          <p:nvPr/>
        </p:nvSpPr>
        <p:spPr>
          <a:xfrm>
            <a:off x="181660" y="6034448"/>
            <a:ext cx="8780679" cy="518752"/>
          </a:xfrm>
          <a:prstGeom prst="rect">
            <a:avLst/>
          </a:prstGeom>
        </p:spPr>
        <p:txBody>
          <a:bodyPr vert="horz" wrap="square" lIns="0" tIns="12085" rIns="0" bIns="0" rtlCol="0">
            <a:spAutoFit/>
          </a:bodyPr>
          <a:lstStyle/>
          <a:p>
            <a:pPr marL="20141" marR="8056">
              <a:lnSpc>
                <a:spcPct val="105200"/>
              </a:lnSpc>
              <a:spcBef>
                <a:spcPts val="95"/>
              </a:spcBef>
            </a:pPr>
            <a:r>
              <a:rPr lang="en-US" sz="1600" b="1" i="1" dirty="0">
                <a:solidFill>
                  <a:srgbClr val="C00000"/>
                </a:solidFill>
                <a:latin typeface="Calibri"/>
                <a:cs typeface="Calibri"/>
              </a:rPr>
              <a:t>CAVEAT ON RESULTS: all input data regarding current intervention utilization (coverage) and costs come from literature and assumptions – </a:t>
            </a:r>
            <a:r>
              <a:rPr lang="en-US" sz="1600" b="1" i="1" u="sng" dirty="0">
                <a:solidFill>
                  <a:srgbClr val="C00000"/>
                </a:solidFill>
                <a:latin typeface="Calibri"/>
                <a:cs typeface="Calibri"/>
              </a:rPr>
              <a:t>these can be quickly replaced with local data in the final analysis</a:t>
            </a:r>
            <a:endParaRPr sz="1600" i="1" u="sng" dirty="0">
              <a:solidFill>
                <a:srgbClr val="C00000"/>
              </a:solidFill>
              <a:latin typeface="Calibri"/>
              <a:cs typeface="Calibri"/>
            </a:endParaRPr>
          </a:p>
        </p:txBody>
      </p:sp>
    </p:spTree>
    <p:extLst>
      <p:ext uri="{BB962C8B-B14F-4D97-AF65-F5344CB8AC3E}">
        <p14:creationId xmlns:p14="http://schemas.microsoft.com/office/powerpoint/2010/main" val="3620717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2704" y="154504"/>
            <a:ext cx="9038591" cy="1129350"/>
          </a:xfrm>
          <a:prstGeom prst="rect">
            <a:avLst/>
          </a:prstGeom>
        </p:spPr>
        <p:txBody>
          <a:bodyPr vert="horz" wrap="square" lIns="0" tIns="21148" rIns="0" bIns="0" rtlCol="0" anchor="ctr">
            <a:spAutoFit/>
          </a:bodyPr>
          <a:lstStyle/>
          <a:p>
            <a:pPr marL="20141" algn="ctr">
              <a:spcBef>
                <a:spcPts val="167"/>
              </a:spcBef>
            </a:pPr>
            <a:r>
              <a:rPr lang="en-US" sz="3600" b="1" spc="-16" dirty="0"/>
              <a:t>Analysis 1: mortality impact and cost of achieving a 70-70-70 target for CVD prevention</a:t>
            </a:r>
            <a:endParaRPr sz="3600" b="1" spc="-16" dirty="0"/>
          </a:p>
        </p:txBody>
      </p:sp>
      <p:sp>
        <p:nvSpPr>
          <p:cNvPr id="17" name="object 17"/>
          <p:cNvSpPr/>
          <p:nvPr/>
        </p:nvSpPr>
        <p:spPr>
          <a:xfrm>
            <a:off x="1267516" y="2566835"/>
            <a:ext cx="6995966" cy="0"/>
          </a:xfrm>
          <a:custGeom>
            <a:avLst/>
            <a:gdLst/>
            <a:ahLst/>
            <a:cxnLst/>
            <a:rect l="l" t="t" r="r" b="b"/>
            <a:pathLst>
              <a:path w="4411345">
                <a:moveTo>
                  <a:pt x="0" y="0"/>
                </a:moveTo>
                <a:lnTo>
                  <a:pt x="4411112" y="0"/>
                </a:lnTo>
              </a:path>
            </a:pathLst>
          </a:custGeom>
          <a:ln w="7477">
            <a:solidFill>
              <a:srgbClr val="EBEBEB"/>
            </a:solidFill>
          </a:ln>
        </p:spPr>
        <p:txBody>
          <a:bodyPr wrap="square" lIns="0" tIns="0" rIns="0" bIns="0" rtlCol="0"/>
          <a:lstStyle/>
          <a:p>
            <a:endParaRPr sz="2855"/>
          </a:p>
        </p:txBody>
      </p:sp>
      <p:sp>
        <p:nvSpPr>
          <p:cNvPr id="38" name="object 38"/>
          <p:cNvSpPr txBox="1"/>
          <p:nvPr/>
        </p:nvSpPr>
        <p:spPr>
          <a:xfrm>
            <a:off x="228600" y="5638800"/>
            <a:ext cx="8610600" cy="762171"/>
          </a:xfrm>
          <a:prstGeom prst="rect">
            <a:avLst/>
          </a:prstGeom>
        </p:spPr>
        <p:txBody>
          <a:bodyPr vert="horz" wrap="square" lIns="0" tIns="17120" rIns="0" bIns="0" rtlCol="0">
            <a:spAutoFit/>
          </a:bodyPr>
          <a:lstStyle/>
          <a:p>
            <a:pPr marL="20141" marR="8056" algn="just">
              <a:lnSpc>
                <a:spcPct val="102400"/>
              </a:lnSpc>
              <a:spcBef>
                <a:spcPts val="135"/>
              </a:spcBef>
            </a:pPr>
            <a:r>
              <a:rPr lang="en-US" sz="1600" b="1" i="1" dirty="0">
                <a:solidFill>
                  <a:srgbClr val="5B6B7A"/>
                </a:solidFill>
                <a:latin typeface="Calibri" panose="020F0502020204030204" pitchFamily="34" charset="0"/>
                <a:cs typeface="Calibri" panose="020F0502020204030204" pitchFamily="34" charset="0"/>
              </a:rPr>
              <a:t>Source: </a:t>
            </a:r>
            <a:r>
              <a:rPr lang="en-US" sz="1600" i="1" dirty="0">
                <a:solidFill>
                  <a:srgbClr val="5B6B7A"/>
                </a:solidFill>
                <a:latin typeface="Calibri" panose="020F0502020204030204" pitchFamily="34" charset="0"/>
                <a:cs typeface="Calibri" panose="020F0502020204030204" pitchFamily="34" charset="0"/>
              </a:rPr>
              <a:t>NCD Risk factors Collaborators 2024.</a:t>
            </a:r>
            <a:r>
              <a:rPr lang="en-US" sz="1600" b="1" i="1" dirty="0">
                <a:solidFill>
                  <a:srgbClr val="5B6B7A"/>
                </a:solidFill>
                <a:latin typeface="Calibri" panose="020F0502020204030204" pitchFamily="34" charset="0"/>
                <a:cs typeface="Calibri" panose="020F0502020204030204" pitchFamily="34" charset="0"/>
              </a:rPr>
              <a:t> Method: </a:t>
            </a:r>
            <a:r>
              <a:rPr lang="en-US" sz="1600" i="1" dirty="0">
                <a:solidFill>
                  <a:srgbClr val="5B6B7A"/>
                </a:solidFill>
                <a:latin typeface="Calibri" panose="020F0502020204030204" pitchFamily="34" charset="0"/>
                <a:cs typeface="Calibri" panose="020F0502020204030204" pitchFamily="34" charset="0"/>
              </a:rPr>
              <a:t>baseline (2025) shows only measured treated/controlled — diagnosis is not modeled</a:t>
            </a:r>
            <a:r>
              <a:rPr sz="1600" i="1" spc="-8"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at</a:t>
            </a:r>
            <a:r>
              <a:rPr sz="1600" i="1" spc="-8"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baseline,</a:t>
            </a:r>
            <a:r>
              <a:rPr sz="1600" i="1" spc="-8"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so</a:t>
            </a:r>
            <a:r>
              <a:rPr sz="1600" i="1" spc="-8"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no</a:t>
            </a:r>
            <a:r>
              <a:rPr sz="1600" i="1" spc="-8"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diagnosed</a:t>
            </a:r>
            <a:r>
              <a:rPr sz="1600" i="1" spc="-8"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bar.</a:t>
            </a:r>
            <a:r>
              <a:rPr sz="1600" i="1" spc="79" dirty="0">
                <a:solidFill>
                  <a:srgbClr val="5B6B7A"/>
                </a:solidFill>
                <a:latin typeface="Calibri" panose="020F0502020204030204" pitchFamily="34" charset="0"/>
                <a:cs typeface="Calibri" panose="020F0502020204030204" pitchFamily="34" charset="0"/>
              </a:rPr>
              <a:t> </a:t>
            </a:r>
            <a:r>
              <a:rPr sz="1600" i="1" spc="-16" dirty="0">
                <a:solidFill>
                  <a:srgbClr val="5B6B7A"/>
                </a:solidFill>
                <a:latin typeface="Calibri" panose="020F0502020204030204" pitchFamily="34" charset="0"/>
                <a:cs typeface="Calibri" panose="020F0502020204030204" pitchFamily="34" charset="0"/>
              </a:rPr>
              <a:t>Type-</a:t>
            </a:r>
            <a:r>
              <a:rPr sz="1600" i="1" dirty="0">
                <a:solidFill>
                  <a:srgbClr val="5B6B7A"/>
                </a:solidFill>
                <a:latin typeface="Calibri" panose="020F0502020204030204" pitchFamily="34" charset="0"/>
                <a:cs typeface="Calibri" panose="020F0502020204030204" pitchFamily="34" charset="0"/>
              </a:rPr>
              <a:t>2</a:t>
            </a:r>
            <a:r>
              <a:rPr sz="1600" i="1" spc="-8" dirty="0">
                <a:solidFill>
                  <a:srgbClr val="5B6B7A"/>
                </a:solidFill>
                <a:latin typeface="Calibri" panose="020F0502020204030204" pitchFamily="34" charset="0"/>
                <a:cs typeface="Calibri" panose="020F0502020204030204" pitchFamily="34" charset="0"/>
              </a:rPr>
              <a:t> </a:t>
            </a:r>
            <a:r>
              <a:rPr sz="1600" i="1" spc="-16" dirty="0">
                <a:solidFill>
                  <a:srgbClr val="5B6B7A"/>
                </a:solidFill>
                <a:latin typeface="Calibri" panose="020F0502020204030204" pitchFamily="34" charset="0"/>
                <a:cs typeface="Calibri" panose="020F0502020204030204" pitchFamily="34" charset="0"/>
              </a:rPr>
              <a:t>diabetes</a:t>
            </a:r>
            <a:r>
              <a:rPr sz="1600" i="1" spc="793"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follows the same targets</a:t>
            </a:r>
            <a:r>
              <a:rPr sz="1600" i="1" spc="8"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(baseline treated</a:t>
            </a:r>
            <a:r>
              <a:rPr sz="1600" i="1" spc="-8" dirty="0">
                <a:solidFill>
                  <a:srgbClr val="5B6B7A"/>
                </a:solidFill>
                <a:latin typeface="Calibri" panose="020F0502020204030204" pitchFamily="34" charset="0"/>
                <a:cs typeface="Calibri" panose="020F0502020204030204" pitchFamily="34" charset="0"/>
              </a:rPr>
              <a:t> </a:t>
            </a:r>
            <a:r>
              <a:rPr sz="1600" spc="309" dirty="0">
                <a:solidFill>
                  <a:srgbClr val="5B6B7A"/>
                </a:solidFill>
                <a:latin typeface="Calibri" panose="020F0502020204030204" pitchFamily="34" charset="0"/>
                <a:cs typeface="Calibri" panose="020F0502020204030204" pitchFamily="34" charset="0"/>
              </a:rPr>
              <a:t>≈</a:t>
            </a:r>
            <a:r>
              <a:rPr sz="1600"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22.0%, </a:t>
            </a:r>
            <a:r>
              <a:rPr sz="1600" i="1" spc="-16" dirty="0">
                <a:solidFill>
                  <a:srgbClr val="5B6B7A"/>
                </a:solidFill>
                <a:latin typeface="Calibri" panose="020F0502020204030204" pitchFamily="34" charset="0"/>
                <a:cs typeface="Calibri" panose="020F0502020204030204" pitchFamily="34" charset="0"/>
              </a:rPr>
              <a:t>controlled</a:t>
            </a:r>
            <a:r>
              <a:rPr sz="1600" i="1" dirty="0">
                <a:solidFill>
                  <a:srgbClr val="5B6B7A"/>
                </a:solidFill>
                <a:latin typeface="Calibri" panose="020F0502020204030204" pitchFamily="34" charset="0"/>
                <a:cs typeface="Calibri" panose="020F0502020204030204" pitchFamily="34" charset="0"/>
              </a:rPr>
              <a:t> </a:t>
            </a:r>
            <a:r>
              <a:rPr sz="1600" spc="309" dirty="0">
                <a:solidFill>
                  <a:srgbClr val="5B6B7A"/>
                </a:solidFill>
                <a:latin typeface="Calibri" panose="020F0502020204030204" pitchFamily="34" charset="0"/>
                <a:cs typeface="Calibri" panose="020F0502020204030204" pitchFamily="34" charset="0"/>
              </a:rPr>
              <a:t>≈</a:t>
            </a:r>
            <a:r>
              <a:rPr sz="1600" dirty="0">
                <a:solidFill>
                  <a:srgbClr val="5B6B7A"/>
                </a:solidFill>
                <a:latin typeface="Calibri" panose="020F0502020204030204" pitchFamily="34" charset="0"/>
                <a:cs typeface="Calibri" panose="020F0502020204030204" pitchFamily="34" charset="0"/>
              </a:rPr>
              <a:t> </a:t>
            </a:r>
            <a:r>
              <a:rPr sz="1600" i="1" spc="-16" dirty="0">
                <a:solidFill>
                  <a:srgbClr val="5B6B7A"/>
                </a:solidFill>
                <a:latin typeface="Calibri" panose="020F0502020204030204" pitchFamily="34" charset="0"/>
                <a:cs typeface="Calibri" panose="020F0502020204030204" pitchFamily="34" charset="0"/>
              </a:rPr>
              <a:t>7.5%).</a:t>
            </a:r>
            <a:endParaRPr sz="1600" dirty="0">
              <a:latin typeface="Calibri" panose="020F0502020204030204" pitchFamily="34" charset="0"/>
              <a:cs typeface="Calibri" panose="020F0502020204030204" pitchFamily="34" charset="0"/>
            </a:endParaRPr>
          </a:p>
        </p:txBody>
      </p:sp>
      <p:pic>
        <p:nvPicPr>
          <p:cNvPr id="43" name="Picture 42">
            <a:extLst>
              <a:ext uri="{FF2B5EF4-FFF2-40B4-BE49-F238E27FC236}">
                <a16:creationId xmlns:a16="http://schemas.microsoft.com/office/drawing/2014/main" id="{ADB8FF0A-1E67-55F5-DAAA-613F25CEF013}"/>
              </a:ext>
            </a:extLst>
          </p:cNvPr>
          <p:cNvPicPr>
            <a:picLocks noChangeAspect="1"/>
          </p:cNvPicPr>
          <p:nvPr/>
        </p:nvPicPr>
        <p:blipFill>
          <a:blip r:embed="rId2"/>
          <a:stretch>
            <a:fillRect/>
          </a:stretch>
        </p:blipFill>
        <p:spPr>
          <a:xfrm>
            <a:off x="7219" y="1711514"/>
            <a:ext cx="9144000" cy="3696832"/>
          </a:xfrm>
          <a:prstGeom prst="rect">
            <a:avLst/>
          </a:prstGeom>
        </p:spPr>
      </p:pic>
    </p:spTree>
    <p:extLst>
      <p:ext uri="{BB962C8B-B14F-4D97-AF65-F5344CB8AC3E}">
        <p14:creationId xmlns:p14="http://schemas.microsoft.com/office/powerpoint/2010/main" val="3431510909"/>
      </p:ext>
    </p:extLst>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2704" y="152400"/>
            <a:ext cx="9038591" cy="1129350"/>
          </a:xfrm>
          <a:prstGeom prst="rect">
            <a:avLst/>
          </a:prstGeom>
        </p:spPr>
        <p:txBody>
          <a:bodyPr vert="horz" wrap="square" lIns="0" tIns="21148" rIns="0" bIns="0" rtlCol="0" anchor="ctr">
            <a:spAutoFit/>
          </a:bodyPr>
          <a:lstStyle/>
          <a:p>
            <a:pPr marL="20141" algn="ctr">
              <a:spcBef>
                <a:spcPts val="167"/>
              </a:spcBef>
            </a:pPr>
            <a:r>
              <a:rPr lang="en-US" sz="3600" b="1" spc="-16" dirty="0"/>
              <a:t>Improved CVD </a:t>
            </a:r>
            <a:r>
              <a:rPr sz="3600" b="1" spc="-16" dirty="0"/>
              <a:t>prevention lowers premature </a:t>
            </a:r>
            <a:r>
              <a:rPr lang="en-US" sz="3600" b="1" spc="-16" dirty="0"/>
              <a:t>mortality</a:t>
            </a:r>
            <a:r>
              <a:rPr sz="3600" b="1" spc="-16" dirty="0"/>
              <a:t> at a rising but bounded cost</a:t>
            </a:r>
          </a:p>
        </p:txBody>
      </p:sp>
      <p:sp>
        <p:nvSpPr>
          <p:cNvPr id="57" name="object 57"/>
          <p:cNvSpPr txBox="1"/>
          <p:nvPr/>
        </p:nvSpPr>
        <p:spPr>
          <a:xfrm>
            <a:off x="228599" y="5486400"/>
            <a:ext cx="8686800" cy="1035881"/>
          </a:xfrm>
          <a:prstGeom prst="rect">
            <a:avLst/>
          </a:prstGeom>
        </p:spPr>
        <p:txBody>
          <a:bodyPr vert="horz" wrap="square" lIns="0" tIns="12085" rIns="0" bIns="0" rtlCol="0">
            <a:spAutoFit/>
          </a:bodyPr>
          <a:lstStyle/>
          <a:p>
            <a:pPr marL="20141" marR="8056">
              <a:lnSpc>
                <a:spcPct val="105200"/>
              </a:lnSpc>
              <a:spcBef>
                <a:spcPts val="95"/>
              </a:spcBef>
            </a:pPr>
            <a:r>
              <a:rPr sz="1600" b="1" i="1" dirty="0">
                <a:solidFill>
                  <a:srgbClr val="5B6B7A"/>
                </a:solidFill>
                <a:latin typeface="Calibri"/>
                <a:cs typeface="Calibri"/>
              </a:rPr>
              <a:t>Source</a:t>
            </a:r>
            <a:r>
              <a:rPr lang="en-US" sz="1600" b="1" i="1" dirty="0">
                <a:solidFill>
                  <a:srgbClr val="5B6B7A"/>
                </a:solidFill>
                <a:latin typeface="Calibri"/>
                <a:cs typeface="Calibri"/>
              </a:rPr>
              <a:t>s</a:t>
            </a:r>
            <a:r>
              <a:rPr sz="1600" b="1" i="1" dirty="0">
                <a:solidFill>
                  <a:srgbClr val="5B6B7A"/>
                </a:solidFill>
                <a:latin typeface="Calibri"/>
                <a:cs typeface="Calibri"/>
              </a:rPr>
              <a:t>:</a:t>
            </a:r>
            <a:r>
              <a:rPr sz="1600" b="1" i="1" spc="119" dirty="0">
                <a:solidFill>
                  <a:srgbClr val="5B6B7A"/>
                </a:solidFill>
                <a:latin typeface="Calibri"/>
                <a:cs typeface="Calibri"/>
              </a:rPr>
              <a:t> </a:t>
            </a:r>
            <a:r>
              <a:rPr lang="en-US" sz="1600" i="1" dirty="0">
                <a:solidFill>
                  <a:srgbClr val="5B6B7A"/>
                </a:solidFill>
                <a:latin typeface="Calibri"/>
                <a:cs typeface="Calibri"/>
              </a:rPr>
              <a:t>See previous slides for details of epidemiological and demographic inputs. Intervention unit costs come from Watkins et al., Lancet Global Health 2020. </a:t>
            </a:r>
            <a:r>
              <a:rPr lang="en-US" sz="1600" b="1" i="1" dirty="0">
                <a:solidFill>
                  <a:srgbClr val="5B6B7A"/>
                </a:solidFill>
                <a:latin typeface="Calibri"/>
                <a:cs typeface="Calibri"/>
              </a:rPr>
              <a:t>Note: </a:t>
            </a:r>
            <a:r>
              <a:rPr lang="en-US" sz="1600" i="1" dirty="0">
                <a:solidFill>
                  <a:srgbClr val="5B6B7A"/>
                </a:solidFill>
                <a:latin typeface="Calibri"/>
                <a:cs typeface="Calibri"/>
              </a:rPr>
              <a:t>The metric “</a:t>
            </a:r>
            <a:r>
              <a:rPr sz="1600" i="1" spc="-16" dirty="0">
                <a:solidFill>
                  <a:srgbClr val="5B6B7A"/>
                </a:solidFill>
                <a:latin typeface="Calibri"/>
                <a:cs typeface="Calibri"/>
              </a:rPr>
              <a:t>probability</a:t>
            </a:r>
            <a:r>
              <a:rPr sz="1600" i="1" spc="16" dirty="0">
                <a:solidFill>
                  <a:srgbClr val="5B6B7A"/>
                </a:solidFill>
                <a:latin typeface="Calibri"/>
                <a:cs typeface="Calibri"/>
              </a:rPr>
              <a:t> </a:t>
            </a:r>
            <a:r>
              <a:rPr lang="en-US" sz="1600" i="1" spc="16" dirty="0">
                <a:solidFill>
                  <a:srgbClr val="5B6B7A"/>
                </a:solidFill>
                <a:latin typeface="Calibri"/>
                <a:cs typeface="Calibri"/>
              </a:rPr>
              <a:t>of death from CVD before age 70” is calculated from life tables and is aggregated </a:t>
            </a:r>
            <a:r>
              <a:rPr sz="1600" i="1" dirty="0">
                <a:solidFill>
                  <a:srgbClr val="5B6B7A"/>
                </a:solidFill>
                <a:latin typeface="Calibri"/>
                <a:cs typeface="Calibri"/>
              </a:rPr>
              <a:t>over</a:t>
            </a:r>
            <a:r>
              <a:rPr sz="1600" i="1" spc="16" dirty="0">
                <a:solidFill>
                  <a:srgbClr val="5B6B7A"/>
                </a:solidFill>
                <a:latin typeface="Calibri"/>
                <a:cs typeface="Calibri"/>
              </a:rPr>
              <a:t> </a:t>
            </a:r>
            <a:r>
              <a:rPr sz="1600" i="1" dirty="0">
                <a:solidFill>
                  <a:srgbClr val="5B6B7A"/>
                </a:solidFill>
                <a:latin typeface="Calibri"/>
                <a:cs typeface="Calibri"/>
              </a:rPr>
              <a:t>the</a:t>
            </a:r>
            <a:r>
              <a:rPr sz="1600" i="1" spc="24" dirty="0">
                <a:solidFill>
                  <a:srgbClr val="5B6B7A"/>
                </a:solidFill>
                <a:latin typeface="Calibri"/>
                <a:cs typeface="Calibri"/>
              </a:rPr>
              <a:t> </a:t>
            </a:r>
            <a:r>
              <a:rPr sz="1600" i="1" dirty="0">
                <a:solidFill>
                  <a:srgbClr val="5B6B7A"/>
                </a:solidFill>
                <a:latin typeface="Calibri"/>
                <a:cs typeface="Calibri"/>
              </a:rPr>
              <a:t>CVD</a:t>
            </a:r>
            <a:r>
              <a:rPr sz="1600" i="1" spc="16" dirty="0">
                <a:solidFill>
                  <a:srgbClr val="5B6B7A"/>
                </a:solidFill>
                <a:latin typeface="Calibri"/>
                <a:cs typeface="Calibri"/>
              </a:rPr>
              <a:t> </a:t>
            </a:r>
            <a:r>
              <a:rPr sz="1600" i="1" dirty="0">
                <a:solidFill>
                  <a:srgbClr val="5B6B7A"/>
                </a:solidFill>
                <a:latin typeface="Calibri"/>
                <a:cs typeface="Calibri"/>
              </a:rPr>
              <a:t>causes</a:t>
            </a:r>
            <a:r>
              <a:rPr lang="en-US" sz="1600" i="1" dirty="0">
                <a:solidFill>
                  <a:srgbClr val="5B6B7A"/>
                </a:solidFill>
                <a:latin typeface="Calibri"/>
                <a:cs typeface="Calibri"/>
              </a:rPr>
              <a:t> modeled here. As before, costs are provisional and need to be validated with BPJS before policy use.</a:t>
            </a:r>
            <a:endParaRPr sz="1600" dirty="0">
              <a:latin typeface="Calibri"/>
              <a:cs typeface="Calibri"/>
            </a:endParaRPr>
          </a:p>
        </p:txBody>
      </p:sp>
      <p:pic>
        <p:nvPicPr>
          <p:cNvPr id="4" name="Picture 3">
            <a:extLst>
              <a:ext uri="{FF2B5EF4-FFF2-40B4-BE49-F238E27FC236}">
                <a16:creationId xmlns:a16="http://schemas.microsoft.com/office/drawing/2014/main" id="{FE8B0067-85F0-34D7-BC94-2C841C48D10D}"/>
              </a:ext>
            </a:extLst>
          </p:cNvPr>
          <p:cNvPicPr>
            <a:picLocks noChangeAspect="1"/>
          </p:cNvPicPr>
          <p:nvPr/>
        </p:nvPicPr>
        <p:blipFill>
          <a:blip r:embed="rId2"/>
          <a:stretch>
            <a:fillRect/>
          </a:stretch>
        </p:blipFill>
        <p:spPr>
          <a:xfrm>
            <a:off x="0" y="1747108"/>
            <a:ext cx="9144000" cy="3363784"/>
          </a:xfrm>
          <a:prstGeom prst="rect">
            <a:avLst/>
          </a:prstGeom>
        </p:spPr>
      </p:pic>
    </p:spTree>
    <p:extLst>
      <p:ext uri="{BB962C8B-B14F-4D97-AF65-F5344CB8AC3E}">
        <p14:creationId xmlns:p14="http://schemas.microsoft.com/office/powerpoint/2010/main" val="806804552"/>
      </p:ext>
    </p:extLst>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2704" y="152400"/>
            <a:ext cx="9038591" cy="1129350"/>
          </a:xfrm>
          <a:prstGeom prst="rect">
            <a:avLst/>
          </a:prstGeom>
        </p:spPr>
        <p:txBody>
          <a:bodyPr vert="horz" wrap="square" lIns="0" tIns="21148" rIns="0" bIns="0" rtlCol="0" anchor="ctr">
            <a:spAutoFit/>
          </a:bodyPr>
          <a:lstStyle/>
          <a:p>
            <a:pPr marL="20141" algn="ctr">
              <a:spcBef>
                <a:spcPts val="167"/>
              </a:spcBef>
            </a:pPr>
            <a:r>
              <a:rPr lang="en-US" sz="3600" b="1" spc="-16" dirty="0"/>
              <a:t>The 70-70-70 target would result in </a:t>
            </a:r>
            <a:r>
              <a:rPr sz="3600" b="1" spc="-16" dirty="0"/>
              <a:t>about 1.6 million </a:t>
            </a:r>
            <a:r>
              <a:rPr lang="en-US" sz="3600" b="1" spc="-16" dirty="0"/>
              <a:t>fewer </a:t>
            </a:r>
            <a:r>
              <a:rPr sz="3600" b="1" spc="-16" dirty="0"/>
              <a:t>deaths by 2050</a:t>
            </a:r>
          </a:p>
        </p:txBody>
      </p:sp>
      <p:sp>
        <p:nvSpPr>
          <p:cNvPr id="4" name="object 4"/>
          <p:cNvSpPr txBox="1"/>
          <p:nvPr/>
        </p:nvSpPr>
        <p:spPr>
          <a:xfrm>
            <a:off x="329217" y="6019800"/>
            <a:ext cx="8498480" cy="260871"/>
          </a:xfrm>
          <a:prstGeom prst="rect">
            <a:avLst/>
          </a:prstGeom>
        </p:spPr>
        <p:txBody>
          <a:bodyPr vert="horz" wrap="square" lIns="0" tIns="18127" rIns="0" bIns="0" rtlCol="0">
            <a:spAutoFit/>
          </a:bodyPr>
          <a:lstStyle/>
          <a:p>
            <a:pPr marL="20141" marR="8056">
              <a:lnSpc>
                <a:spcPct val="101699"/>
              </a:lnSpc>
              <a:spcBef>
                <a:spcPts val="143"/>
              </a:spcBef>
            </a:pPr>
            <a:r>
              <a:rPr lang="en-US" sz="1600" b="1" i="1" dirty="0">
                <a:solidFill>
                  <a:srgbClr val="5B6B7A"/>
                </a:solidFill>
                <a:cs typeface="Calibri"/>
              </a:rPr>
              <a:t>See previous slides for methods, data sources, and caveats</a:t>
            </a:r>
            <a:endParaRPr sz="1600" dirty="0">
              <a:cs typeface="Calibri"/>
            </a:endParaRPr>
          </a:p>
        </p:txBody>
      </p:sp>
      <p:graphicFrame>
        <p:nvGraphicFramePr>
          <p:cNvPr id="6" name="Table 5">
            <a:extLst>
              <a:ext uri="{FF2B5EF4-FFF2-40B4-BE49-F238E27FC236}">
                <a16:creationId xmlns:a16="http://schemas.microsoft.com/office/drawing/2014/main" id="{0DB3C8C5-B68C-37A2-89CC-434C13C36273}"/>
              </a:ext>
            </a:extLst>
          </p:cNvPr>
          <p:cNvGraphicFramePr>
            <a:graphicFrameLocks noGrp="1"/>
          </p:cNvGraphicFramePr>
          <p:nvPr>
            <p:extLst>
              <p:ext uri="{D42A27DB-BD31-4B8C-83A1-F6EECF244321}">
                <p14:modId xmlns:p14="http://schemas.microsoft.com/office/powerpoint/2010/main" val="3547417938"/>
              </p:ext>
            </p:extLst>
          </p:nvPr>
        </p:nvGraphicFramePr>
        <p:xfrm>
          <a:off x="457200" y="1600200"/>
          <a:ext cx="8077200" cy="4267197"/>
        </p:xfrm>
        <a:graphic>
          <a:graphicData uri="http://schemas.openxmlformats.org/drawingml/2006/table">
            <a:tbl>
              <a:tblPr/>
              <a:tblGrid>
                <a:gridCol w="4979928">
                  <a:extLst>
                    <a:ext uri="{9D8B030D-6E8A-4147-A177-3AD203B41FA5}">
                      <a16:colId xmlns:a16="http://schemas.microsoft.com/office/drawing/2014/main" val="2977982264"/>
                    </a:ext>
                  </a:extLst>
                </a:gridCol>
                <a:gridCol w="1032424">
                  <a:extLst>
                    <a:ext uri="{9D8B030D-6E8A-4147-A177-3AD203B41FA5}">
                      <a16:colId xmlns:a16="http://schemas.microsoft.com/office/drawing/2014/main" val="117206105"/>
                    </a:ext>
                  </a:extLst>
                </a:gridCol>
                <a:gridCol w="1032424">
                  <a:extLst>
                    <a:ext uri="{9D8B030D-6E8A-4147-A177-3AD203B41FA5}">
                      <a16:colId xmlns:a16="http://schemas.microsoft.com/office/drawing/2014/main" val="2313109991"/>
                    </a:ext>
                  </a:extLst>
                </a:gridCol>
                <a:gridCol w="1032424">
                  <a:extLst>
                    <a:ext uri="{9D8B030D-6E8A-4147-A177-3AD203B41FA5}">
                      <a16:colId xmlns:a16="http://schemas.microsoft.com/office/drawing/2014/main" val="2458829113"/>
                    </a:ext>
                  </a:extLst>
                </a:gridCol>
              </a:tblGrid>
              <a:tr h="325358">
                <a:tc>
                  <a:txBody>
                    <a:bodyPr/>
                    <a:lstStyle/>
                    <a:p>
                      <a:pPr algn="ctr" fontAlgn="ctr">
                        <a:buNone/>
                      </a:pPr>
                      <a:r>
                        <a:rPr lang="en-US" sz="1600" b="1" i="0" u="none" strike="noStrike">
                          <a:solidFill>
                            <a:srgbClr val="000000"/>
                          </a:solidFill>
                          <a:effectLst/>
                          <a:latin typeface="Calibri" panose="020F0502020204030204" pitchFamily="34" charset="0"/>
                        </a:rPr>
                        <a:t>Cumulative from 2025 through year (unless noted)</a:t>
                      </a:r>
                    </a:p>
                  </a:txBody>
                  <a:tcPr marL="7620" marR="7620" marT="7620" marB="0" anchor="ctr">
                    <a:lnL>
                      <a:noFill/>
                    </a:lnL>
                    <a:lnR>
                      <a:noFill/>
                    </a:lnR>
                    <a:lnT w="6350" cap="flat" cmpd="sng" algn="ctr">
                      <a:solidFill>
                        <a:srgbClr val="B7C7DA"/>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F1FB"/>
                    </a:solidFill>
                  </a:tcPr>
                </a:tc>
                <a:tc>
                  <a:txBody>
                    <a:bodyPr/>
                    <a:lstStyle/>
                    <a:p>
                      <a:pPr algn="ctr" fontAlgn="ctr">
                        <a:buNone/>
                      </a:pPr>
                      <a:r>
                        <a:rPr lang="en-US" sz="1600" b="1" i="0" u="none" strike="noStrike">
                          <a:solidFill>
                            <a:srgbClr val="000000"/>
                          </a:solidFill>
                          <a:effectLst/>
                          <a:latin typeface="Calibri" panose="020F0502020204030204" pitchFamily="34" charset="0"/>
                        </a:rPr>
                        <a:t>2030</a:t>
                      </a:r>
                    </a:p>
                  </a:txBody>
                  <a:tcPr marL="7620" marR="7620" marT="7620" marB="0" anchor="ctr">
                    <a:lnL>
                      <a:noFill/>
                    </a:lnL>
                    <a:lnR>
                      <a:noFill/>
                    </a:lnR>
                    <a:lnT w="6350" cap="flat" cmpd="sng" algn="ctr">
                      <a:solidFill>
                        <a:srgbClr val="B7C7DA"/>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F1FB"/>
                    </a:solidFill>
                  </a:tcPr>
                </a:tc>
                <a:tc>
                  <a:txBody>
                    <a:bodyPr/>
                    <a:lstStyle/>
                    <a:p>
                      <a:pPr algn="ctr" fontAlgn="ctr">
                        <a:buNone/>
                      </a:pPr>
                      <a:r>
                        <a:rPr lang="en-US" sz="1600" b="1" i="0" u="none" strike="noStrike">
                          <a:solidFill>
                            <a:srgbClr val="000000"/>
                          </a:solidFill>
                          <a:effectLst/>
                          <a:latin typeface="Calibri" panose="020F0502020204030204" pitchFamily="34" charset="0"/>
                        </a:rPr>
                        <a:t>2040</a:t>
                      </a:r>
                    </a:p>
                  </a:txBody>
                  <a:tcPr marL="7620" marR="7620" marT="7620" marB="0" anchor="ctr">
                    <a:lnL>
                      <a:noFill/>
                    </a:lnL>
                    <a:lnR>
                      <a:noFill/>
                    </a:lnR>
                    <a:lnT w="6350" cap="flat" cmpd="sng" algn="ctr">
                      <a:solidFill>
                        <a:srgbClr val="B7C7DA"/>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F1FB"/>
                    </a:solidFill>
                  </a:tcPr>
                </a:tc>
                <a:tc>
                  <a:txBody>
                    <a:bodyPr/>
                    <a:lstStyle/>
                    <a:p>
                      <a:pPr algn="ctr" fontAlgn="ctr">
                        <a:buNone/>
                      </a:pPr>
                      <a:r>
                        <a:rPr lang="en-US" sz="1600" b="1" i="0" u="none" strike="noStrike" dirty="0">
                          <a:solidFill>
                            <a:srgbClr val="000000"/>
                          </a:solidFill>
                          <a:effectLst/>
                          <a:latin typeface="Calibri" panose="020F0502020204030204" pitchFamily="34" charset="0"/>
                        </a:rPr>
                        <a:t>2050</a:t>
                      </a:r>
                    </a:p>
                  </a:txBody>
                  <a:tcPr marL="7620" marR="7620" marT="7620" marB="0" anchor="ctr">
                    <a:lnL>
                      <a:noFill/>
                    </a:lnL>
                    <a:lnR>
                      <a:noFill/>
                    </a:lnR>
                    <a:lnT w="6350" cap="flat" cmpd="sng" algn="ctr">
                      <a:solidFill>
                        <a:srgbClr val="B7C7DA"/>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F1FB"/>
                    </a:solidFill>
                  </a:tcPr>
                </a:tc>
                <a:extLst>
                  <a:ext uri="{0D108BD9-81ED-4DB2-BD59-A6C34878D82A}">
                    <a16:rowId xmlns:a16="http://schemas.microsoft.com/office/drawing/2014/main" val="1535991901"/>
                  </a:ext>
                </a:extLst>
              </a:tr>
              <a:tr h="650717">
                <a:tc>
                  <a:txBody>
                    <a:bodyPr/>
                    <a:lstStyle/>
                    <a:p>
                      <a:pPr algn="l" rtl="0" fontAlgn="ctr">
                        <a:buNone/>
                      </a:pPr>
                      <a:r>
                        <a:rPr lang="en-US" sz="1600" b="1" i="0" u="none" strike="noStrike">
                          <a:solidFill>
                            <a:srgbClr val="000000"/>
                          </a:solidFill>
                          <a:effectLst/>
                          <a:latin typeface="Calibri" panose="020F0502020204030204" pitchFamily="34" charset="0"/>
                        </a:rPr>
                        <a:t>Projected deaths — CVD (six causes) + type-2 diabetes (million)</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2814278"/>
                  </a:ext>
                </a:extLst>
              </a:tr>
              <a:tr h="337872">
                <a:tc>
                  <a:txBody>
                    <a:bodyPr/>
                    <a:lstStyle/>
                    <a:p>
                      <a:pPr algn="l" rtl="0" fontAlgn="ctr">
                        <a:buNone/>
                      </a:pPr>
                      <a:r>
                        <a:rPr lang="en-US" sz="1600" b="0" i="0" u="none" strike="noStrike">
                          <a:solidFill>
                            <a:srgbClr val="000000"/>
                          </a:solidFill>
                          <a:effectLst/>
                          <a:latin typeface="Calibri" panose="020F0502020204030204" pitchFamily="34" charset="0"/>
                        </a:rPr>
                        <a:t>Baseline (current course)</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6.11 </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18.40 </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33.35 </a:t>
                      </a:r>
                    </a:p>
                  </a:txBody>
                  <a:tcPr marL="7620" marR="7620" marT="7620" marB="0" anchor="ctr">
                    <a:lnL>
                      <a:noFill/>
                    </a:lnL>
                    <a:lnR>
                      <a:noFill/>
                    </a:lnR>
                    <a:lnT>
                      <a:noFill/>
                    </a:lnT>
                    <a:lnB>
                      <a:noFill/>
                    </a:lnB>
                    <a:noFill/>
                  </a:tcPr>
                </a:tc>
                <a:extLst>
                  <a:ext uri="{0D108BD9-81ED-4DB2-BD59-A6C34878D82A}">
                    <a16:rowId xmlns:a16="http://schemas.microsoft.com/office/drawing/2014/main" val="3155853664"/>
                  </a:ext>
                </a:extLst>
              </a:tr>
              <a:tr h="337872">
                <a:tc>
                  <a:txBody>
                    <a:bodyPr/>
                    <a:lstStyle/>
                    <a:p>
                      <a:pPr algn="l" rtl="0" fontAlgn="ctr">
                        <a:buNone/>
                      </a:pPr>
                      <a:r>
                        <a:rPr lang="en-US" sz="1600" b="0" i="0" u="none" strike="noStrike">
                          <a:solidFill>
                            <a:srgbClr val="000000"/>
                          </a:solidFill>
                          <a:effectLst/>
                          <a:latin typeface="Calibri" panose="020F0502020204030204" pitchFamily="34" charset="0"/>
                        </a:rPr>
                        <a:t>Intervention</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6.10 </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18.00 </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31.77 </a:t>
                      </a:r>
                    </a:p>
                  </a:txBody>
                  <a:tcPr marL="7620" marR="7620" marT="7620" marB="0" anchor="ctr">
                    <a:lnL>
                      <a:noFill/>
                    </a:lnL>
                    <a:lnR>
                      <a:noFill/>
                    </a:lnR>
                    <a:lnT>
                      <a:noFill/>
                    </a:lnT>
                    <a:lnB>
                      <a:noFill/>
                    </a:lnB>
                    <a:noFill/>
                  </a:tcPr>
                </a:tc>
                <a:extLst>
                  <a:ext uri="{0D108BD9-81ED-4DB2-BD59-A6C34878D82A}">
                    <a16:rowId xmlns:a16="http://schemas.microsoft.com/office/drawing/2014/main" val="1700960870"/>
                  </a:ext>
                </a:extLst>
              </a:tr>
              <a:tr h="325358">
                <a:tc>
                  <a:txBody>
                    <a:bodyPr/>
                    <a:lstStyle/>
                    <a:p>
                      <a:pPr algn="l" rtl="0" fontAlgn="ctr">
                        <a:buNone/>
                      </a:pPr>
                      <a:r>
                        <a:rPr lang="en-US" sz="1600" b="1" i="0" u="none" strike="noStrike" dirty="0">
                          <a:solidFill>
                            <a:srgbClr val="000000"/>
                          </a:solidFill>
                          <a:effectLst/>
                          <a:latin typeface="Calibri" panose="020F0502020204030204" pitchFamily="34" charset="0"/>
                        </a:rPr>
                        <a:t>Projected health-system cost (US$ billion, un-discounted)</a:t>
                      </a:r>
                    </a:p>
                  </a:txBody>
                  <a:tcPr marL="7620" marR="7620" marT="7620" marB="0" anchor="ctr">
                    <a:lnL>
                      <a:noFill/>
                    </a:lnL>
                    <a:lnR>
                      <a:noFill/>
                    </a:lnR>
                    <a:lnT>
                      <a:noFill/>
                    </a:lnT>
                    <a:lnB>
                      <a:noFill/>
                    </a:lnB>
                    <a:noFill/>
                  </a:tcPr>
                </a:tc>
                <a:tc>
                  <a:txBody>
                    <a:bodyPr/>
                    <a:lstStyle/>
                    <a:p>
                      <a:pPr algn="ctr" rtl="0" fontAlgn="ctr">
                        <a:buNone/>
                      </a:pPr>
                      <a:endParaRPr lang="en-US" sz="1600" b="0" i="0" u="none" strike="noStrike">
                        <a:solidFill>
                          <a:srgbClr val="000000"/>
                        </a:solidFill>
                        <a:effectLst/>
                        <a:latin typeface="Calibri" panose="020F0502020204030204" pitchFamily="34" charset="0"/>
                      </a:endParaRPr>
                    </a:p>
                  </a:txBody>
                  <a:tcPr marL="7620" marR="7620" marT="7620" marB="0" anchor="ctr">
                    <a:lnL>
                      <a:noFill/>
                    </a:lnL>
                    <a:lnR>
                      <a:noFill/>
                    </a:lnR>
                    <a:lnT>
                      <a:noFill/>
                    </a:lnT>
                    <a:lnB>
                      <a:noFill/>
                    </a:lnB>
                    <a:noFill/>
                  </a:tcPr>
                </a:tc>
                <a:tc>
                  <a:txBody>
                    <a:bodyPr/>
                    <a:lstStyle/>
                    <a:p>
                      <a:pPr algn="ctr" rtl="0" fontAlgn="ctr">
                        <a:buNone/>
                      </a:pPr>
                      <a:endParaRPr lang="en-US" sz="1600" b="0" i="0" u="none" strike="noStrike">
                        <a:solidFill>
                          <a:srgbClr val="000000"/>
                        </a:solidFill>
                        <a:effectLst/>
                        <a:latin typeface="Calibri" panose="020F0502020204030204" pitchFamily="34" charset="0"/>
                      </a:endParaRPr>
                    </a:p>
                  </a:txBody>
                  <a:tcPr marL="7620" marR="7620" marT="7620" marB="0" anchor="ctr">
                    <a:lnL>
                      <a:noFill/>
                    </a:lnL>
                    <a:lnR>
                      <a:noFill/>
                    </a:lnR>
                    <a:lnT>
                      <a:noFill/>
                    </a:lnT>
                    <a:lnB>
                      <a:noFill/>
                    </a:lnB>
                    <a:noFill/>
                  </a:tcPr>
                </a:tc>
                <a:tc>
                  <a:txBody>
                    <a:bodyPr/>
                    <a:lstStyle/>
                    <a:p>
                      <a:pPr algn="ctr" rtl="0" fontAlgn="ctr">
                        <a:buNone/>
                      </a:pPr>
                      <a:endParaRPr lang="en-US" sz="1600" b="0" i="0" u="none" strike="noStrike">
                        <a:solidFill>
                          <a:srgbClr val="000000"/>
                        </a:solidFill>
                        <a:effectLst/>
                        <a:latin typeface="Calibri" panose="020F0502020204030204" pitchFamily="34" charset="0"/>
                      </a:endParaRPr>
                    </a:p>
                  </a:txBody>
                  <a:tcPr marL="7620" marR="7620" marT="7620" marB="0" anchor="ctr">
                    <a:lnL>
                      <a:noFill/>
                    </a:lnL>
                    <a:lnR>
                      <a:noFill/>
                    </a:lnR>
                    <a:lnT>
                      <a:noFill/>
                    </a:lnT>
                    <a:lnB>
                      <a:noFill/>
                    </a:lnB>
                    <a:noFill/>
                  </a:tcPr>
                </a:tc>
                <a:extLst>
                  <a:ext uri="{0D108BD9-81ED-4DB2-BD59-A6C34878D82A}">
                    <a16:rowId xmlns:a16="http://schemas.microsoft.com/office/drawing/2014/main" val="422358756"/>
                  </a:ext>
                </a:extLst>
              </a:tr>
              <a:tr h="325358">
                <a:tc>
                  <a:txBody>
                    <a:bodyPr/>
                    <a:lstStyle/>
                    <a:p>
                      <a:pPr algn="l" rtl="0" fontAlgn="ctr">
                        <a:buNone/>
                      </a:pPr>
                      <a:r>
                        <a:rPr lang="en-US" sz="1600" b="0" i="0" u="none" strike="noStrike">
                          <a:solidFill>
                            <a:srgbClr val="000000"/>
                          </a:solidFill>
                          <a:effectLst/>
                          <a:latin typeface="Calibri" panose="020F0502020204030204" pitchFamily="34" charset="0"/>
                        </a:rPr>
                        <a:t>Baseline (current course)</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9.89 </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29.99 </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54.25 </a:t>
                      </a:r>
                    </a:p>
                  </a:txBody>
                  <a:tcPr marL="7620" marR="7620" marT="7620" marB="0" anchor="ctr">
                    <a:lnL>
                      <a:noFill/>
                    </a:lnL>
                    <a:lnR>
                      <a:noFill/>
                    </a:lnR>
                    <a:lnT>
                      <a:noFill/>
                    </a:lnT>
                    <a:lnB>
                      <a:noFill/>
                    </a:lnB>
                    <a:noFill/>
                  </a:tcPr>
                </a:tc>
                <a:extLst>
                  <a:ext uri="{0D108BD9-81ED-4DB2-BD59-A6C34878D82A}">
                    <a16:rowId xmlns:a16="http://schemas.microsoft.com/office/drawing/2014/main" val="3883047592"/>
                  </a:ext>
                </a:extLst>
              </a:tr>
              <a:tr h="325358">
                <a:tc>
                  <a:txBody>
                    <a:bodyPr/>
                    <a:lstStyle/>
                    <a:p>
                      <a:pPr algn="l" rtl="0" fontAlgn="ctr">
                        <a:buNone/>
                      </a:pPr>
                      <a:r>
                        <a:rPr lang="en-US" sz="1600" b="0" i="0" u="none" strike="noStrike">
                          <a:solidFill>
                            <a:srgbClr val="000000"/>
                          </a:solidFill>
                          <a:effectLst/>
                          <a:latin typeface="Calibri" panose="020F0502020204030204" pitchFamily="34" charset="0"/>
                        </a:rPr>
                        <a:t>Intervention</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10.03 </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51.42 </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120.71 </a:t>
                      </a:r>
                    </a:p>
                  </a:txBody>
                  <a:tcPr marL="7620" marR="7620" marT="7620" marB="0" anchor="ctr">
                    <a:lnL>
                      <a:noFill/>
                    </a:lnL>
                    <a:lnR>
                      <a:noFill/>
                    </a:lnR>
                    <a:lnT>
                      <a:noFill/>
                    </a:lnT>
                    <a:lnB>
                      <a:noFill/>
                    </a:lnB>
                    <a:noFill/>
                  </a:tcPr>
                </a:tc>
                <a:extLst>
                  <a:ext uri="{0D108BD9-81ED-4DB2-BD59-A6C34878D82A}">
                    <a16:rowId xmlns:a16="http://schemas.microsoft.com/office/drawing/2014/main" val="590215513"/>
                  </a:ext>
                </a:extLst>
              </a:tr>
              <a:tr h="325358">
                <a:tc>
                  <a:txBody>
                    <a:bodyPr/>
                    <a:lstStyle/>
                    <a:p>
                      <a:pPr algn="l" rtl="0" fontAlgn="ctr">
                        <a:buNone/>
                      </a:pPr>
                      <a:r>
                        <a:rPr lang="en-US" sz="1600" b="1" i="0" u="none" strike="noStrike">
                          <a:solidFill>
                            <a:srgbClr val="000000"/>
                          </a:solidFill>
                          <a:effectLst/>
                          <a:latin typeface="Calibri" panose="020F0502020204030204" pitchFamily="34" charset="0"/>
                        </a:rPr>
                        <a:t>Net effect of the strategy</a:t>
                      </a:r>
                    </a:p>
                  </a:txBody>
                  <a:tcPr marL="7620" marR="7620" marT="7620" marB="0" anchor="ctr">
                    <a:lnL>
                      <a:noFill/>
                    </a:lnL>
                    <a:lnR>
                      <a:noFill/>
                    </a:lnR>
                    <a:lnT>
                      <a:noFill/>
                    </a:lnT>
                    <a:lnB>
                      <a:noFill/>
                    </a:lnB>
                    <a:noFill/>
                  </a:tcPr>
                </a:tc>
                <a:tc>
                  <a:txBody>
                    <a:bodyPr/>
                    <a:lstStyle/>
                    <a:p>
                      <a:pPr algn="ctr" rtl="0" fontAlgn="ctr">
                        <a:buNone/>
                      </a:pPr>
                      <a:endParaRPr lang="en-US" sz="1600" b="0" i="0" u="none" strike="noStrike">
                        <a:solidFill>
                          <a:srgbClr val="000000"/>
                        </a:solidFill>
                        <a:effectLst/>
                        <a:latin typeface="Calibri" panose="020F0502020204030204" pitchFamily="34" charset="0"/>
                      </a:endParaRPr>
                    </a:p>
                  </a:txBody>
                  <a:tcPr marL="7620" marR="7620" marT="7620" marB="0" anchor="ctr">
                    <a:lnL>
                      <a:noFill/>
                    </a:lnL>
                    <a:lnR>
                      <a:noFill/>
                    </a:lnR>
                    <a:lnT>
                      <a:noFill/>
                    </a:lnT>
                    <a:lnB>
                      <a:noFill/>
                    </a:lnB>
                    <a:noFill/>
                  </a:tcPr>
                </a:tc>
                <a:tc>
                  <a:txBody>
                    <a:bodyPr/>
                    <a:lstStyle/>
                    <a:p>
                      <a:pPr algn="ctr" rtl="0" fontAlgn="ctr">
                        <a:buNone/>
                      </a:pPr>
                      <a:endParaRPr lang="en-US" sz="1600" b="0" i="0" u="none" strike="noStrike">
                        <a:solidFill>
                          <a:srgbClr val="000000"/>
                        </a:solidFill>
                        <a:effectLst/>
                        <a:latin typeface="Calibri" panose="020F0502020204030204" pitchFamily="34" charset="0"/>
                      </a:endParaRPr>
                    </a:p>
                  </a:txBody>
                  <a:tcPr marL="7620" marR="7620" marT="7620" marB="0" anchor="ctr">
                    <a:lnL>
                      <a:noFill/>
                    </a:lnL>
                    <a:lnR>
                      <a:noFill/>
                    </a:lnR>
                    <a:lnT>
                      <a:noFill/>
                    </a:lnT>
                    <a:lnB>
                      <a:noFill/>
                    </a:lnB>
                    <a:noFill/>
                  </a:tcPr>
                </a:tc>
                <a:tc>
                  <a:txBody>
                    <a:bodyPr/>
                    <a:lstStyle/>
                    <a:p>
                      <a:pPr algn="ctr" rtl="0" fontAlgn="ctr">
                        <a:buNone/>
                      </a:pPr>
                      <a:endParaRPr lang="en-US" sz="1600" b="0" i="0" u="none" strike="noStrike">
                        <a:solidFill>
                          <a:srgbClr val="000000"/>
                        </a:solidFill>
                        <a:effectLst/>
                        <a:latin typeface="Calibri" panose="020F0502020204030204" pitchFamily="34" charset="0"/>
                      </a:endParaRPr>
                    </a:p>
                  </a:txBody>
                  <a:tcPr marL="7620" marR="7620" marT="7620" marB="0" anchor="ctr">
                    <a:lnL>
                      <a:noFill/>
                    </a:lnL>
                    <a:lnR>
                      <a:noFill/>
                    </a:lnR>
                    <a:lnT>
                      <a:noFill/>
                    </a:lnT>
                    <a:lnB>
                      <a:noFill/>
                    </a:lnB>
                    <a:noFill/>
                  </a:tcPr>
                </a:tc>
                <a:extLst>
                  <a:ext uri="{0D108BD9-81ED-4DB2-BD59-A6C34878D82A}">
                    <a16:rowId xmlns:a16="http://schemas.microsoft.com/office/drawing/2014/main" val="2510720476"/>
                  </a:ext>
                </a:extLst>
              </a:tr>
              <a:tr h="325358">
                <a:tc>
                  <a:txBody>
                    <a:bodyPr/>
                    <a:lstStyle/>
                    <a:p>
                      <a:pPr algn="l" rtl="0" fontAlgn="ctr">
                        <a:buNone/>
                      </a:pPr>
                      <a:r>
                        <a:rPr lang="en-US" sz="1600" b="0" i="0" u="none" strike="noStrike" dirty="0">
                          <a:solidFill>
                            <a:srgbClr val="000000"/>
                          </a:solidFill>
                          <a:effectLst/>
                          <a:latin typeface="Calibri" panose="020F0502020204030204" pitchFamily="34" charset="0"/>
                        </a:rPr>
                        <a:t>Additional cost (US$ billion, un-discounted)</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0.14 </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21.44 </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66.46 </a:t>
                      </a:r>
                    </a:p>
                  </a:txBody>
                  <a:tcPr marL="7620" marR="7620" marT="7620" marB="0" anchor="ctr">
                    <a:lnL>
                      <a:noFill/>
                    </a:lnL>
                    <a:lnR>
                      <a:noFill/>
                    </a:lnR>
                    <a:lnT>
                      <a:noFill/>
                    </a:lnT>
                    <a:lnB>
                      <a:noFill/>
                    </a:lnB>
                    <a:noFill/>
                  </a:tcPr>
                </a:tc>
                <a:extLst>
                  <a:ext uri="{0D108BD9-81ED-4DB2-BD59-A6C34878D82A}">
                    <a16:rowId xmlns:a16="http://schemas.microsoft.com/office/drawing/2014/main" val="2092405994"/>
                  </a:ext>
                </a:extLst>
              </a:tr>
              <a:tr h="325358">
                <a:tc>
                  <a:txBody>
                    <a:bodyPr/>
                    <a:lstStyle/>
                    <a:p>
                      <a:pPr algn="l" rtl="0" fontAlgn="ctr">
                        <a:buNone/>
                      </a:pPr>
                      <a:r>
                        <a:rPr lang="en-US" sz="1600" b="0" i="0" u="none" strike="noStrike">
                          <a:solidFill>
                            <a:srgbClr val="000000"/>
                          </a:solidFill>
                          <a:effectLst/>
                          <a:latin typeface="Calibri" panose="020F0502020204030204" pitchFamily="34" charset="0"/>
                        </a:rPr>
                        <a:t>Deaths prevented (million)</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0.01 </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0.39 </a:t>
                      </a:r>
                    </a:p>
                  </a:txBody>
                  <a:tcPr marL="7620" marR="7620" marT="7620" marB="0" anchor="ctr">
                    <a:lnL>
                      <a:noFill/>
                    </a:lnL>
                    <a:lnR>
                      <a:noFill/>
                    </a:lnR>
                    <a:lnT>
                      <a:noFill/>
                    </a:lnT>
                    <a:lnB>
                      <a:noFill/>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             1.58 </a:t>
                      </a:r>
                    </a:p>
                  </a:txBody>
                  <a:tcPr marL="7620" marR="7620" marT="7620" marB="0" anchor="ctr">
                    <a:lnL>
                      <a:noFill/>
                    </a:lnL>
                    <a:lnR>
                      <a:noFill/>
                    </a:lnR>
                    <a:lnT>
                      <a:noFill/>
                    </a:lnT>
                    <a:lnB>
                      <a:noFill/>
                    </a:lnB>
                    <a:noFill/>
                  </a:tcPr>
                </a:tc>
                <a:extLst>
                  <a:ext uri="{0D108BD9-81ED-4DB2-BD59-A6C34878D82A}">
                    <a16:rowId xmlns:a16="http://schemas.microsoft.com/office/drawing/2014/main" val="1439276318"/>
                  </a:ext>
                </a:extLst>
              </a:tr>
              <a:tr h="325358">
                <a:tc>
                  <a:txBody>
                    <a:bodyPr/>
                    <a:lstStyle/>
                    <a:p>
                      <a:pPr algn="l" rtl="0" fontAlgn="ctr">
                        <a:buNone/>
                      </a:pPr>
                      <a:r>
                        <a:rPr lang="en-US" sz="1600" b="1" i="0" u="none" strike="noStrike" dirty="0">
                          <a:solidFill>
                            <a:srgbClr val="000000"/>
                          </a:solidFill>
                          <a:effectLst/>
                          <a:latin typeface="Calibri" panose="020F0502020204030204" pitchFamily="34" charset="0"/>
                        </a:rPr>
                        <a:t>Annual financing intensity (that year only, not cumulative)</a:t>
                      </a:r>
                    </a:p>
                  </a:txBody>
                  <a:tcPr marL="7620" marR="7620" marT="7620" marB="0" anchor="ctr">
                    <a:lnL>
                      <a:noFill/>
                    </a:lnL>
                    <a:lnR>
                      <a:noFill/>
                    </a:lnR>
                    <a:lnT>
                      <a:noFill/>
                    </a:lnT>
                    <a:lnB>
                      <a:noFill/>
                    </a:lnB>
                    <a:noFill/>
                  </a:tcPr>
                </a:tc>
                <a:tc>
                  <a:txBody>
                    <a:bodyPr/>
                    <a:lstStyle/>
                    <a:p>
                      <a:pPr algn="ctr" rtl="0" fontAlgn="ctr">
                        <a:buNone/>
                      </a:pPr>
                      <a:endParaRPr lang="en-US" sz="1600" b="0" i="0" u="none" strike="noStrike">
                        <a:solidFill>
                          <a:srgbClr val="000000"/>
                        </a:solidFill>
                        <a:effectLst/>
                        <a:latin typeface="Calibri" panose="020F0502020204030204" pitchFamily="34" charset="0"/>
                      </a:endParaRPr>
                    </a:p>
                  </a:txBody>
                  <a:tcPr marL="7620" marR="7620" marT="7620" marB="0" anchor="ctr">
                    <a:lnL>
                      <a:noFill/>
                    </a:lnL>
                    <a:lnR>
                      <a:noFill/>
                    </a:lnR>
                    <a:lnT>
                      <a:noFill/>
                    </a:lnT>
                    <a:lnB>
                      <a:noFill/>
                    </a:lnB>
                    <a:noFill/>
                  </a:tcPr>
                </a:tc>
                <a:tc>
                  <a:txBody>
                    <a:bodyPr/>
                    <a:lstStyle/>
                    <a:p>
                      <a:pPr algn="ctr" rtl="0" fontAlgn="ctr">
                        <a:buNone/>
                      </a:pPr>
                      <a:endParaRPr lang="en-US" sz="1600" b="0" i="0" u="none" strike="noStrike">
                        <a:solidFill>
                          <a:srgbClr val="000000"/>
                        </a:solidFill>
                        <a:effectLst/>
                        <a:latin typeface="Calibri" panose="020F0502020204030204" pitchFamily="34" charset="0"/>
                      </a:endParaRPr>
                    </a:p>
                  </a:txBody>
                  <a:tcPr marL="7620" marR="7620" marT="7620" marB="0" anchor="ctr">
                    <a:lnL>
                      <a:noFill/>
                    </a:lnL>
                    <a:lnR>
                      <a:noFill/>
                    </a:lnR>
                    <a:lnT>
                      <a:noFill/>
                    </a:lnT>
                    <a:lnB>
                      <a:noFill/>
                    </a:lnB>
                    <a:noFill/>
                  </a:tcPr>
                </a:tc>
                <a:tc>
                  <a:txBody>
                    <a:bodyPr/>
                    <a:lstStyle/>
                    <a:p>
                      <a:pPr algn="ctr" rtl="0" fontAlgn="ctr">
                        <a:buNone/>
                      </a:pPr>
                      <a:endParaRPr lang="en-US" sz="1600" b="0" i="0" u="none" strike="noStrike" dirty="0">
                        <a:solidFill>
                          <a:srgbClr val="000000"/>
                        </a:solidFill>
                        <a:effectLst/>
                        <a:latin typeface="Calibri" panose="020F0502020204030204" pitchFamily="34" charset="0"/>
                      </a:endParaRPr>
                    </a:p>
                  </a:txBody>
                  <a:tcPr marL="7620" marR="7620" marT="7620" marB="0" anchor="ctr">
                    <a:lnL>
                      <a:noFill/>
                    </a:lnL>
                    <a:lnR>
                      <a:noFill/>
                    </a:lnR>
                    <a:lnT>
                      <a:noFill/>
                    </a:lnT>
                    <a:lnB>
                      <a:noFill/>
                    </a:lnB>
                    <a:noFill/>
                  </a:tcPr>
                </a:tc>
                <a:extLst>
                  <a:ext uri="{0D108BD9-81ED-4DB2-BD59-A6C34878D82A}">
                    <a16:rowId xmlns:a16="http://schemas.microsoft.com/office/drawing/2014/main" val="3636075070"/>
                  </a:ext>
                </a:extLst>
              </a:tr>
              <a:tr h="337872">
                <a:tc>
                  <a:txBody>
                    <a:bodyPr/>
                    <a:lstStyle/>
                    <a:p>
                      <a:pPr algn="l" rtl="0" fontAlgn="ctr">
                        <a:buNone/>
                      </a:pPr>
                      <a:r>
                        <a:rPr lang="en-US" sz="1600" b="0" i="0" u="none" strike="noStrike" dirty="0">
                          <a:solidFill>
                            <a:srgbClr val="000000"/>
                          </a:solidFill>
                          <a:effectLst/>
                          <a:latin typeface="Calibri" panose="020F0502020204030204" pitchFamily="34" charset="0"/>
                        </a:rPr>
                        <a:t>Additional cost per capita in that year (US$, un-discounted)</a:t>
                      </a: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US$0.16</a:t>
                      </a: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600" b="0" i="0" u="none" strike="noStrike">
                          <a:solidFill>
                            <a:srgbClr val="000000"/>
                          </a:solidFill>
                          <a:effectLst/>
                          <a:latin typeface="Calibri" panose="020F0502020204030204" pitchFamily="34" charset="0"/>
                        </a:rPr>
                        <a:t>US$12.97</a:t>
                      </a: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600" b="0" i="0" u="none" strike="noStrike" dirty="0">
                          <a:solidFill>
                            <a:srgbClr val="000000"/>
                          </a:solidFill>
                          <a:effectLst/>
                          <a:latin typeface="Calibri" panose="020F0502020204030204" pitchFamily="34" charset="0"/>
                        </a:rPr>
                        <a:t>US$14.92</a:t>
                      </a: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1689885"/>
                  </a:ext>
                </a:extLst>
              </a:tr>
            </a:tbl>
          </a:graphicData>
        </a:graphic>
      </p:graphicFrame>
    </p:spTree>
    <p:extLst>
      <p:ext uri="{BB962C8B-B14F-4D97-AF65-F5344CB8AC3E}">
        <p14:creationId xmlns:p14="http://schemas.microsoft.com/office/powerpoint/2010/main" val="3837641039"/>
      </p:ext>
    </p:extLst>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79959" y="159212"/>
            <a:ext cx="8584081" cy="1217278"/>
          </a:xfrm>
          <a:prstGeom prst="rect">
            <a:avLst/>
          </a:prstGeom>
        </p:spPr>
        <p:txBody>
          <a:bodyPr vert="horz" wrap="square" lIns="0" tIns="19134" rIns="0" bIns="0" rtlCol="0" anchor="ctr">
            <a:spAutoFit/>
          </a:bodyPr>
          <a:lstStyle/>
          <a:p>
            <a:pPr marL="20141" marR="8056" algn="ctr">
              <a:lnSpc>
                <a:spcPct val="110700"/>
              </a:lnSpc>
              <a:spcBef>
                <a:spcPts val="167"/>
              </a:spcBef>
            </a:pPr>
            <a:r>
              <a:rPr lang="en-US" sz="3600" b="1" spc="-16" dirty="0"/>
              <a:t>Achieving 70-70-70 would require differential action at the provincial level to close gaps</a:t>
            </a:r>
            <a:endParaRPr sz="3600" b="1" spc="-16" dirty="0"/>
          </a:p>
        </p:txBody>
      </p:sp>
      <p:sp>
        <p:nvSpPr>
          <p:cNvPr id="14" name="object 12">
            <a:extLst>
              <a:ext uri="{FF2B5EF4-FFF2-40B4-BE49-F238E27FC236}">
                <a16:creationId xmlns:a16="http://schemas.microsoft.com/office/drawing/2014/main" id="{BAE6FB27-8006-9DA4-40B6-474AADB5F310}"/>
              </a:ext>
            </a:extLst>
          </p:cNvPr>
          <p:cNvSpPr txBox="1"/>
          <p:nvPr/>
        </p:nvSpPr>
        <p:spPr>
          <a:xfrm>
            <a:off x="279959" y="4953000"/>
            <a:ext cx="8584081" cy="1509901"/>
          </a:xfrm>
          <a:prstGeom prst="rect">
            <a:avLst/>
          </a:prstGeom>
        </p:spPr>
        <p:txBody>
          <a:bodyPr vert="horz" wrap="square" lIns="0" tIns="11430" rIns="0" bIns="0" rtlCol="0">
            <a:spAutoFit/>
          </a:bodyPr>
          <a:lstStyle/>
          <a:p>
            <a:pPr marL="12700" marR="31750" algn="just">
              <a:lnSpc>
                <a:spcPct val="101699"/>
              </a:lnSpc>
              <a:spcBef>
                <a:spcPts val="90"/>
              </a:spcBef>
            </a:pPr>
            <a:r>
              <a:rPr lang="en-US" sz="1600" b="1" i="1" dirty="0">
                <a:solidFill>
                  <a:srgbClr val="5B6B7A"/>
                </a:solidFill>
                <a:latin typeface="Calibri"/>
                <a:cs typeface="Calibri"/>
              </a:rPr>
              <a:t>Method and data:</a:t>
            </a:r>
            <a:r>
              <a:rPr lang="en-US" sz="1600" i="1" dirty="0">
                <a:solidFill>
                  <a:srgbClr val="5B6B7A"/>
                </a:solidFill>
                <a:latin typeface="Calibri"/>
                <a:cs typeface="Calibri"/>
              </a:rPr>
              <a:t> See previous slides for basics of modeling. The Indonesia national-level disease and demographic models are re-parameterized with provincial-level all-cause and CVD-specific mortality (from GBD and UNPD) to create unique models for each province that are re-calibrated. </a:t>
            </a:r>
            <a:r>
              <a:rPr lang="en-US" sz="1600" b="1" i="1" dirty="0">
                <a:solidFill>
                  <a:srgbClr val="5B6B7A"/>
                </a:solidFill>
                <a:latin typeface="Calibri"/>
                <a:cs typeface="Calibri"/>
              </a:rPr>
              <a:t>Note: </a:t>
            </a:r>
            <a:r>
              <a:rPr sz="1600" i="1" spc="-10" dirty="0">
                <a:solidFill>
                  <a:srgbClr val="5B6B7A"/>
                </a:solidFill>
                <a:latin typeface="Calibri"/>
                <a:cs typeface="Calibri"/>
              </a:rPr>
              <a:t>Provincial</a:t>
            </a:r>
            <a:r>
              <a:rPr lang="en-US" sz="1600" i="1" spc="-10" dirty="0">
                <a:solidFill>
                  <a:srgbClr val="5B6B7A"/>
                </a:solidFill>
                <a:latin typeface="Calibri"/>
                <a:cs typeface="Calibri"/>
              </a:rPr>
              <a:t> </a:t>
            </a:r>
            <a:r>
              <a:rPr sz="1600" i="1" dirty="0">
                <a:solidFill>
                  <a:srgbClr val="5B6B7A"/>
                </a:solidFill>
                <a:latin typeface="Calibri"/>
                <a:cs typeface="Calibri"/>
              </a:rPr>
              <a:t>CVD</a:t>
            </a:r>
            <a:r>
              <a:rPr sz="1600" i="1" spc="-5" dirty="0">
                <a:solidFill>
                  <a:srgbClr val="5B6B7A"/>
                </a:solidFill>
                <a:latin typeface="Calibri"/>
                <a:cs typeface="Calibri"/>
              </a:rPr>
              <a:t> </a:t>
            </a:r>
            <a:r>
              <a:rPr sz="1600" i="1" dirty="0">
                <a:solidFill>
                  <a:srgbClr val="5B6B7A"/>
                </a:solidFill>
                <a:latin typeface="Calibri"/>
                <a:cs typeface="Calibri"/>
              </a:rPr>
              <a:t>treatment coverage</a:t>
            </a:r>
            <a:r>
              <a:rPr sz="1600" i="1" spc="-5" dirty="0">
                <a:solidFill>
                  <a:srgbClr val="5B6B7A"/>
                </a:solidFill>
                <a:latin typeface="Calibri"/>
                <a:cs typeface="Calibri"/>
              </a:rPr>
              <a:t> </a:t>
            </a:r>
            <a:r>
              <a:rPr sz="1600" i="1" dirty="0">
                <a:solidFill>
                  <a:srgbClr val="5B6B7A"/>
                </a:solidFill>
                <a:latin typeface="Calibri"/>
                <a:cs typeface="Calibri"/>
              </a:rPr>
              <a:t>is a</a:t>
            </a:r>
            <a:r>
              <a:rPr sz="1600" i="1" spc="-5" dirty="0">
                <a:solidFill>
                  <a:srgbClr val="5B6B7A"/>
                </a:solidFill>
                <a:latin typeface="Calibri"/>
                <a:cs typeface="Calibri"/>
              </a:rPr>
              <a:t> </a:t>
            </a:r>
            <a:r>
              <a:rPr sz="1600" i="1" dirty="0">
                <a:solidFill>
                  <a:srgbClr val="5B6B7A"/>
                </a:solidFill>
                <a:latin typeface="Calibri"/>
                <a:cs typeface="Calibri"/>
              </a:rPr>
              <a:t>crude anchor</a:t>
            </a:r>
            <a:r>
              <a:rPr sz="1600" i="1" spc="-5" dirty="0">
                <a:solidFill>
                  <a:srgbClr val="5B6B7A"/>
                </a:solidFill>
                <a:latin typeface="Calibri"/>
                <a:cs typeface="Calibri"/>
              </a:rPr>
              <a:t> </a:t>
            </a:r>
            <a:r>
              <a:rPr lang="en-US" sz="1600" i="1" dirty="0">
                <a:solidFill>
                  <a:srgbClr val="5B6B7A"/>
                </a:solidFill>
                <a:cs typeface="Calibri"/>
              </a:rPr>
              <a:t>based on observed CVD mortality and the modeled coverage-effect relationship (extreme values capped); provincial diabetes coverage is scaled proportionally</a:t>
            </a:r>
            <a:r>
              <a:rPr sz="1600" i="1" spc="-10" dirty="0">
                <a:solidFill>
                  <a:srgbClr val="5B6B7A"/>
                </a:solidFill>
                <a:latin typeface="Calibri"/>
                <a:cs typeface="Calibri"/>
              </a:rPr>
              <a:t>.</a:t>
            </a:r>
            <a:r>
              <a:rPr lang="en-US" sz="1600" i="1" spc="-10" dirty="0">
                <a:solidFill>
                  <a:srgbClr val="5B6B7A"/>
                </a:solidFill>
                <a:latin typeface="Calibri"/>
                <a:cs typeface="Calibri"/>
              </a:rPr>
              <a:t> These values must be validated with BPJS before policy use.</a:t>
            </a:r>
            <a:endParaRPr sz="1600" dirty="0">
              <a:latin typeface="Calibri"/>
              <a:cs typeface="Calibri"/>
            </a:endParaRPr>
          </a:p>
        </p:txBody>
      </p:sp>
      <p:pic>
        <p:nvPicPr>
          <p:cNvPr id="12" name="Picture 11">
            <a:extLst>
              <a:ext uri="{FF2B5EF4-FFF2-40B4-BE49-F238E27FC236}">
                <a16:creationId xmlns:a16="http://schemas.microsoft.com/office/drawing/2014/main" id="{8E9157A3-6400-80F1-71A2-3A750626FDC3}"/>
              </a:ext>
            </a:extLst>
          </p:cNvPr>
          <p:cNvPicPr>
            <a:picLocks noChangeAspect="1"/>
          </p:cNvPicPr>
          <p:nvPr/>
        </p:nvPicPr>
        <p:blipFill>
          <a:blip r:embed="rId2"/>
          <a:stretch>
            <a:fillRect/>
          </a:stretch>
        </p:blipFill>
        <p:spPr>
          <a:xfrm>
            <a:off x="1859" y="1600200"/>
            <a:ext cx="9144000" cy="2588054"/>
          </a:xfrm>
          <a:prstGeom prst="rect">
            <a:avLst/>
          </a:prstGeom>
        </p:spPr>
      </p:pic>
    </p:spTree>
    <p:extLst>
      <p:ext uri="{BB962C8B-B14F-4D97-AF65-F5344CB8AC3E}">
        <p14:creationId xmlns:p14="http://schemas.microsoft.com/office/powerpoint/2010/main" val="2870006648"/>
      </p:ext>
    </p:extLst>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05409" y="158968"/>
            <a:ext cx="9038591" cy="1219311"/>
          </a:xfrm>
          <a:prstGeom prst="rect">
            <a:avLst/>
          </a:prstGeom>
        </p:spPr>
        <p:txBody>
          <a:bodyPr vert="horz" wrap="square" lIns="0" tIns="21148" rIns="0" bIns="0" rtlCol="0" anchor="ctr">
            <a:spAutoFit/>
          </a:bodyPr>
          <a:lstStyle/>
          <a:p>
            <a:pPr marL="20141" marR="8056" algn="ctr">
              <a:lnSpc>
                <a:spcPct val="110700"/>
              </a:lnSpc>
              <a:spcBef>
                <a:spcPts val="167"/>
              </a:spcBef>
            </a:pPr>
            <a:r>
              <a:rPr lang="en-US" sz="3600" b="1" spc="-16" dirty="0"/>
              <a:t>Achieving 70-70-70 would cause p</a:t>
            </a:r>
            <a:r>
              <a:rPr sz="3600" b="1" spc="-16" dirty="0"/>
              <a:t>remature </a:t>
            </a:r>
            <a:r>
              <a:rPr lang="en-US" sz="3600" b="1" spc="-16" dirty="0"/>
              <a:t>CVD</a:t>
            </a:r>
            <a:r>
              <a:rPr sz="3600" b="1" spc="-16" dirty="0"/>
              <a:t> mortality</a:t>
            </a:r>
            <a:r>
              <a:rPr lang="en-US" sz="3600" b="1" spc="-16" dirty="0"/>
              <a:t> to</a:t>
            </a:r>
            <a:r>
              <a:rPr sz="3600" b="1" spc="-16" dirty="0"/>
              <a:t> fall in every province by 2040</a:t>
            </a:r>
          </a:p>
        </p:txBody>
      </p:sp>
      <p:sp>
        <p:nvSpPr>
          <p:cNvPr id="12" name="object 12"/>
          <p:cNvSpPr txBox="1"/>
          <p:nvPr/>
        </p:nvSpPr>
        <p:spPr>
          <a:xfrm>
            <a:off x="561429" y="6096000"/>
            <a:ext cx="8021141" cy="260871"/>
          </a:xfrm>
          <a:prstGeom prst="rect">
            <a:avLst/>
          </a:prstGeom>
        </p:spPr>
        <p:txBody>
          <a:bodyPr vert="horz" wrap="square" lIns="0" tIns="18127" rIns="0" bIns="0" rtlCol="0">
            <a:spAutoFit/>
          </a:bodyPr>
          <a:lstStyle/>
          <a:p>
            <a:pPr marL="20141" marR="50352">
              <a:lnSpc>
                <a:spcPct val="101699"/>
              </a:lnSpc>
              <a:spcBef>
                <a:spcPts val="143"/>
              </a:spcBef>
            </a:pPr>
            <a:r>
              <a:rPr lang="en-US" sz="1600" b="1" i="1" spc="-16" dirty="0">
                <a:solidFill>
                  <a:srgbClr val="5B6B7A"/>
                </a:solidFill>
                <a:latin typeface="Calibri" panose="020F0502020204030204" pitchFamily="34" charset="0"/>
                <a:cs typeface="Calibri" panose="020F0502020204030204" pitchFamily="34" charset="0"/>
              </a:rPr>
              <a:t>See previous slides for relevant methods and data</a:t>
            </a:r>
            <a:endParaRPr sz="1600" dirty="0">
              <a:latin typeface="Calibri" panose="020F0502020204030204" pitchFamily="34" charset="0"/>
              <a:cs typeface="Calibri" panose="020F0502020204030204" pitchFamily="34" charset="0"/>
            </a:endParaRPr>
          </a:p>
        </p:txBody>
      </p:sp>
      <p:pic>
        <p:nvPicPr>
          <p:cNvPr id="14" name="Picture 13">
            <a:extLst>
              <a:ext uri="{FF2B5EF4-FFF2-40B4-BE49-F238E27FC236}">
                <a16:creationId xmlns:a16="http://schemas.microsoft.com/office/drawing/2014/main" id="{CDBBD860-1267-6C0A-B944-59110F1C2A7D}"/>
              </a:ext>
            </a:extLst>
          </p:cNvPr>
          <p:cNvPicPr>
            <a:picLocks noChangeAspect="1"/>
          </p:cNvPicPr>
          <p:nvPr/>
        </p:nvPicPr>
        <p:blipFill>
          <a:blip r:embed="rId2"/>
          <a:stretch>
            <a:fillRect/>
          </a:stretch>
        </p:blipFill>
        <p:spPr>
          <a:xfrm>
            <a:off x="31595" y="1524000"/>
            <a:ext cx="9144000" cy="2725484"/>
          </a:xfrm>
          <a:prstGeom prst="rect">
            <a:avLst/>
          </a:prstGeom>
        </p:spPr>
      </p:pic>
    </p:spTree>
    <p:extLst>
      <p:ext uri="{BB962C8B-B14F-4D97-AF65-F5344CB8AC3E}">
        <p14:creationId xmlns:p14="http://schemas.microsoft.com/office/powerpoint/2010/main" val="3944170993"/>
      </p:ext>
    </p:extLst>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4800" y="157247"/>
            <a:ext cx="8666029" cy="1129350"/>
          </a:xfrm>
          <a:prstGeom prst="rect">
            <a:avLst/>
          </a:prstGeom>
        </p:spPr>
        <p:txBody>
          <a:bodyPr vert="horz" wrap="square" lIns="0" tIns="21148" rIns="0" bIns="0" rtlCol="0" anchor="ctr">
            <a:spAutoFit/>
          </a:bodyPr>
          <a:lstStyle/>
          <a:p>
            <a:pPr marL="20141" algn="ctr">
              <a:spcBef>
                <a:spcPts val="167"/>
              </a:spcBef>
            </a:pPr>
            <a:r>
              <a:rPr sz="3600" b="1" spc="-16" dirty="0"/>
              <a:t>About half of averted </a:t>
            </a:r>
            <a:r>
              <a:rPr lang="en-US" sz="3600" b="1" spc="-16" dirty="0"/>
              <a:t>CVD </a:t>
            </a:r>
            <a:r>
              <a:rPr sz="3600" b="1" spc="-16" dirty="0"/>
              <a:t>deaths come from </a:t>
            </a:r>
            <a:r>
              <a:rPr lang="en-US" sz="3600" b="1" spc="-16" dirty="0"/>
              <a:t>the three most populous provinces</a:t>
            </a:r>
            <a:endParaRPr sz="3600" b="1" spc="-16" dirty="0"/>
          </a:p>
        </p:txBody>
      </p:sp>
      <p:sp>
        <p:nvSpPr>
          <p:cNvPr id="137" name="object 137"/>
          <p:cNvSpPr txBox="1"/>
          <p:nvPr/>
        </p:nvSpPr>
        <p:spPr>
          <a:xfrm>
            <a:off x="304800" y="5571403"/>
            <a:ext cx="8534400" cy="763188"/>
          </a:xfrm>
          <a:prstGeom prst="rect">
            <a:avLst/>
          </a:prstGeom>
        </p:spPr>
        <p:txBody>
          <a:bodyPr vert="horz" wrap="square" lIns="0" tIns="18127" rIns="0" bIns="0" rtlCol="0">
            <a:spAutoFit/>
          </a:bodyPr>
          <a:lstStyle/>
          <a:p>
            <a:pPr marL="20141" marR="42296">
              <a:lnSpc>
                <a:spcPct val="101699"/>
              </a:lnSpc>
              <a:spcBef>
                <a:spcPts val="143"/>
              </a:spcBef>
            </a:pPr>
            <a:r>
              <a:rPr lang="en-US" sz="1600" b="1" i="1" dirty="0">
                <a:solidFill>
                  <a:srgbClr val="5B6B7A"/>
                </a:solidFill>
                <a:latin typeface="Calibri" panose="020F0502020204030204" pitchFamily="34" charset="0"/>
                <a:cs typeface="Calibri" panose="020F0502020204030204" pitchFamily="34" charset="0"/>
              </a:rPr>
              <a:t>Note</a:t>
            </a:r>
            <a:r>
              <a:rPr sz="1600" b="1" i="1" dirty="0">
                <a:solidFill>
                  <a:srgbClr val="5B6B7A"/>
                </a:solidFill>
                <a:latin typeface="Calibri" panose="020F0502020204030204" pitchFamily="34" charset="0"/>
                <a:cs typeface="Calibri" panose="020F0502020204030204" pitchFamily="34" charset="0"/>
              </a:rPr>
              <a:t>:</a:t>
            </a:r>
            <a:r>
              <a:rPr lang="en-US" sz="1600" b="1" i="1" spc="-32" dirty="0">
                <a:solidFill>
                  <a:srgbClr val="5B6B7A"/>
                </a:solidFill>
                <a:latin typeface="Calibri" panose="020F0502020204030204" pitchFamily="34" charset="0"/>
                <a:cs typeface="Calibri" panose="020F0502020204030204" pitchFamily="34" charset="0"/>
              </a:rPr>
              <a:t> </a:t>
            </a:r>
            <a:r>
              <a:rPr lang="en-US" sz="1600" i="1" spc="-32" dirty="0">
                <a:solidFill>
                  <a:srgbClr val="5B6B7A"/>
                </a:solidFill>
                <a:latin typeface="Calibri" panose="020F0502020204030204" pitchFamily="34" charset="0"/>
                <a:cs typeface="Calibri" panose="020F0502020204030204" pitchFamily="34" charset="0"/>
              </a:rPr>
              <a:t>This Pareto chart contains bars that represent</a:t>
            </a:r>
            <a:r>
              <a:rPr sz="1600" i="1" dirty="0">
                <a:solidFill>
                  <a:srgbClr val="5B6B7A"/>
                </a:solidFill>
                <a:latin typeface="Calibri" panose="020F0502020204030204" pitchFamily="34" charset="0"/>
                <a:cs typeface="Calibri" panose="020F0502020204030204" pitchFamily="34" charset="0"/>
              </a:rPr>
              <a:t> cumulative deaths averted 2025–2050 </a:t>
            </a:r>
            <a:r>
              <a:rPr lang="en-US" sz="1600" i="1" dirty="0">
                <a:solidFill>
                  <a:srgbClr val="5B6B7A"/>
                </a:solidFill>
                <a:latin typeface="Calibri" panose="020F0502020204030204" pitchFamily="34" charset="0"/>
                <a:cs typeface="Calibri" panose="020F0502020204030204" pitchFamily="34" charset="0"/>
              </a:rPr>
              <a:t>by</a:t>
            </a:r>
            <a:r>
              <a:rPr sz="1600" i="1" dirty="0">
                <a:solidFill>
                  <a:srgbClr val="5B6B7A"/>
                </a:solidFill>
                <a:latin typeface="Calibri" panose="020F0502020204030204" pitchFamily="34" charset="0"/>
                <a:cs typeface="Calibri" panose="020F0502020204030204" pitchFamily="34" charset="0"/>
              </a:rPr>
              <a:t> province </a:t>
            </a:r>
            <a:r>
              <a:rPr lang="en-US" sz="1600" i="1" spc="-16" dirty="0">
                <a:solidFill>
                  <a:srgbClr val="5B6B7A"/>
                </a:solidFill>
                <a:latin typeface="Calibri" panose="020F0502020204030204" pitchFamily="34" charset="0"/>
                <a:cs typeface="Calibri" panose="020F0502020204030204" pitchFamily="34" charset="0"/>
              </a:rPr>
              <a:t>as per the analysis presented in the previous slides. The red curve is the running cumulative proportion of total deaths averted at the national level. See notes on previous slides for other methods and data.</a:t>
            </a:r>
            <a:endParaRPr sz="1600" dirty="0">
              <a:latin typeface="Calibri" panose="020F0502020204030204" pitchFamily="34" charset="0"/>
              <a:cs typeface="Calibri" panose="020F0502020204030204" pitchFamily="34" charset="0"/>
            </a:endParaRPr>
          </a:p>
        </p:txBody>
      </p:sp>
      <p:pic>
        <p:nvPicPr>
          <p:cNvPr id="142" name="Picture 141">
            <a:extLst>
              <a:ext uri="{FF2B5EF4-FFF2-40B4-BE49-F238E27FC236}">
                <a16:creationId xmlns:a16="http://schemas.microsoft.com/office/drawing/2014/main" id="{CACE63A1-D707-555C-A48F-174FDE03D8D5}"/>
              </a:ext>
            </a:extLst>
          </p:cNvPr>
          <p:cNvPicPr>
            <a:picLocks noChangeAspect="1"/>
          </p:cNvPicPr>
          <p:nvPr/>
        </p:nvPicPr>
        <p:blipFill>
          <a:blip r:embed="rId2"/>
          <a:stretch>
            <a:fillRect/>
          </a:stretch>
        </p:blipFill>
        <p:spPr>
          <a:xfrm>
            <a:off x="0" y="1905000"/>
            <a:ext cx="9144000" cy="3378506"/>
          </a:xfrm>
          <a:prstGeom prst="rect">
            <a:avLst/>
          </a:prstGeom>
        </p:spPr>
      </p:pic>
    </p:spTree>
    <p:extLst>
      <p:ext uri="{BB962C8B-B14F-4D97-AF65-F5344CB8AC3E}">
        <p14:creationId xmlns:p14="http://schemas.microsoft.com/office/powerpoint/2010/main" val="1051472151"/>
      </p:ext>
    </p:extLst>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5937" y="158948"/>
            <a:ext cx="9038591" cy="1219311"/>
          </a:xfrm>
          <a:prstGeom prst="rect">
            <a:avLst/>
          </a:prstGeom>
        </p:spPr>
        <p:txBody>
          <a:bodyPr vert="horz" wrap="square" lIns="0" tIns="21148" rIns="0" bIns="0" rtlCol="0" anchor="ctr">
            <a:spAutoFit/>
          </a:bodyPr>
          <a:lstStyle/>
          <a:p>
            <a:pPr marL="20141" marR="8056" algn="ctr">
              <a:lnSpc>
                <a:spcPct val="110700"/>
              </a:lnSpc>
              <a:spcBef>
                <a:spcPts val="167"/>
              </a:spcBef>
            </a:pPr>
            <a:r>
              <a:rPr lang="en-US" sz="3600" b="1" spc="-16" dirty="0"/>
              <a:t>70-70-70 has a different financing requirement according to provincial burden and access gap</a:t>
            </a:r>
            <a:endParaRPr sz="3600" b="1" spc="-16" dirty="0"/>
          </a:p>
        </p:txBody>
      </p:sp>
      <p:sp>
        <p:nvSpPr>
          <p:cNvPr id="13" name="object 13"/>
          <p:cNvSpPr txBox="1"/>
          <p:nvPr/>
        </p:nvSpPr>
        <p:spPr>
          <a:xfrm>
            <a:off x="278032" y="5334000"/>
            <a:ext cx="8637368" cy="1035881"/>
          </a:xfrm>
          <a:prstGeom prst="rect">
            <a:avLst/>
          </a:prstGeom>
        </p:spPr>
        <p:txBody>
          <a:bodyPr vert="horz" wrap="square" lIns="0" tIns="12085" rIns="0" bIns="0" rtlCol="0">
            <a:spAutoFit/>
          </a:bodyPr>
          <a:lstStyle/>
          <a:p>
            <a:pPr marL="20141" marR="8056">
              <a:lnSpc>
                <a:spcPct val="105200"/>
              </a:lnSpc>
              <a:spcBef>
                <a:spcPts val="95"/>
              </a:spcBef>
            </a:pPr>
            <a:r>
              <a:rPr lang="en-US" sz="1600" b="1" i="1" dirty="0">
                <a:solidFill>
                  <a:srgbClr val="5B6B7A"/>
                </a:solidFill>
                <a:latin typeface="Calibri"/>
                <a:cs typeface="Calibri"/>
              </a:rPr>
              <a:t>Note</a:t>
            </a:r>
            <a:r>
              <a:rPr sz="1600" b="1" i="1" dirty="0">
                <a:solidFill>
                  <a:srgbClr val="5B6B7A"/>
                </a:solidFill>
                <a:latin typeface="Calibri"/>
                <a:cs typeface="Calibri"/>
              </a:rPr>
              <a:t>:</a:t>
            </a:r>
            <a:r>
              <a:rPr lang="en-US" sz="1600" b="1" i="1" dirty="0">
                <a:solidFill>
                  <a:srgbClr val="5B6B7A"/>
                </a:solidFill>
                <a:latin typeface="Calibri"/>
                <a:cs typeface="Calibri"/>
              </a:rPr>
              <a:t> </a:t>
            </a:r>
            <a:r>
              <a:rPr lang="en-US" sz="1600" i="1" dirty="0">
                <a:solidFill>
                  <a:srgbClr val="5B6B7A"/>
                </a:solidFill>
                <a:latin typeface="Calibri"/>
                <a:cs typeface="Calibri"/>
              </a:rPr>
              <a:t>The map above shows the average annual additional cost per capita required over the 2025-2050 period to reach the 70-70-70 target in each province. The costs vary depending on the current utilization (effective coverage) of CVD preventive interventions and magnitude of CVD burden in each province. Unit costs are assumed to be the same across provinces; this requires validation with BPJS.</a:t>
            </a:r>
            <a:endParaRPr sz="1600" dirty="0">
              <a:latin typeface="Calibri"/>
              <a:cs typeface="Calibri"/>
            </a:endParaRPr>
          </a:p>
        </p:txBody>
      </p:sp>
      <p:pic>
        <p:nvPicPr>
          <p:cNvPr id="4" name="Picture 3">
            <a:extLst>
              <a:ext uri="{FF2B5EF4-FFF2-40B4-BE49-F238E27FC236}">
                <a16:creationId xmlns:a16="http://schemas.microsoft.com/office/drawing/2014/main" id="{36474A3A-7735-1319-49AF-5E7FAC02A749}"/>
              </a:ext>
            </a:extLst>
          </p:cNvPr>
          <p:cNvPicPr>
            <a:picLocks noChangeAspect="1"/>
          </p:cNvPicPr>
          <p:nvPr/>
        </p:nvPicPr>
        <p:blipFill>
          <a:blip r:embed="rId2"/>
          <a:stretch>
            <a:fillRect/>
          </a:stretch>
        </p:blipFill>
        <p:spPr>
          <a:xfrm>
            <a:off x="25937" y="1600200"/>
            <a:ext cx="9144000" cy="2457450"/>
          </a:xfrm>
          <a:prstGeom prst="rect">
            <a:avLst/>
          </a:prstGeom>
        </p:spPr>
      </p:pic>
    </p:spTree>
    <p:extLst>
      <p:ext uri="{BB962C8B-B14F-4D97-AF65-F5344CB8AC3E}">
        <p14:creationId xmlns:p14="http://schemas.microsoft.com/office/powerpoint/2010/main" val="2947682284"/>
      </p:ext>
    </p:extLst>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6CDB268-5842-44E2-8A1F-E33B4A234CF4}"/>
              </a:ext>
            </a:extLst>
          </p:cNvPr>
          <p:cNvSpPr>
            <a:spLocks noGrp="1"/>
          </p:cNvSpPr>
          <p:nvPr>
            <p:ph type="title"/>
          </p:nvPr>
        </p:nvSpPr>
        <p:spPr>
          <a:xfrm>
            <a:off x="152400" y="40445"/>
            <a:ext cx="8686800" cy="1362268"/>
          </a:xfrm>
          <a:prstGeom prst="rect">
            <a:avLst/>
          </a:prstGeom>
        </p:spPr>
        <p:txBody>
          <a:bodyPr vert="horz" wrap="square" lIns="0" tIns="21148" rIns="0" bIns="0" anchor="ctr">
            <a:normAutofit/>
          </a:bodyPr>
          <a:lstStyle/>
          <a:p>
            <a:pPr marL="20141" algn="ctr">
              <a:spcBef>
                <a:spcPts val="167"/>
              </a:spcBef>
              <a:defRPr sz="2400">
                <a:solidFill>
                  <a:srgbClr val="17365D"/>
                </a:solidFill>
                <a:latin typeface="Arial"/>
                <a:ea typeface="Arial"/>
                <a:cs typeface="Arial"/>
              </a:defRPr>
            </a:pPr>
            <a:r>
              <a:rPr lang="en-US" sz="3600" b="1" spc="-10" dirty="0">
                <a:solidFill>
                  <a:srgbClr val="17365D"/>
                </a:solidFill>
                <a:latin typeface="Calibri" panose="020F0502020204030204" pitchFamily="34" charset="0"/>
                <a:cs typeface="Calibri" panose="020F0502020204030204" pitchFamily="34" charset="0"/>
              </a:rPr>
              <a:t>Other interventions can add impact (and cost) to primary CVD prevention</a:t>
            </a:r>
            <a:endParaRPr sz="3600" b="1" spc="-10" dirty="0">
              <a:solidFill>
                <a:srgbClr val="17365D"/>
              </a:solidFill>
              <a:latin typeface="Calibri" panose="020F0502020204030204" pitchFamily="34" charset="0"/>
              <a:cs typeface="Calibri" panose="020F0502020204030204" pitchFamily="34" charset="0"/>
            </a:endParaRPr>
          </a:p>
        </p:txBody>
      </p:sp>
      <p:sp>
        <p:nvSpPr>
          <p:cNvPr id="4" name="object 4">
            <a:extLst>
              <a:ext uri="{FF2B5EF4-FFF2-40B4-BE49-F238E27FC236}">
                <a16:creationId xmlns:a16="http://schemas.microsoft.com/office/drawing/2014/main" id="{213C17C1-77E3-5A26-D1FC-1F4BB5EB1FBA}"/>
              </a:ext>
            </a:extLst>
          </p:cNvPr>
          <p:cNvSpPr txBox="1"/>
          <p:nvPr/>
        </p:nvSpPr>
        <p:spPr>
          <a:xfrm>
            <a:off x="375834" y="5635672"/>
            <a:ext cx="8458202" cy="1035796"/>
          </a:xfrm>
          <a:prstGeom prst="rect">
            <a:avLst/>
          </a:prstGeom>
        </p:spPr>
        <p:txBody>
          <a:bodyPr vert="horz" wrap="square" lIns="0" tIns="12065" rIns="0" bIns="0" rtlCol="0">
            <a:spAutoFit/>
          </a:bodyPr>
          <a:lstStyle/>
          <a:p>
            <a:pPr marL="20141" marR="8056">
              <a:lnSpc>
                <a:spcPct val="105200"/>
              </a:lnSpc>
              <a:spcBef>
                <a:spcPts val="95"/>
              </a:spcBef>
            </a:pPr>
            <a:r>
              <a:rPr lang="en-US" sz="1600" b="1" i="1" dirty="0">
                <a:solidFill>
                  <a:srgbClr val="5B6B7A"/>
                </a:solidFill>
                <a:latin typeface="Calibri"/>
                <a:cs typeface="Calibri"/>
              </a:rPr>
              <a:t>Note: </a:t>
            </a:r>
            <a:r>
              <a:rPr lang="en-US" sz="1600" i="1" dirty="0">
                <a:solidFill>
                  <a:srgbClr val="5B6B7A"/>
                </a:solidFill>
                <a:latin typeface="Calibri"/>
                <a:cs typeface="Calibri"/>
              </a:rPr>
              <a:t>all interventions included here are based on recommendations from the Disease Control Priorities Project and represent a (high priority) subset of all interventions for CVD covered by JKN. Incremental costs and effects are calculated by assuming a linear scale-up to a target of 80% coverage by 2050. Un-discounted costs are reported in market USD (2023) from the purchaser perspective.</a:t>
            </a:r>
            <a:endParaRPr sz="1600" i="1" dirty="0">
              <a:solidFill>
                <a:srgbClr val="5B6B7A"/>
              </a:solidFill>
              <a:latin typeface="Calibri"/>
              <a:cs typeface="Calibri"/>
            </a:endParaRPr>
          </a:p>
        </p:txBody>
      </p:sp>
      <p:graphicFrame>
        <p:nvGraphicFramePr>
          <p:cNvPr id="5" name="Table 4">
            <a:extLst>
              <a:ext uri="{FF2B5EF4-FFF2-40B4-BE49-F238E27FC236}">
                <a16:creationId xmlns:a16="http://schemas.microsoft.com/office/drawing/2014/main" id="{BC6F23C9-5CE7-5DB8-7C87-5E0BD582E555}"/>
              </a:ext>
            </a:extLst>
          </p:cNvPr>
          <p:cNvGraphicFramePr>
            <a:graphicFrameLocks noGrp="1"/>
          </p:cNvGraphicFramePr>
          <p:nvPr>
            <p:extLst>
              <p:ext uri="{D42A27DB-BD31-4B8C-83A1-F6EECF244321}">
                <p14:modId xmlns:p14="http://schemas.microsoft.com/office/powerpoint/2010/main" val="907342464"/>
              </p:ext>
            </p:extLst>
          </p:nvPr>
        </p:nvGraphicFramePr>
        <p:xfrm>
          <a:off x="457201" y="1600200"/>
          <a:ext cx="8229598" cy="3839008"/>
        </p:xfrm>
        <a:graphic>
          <a:graphicData uri="http://schemas.openxmlformats.org/drawingml/2006/table">
            <a:tbl>
              <a:tblPr/>
              <a:tblGrid>
                <a:gridCol w="2632488">
                  <a:extLst>
                    <a:ext uri="{9D8B030D-6E8A-4147-A177-3AD203B41FA5}">
                      <a16:colId xmlns:a16="http://schemas.microsoft.com/office/drawing/2014/main" val="1075997860"/>
                    </a:ext>
                  </a:extLst>
                </a:gridCol>
                <a:gridCol w="1119422">
                  <a:extLst>
                    <a:ext uri="{9D8B030D-6E8A-4147-A177-3AD203B41FA5}">
                      <a16:colId xmlns:a16="http://schemas.microsoft.com/office/drawing/2014/main" val="681827347"/>
                    </a:ext>
                  </a:extLst>
                </a:gridCol>
                <a:gridCol w="1119422">
                  <a:extLst>
                    <a:ext uri="{9D8B030D-6E8A-4147-A177-3AD203B41FA5}">
                      <a16:colId xmlns:a16="http://schemas.microsoft.com/office/drawing/2014/main" val="234067624"/>
                    </a:ext>
                  </a:extLst>
                </a:gridCol>
                <a:gridCol w="1119422">
                  <a:extLst>
                    <a:ext uri="{9D8B030D-6E8A-4147-A177-3AD203B41FA5}">
                      <a16:colId xmlns:a16="http://schemas.microsoft.com/office/drawing/2014/main" val="1698260377"/>
                    </a:ext>
                  </a:extLst>
                </a:gridCol>
                <a:gridCol w="1119422">
                  <a:extLst>
                    <a:ext uri="{9D8B030D-6E8A-4147-A177-3AD203B41FA5}">
                      <a16:colId xmlns:a16="http://schemas.microsoft.com/office/drawing/2014/main" val="1781026222"/>
                    </a:ext>
                  </a:extLst>
                </a:gridCol>
                <a:gridCol w="1119422">
                  <a:extLst>
                    <a:ext uri="{9D8B030D-6E8A-4147-A177-3AD203B41FA5}">
                      <a16:colId xmlns:a16="http://schemas.microsoft.com/office/drawing/2014/main" val="1809563501"/>
                    </a:ext>
                  </a:extLst>
                </a:gridCol>
              </a:tblGrid>
              <a:tr h="592508">
                <a:tc rowSpan="2">
                  <a:txBody>
                    <a:bodyPr/>
                    <a:lstStyle/>
                    <a:p>
                      <a:pPr algn="l" rtl="0" fontAlgn="ctr">
                        <a:buNone/>
                      </a:pPr>
                      <a:r>
                        <a:rPr lang="en-US" sz="1400" b="1" i="0" u="none" strike="noStrike">
                          <a:solidFill>
                            <a:srgbClr val="17365D"/>
                          </a:solidFill>
                          <a:effectLst/>
                          <a:latin typeface="Calibri" panose="020F0502020204030204" pitchFamily="34" charset="0"/>
                        </a:rPr>
                        <a:t>Clinical intervention</a:t>
                      </a:r>
                    </a:p>
                  </a:txBody>
                  <a:tcPr marL="88570" marR="7381" marT="73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rowSpan="2">
                  <a:txBody>
                    <a:bodyPr/>
                    <a:lstStyle/>
                    <a:p>
                      <a:pPr algn="ctr" rtl="0" fontAlgn="b">
                        <a:buNone/>
                      </a:pPr>
                      <a:r>
                        <a:rPr lang="en-US" sz="1400" b="1" i="0" u="none" strike="noStrike">
                          <a:solidFill>
                            <a:srgbClr val="17365D"/>
                          </a:solidFill>
                          <a:effectLst/>
                          <a:latin typeface="Calibri" panose="020F0502020204030204" pitchFamily="34" charset="0"/>
                        </a:rPr>
                        <a:t>Cumulative deaths averted (millions)</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rowSpan="2">
                  <a:txBody>
                    <a:bodyPr/>
                    <a:lstStyle/>
                    <a:p>
                      <a:pPr algn="ctr" rtl="0" fontAlgn="b">
                        <a:buNone/>
                      </a:pPr>
                      <a:r>
                        <a:rPr lang="en-US" sz="1400" b="1" i="0" u="none" strike="noStrike">
                          <a:solidFill>
                            <a:srgbClr val="17365D"/>
                          </a:solidFill>
                          <a:effectLst/>
                          <a:latin typeface="Calibri" panose="020F0502020204030204" pitchFamily="34" charset="0"/>
                        </a:rPr>
                        <a:t>Reduction in CVD mortality probability</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rowSpan="2">
                  <a:txBody>
                    <a:bodyPr/>
                    <a:lstStyle/>
                    <a:p>
                      <a:pPr algn="ctr" rtl="0" fontAlgn="b">
                        <a:buNone/>
                      </a:pPr>
                      <a:r>
                        <a:rPr lang="en-US" sz="1400" b="1" i="0" u="none" strike="noStrike">
                          <a:solidFill>
                            <a:srgbClr val="17365D"/>
                          </a:solidFill>
                          <a:effectLst/>
                          <a:latin typeface="Calibri" panose="020F0502020204030204" pitchFamily="34" charset="0"/>
                        </a:rPr>
                        <a:t>Reduction in number of CVD deaths</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ctr" rtl="0" fontAlgn="b">
                        <a:buNone/>
                      </a:pPr>
                      <a:r>
                        <a:rPr lang="en-US" sz="1400" b="1" i="0" u="none" strike="noStrike">
                          <a:solidFill>
                            <a:srgbClr val="17365D"/>
                          </a:solidFill>
                          <a:effectLst/>
                          <a:latin typeface="Calibri" panose="020F0502020204030204" pitchFamily="34" charset="0"/>
                        </a:rPr>
                        <a:t>Average annual additional</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9E2F3"/>
                    </a:solidFill>
                  </a:tcPr>
                </a:tc>
                <a:tc rowSpan="2">
                  <a:txBody>
                    <a:bodyPr/>
                    <a:lstStyle/>
                    <a:p>
                      <a:pPr algn="ctr" rtl="0" fontAlgn="b">
                        <a:buNone/>
                      </a:pPr>
                      <a:r>
                        <a:rPr lang="en-US" sz="1400" b="1" i="0" u="none" strike="noStrike" dirty="0">
                          <a:solidFill>
                            <a:srgbClr val="17365D"/>
                          </a:solidFill>
                          <a:effectLst/>
                          <a:latin typeface="Calibri" panose="020F0502020204030204" pitchFamily="34" charset="0"/>
                        </a:rPr>
                        <a:t>Additional cost per capita in 2050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3002505773"/>
                  </a:ext>
                </a:extLst>
              </a:tr>
              <a:tr h="30764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b">
                        <a:buNone/>
                      </a:pPr>
                      <a:r>
                        <a:rPr lang="en-US" sz="1400" b="1" i="0" u="none" strike="noStrike">
                          <a:solidFill>
                            <a:srgbClr val="17365D"/>
                          </a:solidFill>
                          <a:effectLst/>
                          <a:latin typeface="Calibri" panose="020F0502020204030204" pitchFamily="34" charset="0"/>
                        </a:rPr>
                        <a:t>cost per capita</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9E2F3"/>
                    </a:solidFill>
                  </a:tcPr>
                </a:tc>
                <a:tc vMerge="1">
                  <a:txBody>
                    <a:bodyPr/>
                    <a:lstStyle/>
                    <a:p>
                      <a:endParaRPr lang="en-US"/>
                    </a:p>
                  </a:txBody>
                  <a:tcPr/>
                </a:tc>
                <a:extLst>
                  <a:ext uri="{0D108BD9-81ED-4DB2-BD59-A6C34878D82A}">
                    <a16:rowId xmlns:a16="http://schemas.microsoft.com/office/drawing/2014/main" val="2715376400"/>
                  </a:ext>
                </a:extLst>
              </a:tr>
              <a:tr h="307649">
                <a:tc>
                  <a:txBody>
                    <a:bodyPr/>
                    <a:lstStyle/>
                    <a:p>
                      <a:pPr algn="l" rtl="0" fontAlgn="ctr">
                        <a:buNone/>
                      </a:pPr>
                      <a:r>
                        <a:rPr lang="en-US" sz="1400" b="1" i="1" u="none" strike="noStrike" dirty="0">
                          <a:solidFill>
                            <a:srgbClr val="C00000"/>
                          </a:solidFill>
                          <a:effectLst/>
                          <a:latin typeface="Calibri" panose="020F0502020204030204" pitchFamily="34" charset="0"/>
                        </a:rPr>
                        <a:t>Primary CVD prevention</a:t>
                      </a:r>
                    </a:p>
                  </a:txBody>
                  <a:tcPr marL="88570" marR="7381" marT="73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1" u="none" strike="noStrike">
                          <a:solidFill>
                            <a:srgbClr val="C00000"/>
                          </a:solidFill>
                          <a:effectLst/>
                          <a:latin typeface="Calibri" panose="020F0502020204030204" pitchFamily="34" charset="0"/>
                        </a:rPr>
                        <a:t>1.964</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1" u="none" strike="noStrike">
                          <a:solidFill>
                            <a:srgbClr val="C00000"/>
                          </a:solidFill>
                          <a:effectLst/>
                          <a:latin typeface="Calibri" panose="020F0502020204030204" pitchFamily="34" charset="0"/>
                        </a:rPr>
                        <a:t>16.70%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1" u="none" strike="noStrike">
                          <a:solidFill>
                            <a:srgbClr val="C00000"/>
                          </a:solidFill>
                          <a:effectLst/>
                          <a:latin typeface="Calibri" panose="020F0502020204030204" pitchFamily="34" charset="0"/>
                        </a:rPr>
                        <a:t>11.50%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1" u="none" strike="noStrike">
                          <a:solidFill>
                            <a:srgbClr val="C00000"/>
                          </a:solidFill>
                          <a:effectLst/>
                          <a:latin typeface="Calibri" panose="020F0502020204030204" pitchFamily="34" charset="0"/>
                        </a:rPr>
                        <a:t>US$2.20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1" u="none" strike="noStrike">
                          <a:solidFill>
                            <a:srgbClr val="C00000"/>
                          </a:solidFill>
                          <a:effectLst/>
                          <a:latin typeface="Calibri" panose="020F0502020204030204" pitchFamily="34" charset="0"/>
                        </a:rPr>
                        <a:t>US$3.94</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1965471"/>
                  </a:ext>
                </a:extLst>
              </a:tr>
              <a:tr h="307649">
                <a:tc>
                  <a:txBody>
                    <a:bodyPr/>
                    <a:lstStyle/>
                    <a:p>
                      <a:pPr algn="l" rtl="0" fontAlgn="ctr">
                        <a:buNone/>
                      </a:pPr>
                      <a:r>
                        <a:rPr lang="en-US" sz="1400" b="1" i="1" u="none" strike="noStrike">
                          <a:solidFill>
                            <a:srgbClr val="C00000"/>
                          </a:solidFill>
                          <a:effectLst/>
                          <a:latin typeface="Calibri" panose="020F0502020204030204" pitchFamily="34" charset="0"/>
                        </a:rPr>
                        <a:t>Type-2 diabetes treatment</a:t>
                      </a:r>
                    </a:p>
                  </a:txBody>
                  <a:tcPr marL="88570" marR="7381" marT="73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1" u="none" strike="noStrike">
                          <a:solidFill>
                            <a:srgbClr val="C00000"/>
                          </a:solidFill>
                          <a:effectLst/>
                          <a:latin typeface="Calibri" panose="020F0502020204030204" pitchFamily="34" charset="0"/>
                        </a:rPr>
                        <a:t>0.493</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1" u="none" strike="noStrike">
                          <a:solidFill>
                            <a:srgbClr val="C00000"/>
                          </a:solidFill>
                          <a:effectLst/>
                          <a:latin typeface="Calibri" panose="020F0502020204030204" pitchFamily="34" charset="0"/>
                        </a:rPr>
                        <a:t>0.60%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1" u="none" strike="noStrike">
                          <a:solidFill>
                            <a:srgbClr val="C00000"/>
                          </a:solidFill>
                          <a:effectLst/>
                          <a:latin typeface="Calibri" panose="020F0502020204030204" pitchFamily="34" charset="0"/>
                        </a:rPr>
                        <a:t>2.50%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1" u="none" strike="noStrike">
                          <a:solidFill>
                            <a:srgbClr val="C00000"/>
                          </a:solidFill>
                          <a:effectLst/>
                          <a:latin typeface="Calibri" panose="020F0502020204030204" pitchFamily="34" charset="0"/>
                        </a:rPr>
                        <a:t>US$17.84</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1" u="none" strike="noStrike">
                          <a:solidFill>
                            <a:srgbClr val="C00000"/>
                          </a:solidFill>
                          <a:effectLst/>
                          <a:latin typeface="Calibri" panose="020F0502020204030204" pitchFamily="34" charset="0"/>
                        </a:rPr>
                        <a:t>US$34.33</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0779384"/>
                  </a:ext>
                </a:extLst>
              </a:tr>
              <a:tr h="603903">
                <a:tc>
                  <a:txBody>
                    <a:bodyPr/>
                    <a:lstStyle/>
                    <a:p>
                      <a:pPr algn="l" rtl="0" fontAlgn="ctr">
                        <a:buNone/>
                      </a:pPr>
                      <a:r>
                        <a:rPr lang="en-US" sz="1400" b="1" i="0" u="none" strike="noStrike">
                          <a:solidFill>
                            <a:srgbClr val="222222"/>
                          </a:solidFill>
                          <a:effectLst/>
                          <a:latin typeface="Calibri" panose="020F0502020204030204" pitchFamily="34" charset="0"/>
                        </a:rPr>
                        <a:t>Treatment of acute coronary syndromes</a:t>
                      </a:r>
                    </a:p>
                  </a:txBody>
                  <a:tcPr marL="88570" marR="7381" marT="73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0.315</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a:solidFill>
                            <a:srgbClr val="000000"/>
                          </a:solidFill>
                          <a:effectLst/>
                          <a:latin typeface="Calibri" panose="020F0502020204030204" pitchFamily="34" charset="0"/>
                        </a:rPr>
                        <a:t>0.031</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a:solidFill>
                            <a:srgbClr val="000000"/>
                          </a:solidFill>
                          <a:effectLst/>
                          <a:latin typeface="Calibri" panose="020F0502020204030204" pitchFamily="34" charset="0"/>
                        </a:rPr>
                        <a:t>0.014</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a:solidFill>
                            <a:srgbClr val="000000"/>
                          </a:solidFill>
                          <a:effectLst/>
                          <a:latin typeface="Calibri" panose="020F0502020204030204" pitchFamily="34" charset="0"/>
                        </a:rPr>
                        <a:t>US$2.88</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a:solidFill>
                            <a:srgbClr val="000000"/>
                          </a:solidFill>
                          <a:effectLst/>
                          <a:latin typeface="Calibri" panose="020F0502020204030204" pitchFamily="34" charset="0"/>
                        </a:rPr>
                        <a:t>US$5.48</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7735907"/>
                  </a:ext>
                </a:extLst>
              </a:tr>
              <a:tr h="307649">
                <a:tc>
                  <a:txBody>
                    <a:bodyPr/>
                    <a:lstStyle/>
                    <a:p>
                      <a:pPr algn="l" rtl="0" fontAlgn="ctr">
                        <a:buNone/>
                      </a:pPr>
                      <a:r>
                        <a:rPr lang="en-US" sz="1400" b="1" i="0" u="none" strike="noStrike">
                          <a:solidFill>
                            <a:srgbClr val="222222"/>
                          </a:solidFill>
                          <a:effectLst/>
                          <a:latin typeface="Calibri" panose="020F0502020204030204" pitchFamily="34" charset="0"/>
                        </a:rPr>
                        <a:t>Heart-attack secondary prevention</a:t>
                      </a:r>
                    </a:p>
                  </a:txBody>
                  <a:tcPr marL="88570" marR="7381" marT="73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0.244</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2.40%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1.10%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US$1.14</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US$2.21</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6046534"/>
                  </a:ext>
                </a:extLst>
              </a:tr>
              <a:tr h="307649">
                <a:tc>
                  <a:txBody>
                    <a:bodyPr/>
                    <a:lstStyle/>
                    <a:p>
                      <a:pPr algn="l" rtl="0" fontAlgn="ctr">
                        <a:buNone/>
                      </a:pPr>
                      <a:r>
                        <a:rPr lang="en-US" sz="1400" b="1" i="0" u="none" strike="noStrike">
                          <a:solidFill>
                            <a:srgbClr val="222222"/>
                          </a:solidFill>
                          <a:effectLst/>
                          <a:latin typeface="Calibri" panose="020F0502020204030204" pitchFamily="34" charset="0"/>
                        </a:rPr>
                        <a:t>Chronic heart-failure care</a:t>
                      </a:r>
                    </a:p>
                  </a:txBody>
                  <a:tcPr marL="88570" marR="7381" marT="73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0.105</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0.90%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0.40%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US$0.25</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US$0.50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5979114"/>
                  </a:ext>
                </a:extLst>
              </a:tr>
              <a:tr h="307649">
                <a:tc>
                  <a:txBody>
                    <a:bodyPr/>
                    <a:lstStyle/>
                    <a:p>
                      <a:pPr algn="l" rtl="0" fontAlgn="ctr">
                        <a:buNone/>
                      </a:pPr>
                      <a:r>
                        <a:rPr lang="en-US" sz="1400" b="1" i="0" u="none" strike="noStrike">
                          <a:solidFill>
                            <a:srgbClr val="222222"/>
                          </a:solidFill>
                          <a:effectLst/>
                          <a:latin typeface="Calibri" panose="020F0502020204030204" pitchFamily="34" charset="0"/>
                        </a:rPr>
                        <a:t>Acute heart-failure care</a:t>
                      </a:r>
                    </a:p>
                  </a:txBody>
                  <a:tcPr marL="88570" marR="7381" marT="73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0.094</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0.60%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0.40%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US$0.53</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US$1.05</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8916129"/>
                  </a:ext>
                </a:extLst>
              </a:tr>
              <a:tr h="307649">
                <a:tc>
                  <a:txBody>
                    <a:bodyPr/>
                    <a:lstStyle/>
                    <a:p>
                      <a:pPr algn="l" rtl="0" fontAlgn="ctr">
                        <a:buNone/>
                      </a:pPr>
                      <a:r>
                        <a:rPr lang="en-US" sz="1400" b="1" i="0" u="none" strike="noStrike">
                          <a:solidFill>
                            <a:srgbClr val="222222"/>
                          </a:solidFill>
                          <a:effectLst/>
                          <a:latin typeface="Calibri" panose="020F0502020204030204" pitchFamily="34" charset="0"/>
                        </a:rPr>
                        <a:t>Stroke secondary prevention</a:t>
                      </a:r>
                    </a:p>
                  </a:txBody>
                  <a:tcPr marL="88570" marR="7381" marT="73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0.04</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0.30%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0.20%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dirty="0">
                          <a:solidFill>
                            <a:srgbClr val="222222"/>
                          </a:solidFill>
                          <a:effectLst/>
                          <a:latin typeface="Calibri" panose="020F0502020204030204" pitchFamily="34" charset="0"/>
                        </a:rPr>
                        <a:t>US$0.63</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222222"/>
                          </a:solidFill>
                          <a:effectLst/>
                          <a:latin typeface="Calibri" panose="020F0502020204030204" pitchFamily="34" charset="0"/>
                        </a:rPr>
                        <a:t>US$1.16</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1749797"/>
                  </a:ext>
                </a:extLst>
              </a:tr>
              <a:tr h="307649">
                <a:tc>
                  <a:txBody>
                    <a:bodyPr/>
                    <a:lstStyle/>
                    <a:p>
                      <a:pPr algn="l" rtl="0" fontAlgn="ctr">
                        <a:buNone/>
                      </a:pPr>
                      <a:r>
                        <a:rPr lang="en-US" sz="1400" b="1" i="0" u="none" strike="noStrike">
                          <a:solidFill>
                            <a:srgbClr val="17365D"/>
                          </a:solidFill>
                          <a:effectLst/>
                          <a:latin typeface="Calibri" panose="020F0502020204030204" pitchFamily="34" charset="0"/>
                        </a:rPr>
                        <a:t>All clinical (combined)</a:t>
                      </a:r>
                    </a:p>
                  </a:txBody>
                  <a:tcPr marL="88570" marR="7381" marT="73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ctr" rtl="0" fontAlgn="b">
                        <a:buNone/>
                      </a:pPr>
                      <a:r>
                        <a:rPr lang="en-US" sz="1400" b="1" i="0" u="none" strike="noStrike">
                          <a:solidFill>
                            <a:srgbClr val="17365D"/>
                          </a:solidFill>
                          <a:effectLst/>
                          <a:latin typeface="Calibri" panose="020F0502020204030204" pitchFamily="34" charset="0"/>
                        </a:rPr>
                        <a:t>3.153</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ctr" rtl="0" fontAlgn="b">
                        <a:buNone/>
                      </a:pPr>
                      <a:r>
                        <a:rPr lang="en-US" sz="1400" b="1" i="0" u="none" strike="noStrike">
                          <a:solidFill>
                            <a:srgbClr val="244062"/>
                          </a:solidFill>
                          <a:effectLst/>
                          <a:latin typeface="Calibri" panose="020F0502020204030204" pitchFamily="34" charset="0"/>
                        </a:rPr>
                        <a:t>23.00%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ctr" rtl="0" fontAlgn="b">
                        <a:buNone/>
                      </a:pPr>
                      <a:r>
                        <a:rPr lang="en-US" sz="1400" b="1" i="0" u="none" strike="noStrike">
                          <a:solidFill>
                            <a:srgbClr val="244062"/>
                          </a:solidFill>
                          <a:effectLst/>
                          <a:latin typeface="Calibri" panose="020F0502020204030204" pitchFamily="34" charset="0"/>
                        </a:rPr>
                        <a:t>16.80%</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ctr" rtl="0" fontAlgn="b">
                        <a:buNone/>
                      </a:pPr>
                      <a:r>
                        <a:rPr lang="en-US" sz="1400" b="1" i="0" u="none" strike="noStrike">
                          <a:solidFill>
                            <a:srgbClr val="244062"/>
                          </a:solidFill>
                          <a:effectLst/>
                          <a:latin typeface="Calibri" panose="020F0502020204030204" pitchFamily="34" charset="0"/>
                        </a:rPr>
                        <a:t>US$24.47</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ctr" rtl="0" fontAlgn="b">
                        <a:buNone/>
                      </a:pPr>
                      <a:r>
                        <a:rPr lang="en-US" sz="1400" b="1" i="0" u="none" strike="noStrike" dirty="0">
                          <a:solidFill>
                            <a:srgbClr val="244062"/>
                          </a:solidFill>
                          <a:effectLst/>
                          <a:latin typeface="Calibri" panose="020F0502020204030204" pitchFamily="34" charset="0"/>
                        </a:rPr>
                        <a:t>US$46.35</a:t>
                      </a:r>
                    </a:p>
                  </a:txBody>
                  <a:tcPr marL="7381" marR="7381" marT="738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extLst>
                  <a:ext uri="{0D108BD9-81ED-4DB2-BD59-A6C34878D82A}">
                    <a16:rowId xmlns:a16="http://schemas.microsoft.com/office/drawing/2014/main" val="3491578435"/>
                  </a:ext>
                </a:extLst>
              </a:tr>
            </a:tbl>
          </a:graphicData>
        </a:graphic>
      </p:graphicFrame>
    </p:spTree>
    <p:extLst>
      <p:ext uri="{BB962C8B-B14F-4D97-AF65-F5344CB8AC3E}">
        <p14:creationId xmlns:p14="http://schemas.microsoft.com/office/powerpoint/2010/main" val="713995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B78ED916-FF80-4D3D-AA83-FAE5054762F3}"/>
              </a:ext>
            </a:extLst>
          </p:cNvPr>
          <p:cNvSpPr>
            <a:spLocks noGrp="1"/>
          </p:cNvSpPr>
          <p:nvPr>
            <p:ph type="title"/>
          </p:nvPr>
        </p:nvSpPr>
        <p:spPr>
          <a:xfrm>
            <a:off x="52704" y="0"/>
            <a:ext cx="9038591" cy="1362268"/>
          </a:xfrm>
          <a:prstGeom prst="rect">
            <a:avLst/>
          </a:prstGeom>
        </p:spPr>
        <p:txBody>
          <a:bodyPr vert="horz" wrap="square" lIns="0" tIns="21148" rIns="0" bIns="0" anchor="ctr">
            <a:normAutofit/>
          </a:bodyPr>
          <a:lstStyle/>
          <a:p>
            <a:pPr marL="20141" algn="ctr">
              <a:spcBef>
                <a:spcPts val="167"/>
              </a:spcBef>
              <a:defRPr sz="2400">
                <a:solidFill>
                  <a:srgbClr val="17365D"/>
                </a:solidFill>
                <a:latin typeface="Arial"/>
                <a:ea typeface="Arial"/>
                <a:cs typeface="Arial"/>
              </a:defRPr>
            </a:pPr>
            <a:r>
              <a:rPr lang="en-US" sz="3600" b="1" spc="-10" dirty="0">
                <a:latin typeface="+mn-lt"/>
              </a:rPr>
              <a:t>Tobacco control policies could add significant impact to the clinical program </a:t>
            </a:r>
            <a:endParaRPr sz="3600" b="1" spc="-10" dirty="0">
              <a:latin typeface="+mn-lt"/>
            </a:endParaRPr>
          </a:p>
        </p:txBody>
      </p:sp>
      <p:sp>
        <p:nvSpPr>
          <p:cNvPr id="4" name="object 4">
            <a:extLst>
              <a:ext uri="{FF2B5EF4-FFF2-40B4-BE49-F238E27FC236}">
                <a16:creationId xmlns:a16="http://schemas.microsoft.com/office/drawing/2014/main" id="{E39E784E-3FD8-F3B8-5D86-4EEDC0ACB02D}"/>
              </a:ext>
            </a:extLst>
          </p:cNvPr>
          <p:cNvSpPr txBox="1"/>
          <p:nvPr/>
        </p:nvSpPr>
        <p:spPr>
          <a:xfrm>
            <a:off x="455221" y="5495732"/>
            <a:ext cx="8382000" cy="1360309"/>
          </a:xfrm>
          <a:prstGeom prst="rect">
            <a:avLst/>
          </a:prstGeom>
        </p:spPr>
        <p:txBody>
          <a:bodyPr vert="horz" wrap="square" lIns="0" tIns="12065" rIns="0" bIns="0" rtlCol="0">
            <a:spAutoFit/>
          </a:bodyPr>
          <a:lstStyle/>
          <a:p>
            <a:pPr marL="20141" marR="8056" algn="just">
              <a:lnSpc>
                <a:spcPct val="105200"/>
              </a:lnSpc>
              <a:spcBef>
                <a:spcPts val="95"/>
              </a:spcBef>
            </a:pPr>
            <a:r>
              <a:rPr lang="en-US" sz="1400" b="1" i="1" dirty="0">
                <a:solidFill>
                  <a:srgbClr val="5B6B7A"/>
                </a:solidFill>
                <a:latin typeface="Calibri"/>
                <a:cs typeface="Calibri"/>
              </a:rPr>
              <a:t>Note: </a:t>
            </a:r>
            <a:r>
              <a:rPr lang="en-US" sz="1400" i="1" dirty="0">
                <a:solidFill>
                  <a:srgbClr val="5B6B7A"/>
                </a:solidFill>
                <a:latin typeface="Calibri"/>
                <a:cs typeface="Calibri"/>
              </a:rPr>
              <a:t>tobacco policies are assumed mostly to have an effect on CVD incidence and case-fatality from cessation among persons without and with CVD, respectively. </a:t>
            </a:r>
            <a:r>
              <a:rPr lang="en-US" sz="1400" i="1" dirty="0">
                <a:solidFill>
                  <a:srgbClr val="5B6B7A"/>
                </a:solidFill>
                <a:cs typeface="Calibri"/>
              </a:rPr>
              <a:t>Impact estimates are based on price-elasticity</a:t>
            </a:r>
            <a:r>
              <a:rPr lang="en-US" sz="1400" i="1" dirty="0">
                <a:solidFill>
                  <a:srgbClr val="5B6B7A"/>
                </a:solidFill>
                <a:latin typeface="Calibri"/>
                <a:cs typeface="Calibri"/>
              </a:rPr>
              <a:t> meta-analyses and relative risks from the GBD study. The tobacco</a:t>
            </a:r>
            <a:r>
              <a:rPr sz="1400" i="1" dirty="0">
                <a:solidFill>
                  <a:srgbClr val="5B6B7A"/>
                </a:solidFill>
                <a:latin typeface="Calibri"/>
                <a:cs typeface="Calibri"/>
              </a:rPr>
              <a:t> </a:t>
            </a:r>
            <a:r>
              <a:rPr lang="en-US" sz="1400" i="1" dirty="0">
                <a:solidFill>
                  <a:srgbClr val="5B6B7A"/>
                </a:solidFill>
                <a:latin typeface="Calibri"/>
                <a:cs typeface="Calibri"/>
              </a:rPr>
              <a:t>policy </a:t>
            </a:r>
            <a:r>
              <a:rPr sz="1400" i="1" dirty="0">
                <a:solidFill>
                  <a:srgbClr val="5B6B7A"/>
                </a:solidFill>
                <a:latin typeface="Calibri"/>
                <a:cs typeface="Calibri"/>
              </a:rPr>
              <a:t>package</a:t>
            </a:r>
            <a:r>
              <a:rPr lang="en-US" sz="1400" i="1" dirty="0">
                <a:solidFill>
                  <a:srgbClr val="5B6B7A"/>
                </a:solidFill>
                <a:latin typeface="Calibri"/>
                <a:cs typeface="Calibri"/>
              </a:rPr>
              <a:t> reflects the non-price measures in MPOWER: </a:t>
            </a:r>
            <a:r>
              <a:rPr sz="1400" i="1" dirty="0">
                <a:solidFill>
                  <a:srgbClr val="5B6B7A"/>
                </a:solidFill>
                <a:latin typeface="Calibri"/>
                <a:cs typeface="Calibri"/>
              </a:rPr>
              <a:t>smoke-free policies, health warnings and mass-media campaigns, advertising bans, and cessation support</a:t>
            </a:r>
            <a:r>
              <a:rPr lang="en-US" sz="1400" i="1" dirty="0">
                <a:solidFill>
                  <a:srgbClr val="5B6B7A"/>
                </a:solidFill>
                <a:latin typeface="Calibri"/>
                <a:cs typeface="Calibri"/>
              </a:rPr>
              <a:t>. Only 6 CVD causes and </a:t>
            </a:r>
            <a:r>
              <a:rPr lang="en-US" sz="1400" i="1" dirty="0">
                <a:solidFill>
                  <a:srgbClr val="5B6B7A"/>
                </a:solidFill>
                <a:cs typeface="Calibri"/>
              </a:rPr>
              <a:t>T2DM are included; results may differ from message 4, which includes </a:t>
            </a:r>
            <a:r>
              <a:rPr lang="en-US" sz="1400" i="1" dirty="0">
                <a:solidFill>
                  <a:srgbClr val="5B6B7A"/>
                </a:solidFill>
                <a:latin typeface="Calibri"/>
                <a:cs typeface="Calibri"/>
              </a:rPr>
              <a:t>19 CVD + Cancer + EPOC + T2DM causes.</a:t>
            </a:r>
            <a:endParaRPr sz="1400" i="1" dirty="0">
              <a:solidFill>
                <a:srgbClr val="5B6B7A"/>
              </a:solidFill>
              <a:latin typeface="Calibri"/>
              <a:cs typeface="Calibri"/>
            </a:endParaRPr>
          </a:p>
        </p:txBody>
      </p:sp>
      <p:graphicFrame>
        <p:nvGraphicFramePr>
          <p:cNvPr id="6" name="Table 5">
            <a:extLst>
              <a:ext uri="{FF2B5EF4-FFF2-40B4-BE49-F238E27FC236}">
                <a16:creationId xmlns:a16="http://schemas.microsoft.com/office/drawing/2014/main" id="{1204F440-646C-999E-7E0C-785F0E0B3B89}"/>
              </a:ext>
            </a:extLst>
          </p:cNvPr>
          <p:cNvGraphicFramePr>
            <a:graphicFrameLocks noGrp="1"/>
          </p:cNvGraphicFramePr>
          <p:nvPr>
            <p:extLst>
              <p:ext uri="{D42A27DB-BD31-4B8C-83A1-F6EECF244321}">
                <p14:modId xmlns:p14="http://schemas.microsoft.com/office/powerpoint/2010/main" val="1337763648"/>
              </p:ext>
            </p:extLst>
          </p:nvPr>
        </p:nvGraphicFramePr>
        <p:xfrm>
          <a:off x="457200" y="1600200"/>
          <a:ext cx="8305800" cy="3276600"/>
        </p:xfrm>
        <a:graphic>
          <a:graphicData uri="http://schemas.openxmlformats.org/drawingml/2006/table">
            <a:tbl>
              <a:tblPr/>
              <a:tblGrid>
                <a:gridCol w="1840805">
                  <a:extLst>
                    <a:ext uri="{9D8B030D-6E8A-4147-A177-3AD203B41FA5}">
                      <a16:colId xmlns:a16="http://schemas.microsoft.com/office/drawing/2014/main" val="604189797"/>
                    </a:ext>
                  </a:extLst>
                </a:gridCol>
                <a:gridCol w="1774270">
                  <a:extLst>
                    <a:ext uri="{9D8B030D-6E8A-4147-A177-3AD203B41FA5}">
                      <a16:colId xmlns:a16="http://schemas.microsoft.com/office/drawing/2014/main" val="1004037004"/>
                    </a:ext>
                  </a:extLst>
                </a:gridCol>
                <a:gridCol w="2439621">
                  <a:extLst>
                    <a:ext uri="{9D8B030D-6E8A-4147-A177-3AD203B41FA5}">
                      <a16:colId xmlns:a16="http://schemas.microsoft.com/office/drawing/2014/main" val="4102613149"/>
                    </a:ext>
                  </a:extLst>
                </a:gridCol>
                <a:gridCol w="2251104">
                  <a:extLst>
                    <a:ext uri="{9D8B030D-6E8A-4147-A177-3AD203B41FA5}">
                      <a16:colId xmlns:a16="http://schemas.microsoft.com/office/drawing/2014/main" val="407666818"/>
                    </a:ext>
                  </a:extLst>
                </a:gridCol>
              </a:tblGrid>
              <a:tr h="546100">
                <a:tc>
                  <a:txBody>
                    <a:bodyPr/>
                    <a:lstStyle/>
                    <a:p>
                      <a:pPr algn="l" rtl="0" fontAlgn="ctr">
                        <a:buNone/>
                      </a:pPr>
                      <a:r>
                        <a:rPr lang="en-US" sz="1600" b="1" i="0" u="none" strike="noStrike">
                          <a:solidFill>
                            <a:srgbClr val="17365D"/>
                          </a:solidFill>
                          <a:effectLst/>
                          <a:latin typeface="Calibri" panose="020F0502020204030204" pitchFamily="34" charset="0"/>
                        </a:rPr>
                        <a:t>Type of policy</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l" rtl="0" fontAlgn="ctr">
                        <a:buNone/>
                      </a:pPr>
                      <a:r>
                        <a:rPr lang="en-US" sz="1600" b="1" i="0" u="none" strike="noStrike">
                          <a:solidFill>
                            <a:srgbClr val="17365D"/>
                          </a:solidFill>
                          <a:effectLst/>
                          <a:latin typeface="Calibri" panose="020F0502020204030204" pitchFamily="34" charset="0"/>
                        </a:rPr>
                        <a:t>Cumulative deaths averted (millions)</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l" rtl="0" fontAlgn="ctr">
                        <a:buNone/>
                      </a:pPr>
                      <a:r>
                        <a:rPr lang="en-US" sz="1600" b="1" i="0" u="none" strike="noStrike">
                          <a:solidFill>
                            <a:srgbClr val="17365D"/>
                          </a:solidFill>
                          <a:effectLst/>
                          <a:latin typeface="Calibri" panose="020F0502020204030204" pitchFamily="34" charset="0"/>
                        </a:rPr>
                        <a:t>Reduction in CVD mortality probability</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l" rtl="0" fontAlgn="ctr">
                        <a:buNone/>
                      </a:pPr>
                      <a:r>
                        <a:rPr lang="en-US" sz="1600" b="1" i="0" u="none" strike="noStrike">
                          <a:solidFill>
                            <a:srgbClr val="17365D"/>
                          </a:solidFill>
                          <a:effectLst/>
                          <a:latin typeface="Calibri" panose="020F0502020204030204" pitchFamily="34" charset="0"/>
                        </a:rPr>
                        <a:t>Reduction in number of CVD deaths</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502468855"/>
                  </a:ext>
                </a:extLst>
              </a:tr>
              <a:tr h="276896">
                <a:tc>
                  <a:txBody>
                    <a:bodyPr/>
                    <a:lstStyle/>
                    <a:p>
                      <a:pPr algn="l" rtl="0" fontAlgn="ctr">
                        <a:buNone/>
                      </a:pPr>
                      <a:r>
                        <a:rPr lang="en-US" sz="1600" b="1" i="0" u="none" strike="noStrike">
                          <a:solidFill>
                            <a:srgbClr val="222222"/>
                          </a:solidFill>
                          <a:effectLst/>
                          <a:latin typeface="Calibri" panose="020F0502020204030204" pitchFamily="34" charset="0"/>
                        </a:rPr>
                        <a:t>Tobacco tax</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a:solidFill>
                            <a:srgbClr val="000000"/>
                          </a:solidFill>
                          <a:effectLst/>
                          <a:latin typeface="Calibri" panose="020F0502020204030204" pitchFamily="34" charset="0"/>
                        </a:rPr>
                        <a:t> </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a:solidFill>
                            <a:srgbClr val="000000"/>
                          </a:solidFill>
                          <a:effectLst/>
                          <a:latin typeface="Calibri" panose="020F0502020204030204" pitchFamily="34" charset="0"/>
                        </a:rPr>
                        <a:t> </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a:solidFill>
                            <a:srgbClr val="000000"/>
                          </a:solidFill>
                          <a:effectLst/>
                          <a:latin typeface="Calibri" panose="020F0502020204030204" pitchFamily="34" charset="0"/>
                        </a:rPr>
                        <a:t> </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0362589"/>
                  </a:ext>
                </a:extLst>
              </a:tr>
              <a:tr h="546100">
                <a:tc>
                  <a:txBody>
                    <a:bodyPr/>
                    <a:lstStyle/>
                    <a:p>
                      <a:pPr algn="l" rtl="0" fontAlgn="ctr">
                        <a:buNone/>
                      </a:pPr>
                      <a:r>
                        <a:rPr lang="en-US" sz="1600" b="0" i="0" u="none" strike="noStrike">
                          <a:solidFill>
                            <a:srgbClr val="222222"/>
                          </a:solidFill>
                          <a:effectLst/>
                          <a:latin typeface="Calibri" panose="020F0502020204030204" pitchFamily="34" charset="0"/>
                        </a:rPr>
                        <a:t>     50% increase in retail price</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dirty="0">
                          <a:solidFill>
                            <a:srgbClr val="222222"/>
                          </a:solidFill>
                          <a:effectLst/>
                          <a:latin typeface="Calibri" panose="020F0502020204030204" pitchFamily="34" charset="0"/>
                        </a:rPr>
                        <a:t>0.390</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a:solidFill>
                            <a:srgbClr val="222222"/>
                          </a:solidFill>
                          <a:effectLst/>
                          <a:latin typeface="Calibri" panose="020F0502020204030204" pitchFamily="34" charset="0"/>
                        </a:rPr>
                        <a:t>2.10%</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a:solidFill>
                            <a:srgbClr val="222222"/>
                          </a:solidFill>
                          <a:effectLst/>
                          <a:latin typeface="Calibri" panose="020F0502020204030204" pitchFamily="34" charset="0"/>
                        </a:rPr>
                        <a:t>1.30%</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4545564"/>
                  </a:ext>
                </a:extLst>
              </a:tr>
              <a:tr h="546100">
                <a:tc>
                  <a:txBody>
                    <a:bodyPr/>
                    <a:lstStyle/>
                    <a:p>
                      <a:pPr algn="l" rtl="0" fontAlgn="ctr">
                        <a:buNone/>
                      </a:pPr>
                      <a:r>
                        <a:rPr lang="en-US" sz="1600" b="0" i="0" u="none" strike="noStrike">
                          <a:solidFill>
                            <a:srgbClr val="222222"/>
                          </a:solidFill>
                          <a:effectLst/>
                          <a:latin typeface="Calibri" panose="020F0502020204030204" pitchFamily="34" charset="0"/>
                        </a:rPr>
                        <a:t>    75% increase in retail price</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a:solidFill>
                            <a:srgbClr val="222222"/>
                          </a:solidFill>
                          <a:effectLst/>
                          <a:latin typeface="Calibri" panose="020F0502020204030204" pitchFamily="34" charset="0"/>
                        </a:rPr>
                        <a:t>0.578</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a:solidFill>
                            <a:srgbClr val="222222"/>
                          </a:solidFill>
                          <a:effectLst/>
                          <a:latin typeface="Calibri" panose="020F0502020204030204" pitchFamily="34" charset="0"/>
                        </a:rPr>
                        <a:t>3.20%</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a:solidFill>
                            <a:srgbClr val="222222"/>
                          </a:solidFill>
                          <a:effectLst/>
                          <a:latin typeface="Calibri" panose="020F0502020204030204" pitchFamily="34" charset="0"/>
                        </a:rPr>
                        <a:t>2.00%</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6876667"/>
                  </a:ext>
                </a:extLst>
              </a:tr>
              <a:tr h="546100">
                <a:tc>
                  <a:txBody>
                    <a:bodyPr/>
                    <a:lstStyle/>
                    <a:p>
                      <a:pPr algn="l" rtl="0" fontAlgn="ctr">
                        <a:buNone/>
                      </a:pPr>
                      <a:r>
                        <a:rPr lang="en-US" sz="1600" b="1" i="0" u="none" strike="noStrike">
                          <a:solidFill>
                            <a:srgbClr val="222222"/>
                          </a:solidFill>
                          <a:effectLst/>
                          <a:latin typeface="Calibri" panose="020F0502020204030204" pitchFamily="34" charset="0"/>
                        </a:rPr>
                        <a:t>Tobacco policy package (MPOWER)</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dirty="0">
                          <a:solidFill>
                            <a:srgbClr val="222222"/>
                          </a:solidFill>
                          <a:effectLst/>
                          <a:latin typeface="Calibri" panose="020F0502020204030204" pitchFamily="34" charset="0"/>
                        </a:rPr>
                        <a:t>0.650</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a:solidFill>
                            <a:srgbClr val="222222"/>
                          </a:solidFill>
                          <a:effectLst/>
                          <a:latin typeface="Calibri" panose="020F0502020204030204" pitchFamily="34" charset="0"/>
                        </a:rPr>
                        <a:t>3.60%</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a:solidFill>
                            <a:srgbClr val="222222"/>
                          </a:solidFill>
                          <a:effectLst/>
                          <a:latin typeface="Calibri" panose="020F0502020204030204" pitchFamily="34" charset="0"/>
                        </a:rPr>
                        <a:t>2.20%</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8418993"/>
                  </a:ext>
                </a:extLst>
              </a:tr>
              <a:tr h="815304">
                <a:tc>
                  <a:txBody>
                    <a:bodyPr/>
                    <a:lstStyle/>
                    <a:p>
                      <a:pPr algn="l" rtl="0" fontAlgn="ctr">
                        <a:buNone/>
                      </a:pPr>
                      <a:r>
                        <a:rPr lang="en-US" sz="1600" b="1" i="0" u="none" strike="noStrike">
                          <a:solidFill>
                            <a:srgbClr val="17365D"/>
                          </a:solidFill>
                          <a:effectLst/>
                          <a:latin typeface="Calibri" panose="020F0502020204030204" pitchFamily="34" charset="0"/>
                        </a:rPr>
                        <a:t>Combined impact of taxes (75%) and regulations</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l" rtl="0" fontAlgn="ctr">
                        <a:buNone/>
                      </a:pPr>
                      <a:r>
                        <a:rPr lang="en-US" sz="1600" b="1" i="0" u="none" strike="noStrike" dirty="0">
                          <a:solidFill>
                            <a:srgbClr val="244062"/>
                          </a:solidFill>
                          <a:effectLst/>
                          <a:latin typeface="Calibri" panose="020F0502020204030204" pitchFamily="34" charset="0"/>
                        </a:rPr>
                        <a:t>1.215</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l" rtl="0" fontAlgn="ctr">
                        <a:buNone/>
                      </a:pPr>
                      <a:r>
                        <a:rPr lang="en-US" sz="1600" b="1" i="0" u="none" strike="noStrike">
                          <a:solidFill>
                            <a:srgbClr val="244062"/>
                          </a:solidFill>
                          <a:effectLst/>
                          <a:latin typeface="Calibri" panose="020F0502020204030204" pitchFamily="34" charset="0"/>
                        </a:rPr>
                        <a:t>6.60%</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l" rtl="0" fontAlgn="ctr">
                        <a:buNone/>
                      </a:pPr>
                      <a:r>
                        <a:rPr lang="en-US" sz="1600" b="1" i="0" u="none" strike="noStrike" dirty="0">
                          <a:solidFill>
                            <a:srgbClr val="244062"/>
                          </a:solidFill>
                          <a:effectLst/>
                          <a:latin typeface="Calibri" panose="020F0502020204030204" pitchFamily="34" charset="0"/>
                        </a:rPr>
                        <a:t>4.20%</a:t>
                      </a:r>
                    </a:p>
                  </a:txBody>
                  <a:tcPr marL="79110" marR="6592" marT="65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extLst>
                  <a:ext uri="{0D108BD9-81ED-4DB2-BD59-A6C34878D82A}">
                    <a16:rowId xmlns:a16="http://schemas.microsoft.com/office/drawing/2014/main" val="2580060215"/>
                  </a:ext>
                </a:extLst>
              </a:tr>
            </a:tbl>
          </a:graphicData>
        </a:graphic>
      </p:graphicFrame>
    </p:spTree>
    <p:extLst>
      <p:ext uri="{BB962C8B-B14F-4D97-AF65-F5344CB8AC3E}">
        <p14:creationId xmlns:p14="http://schemas.microsoft.com/office/powerpoint/2010/main" val="876686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24A98-91AB-7B90-9F2C-1D207E0FA3AD}"/>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5B87EA7E-D762-C179-36A2-FFBA6090C844}"/>
              </a:ext>
            </a:extLst>
          </p:cNvPr>
          <p:cNvSpPr txBox="1">
            <a:spLocks noGrp="1"/>
          </p:cNvSpPr>
          <p:nvPr>
            <p:ph type="title"/>
          </p:nvPr>
        </p:nvSpPr>
        <p:spPr>
          <a:xfrm>
            <a:off x="67309" y="198967"/>
            <a:ext cx="9038591" cy="1129350"/>
          </a:xfrm>
          <a:prstGeom prst="rect">
            <a:avLst/>
          </a:prstGeom>
        </p:spPr>
        <p:txBody>
          <a:bodyPr vert="horz" wrap="square" lIns="0" tIns="21148" rIns="0" bIns="0" rtlCol="0" anchor="ctr">
            <a:spAutoFit/>
          </a:bodyPr>
          <a:lstStyle/>
          <a:p>
            <a:pPr marL="20141" algn="ctr">
              <a:spcBef>
                <a:spcPts val="167"/>
              </a:spcBef>
            </a:pPr>
            <a:r>
              <a:rPr lang="en-US" sz="3600" b="1" spc="-10" dirty="0"/>
              <a:t>Policy goal: improving Indonesia’s performance on CVD mortality among ASEAN countries</a:t>
            </a:r>
            <a:endParaRPr sz="3600" b="1" spc="-16" dirty="0"/>
          </a:p>
        </p:txBody>
      </p:sp>
      <p:pic>
        <p:nvPicPr>
          <p:cNvPr id="3" name="Picture 2">
            <a:extLst>
              <a:ext uri="{FF2B5EF4-FFF2-40B4-BE49-F238E27FC236}">
                <a16:creationId xmlns:a16="http://schemas.microsoft.com/office/drawing/2014/main" id="{3BC4B5F4-D65D-629B-E461-A29DF823E61E}"/>
              </a:ext>
            </a:extLst>
          </p:cNvPr>
          <p:cNvPicPr>
            <a:picLocks noChangeAspect="1"/>
          </p:cNvPicPr>
          <p:nvPr/>
        </p:nvPicPr>
        <p:blipFill>
          <a:blip r:embed="rId4"/>
          <a:stretch>
            <a:fillRect/>
          </a:stretch>
        </p:blipFill>
        <p:spPr>
          <a:xfrm>
            <a:off x="1691004" y="1547236"/>
            <a:ext cx="5791200" cy="5097509"/>
          </a:xfrm>
          <a:prstGeom prst="rect">
            <a:avLst/>
          </a:prstGeom>
        </p:spPr>
      </p:pic>
    </p:spTree>
    <p:extLst>
      <p:ext uri="{BB962C8B-B14F-4D97-AF65-F5344CB8AC3E}">
        <p14:creationId xmlns:p14="http://schemas.microsoft.com/office/powerpoint/2010/main" val="1489958157"/>
      </p:ext>
    </p:extLst>
  </p:cSld>
  <p:clrMapOvr>
    <a:masterClrMapping/>
  </p:clrMapOvr>
  <p:transition>
    <p:cut/>
  </p:transition>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2704" y="43859"/>
            <a:ext cx="9038591" cy="1683348"/>
          </a:xfrm>
          <a:prstGeom prst="rect">
            <a:avLst/>
          </a:prstGeom>
        </p:spPr>
        <p:txBody>
          <a:bodyPr vert="horz" wrap="square" lIns="0" tIns="21148" rIns="0" bIns="0" rtlCol="0" anchor="ctr">
            <a:spAutoFit/>
          </a:bodyPr>
          <a:lstStyle/>
          <a:p>
            <a:pPr marL="20141" algn="ctr">
              <a:spcBef>
                <a:spcPts val="167"/>
              </a:spcBef>
            </a:pPr>
            <a:r>
              <a:rPr lang="en-US" sz="3600" b="1" spc="-10" dirty="0"/>
              <a:t>Implementation of clinical interventions and tobacco control could get Indonesia close to Malaysia’s CVD mortality level by 2050</a:t>
            </a:r>
            <a:endParaRPr sz="3600" b="1" spc="-16" dirty="0"/>
          </a:p>
        </p:txBody>
      </p:sp>
      <p:sp>
        <p:nvSpPr>
          <p:cNvPr id="51" name="TextBox 50">
            <a:extLst>
              <a:ext uri="{FF2B5EF4-FFF2-40B4-BE49-F238E27FC236}">
                <a16:creationId xmlns:a16="http://schemas.microsoft.com/office/drawing/2014/main" id="{AC75F4D4-BBCE-E436-4D46-E18AAFAC5DD4}"/>
              </a:ext>
            </a:extLst>
          </p:cNvPr>
          <p:cNvSpPr txBox="1"/>
          <p:nvPr/>
        </p:nvSpPr>
        <p:spPr>
          <a:xfrm>
            <a:off x="193166" y="5334000"/>
            <a:ext cx="4500563" cy="1600438"/>
          </a:xfrm>
          <a:prstGeom prst="rect">
            <a:avLst/>
          </a:prstGeom>
          <a:noFill/>
        </p:spPr>
        <p:txBody>
          <a:bodyPr wrap="square">
            <a:spAutoFit/>
          </a:bodyPr>
          <a:lstStyle/>
          <a:p>
            <a:pPr marL="36830" marR="0">
              <a:lnSpc>
                <a:spcPct val="100000"/>
              </a:lnSpc>
              <a:spcBef>
                <a:spcPts val="320"/>
              </a:spcBef>
              <a:spcAft>
                <a:spcPts val="800"/>
              </a:spcAft>
              <a:buNone/>
            </a:pPr>
            <a:r>
              <a:rPr lang="en-US" sz="1400" b="1" i="1" dirty="0">
                <a:solidFill>
                  <a:srgbClr val="5B6B7A"/>
                </a:solidFill>
                <a:latin typeface="Calibri"/>
                <a:cs typeface="Calibri"/>
              </a:rPr>
              <a:t>Note: </a:t>
            </a:r>
            <a:r>
              <a:rPr lang="en-US" sz="1400" i="1" dirty="0">
                <a:solidFill>
                  <a:srgbClr val="5B6B7A"/>
                </a:solidFill>
                <a:latin typeface="Calibri"/>
                <a:cs typeface="Calibri"/>
              </a:rPr>
              <a:t>Indonesia observed history (solid, to 2023) and ASEAN comparators are WPP-scaled reference series. Modeled Indonesia scenarios (dashed, 2025-2050) use the GBD-calibrated model baseline. ASEAN Comparator trends correspond to a linear extrapolation for illustrative reference. Tobacco and PH correspond to a 75% excise tax scenario.</a:t>
            </a:r>
          </a:p>
        </p:txBody>
      </p:sp>
      <p:sp>
        <p:nvSpPr>
          <p:cNvPr id="5" name="Oval 4">
            <a:extLst>
              <a:ext uri="{FF2B5EF4-FFF2-40B4-BE49-F238E27FC236}">
                <a16:creationId xmlns:a16="http://schemas.microsoft.com/office/drawing/2014/main" id="{BB89D659-BAD1-8591-0B27-4E4030963B6E}"/>
              </a:ext>
            </a:extLst>
          </p:cNvPr>
          <p:cNvSpPr/>
          <p:nvPr/>
        </p:nvSpPr>
        <p:spPr>
          <a:xfrm>
            <a:off x="7239000" y="3429000"/>
            <a:ext cx="533400" cy="304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 name="Rounded Rectangle 2">
            <a:extLst>
              <a:ext uri="{FF2B5EF4-FFF2-40B4-BE49-F238E27FC236}">
                <a16:creationId xmlns:a16="http://schemas.microsoft.com/office/drawing/2014/main" id="{6226A705-3710-3015-23A2-010876B58563}"/>
              </a:ext>
            </a:extLst>
          </p:cNvPr>
          <p:cNvSpPr/>
          <p:nvPr/>
        </p:nvSpPr>
        <p:spPr>
          <a:xfrm>
            <a:off x="4848226" y="5431790"/>
            <a:ext cx="4102608" cy="1295400"/>
          </a:xfrm>
          <a:prstGeom prst="roundRect">
            <a:avLst>
              <a:gd name="adj" fmla="val 6000"/>
            </a:avLst>
          </a:prstGeom>
          <a:solidFill>
            <a:srgbClr val="F7F9FC"/>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lIns="164592" tIns="100584" rIns="164592" bIns="36576" rtlCol="0" anchor="t"/>
          <a:lstStyle/>
          <a:p>
            <a:pPr algn="l"/>
            <a:r>
              <a:rPr lang="en-US" sz="1600" b="1" dirty="0">
                <a:solidFill>
                  <a:srgbClr val="002060"/>
                </a:solidFill>
                <a:latin typeface="Calibri"/>
              </a:rPr>
              <a:t>Achieving Singapore-level mortality would require additional action on prevention (e.g., lead abatement, air pollution control) and treatment (novel CVD therapies)</a:t>
            </a:r>
            <a:endParaRPr sz="1600" b="0" i="0" dirty="0">
              <a:solidFill>
                <a:schemeClr val="tx1"/>
              </a:solidFill>
              <a:latin typeface="Calibri"/>
            </a:endParaRPr>
          </a:p>
        </p:txBody>
      </p:sp>
      <p:pic>
        <p:nvPicPr>
          <p:cNvPr id="7" name="Picture 6">
            <a:extLst>
              <a:ext uri="{FF2B5EF4-FFF2-40B4-BE49-F238E27FC236}">
                <a16:creationId xmlns:a16="http://schemas.microsoft.com/office/drawing/2014/main" id="{086AB707-C3AE-4452-31A5-5A5BA2788BA7}"/>
              </a:ext>
            </a:extLst>
          </p:cNvPr>
          <p:cNvPicPr>
            <a:picLocks noChangeAspect="1"/>
          </p:cNvPicPr>
          <p:nvPr/>
        </p:nvPicPr>
        <p:blipFill>
          <a:blip r:embed="rId4"/>
          <a:stretch>
            <a:fillRect/>
          </a:stretch>
        </p:blipFill>
        <p:spPr>
          <a:xfrm>
            <a:off x="0" y="1727207"/>
            <a:ext cx="9144000" cy="3502547"/>
          </a:xfrm>
          <a:prstGeom prst="rect">
            <a:avLst/>
          </a:prstGeom>
        </p:spPr>
      </p:pic>
    </p:spTree>
  </p:cSld>
  <p:clrMapOvr>
    <a:masterClrMapping/>
  </p:clrMapOvr>
  <p:transition>
    <p:cut/>
  </p:transition>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95FD3-EA30-5127-702B-7406DE3B3D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A6B224-633E-6FCE-2DF9-D8799843951D}"/>
              </a:ext>
            </a:extLst>
          </p:cNvPr>
          <p:cNvSpPr>
            <a:spLocks noGrp="1"/>
          </p:cNvSpPr>
          <p:nvPr>
            <p:ph idx="1"/>
          </p:nvPr>
        </p:nvSpPr>
        <p:spPr>
          <a:xfrm>
            <a:off x="457200" y="2667000"/>
            <a:ext cx="8229600" cy="1523999"/>
          </a:xfrm>
        </p:spPr>
        <p:txBody>
          <a:bodyPr>
            <a:noAutofit/>
          </a:bodyPr>
          <a:lstStyle/>
          <a:p>
            <a:pPr marL="0" indent="0" algn="ctr">
              <a:buNone/>
            </a:pPr>
            <a:r>
              <a:rPr lang="en-US" sz="4000" b="1" dirty="0">
                <a:solidFill>
                  <a:srgbClr val="002060"/>
                </a:solidFill>
              </a:rPr>
              <a:t>Message 3. </a:t>
            </a:r>
            <a:r>
              <a:rPr lang="en-US" sz="4000" dirty="0">
                <a:solidFill>
                  <a:srgbClr val="002060"/>
                </a:solidFill>
              </a:rPr>
              <a:t>The financial risk protection implications of CVD are considerable</a:t>
            </a:r>
          </a:p>
        </p:txBody>
      </p:sp>
    </p:spTree>
    <p:extLst>
      <p:ext uri="{BB962C8B-B14F-4D97-AF65-F5344CB8AC3E}">
        <p14:creationId xmlns:p14="http://schemas.microsoft.com/office/powerpoint/2010/main" val="36533079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AB003-CFD3-3582-A548-2ABE98C30967}"/>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35C711B-001F-86E1-48DA-0C3E03DC8E5F}"/>
              </a:ext>
            </a:extLst>
          </p:cNvPr>
          <p:cNvSpPr>
            <a:spLocks noGrp="1"/>
          </p:cNvSpPr>
          <p:nvPr>
            <p:ph sz="quarter" idx="13"/>
          </p:nvPr>
        </p:nvSpPr>
        <p:spPr>
          <a:xfrm>
            <a:off x="340218" y="3028525"/>
            <a:ext cx="8498981" cy="3372275"/>
          </a:xfrm>
        </p:spPr>
        <p:txBody>
          <a:bodyPr>
            <a:noAutofit/>
          </a:bodyPr>
          <a:lstStyle/>
          <a:p>
            <a:pPr marL="0" indent="0">
              <a:buNone/>
            </a:pPr>
            <a:r>
              <a:rPr lang="en-US" sz="2600" b="1" u="sng" dirty="0">
                <a:latin typeface="Calibri" panose="020F0502020204030204" pitchFamily="34" charset="0"/>
                <a:cs typeface="Calibri" panose="020F0502020204030204" pitchFamily="34" charset="0"/>
              </a:rPr>
              <a:t>Objective</a:t>
            </a:r>
            <a:r>
              <a:rPr lang="en-US" sz="2600" b="1" dirty="0">
                <a:latin typeface="Calibri" panose="020F0502020204030204" pitchFamily="34" charset="0"/>
                <a:cs typeface="Calibri" panose="020F0502020204030204" pitchFamily="34" charset="0"/>
              </a:rPr>
              <a:t>: To estimate the lack of financial risk protection associated with chronic care and acute events associated with CVD</a:t>
            </a:r>
          </a:p>
          <a:p>
            <a:r>
              <a:rPr lang="en-US" sz="2600" dirty="0">
                <a:latin typeface="Calibri" panose="020F0502020204030204" pitchFamily="34" charset="0"/>
                <a:cs typeface="Calibri" panose="020F0502020204030204" pitchFamily="34" charset="0"/>
              </a:rPr>
              <a:t>We assess the number of cases of catastrophic health expenditures associated with out-of-pocket costs related to CVD care under different scenarios under JKN</a:t>
            </a:r>
          </a:p>
          <a:p>
            <a:endParaRPr lang="en-US" sz="2200" dirty="0">
              <a:solidFill>
                <a:srgbClr val="002060"/>
              </a:solidFill>
              <a:latin typeface="Calibri" panose="020F0502020204030204" pitchFamily="34" charset="0"/>
              <a:cs typeface="Calibri" panose="020F0502020204030204" pitchFamily="34" charset="0"/>
            </a:endParaRPr>
          </a:p>
        </p:txBody>
      </p:sp>
      <p:sp>
        <p:nvSpPr>
          <p:cNvPr id="5" name="Text Placeholder 1">
            <a:extLst>
              <a:ext uri="{FF2B5EF4-FFF2-40B4-BE49-F238E27FC236}">
                <a16:creationId xmlns:a16="http://schemas.microsoft.com/office/drawing/2014/main" id="{916287D3-F664-2C6C-9B0A-C62D4C5022D5}"/>
              </a:ext>
            </a:extLst>
          </p:cNvPr>
          <p:cNvSpPr>
            <a:spLocks noGrp="1"/>
          </p:cNvSpPr>
          <p:nvPr>
            <p:ph type="body" sz="quarter" idx="12"/>
          </p:nvPr>
        </p:nvSpPr>
        <p:spPr>
          <a:xfrm>
            <a:off x="510594" y="1321303"/>
            <a:ext cx="8176206" cy="431297"/>
          </a:xfrm>
        </p:spPr>
        <p:txBody>
          <a:bodyPr>
            <a:noAutofit/>
          </a:bodyPr>
          <a:lstStyle/>
          <a:p>
            <a:pPr marL="0" indent="0" algn="ctr">
              <a:buNone/>
            </a:pPr>
            <a:r>
              <a:rPr lang="en-US" sz="3600" b="1" dirty="0">
                <a:solidFill>
                  <a:srgbClr val="002060"/>
                </a:solidFill>
              </a:rPr>
              <a:t>question: </a:t>
            </a:r>
            <a:r>
              <a:rPr lang="en-US" sz="3600" dirty="0">
                <a:solidFill>
                  <a:srgbClr val="002060"/>
                </a:solidFill>
              </a:rPr>
              <a:t>What are the FINANCIAL CONSEQUENCES OF CVD FOR INDONESIAN HOUSEHOLDS?</a:t>
            </a:r>
          </a:p>
        </p:txBody>
      </p:sp>
      <p:sp>
        <p:nvSpPr>
          <p:cNvPr id="8" name="Content Placeholder 3">
            <a:extLst>
              <a:ext uri="{FF2B5EF4-FFF2-40B4-BE49-F238E27FC236}">
                <a16:creationId xmlns:a16="http://schemas.microsoft.com/office/drawing/2014/main" id="{8AF5CA97-21F5-EB58-3518-A64D53E1ED0D}"/>
              </a:ext>
            </a:extLst>
          </p:cNvPr>
          <p:cNvSpPr txBox="1">
            <a:spLocks/>
          </p:cNvSpPr>
          <p:nvPr/>
        </p:nvSpPr>
        <p:spPr>
          <a:xfrm>
            <a:off x="756997" y="5194641"/>
            <a:ext cx="7753411" cy="595719"/>
          </a:xfrm>
          <a:prstGeom prst="rect">
            <a:avLst/>
          </a:prstGeom>
        </p:spPr>
        <p:txBody>
          <a:bodyPr vert="horz" lIns="34299" tIns="17149" rIns="34299" bIns="17149" rtlCol="0">
            <a:norm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endParaRPr lang="en-US" sz="1500" b="1" dirty="0">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044439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017798"/>
            <a:ext cx="8503920" cy="264688"/>
          </a:xfrm>
          <a:prstGeom prst="rect">
            <a:avLst/>
          </a:prstGeom>
          <a:noFill/>
        </p:spPr>
        <p:txBody>
          <a:bodyPr wrap="square" lIns="18288" tIns="9144" rIns="18288" bIns="9144" anchor="t">
            <a:spAutoFit/>
          </a:bodyPr>
          <a:lstStyle/>
          <a:p>
            <a:pPr algn="ctr"/>
            <a:r>
              <a:rPr sz="1600" b="1" i="0" dirty="0">
                <a:latin typeface="Calibri"/>
              </a:rPr>
              <a:t>282 million people</a:t>
            </a:r>
            <a:r>
              <a:rPr sz="1600" b="0" i="0" dirty="0">
                <a:latin typeface="Calibri"/>
              </a:rPr>
              <a:t>, all assumed enrolled in JKN, </a:t>
            </a:r>
            <a:r>
              <a:rPr lang="en-US" sz="1600" dirty="0">
                <a:latin typeface="Calibri"/>
              </a:rPr>
              <a:t>grouped</a:t>
            </a:r>
            <a:r>
              <a:rPr sz="1600" b="0" i="0" dirty="0">
                <a:latin typeface="Calibri"/>
              </a:rPr>
              <a:t> </a:t>
            </a:r>
            <a:r>
              <a:rPr lang="en-US" sz="1600" dirty="0">
                <a:latin typeface="Calibri"/>
              </a:rPr>
              <a:t>by</a:t>
            </a:r>
            <a:r>
              <a:rPr sz="1600" b="0" i="0" dirty="0">
                <a:latin typeface="Calibri"/>
              </a:rPr>
              <a:t> five consumption</a:t>
            </a:r>
            <a:r>
              <a:rPr lang="en-US" sz="1600" b="0" i="0" dirty="0">
                <a:latin typeface="Calibri"/>
              </a:rPr>
              <a:t> </a:t>
            </a:r>
            <a:r>
              <a:rPr sz="1600" b="0" i="0" dirty="0">
                <a:latin typeface="Calibri"/>
              </a:rPr>
              <a:t>expenditure quintiles</a:t>
            </a:r>
          </a:p>
        </p:txBody>
      </p:sp>
      <p:sp>
        <p:nvSpPr>
          <p:cNvPr id="5" name="Rounded Rectangle 4"/>
          <p:cNvSpPr/>
          <p:nvPr/>
        </p:nvSpPr>
        <p:spPr>
          <a:xfrm>
            <a:off x="502920" y="1444752"/>
            <a:ext cx="1539849" cy="292608"/>
          </a:xfrm>
          <a:prstGeom prst="roundRect">
            <a:avLst>
              <a:gd name="adj" fmla="val 18000"/>
            </a:avLst>
          </a:prstGeom>
          <a:ln/>
        </p:spPr>
        <p:style>
          <a:lnRef idx="2">
            <a:schemeClr val="dk1"/>
          </a:lnRef>
          <a:fillRef idx="1">
            <a:schemeClr val="lt1"/>
          </a:fillRef>
          <a:effectRef idx="0">
            <a:schemeClr val="dk1"/>
          </a:effectRef>
          <a:fontRef idx="minor">
            <a:schemeClr val="dk1"/>
          </a:fontRef>
        </p:style>
        <p:txBody>
          <a:bodyPr wrap="square" lIns="27432" tIns="36576" rIns="27432" bIns="36576" rtlCol="0" anchor="ctr"/>
          <a:lstStyle/>
          <a:p>
            <a:pPr algn="ctr"/>
            <a:r>
              <a:rPr sz="1400" b="1" i="0" dirty="0">
                <a:solidFill>
                  <a:schemeClr val="tx1"/>
                </a:solidFill>
                <a:latin typeface="Calibri"/>
              </a:rPr>
              <a:t>Q1  poorest</a:t>
            </a:r>
          </a:p>
        </p:txBody>
      </p:sp>
      <p:sp>
        <p:nvSpPr>
          <p:cNvPr id="6" name="Rounded Rectangle 5"/>
          <p:cNvSpPr/>
          <p:nvPr/>
        </p:nvSpPr>
        <p:spPr>
          <a:xfrm>
            <a:off x="2152497" y="1444752"/>
            <a:ext cx="1539849" cy="292608"/>
          </a:xfrm>
          <a:prstGeom prst="roundRect">
            <a:avLst>
              <a:gd name="adj" fmla="val 18000"/>
            </a:avLst>
          </a:prstGeom>
          <a:ln/>
        </p:spPr>
        <p:style>
          <a:lnRef idx="2">
            <a:schemeClr val="dk1"/>
          </a:lnRef>
          <a:fillRef idx="1">
            <a:schemeClr val="lt1"/>
          </a:fillRef>
          <a:effectRef idx="0">
            <a:schemeClr val="dk1"/>
          </a:effectRef>
          <a:fontRef idx="minor">
            <a:schemeClr val="dk1"/>
          </a:fontRef>
        </p:style>
        <p:txBody>
          <a:bodyPr wrap="square" lIns="27432" tIns="36576" rIns="27432" bIns="36576" rtlCol="0" anchor="ctr"/>
          <a:lstStyle/>
          <a:p>
            <a:pPr algn="ctr"/>
            <a:r>
              <a:rPr sz="1400" b="1" i="0">
                <a:solidFill>
                  <a:schemeClr val="tx1"/>
                </a:solidFill>
                <a:latin typeface="Calibri"/>
              </a:rPr>
              <a:t>Q2</a:t>
            </a:r>
          </a:p>
        </p:txBody>
      </p:sp>
      <p:sp>
        <p:nvSpPr>
          <p:cNvPr id="7" name="Rounded Rectangle 6"/>
          <p:cNvSpPr/>
          <p:nvPr/>
        </p:nvSpPr>
        <p:spPr>
          <a:xfrm>
            <a:off x="3802075" y="1444752"/>
            <a:ext cx="1539849" cy="292608"/>
          </a:xfrm>
          <a:prstGeom prst="roundRect">
            <a:avLst>
              <a:gd name="adj" fmla="val 18000"/>
            </a:avLst>
          </a:prstGeom>
          <a:ln/>
        </p:spPr>
        <p:style>
          <a:lnRef idx="2">
            <a:schemeClr val="dk1"/>
          </a:lnRef>
          <a:fillRef idx="1">
            <a:schemeClr val="lt1"/>
          </a:fillRef>
          <a:effectRef idx="0">
            <a:schemeClr val="dk1"/>
          </a:effectRef>
          <a:fontRef idx="minor">
            <a:schemeClr val="dk1"/>
          </a:fontRef>
        </p:style>
        <p:txBody>
          <a:bodyPr wrap="square" lIns="27432" tIns="36576" rIns="27432" bIns="36576" rtlCol="0" anchor="ctr"/>
          <a:lstStyle/>
          <a:p>
            <a:pPr algn="ctr"/>
            <a:r>
              <a:rPr sz="1400" b="1" i="0">
                <a:solidFill>
                  <a:schemeClr val="tx1"/>
                </a:solidFill>
                <a:latin typeface="Calibri"/>
              </a:rPr>
              <a:t>Q3</a:t>
            </a:r>
          </a:p>
        </p:txBody>
      </p:sp>
      <p:sp>
        <p:nvSpPr>
          <p:cNvPr id="8" name="Rounded Rectangle 7"/>
          <p:cNvSpPr/>
          <p:nvPr/>
        </p:nvSpPr>
        <p:spPr>
          <a:xfrm>
            <a:off x="5451652" y="1444752"/>
            <a:ext cx="1539849" cy="292608"/>
          </a:xfrm>
          <a:prstGeom prst="roundRect">
            <a:avLst>
              <a:gd name="adj" fmla="val 18000"/>
            </a:avLst>
          </a:prstGeom>
          <a:ln/>
        </p:spPr>
        <p:style>
          <a:lnRef idx="2">
            <a:schemeClr val="dk1"/>
          </a:lnRef>
          <a:fillRef idx="1">
            <a:schemeClr val="lt1"/>
          </a:fillRef>
          <a:effectRef idx="0">
            <a:schemeClr val="dk1"/>
          </a:effectRef>
          <a:fontRef idx="minor">
            <a:schemeClr val="dk1"/>
          </a:fontRef>
        </p:style>
        <p:txBody>
          <a:bodyPr wrap="square" lIns="27432" tIns="36576" rIns="27432" bIns="36576" rtlCol="0" anchor="ctr"/>
          <a:lstStyle/>
          <a:p>
            <a:pPr algn="ctr"/>
            <a:r>
              <a:rPr sz="1400" b="1" i="0">
                <a:solidFill>
                  <a:schemeClr val="tx1"/>
                </a:solidFill>
                <a:latin typeface="Calibri"/>
              </a:rPr>
              <a:t>Q4</a:t>
            </a:r>
          </a:p>
        </p:txBody>
      </p:sp>
      <p:sp>
        <p:nvSpPr>
          <p:cNvPr id="9" name="Rounded Rectangle 8"/>
          <p:cNvSpPr/>
          <p:nvPr/>
        </p:nvSpPr>
        <p:spPr>
          <a:xfrm>
            <a:off x="7101230" y="1444752"/>
            <a:ext cx="1539849" cy="292608"/>
          </a:xfrm>
          <a:prstGeom prst="roundRect">
            <a:avLst>
              <a:gd name="adj" fmla="val 18000"/>
            </a:avLst>
          </a:prstGeom>
          <a:ln/>
        </p:spPr>
        <p:style>
          <a:lnRef idx="2">
            <a:schemeClr val="dk1"/>
          </a:lnRef>
          <a:fillRef idx="1">
            <a:schemeClr val="lt1"/>
          </a:fillRef>
          <a:effectRef idx="0">
            <a:schemeClr val="dk1"/>
          </a:effectRef>
          <a:fontRef idx="minor">
            <a:schemeClr val="dk1"/>
          </a:fontRef>
        </p:style>
        <p:txBody>
          <a:bodyPr wrap="square" lIns="27432" tIns="36576" rIns="27432" bIns="36576" rtlCol="0" anchor="ctr"/>
          <a:lstStyle/>
          <a:p>
            <a:pPr algn="ctr"/>
            <a:r>
              <a:rPr sz="1400" b="1" i="0" dirty="0">
                <a:solidFill>
                  <a:schemeClr val="tx1"/>
                </a:solidFill>
                <a:latin typeface="Calibri"/>
              </a:rPr>
              <a:t>Q5  richest</a:t>
            </a:r>
          </a:p>
        </p:txBody>
      </p:sp>
      <p:sp>
        <p:nvSpPr>
          <p:cNvPr id="10" name="Rounded Rectangle 9"/>
          <p:cNvSpPr/>
          <p:nvPr/>
        </p:nvSpPr>
        <p:spPr>
          <a:xfrm>
            <a:off x="502920" y="1993392"/>
            <a:ext cx="3886200" cy="1280160"/>
          </a:xfrm>
          <a:prstGeom prst="roundRect">
            <a:avLst>
              <a:gd name="adj" fmla="val 6000"/>
            </a:avLst>
          </a:prstGeom>
          <a:solidFill>
            <a:srgbClr val="EDF1F7"/>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36576" rtlCol="0" anchor="t"/>
          <a:lstStyle/>
          <a:p>
            <a:pPr algn="l"/>
            <a:r>
              <a:rPr sz="1600" b="1" i="0" dirty="0">
                <a:solidFill>
                  <a:srgbClr val="002060"/>
                </a:solidFill>
                <a:latin typeface="Calibri"/>
              </a:rPr>
              <a:t>CHRONIC CARE</a:t>
            </a:r>
          </a:p>
          <a:p>
            <a:pPr algn="l">
              <a:spcBef>
                <a:spcPts val="300"/>
              </a:spcBef>
            </a:pPr>
            <a:r>
              <a:rPr sz="2000" b="1" i="0" dirty="0">
                <a:solidFill>
                  <a:srgbClr val="262626"/>
                </a:solidFill>
                <a:latin typeface="Calibri"/>
              </a:rPr>
              <a:t>15.6M patients in care</a:t>
            </a:r>
          </a:p>
          <a:p>
            <a:pPr algn="l"/>
            <a:r>
              <a:rPr sz="1200" b="0" i="0" dirty="0">
                <a:solidFill>
                  <a:srgbClr val="595959"/>
                </a:solidFill>
                <a:latin typeface="Calibri"/>
              </a:rPr>
              <a:t>living with CVD or diabetes</a:t>
            </a:r>
          </a:p>
          <a:p>
            <a:pPr algn="l">
              <a:spcBef>
                <a:spcPts val="600"/>
              </a:spcBef>
            </a:pPr>
            <a:r>
              <a:rPr sz="1400" b="0" i="0" dirty="0">
                <a:solidFill>
                  <a:srgbClr val="1F4E79"/>
                </a:solidFill>
                <a:latin typeface="Calibri"/>
              </a:rPr>
              <a:t>Full cost:  IDR 0.9 – 5.2M per patient</a:t>
            </a:r>
            <a:r>
              <a:rPr lang="en-US" sz="1400" b="0" i="0" dirty="0">
                <a:solidFill>
                  <a:srgbClr val="1F4E79"/>
                </a:solidFill>
                <a:latin typeface="Calibri"/>
              </a:rPr>
              <a:t> per year</a:t>
            </a:r>
            <a:endParaRPr sz="1400" b="0" i="0" dirty="0">
              <a:solidFill>
                <a:srgbClr val="1F4E79"/>
              </a:solidFill>
              <a:latin typeface="Calibri"/>
            </a:endParaRPr>
          </a:p>
        </p:txBody>
      </p:sp>
      <p:sp>
        <p:nvSpPr>
          <p:cNvPr id="11" name="Rounded Rectangle 10"/>
          <p:cNvSpPr/>
          <p:nvPr/>
        </p:nvSpPr>
        <p:spPr>
          <a:xfrm>
            <a:off x="3547872" y="1883664"/>
            <a:ext cx="731520" cy="219456"/>
          </a:xfrm>
          <a:prstGeom prst="roundRect">
            <a:avLst>
              <a:gd name="adj" fmla="val 3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200" b="1" i="0">
                <a:solidFill>
                  <a:srgbClr val="FFFFFF"/>
                </a:solidFill>
                <a:latin typeface="Calibri"/>
              </a:rPr>
              <a:t>INPUT 1</a:t>
            </a:r>
          </a:p>
        </p:txBody>
      </p:sp>
      <p:sp>
        <p:nvSpPr>
          <p:cNvPr id="12" name="Rounded Rectangle 11"/>
          <p:cNvSpPr/>
          <p:nvPr/>
        </p:nvSpPr>
        <p:spPr>
          <a:xfrm>
            <a:off x="4754880" y="1993392"/>
            <a:ext cx="3886200" cy="1305892"/>
          </a:xfrm>
          <a:prstGeom prst="roundRect">
            <a:avLst>
              <a:gd name="adj" fmla="val 6000"/>
            </a:avLst>
          </a:prstGeom>
          <a:solidFill>
            <a:srgbClr val="EDF1F7"/>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36576" rtlCol="0" anchor="t"/>
          <a:lstStyle/>
          <a:p>
            <a:pPr algn="l"/>
            <a:r>
              <a:rPr sz="1600" b="1" i="0" dirty="0">
                <a:solidFill>
                  <a:srgbClr val="002060"/>
                </a:solidFill>
                <a:latin typeface="Calibri"/>
              </a:rPr>
              <a:t>ACUTE EVENTS</a:t>
            </a:r>
          </a:p>
          <a:p>
            <a:pPr algn="l">
              <a:spcBef>
                <a:spcPts val="300"/>
              </a:spcBef>
            </a:pPr>
            <a:r>
              <a:rPr sz="2000" b="1" i="0" dirty="0">
                <a:solidFill>
                  <a:srgbClr val="262626"/>
                </a:solidFill>
                <a:latin typeface="Calibri"/>
              </a:rPr>
              <a:t>1.</a:t>
            </a:r>
            <a:r>
              <a:rPr lang="en-US" sz="2000" b="1" i="0" dirty="0">
                <a:solidFill>
                  <a:srgbClr val="262626"/>
                </a:solidFill>
                <a:latin typeface="Calibri"/>
              </a:rPr>
              <a:t>9</a:t>
            </a:r>
            <a:r>
              <a:rPr sz="2000" b="1" i="0" dirty="0">
                <a:solidFill>
                  <a:srgbClr val="262626"/>
                </a:solidFill>
                <a:latin typeface="Calibri"/>
              </a:rPr>
              <a:t>M hospitali</a:t>
            </a:r>
            <a:r>
              <a:rPr lang="en-US" sz="2000" b="1" i="0" dirty="0">
                <a:solidFill>
                  <a:srgbClr val="262626"/>
                </a:solidFill>
                <a:latin typeface="Calibri"/>
              </a:rPr>
              <a:t>z</a:t>
            </a:r>
            <a:r>
              <a:rPr sz="2000" b="1" i="0" dirty="0">
                <a:solidFill>
                  <a:srgbClr val="262626"/>
                </a:solidFill>
                <a:latin typeface="Calibri"/>
              </a:rPr>
              <a:t>ations a year</a:t>
            </a:r>
          </a:p>
          <a:p>
            <a:pPr algn="l"/>
            <a:r>
              <a:rPr sz="1200" b="0" i="0" dirty="0">
                <a:solidFill>
                  <a:srgbClr val="595959"/>
                </a:solidFill>
                <a:latin typeface="Calibri"/>
              </a:rPr>
              <a:t>stroke, intracerebral hemorrhage, heart attack</a:t>
            </a:r>
          </a:p>
          <a:p>
            <a:pPr algn="l">
              <a:spcBef>
                <a:spcPts val="600"/>
              </a:spcBef>
            </a:pPr>
            <a:r>
              <a:rPr sz="1400" b="0" i="0" dirty="0">
                <a:solidFill>
                  <a:srgbClr val="1F4E79"/>
                </a:solidFill>
                <a:latin typeface="Calibri"/>
              </a:rPr>
              <a:t>Full cost:  IDR </a:t>
            </a:r>
            <a:r>
              <a:rPr lang="en-US" sz="1400" dirty="0">
                <a:solidFill>
                  <a:srgbClr val="1F4E79"/>
                </a:solidFill>
                <a:latin typeface="Calibri"/>
              </a:rPr>
              <a:t>7.0</a:t>
            </a:r>
            <a:r>
              <a:rPr sz="1400" b="0" i="0" dirty="0">
                <a:solidFill>
                  <a:srgbClr val="1F4E79"/>
                </a:solidFill>
                <a:latin typeface="Calibri"/>
              </a:rPr>
              <a:t>M per admission (INA-CBG)</a:t>
            </a:r>
          </a:p>
        </p:txBody>
      </p:sp>
      <p:sp>
        <p:nvSpPr>
          <p:cNvPr id="13" name="Rounded Rectangle 12"/>
          <p:cNvSpPr/>
          <p:nvPr/>
        </p:nvSpPr>
        <p:spPr>
          <a:xfrm>
            <a:off x="7799831" y="1883664"/>
            <a:ext cx="731520" cy="219456"/>
          </a:xfrm>
          <a:prstGeom prst="roundRect">
            <a:avLst>
              <a:gd name="adj" fmla="val 3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200" b="1" i="0">
                <a:solidFill>
                  <a:srgbClr val="FFFFFF"/>
                </a:solidFill>
                <a:latin typeface="Calibri"/>
              </a:rPr>
              <a:t>INPUT 2</a:t>
            </a:r>
          </a:p>
        </p:txBody>
      </p:sp>
      <p:sp>
        <p:nvSpPr>
          <p:cNvPr id="14" name="Down Arrow 13"/>
          <p:cNvSpPr/>
          <p:nvPr/>
        </p:nvSpPr>
        <p:spPr>
          <a:xfrm>
            <a:off x="2308860" y="3352800"/>
            <a:ext cx="274320" cy="237744"/>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Down Arrow 14"/>
          <p:cNvSpPr/>
          <p:nvPr/>
        </p:nvSpPr>
        <p:spPr>
          <a:xfrm>
            <a:off x="6560820" y="3352800"/>
            <a:ext cx="274320" cy="237744"/>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584448"/>
            <a:ext cx="8138160" cy="1373406"/>
          </a:xfrm>
          <a:prstGeom prst="roundRect">
            <a:avLst>
              <a:gd name="adj" fmla="val 6000"/>
            </a:avLst>
          </a:prstGeom>
          <a:solidFill>
            <a:srgbClr val="F7F9FC"/>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85800" y="3657600"/>
            <a:ext cx="7315200" cy="264688"/>
          </a:xfrm>
          <a:prstGeom prst="rect">
            <a:avLst/>
          </a:prstGeom>
          <a:noFill/>
        </p:spPr>
        <p:txBody>
          <a:bodyPr wrap="square" lIns="18288" tIns="9144" rIns="18288" bIns="9144" anchor="t">
            <a:spAutoFit/>
          </a:bodyPr>
          <a:lstStyle/>
          <a:p>
            <a:pPr algn="l"/>
            <a:r>
              <a:rPr sz="1600" b="1" i="0" dirty="0">
                <a:solidFill>
                  <a:srgbClr val="002060"/>
                </a:solidFill>
                <a:latin typeface="Calibri"/>
              </a:rPr>
              <a:t>WHAT </a:t>
            </a:r>
            <a:r>
              <a:rPr lang="en-US" sz="1600" b="1" dirty="0">
                <a:solidFill>
                  <a:srgbClr val="002060"/>
                </a:solidFill>
                <a:latin typeface="Calibri"/>
              </a:rPr>
              <a:t>HAPPENS</a:t>
            </a:r>
            <a:r>
              <a:rPr sz="1600" b="0" i="0" dirty="0">
                <a:solidFill>
                  <a:srgbClr val="002060"/>
                </a:solidFill>
                <a:latin typeface="Calibri"/>
              </a:rPr>
              <a:t>  —  was the</a:t>
            </a:r>
            <a:r>
              <a:rPr lang="en-US" sz="1600" b="0" i="0" dirty="0">
                <a:solidFill>
                  <a:srgbClr val="002060"/>
                </a:solidFill>
                <a:latin typeface="Calibri"/>
              </a:rPr>
              <a:t> service</a:t>
            </a:r>
            <a:r>
              <a:rPr sz="1600" b="0" i="0" dirty="0">
                <a:solidFill>
                  <a:srgbClr val="002060"/>
                </a:solidFill>
                <a:latin typeface="Calibri"/>
              </a:rPr>
              <a:t> actually </a:t>
            </a:r>
            <a:r>
              <a:rPr lang="en-US" sz="1600" b="0" i="0" dirty="0">
                <a:solidFill>
                  <a:srgbClr val="002060"/>
                </a:solidFill>
                <a:latin typeface="Calibri"/>
              </a:rPr>
              <a:t>covered</a:t>
            </a:r>
            <a:r>
              <a:rPr sz="1600" b="0" i="0" dirty="0">
                <a:solidFill>
                  <a:srgbClr val="002060"/>
                </a:solidFill>
                <a:latin typeface="Calibri"/>
              </a:rPr>
              <a:t>?</a:t>
            </a:r>
          </a:p>
        </p:txBody>
      </p:sp>
      <p:sp>
        <p:nvSpPr>
          <p:cNvPr id="18" name="Rounded Rectangle 17"/>
          <p:cNvSpPr/>
          <p:nvPr/>
        </p:nvSpPr>
        <p:spPr>
          <a:xfrm>
            <a:off x="7799832" y="3474720"/>
            <a:ext cx="731520" cy="219456"/>
          </a:xfrm>
          <a:prstGeom prst="roundRect">
            <a:avLst>
              <a:gd name="adj" fmla="val 3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200" b="1" i="0">
                <a:solidFill>
                  <a:srgbClr val="FFFFFF"/>
                </a:solidFill>
                <a:latin typeface="Calibri"/>
              </a:rPr>
              <a:t>INPUT 3</a:t>
            </a:r>
          </a:p>
        </p:txBody>
      </p:sp>
      <p:sp>
        <p:nvSpPr>
          <p:cNvPr id="19" name="Rounded Rectangle 18"/>
          <p:cNvSpPr/>
          <p:nvPr/>
        </p:nvSpPr>
        <p:spPr>
          <a:xfrm>
            <a:off x="685800" y="3968496"/>
            <a:ext cx="3794760" cy="292608"/>
          </a:xfrm>
          <a:prstGeom prst="roundRect">
            <a:avLst>
              <a:gd name="adj" fmla="val 18000"/>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lIns="27432" tIns="36576" rIns="27432" bIns="36576" rtlCol="0" anchor="ctr"/>
          <a:lstStyle/>
          <a:p>
            <a:pPr algn="ctr"/>
            <a:r>
              <a:rPr lang="en-US" sz="1400" b="1" i="0" dirty="0">
                <a:solidFill>
                  <a:schemeClr val="tx1"/>
                </a:solidFill>
                <a:latin typeface="Calibri"/>
              </a:rPr>
              <a:t>Cover</a:t>
            </a:r>
            <a:r>
              <a:rPr sz="1400" b="1" i="0" dirty="0">
                <a:solidFill>
                  <a:schemeClr val="tx1"/>
                </a:solidFill>
                <a:latin typeface="Calibri"/>
              </a:rPr>
              <a:t>ed  →  household pays </a:t>
            </a:r>
            <a:r>
              <a:rPr lang="en-US" sz="1400" b="1" dirty="0">
                <a:solidFill>
                  <a:schemeClr val="tx1"/>
                </a:solidFill>
                <a:latin typeface="Calibri"/>
              </a:rPr>
              <a:t>a</a:t>
            </a:r>
            <a:r>
              <a:rPr sz="1400" b="1" i="0" dirty="0">
                <a:solidFill>
                  <a:schemeClr val="tx1"/>
                </a:solidFill>
                <a:latin typeface="Calibri"/>
              </a:rPr>
              <a:t> residual</a:t>
            </a:r>
          </a:p>
        </p:txBody>
      </p:sp>
      <p:sp>
        <p:nvSpPr>
          <p:cNvPr id="20" name="Rounded Rectangle 19"/>
          <p:cNvSpPr/>
          <p:nvPr/>
        </p:nvSpPr>
        <p:spPr>
          <a:xfrm>
            <a:off x="4663440" y="3968496"/>
            <a:ext cx="3794760" cy="292608"/>
          </a:xfrm>
          <a:prstGeom prst="roundRect">
            <a:avLst>
              <a:gd name="adj" fmla="val 18000"/>
            </a:avLst>
          </a:prstGeom>
          <a:ln/>
        </p:spPr>
        <p:style>
          <a:lnRef idx="2">
            <a:schemeClr val="accent2"/>
          </a:lnRef>
          <a:fillRef idx="1">
            <a:schemeClr val="lt1"/>
          </a:fillRef>
          <a:effectRef idx="0">
            <a:schemeClr val="accent2"/>
          </a:effectRef>
          <a:fontRef idx="minor">
            <a:schemeClr val="dk1"/>
          </a:fontRef>
        </p:style>
        <p:txBody>
          <a:bodyPr wrap="square" lIns="27432" tIns="36576" rIns="27432" bIns="36576" rtlCol="0" anchor="ctr"/>
          <a:lstStyle/>
          <a:p>
            <a:pPr algn="ctr"/>
            <a:r>
              <a:rPr sz="1400" b="1" i="0" dirty="0">
                <a:solidFill>
                  <a:schemeClr val="tx1"/>
                </a:solidFill>
                <a:latin typeface="Calibri"/>
              </a:rPr>
              <a:t>Not </a:t>
            </a:r>
            <a:r>
              <a:rPr lang="en-US" sz="1400" b="1" i="0" dirty="0">
                <a:solidFill>
                  <a:schemeClr val="tx1"/>
                </a:solidFill>
                <a:latin typeface="Calibri"/>
              </a:rPr>
              <a:t>cove</a:t>
            </a:r>
            <a:r>
              <a:rPr sz="1400" b="1" i="0" dirty="0">
                <a:solidFill>
                  <a:schemeClr val="tx1"/>
                </a:solidFill>
                <a:latin typeface="Calibri"/>
              </a:rPr>
              <a:t>red  →  household </a:t>
            </a:r>
            <a:r>
              <a:rPr lang="en-US" sz="1400" b="1" i="0" dirty="0">
                <a:solidFill>
                  <a:schemeClr val="tx1"/>
                </a:solidFill>
                <a:latin typeface="Calibri"/>
              </a:rPr>
              <a:t>pay</a:t>
            </a:r>
            <a:r>
              <a:rPr sz="1400" b="1" i="0" dirty="0">
                <a:solidFill>
                  <a:schemeClr val="tx1"/>
                </a:solidFill>
                <a:latin typeface="Calibri"/>
              </a:rPr>
              <a:t>s  </a:t>
            </a:r>
            <a:r>
              <a:rPr lang="en-US" sz="1400" b="1" i="0" dirty="0">
                <a:solidFill>
                  <a:schemeClr val="tx1"/>
                </a:solidFill>
                <a:latin typeface="Calibri"/>
              </a:rPr>
              <a:t>full </a:t>
            </a:r>
            <a:r>
              <a:rPr sz="1400" b="1" i="0" dirty="0">
                <a:solidFill>
                  <a:schemeClr val="tx1"/>
                </a:solidFill>
                <a:latin typeface="Calibri"/>
              </a:rPr>
              <a:t>cost</a:t>
            </a:r>
          </a:p>
        </p:txBody>
      </p:sp>
      <p:sp>
        <p:nvSpPr>
          <p:cNvPr id="21" name="TextBox 20"/>
          <p:cNvSpPr txBox="1"/>
          <p:nvPr/>
        </p:nvSpPr>
        <p:spPr>
          <a:xfrm>
            <a:off x="685800" y="4352544"/>
            <a:ext cx="7772400" cy="510909"/>
          </a:xfrm>
          <a:prstGeom prst="rect">
            <a:avLst/>
          </a:prstGeom>
          <a:noFill/>
        </p:spPr>
        <p:txBody>
          <a:bodyPr wrap="square" lIns="18288" tIns="9144" rIns="18288" bIns="9144" anchor="t">
            <a:spAutoFit/>
          </a:bodyPr>
          <a:lstStyle/>
          <a:p>
            <a:pPr algn="ctr"/>
            <a:r>
              <a:rPr sz="1600" b="1" i="0" dirty="0">
                <a:solidFill>
                  <a:srgbClr val="262626"/>
                </a:solidFill>
                <a:latin typeface="Calibri"/>
              </a:rPr>
              <a:t>Household </a:t>
            </a:r>
            <a:r>
              <a:rPr lang="en-US" sz="1600" b="1" i="0" dirty="0">
                <a:solidFill>
                  <a:srgbClr val="262626"/>
                </a:solidFill>
                <a:latin typeface="Calibri"/>
              </a:rPr>
              <a:t>out-of-pocket (</a:t>
            </a:r>
            <a:r>
              <a:rPr sz="1600" b="1" i="0" dirty="0">
                <a:solidFill>
                  <a:srgbClr val="262626"/>
                </a:solidFill>
                <a:latin typeface="Calibri"/>
              </a:rPr>
              <a:t>OOP</a:t>
            </a:r>
            <a:r>
              <a:rPr lang="en-US" sz="1600" b="1" i="0" dirty="0">
                <a:solidFill>
                  <a:srgbClr val="262626"/>
                </a:solidFill>
                <a:latin typeface="Calibri"/>
              </a:rPr>
              <a:t>) costs</a:t>
            </a:r>
            <a:r>
              <a:rPr sz="1600" b="1" i="0" dirty="0">
                <a:solidFill>
                  <a:srgbClr val="262626"/>
                </a:solidFill>
                <a:latin typeface="Calibri"/>
              </a:rPr>
              <a:t>  =  ( 1 − </a:t>
            </a:r>
            <a:r>
              <a:rPr sz="1600" b="1" i="0" dirty="0" err="1">
                <a:solidFill>
                  <a:srgbClr val="262626"/>
                </a:solidFill>
                <a:latin typeface="Calibri"/>
              </a:rPr>
              <a:t>η</a:t>
            </a:r>
            <a:r>
              <a:rPr sz="1600" b="1" i="0" dirty="0">
                <a:solidFill>
                  <a:srgbClr val="262626"/>
                </a:solidFill>
                <a:latin typeface="Calibri"/>
              </a:rPr>
              <a:t> )  ×  cost of care</a:t>
            </a:r>
            <a:r>
              <a:rPr sz="1600" b="0" i="0" dirty="0">
                <a:solidFill>
                  <a:srgbClr val="595959"/>
                </a:solidFill>
                <a:latin typeface="Calibri"/>
              </a:rPr>
              <a:t>        </a:t>
            </a:r>
            <a:endParaRPr lang="en-US" sz="1600" b="0" i="0" dirty="0">
              <a:solidFill>
                <a:srgbClr val="595959"/>
              </a:solidFill>
              <a:latin typeface="Calibri"/>
            </a:endParaRPr>
          </a:p>
          <a:p>
            <a:pPr algn="ctr"/>
            <a:r>
              <a:rPr sz="1600" b="0" i="0" dirty="0" err="1">
                <a:solidFill>
                  <a:srgbClr val="595959"/>
                </a:solidFill>
                <a:latin typeface="Calibri"/>
              </a:rPr>
              <a:t>η</a:t>
            </a:r>
            <a:r>
              <a:rPr sz="1600" b="0" i="0" dirty="0">
                <a:solidFill>
                  <a:srgbClr val="595959"/>
                </a:solidFill>
                <a:latin typeface="Calibri"/>
              </a:rPr>
              <a:t> ≈ 40% for chronic care, 54% for acute</a:t>
            </a:r>
            <a:r>
              <a:rPr lang="en-US" sz="1600" dirty="0">
                <a:solidFill>
                  <a:srgbClr val="595959"/>
                </a:solidFill>
                <a:latin typeface="Calibri"/>
              </a:rPr>
              <a:t> (base case estimates)</a:t>
            </a:r>
            <a:endParaRPr sz="1600" b="0" i="0" dirty="0">
              <a:solidFill>
                <a:srgbClr val="595959"/>
              </a:solidFill>
              <a:latin typeface="Calibri"/>
            </a:endParaRPr>
          </a:p>
        </p:txBody>
      </p:sp>
      <p:sp>
        <p:nvSpPr>
          <p:cNvPr id="22" name="Down Arrow 21"/>
          <p:cNvSpPr/>
          <p:nvPr/>
        </p:nvSpPr>
        <p:spPr>
          <a:xfrm>
            <a:off x="4434839" y="4985180"/>
            <a:ext cx="274320" cy="237744"/>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87680" y="5181600"/>
            <a:ext cx="8138160" cy="786384"/>
          </a:xfrm>
          <a:prstGeom prst="roundRect">
            <a:avLst>
              <a:gd name="adj" fmla="val 6000"/>
            </a:avLst>
          </a:prstGeom>
          <a:ln/>
        </p:spPr>
        <p:style>
          <a:lnRef idx="2">
            <a:schemeClr val="dk1"/>
          </a:lnRef>
          <a:fillRef idx="1">
            <a:schemeClr val="lt1"/>
          </a:fillRef>
          <a:effectRef idx="0">
            <a:schemeClr val="dk1"/>
          </a:effectRef>
          <a:fontRef idx="minor">
            <a:schemeClr val="dk1"/>
          </a:fontRef>
        </p:style>
        <p:txBody>
          <a:bodyPr wrap="square" lIns="73152" tIns="36576" rIns="73152" bIns="36576" rtlCol="0" anchor="ctr"/>
          <a:lstStyle/>
          <a:p>
            <a:pPr algn="ctr"/>
            <a:r>
              <a:rPr lang="en-US" sz="1600" b="1" i="0" dirty="0">
                <a:solidFill>
                  <a:schemeClr val="tx1"/>
                </a:solidFill>
                <a:latin typeface="Calibri"/>
              </a:rPr>
              <a:t>WHEN DOES </a:t>
            </a:r>
            <a:r>
              <a:rPr sz="1600" b="1" i="0" dirty="0">
                <a:solidFill>
                  <a:schemeClr val="tx1"/>
                </a:solidFill>
                <a:latin typeface="Calibri"/>
              </a:rPr>
              <a:t>IT </a:t>
            </a:r>
            <a:r>
              <a:rPr lang="en-US" sz="1600" b="1" i="0" dirty="0">
                <a:solidFill>
                  <a:schemeClr val="tx1"/>
                </a:solidFill>
                <a:latin typeface="Calibri"/>
              </a:rPr>
              <a:t>BECOME </a:t>
            </a:r>
            <a:r>
              <a:rPr sz="1600" b="1" i="0" dirty="0">
                <a:solidFill>
                  <a:schemeClr val="tx1"/>
                </a:solidFill>
                <a:latin typeface="Calibri"/>
              </a:rPr>
              <a:t>CATASTROPHIC?</a:t>
            </a:r>
          </a:p>
          <a:p>
            <a:pPr algn="ctr">
              <a:spcBef>
                <a:spcPts val="300"/>
              </a:spcBef>
            </a:pPr>
            <a:r>
              <a:rPr lang="en-US" b="1" dirty="0">
                <a:solidFill>
                  <a:schemeClr val="tx1"/>
                </a:solidFill>
                <a:latin typeface="Calibri"/>
              </a:rPr>
              <a:t>H</a:t>
            </a:r>
            <a:r>
              <a:rPr b="1" i="0" dirty="0">
                <a:solidFill>
                  <a:schemeClr val="tx1"/>
                </a:solidFill>
                <a:latin typeface="Calibri"/>
              </a:rPr>
              <a:t>ousehold OOP</a:t>
            </a:r>
            <a:r>
              <a:rPr lang="en-US" b="1" i="0" dirty="0">
                <a:solidFill>
                  <a:schemeClr val="tx1"/>
                </a:solidFill>
                <a:latin typeface="Calibri"/>
              </a:rPr>
              <a:t> costs</a:t>
            </a:r>
            <a:r>
              <a:rPr b="1" i="0" dirty="0">
                <a:solidFill>
                  <a:schemeClr val="tx1"/>
                </a:solidFill>
                <a:latin typeface="Calibri"/>
              </a:rPr>
              <a:t>   ÷   annual household </a:t>
            </a:r>
            <a:r>
              <a:rPr lang="en-US" b="1" i="0" dirty="0">
                <a:solidFill>
                  <a:schemeClr val="tx1"/>
                </a:solidFill>
                <a:latin typeface="Calibri"/>
              </a:rPr>
              <a:t>consumption expenditure</a:t>
            </a:r>
            <a:r>
              <a:rPr b="1" i="0" dirty="0">
                <a:solidFill>
                  <a:schemeClr val="tx1"/>
                </a:solidFill>
                <a:latin typeface="Calibri"/>
              </a:rPr>
              <a:t>   &gt;   10%</a:t>
            </a:r>
            <a:endParaRPr sz="1600" b="0" i="0" dirty="0">
              <a:solidFill>
                <a:schemeClr val="tx1"/>
              </a:solidFill>
              <a:latin typeface="Calibri"/>
            </a:endParaRPr>
          </a:p>
        </p:txBody>
      </p:sp>
      <p:sp>
        <p:nvSpPr>
          <p:cNvPr id="24" name="TextBox 23"/>
          <p:cNvSpPr txBox="1"/>
          <p:nvPr/>
        </p:nvSpPr>
        <p:spPr>
          <a:xfrm>
            <a:off x="990600" y="6145328"/>
            <a:ext cx="7289291" cy="664797"/>
          </a:xfrm>
          <a:prstGeom prst="rect">
            <a:avLst/>
          </a:prstGeom>
          <a:noFill/>
        </p:spPr>
        <p:txBody>
          <a:bodyPr wrap="square" lIns="18288" tIns="9144" rIns="18288" bIns="9144" anchor="t">
            <a:spAutoFit/>
          </a:bodyPr>
          <a:lstStyle/>
          <a:p>
            <a:pPr algn="l"/>
            <a:r>
              <a:rPr lang="en-US" sz="1400" b="1" i="0" dirty="0">
                <a:latin typeface="Calibri"/>
              </a:rPr>
              <a:t>Note:</a:t>
            </a:r>
          </a:p>
          <a:p>
            <a:r>
              <a:rPr sz="1400" b="1" i="0" dirty="0" err="1">
                <a:latin typeface="Calibri"/>
              </a:rPr>
              <a:t>η</a:t>
            </a:r>
            <a:r>
              <a:rPr sz="1400" b="1" i="0" dirty="0">
                <a:latin typeface="Calibri"/>
              </a:rPr>
              <a:t> </a:t>
            </a:r>
            <a:r>
              <a:rPr sz="1400" b="0" i="0" dirty="0">
                <a:latin typeface="Calibri"/>
              </a:rPr>
              <a:t>= the share of </a:t>
            </a:r>
            <a:r>
              <a:rPr lang="en-US" sz="1400" dirty="0">
                <a:latin typeface="Calibri"/>
              </a:rPr>
              <a:t>total costs </a:t>
            </a:r>
            <a:r>
              <a:rPr lang="en-US" sz="1400" b="0" i="0" dirty="0">
                <a:latin typeface="Calibri"/>
              </a:rPr>
              <a:t>actually covered</a:t>
            </a:r>
            <a:endParaRPr sz="1400" b="0" i="0" dirty="0">
              <a:latin typeface="Calibri"/>
            </a:endParaRPr>
          </a:p>
          <a:p>
            <a:pPr algn="l"/>
            <a:r>
              <a:rPr sz="1400" b="1" i="0" dirty="0">
                <a:latin typeface="Calibri"/>
              </a:rPr>
              <a:t>INA-CBG</a:t>
            </a:r>
            <a:r>
              <a:rPr sz="1400" b="0" i="0" dirty="0">
                <a:latin typeface="Calibri"/>
              </a:rPr>
              <a:t> = Indonesia Case Base Groups</a:t>
            </a:r>
            <a:r>
              <a:rPr lang="en-US" sz="1400" b="0" i="0" dirty="0">
                <a:latin typeface="Calibri"/>
              </a:rPr>
              <a:t> (disease areas)</a:t>
            </a:r>
            <a:r>
              <a:rPr sz="1400" b="0" i="0" dirty="0">
                <a:latin typeface="Calibri"/>
              </a:rPr>
              <a:t>, the case-mix payment system BPJS uses </a:t>
            </a:r>
          </a:p>
        </p:txBody>
      </p:sp>
      <p:sp>
        <p:nvSpPr>
          <p:cNvPr id="26" name="Title 1">
            <a:extLst>
              <a:ext uri="{FF2B5EF4-FFF2-40B4-BE49-F238E27FC236}">
                <a16:creationId xmlns:a16="http://schemas.microsoft.com/office/drawing/2014/main" id="{13B702E6-B838-0545-8D04-668A91584D9D}"/>
              </a:ext>
            </a:extLst>
          </p:cNvPr>
          <p:cNvSpPr>
            <a:spLocks noGrp="1"/>
          </p:cNvSpPr>
          <p:nvPr>
            <p:ph type="title"/>
          </p:nvPr>
        </p:nvSpPr>
        <p:spPr>
          <a:xfrm>
            <a:off x="502920" y="164358"/>
            <a:ext cx="8153400" cy="902442"/>
          </a:xfrm>
        </p:spPr>
        <p:txBody>
          <a:bodyPr/>
          <a:lstStyle/>
          <a:p>
            <a:pPr algn="ctr"/>
            <a:r>
              <a:rPr lang="en-US" b="1" dirty="0"/>
              <a:t>Model overview</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D90CD-359A-0DC0-6BC2-1C87DEC79F69}"/>
              </a:ext>
            </a:extLst>
          </p:cNvPr>
          <p:cNvSpPr>
            <a:spLocks noGrp="1"/>
          </p:cNvSpPr>
          <p:nvPr>
            <p:ph type="title"/>
          </p:nvPr>
        </p:nvSpPr>
        <p:spPr>
          <a:xfrm>
            <a:off x="457200" y="381000"/>
            <a:ext cx="8229600" cy="1143000"/>
          </a:xfrm>
        </p:spPr>
        <p:txBody>
          <a:bodyPr>
            <a:normAutofit fontScale="90000"/>
          </a:bodyPr>
          <a:lstStyle/>
          <a:p>
            <a:pPr algn="ctr"/>
            <a:r>
              <a:rPr lang="en-US" b="1" dirty="0"/>
              <a:t>Under JKN as designed, no households would pay</a:t>
            </a:r>
          </a:p>
        </p:txBody>
      </p:sp>
      <p:sp>
        <p:nvSpPr>
          <p:cNvPr id="3" name="Content Placeholder 2">
            <a:extLst>
              <a:ext uri="{FF2B5EF4-FFF2-40B4-BE49-F238E27FC236}">
                <a16:creationId xmlns:a16="http://schemas.microsoft.com/office/drawing/2014/main" id="{2B006D47-A339-BF4F-C3A1-3CD8A83F0180}"/>
              </a:ext>
            </a:extLst>
          </p:cNvPr>
          <p:cNvSpPr>
            <a:spLocks noGrp="1"/>
          </p:cNvSpPr>
          <p:nvPr>
            <p:ph idx="1"/>
          </p:nvPr>
        </p:nvSpPr>
        <p:spPr>
          <a:xfrm>
            <a:off x="457200" y="1828800"/>
            <a:ext cx="8229600" cy="4754562"/>
          </a:xfrm>
        </p:spPr>
        <p:txBody>
          <a:bodyPr>
            <a:normAutofit fontScale="92500" lnSpcReduction="20000"/>
          </a:bodyPr>
          <a:lstStyle/>
          <a:p>
            <a:r>
              <a:rPr lang="el-GR" dirty="0"/>
              <a:t>η</a:t>
            </a:r>
            <a:r>
              <a:rPr lang="en-US" dirty="0"/>
              <a:t> is the share of the costs covered </a:t>
            </a:r>
          </a:p>
          <a:p>
            <a:pPr marL="0" indent="0">
              <a:buNone/>
            </a:pPr>
            <a:r>
              <a:rPr lang="en-US" dirty="0">
                <a:solidFill>
                  <a:schemeClr val="tx1">
                    <a:lumMod val="50000"/>
                    <a:lumOff val="50000"/>
                  </a:schemeClr>
                </a:solidFill>
              </a:rPr>
              <a:t>	(how much the JKN actually covers of the 	household bill at the point of service)</a:t>
            </a:r>
          </a:p>
          <a:p>
            <a:r>
              <a:rPr lang="el-GR" b="1" dirty="0"/>
              <a:t>η  =  </a:t>
            </a:r>
            <a:r>
              <a:rPr lang="en-US" b="1" dirty="0"/>
              <a:t>d × (1 − r),</a:t>
            </a:r>
            <a:r>
              <a:rPr lang="en-US" dirty="0"/>
              <a:t> where </a:t>
            </a:r>
            <a:r>
              <a:rPr lang="en-US" b="1" dirty="0"/>
              <a:t>d </a:t>
            </a:r>
            <a:r>
              <a:rPr lang="en-US" dirty="0"/>
              <a:t>is the share of services where JKN was actually used to reimburse, and </a:t>
            </a:r>
            <a:r>
              <a:rPr lang="en-US" b="1" dirty="0"/>
              <a:t>r </a:t>
            </a:r>
            <a:r>
              <a:rPr lang="en-US" dirty="0"/>
              <a:t>is the residual a household pays after JKN is used</a:t>
            </a:r>
          </a:p>
          <a:p>
            <a:r>
              <a:rPr lang="en-US" dirty="0"/>
              <a:t>Household out-of-pocket costs </a:t>
            </a:r>
          </a:p>
          <a:p>
            <a:pPr marL="0" indent="0">
              <a:buNone/>
            </a:pPr>
            <a:r>
              <a:rPr lang="en-US" dirty="0"/>
              <a:t>	= ( 1 − </a:t>
            </a:r>
            <a:r>
              <a:rPr lang="el-GR" dirty="0"/>
              <a:t>η )</a:t>
            </a:r>
            <a:r>
              <a:rPr lang="en-US" dirty="0"/>
              <a:t> </a:t>
            </a:r>
            <a:r>
              <a:rPr lang="el-GR" dirty="0"/>
              <a:t>×</a:t>
            </a:r>
            <a:r>
              <a:rPr lang="en-US" dirty="0"/>
              <a:t> cost of care</a:t>
            </a:r>
          </a:p>
          <a:p>
            <a:r>
              <a:rPr lang="el-GR" dirty="0"/>
              <a:t>η = 100% </a:t>
            </a:r>
            <a:r>
              <a:rPr lang="en-US" dirty="0"/>
              <a:t>is the original policy design: free at the point of use, thus no catastrophic expenditure, by construction</a:t>
            </a:r>
          </a:p>
          <a:p>
            <a:endParaRPr lang="en-US" dirty="0"/>
          </a:p>
        </p:txBody>
      </p:sp>
    </p:spTree>
    <p:extLst>
      <p:ext uri="{BB962C8B-B14F-4D97-AF65-F5344CB8AC3E}">
        <p14:creationId xmlns:p14="http://schemas.microsoft.com/office/powerpoint/2010/main" val="8565874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22F37-C2AB-D72C-F584-A3E163BA4694}"/>
              </a:ext>
            </a:extLst>
          </p:cNvPr>
          <p:cNvSpPr>
            <a:spLocks noGrp="1"/>
          </p:cNvSpPr>
          <p:nvPr>
            <p:ph type="title"/>
          </p:nvPr>
        </p:nvSpPr>
        <p:spPr>
          <a:xfrm>
            <a:off x="459398" y="120134"/>
            <a:ext cx="8227402" cy="1327666"/>
          </a:xfrm>
        </p:spPr>
        <p:txBody>
          <a:bodyPr>
            <a:normAutofit/>
          </a:bodyPr>
          <a:lstStyle/>
          <a:p>
            <a:pPr algn="ctr"/>
            <a:r>
              <a:rPr lang="en-US" b="1" dirty="0"/>
              <a:t>Inputs (1):</a:t>
            </a:r>
            <a:r>
              <a:rPr lang="en-US" dirty="0"/>
              <a:t> Chronic care costs</a:t>
            </a:r>
            <a:br>
              <a:rPr lang="en-US" dirty="0"/>
            </a:br>
            <a:r>
              <a:rPr lang="en-US" sz="2200" dirty="0"/>
              <a:t>Number of patients in care, full cost of care, and what households pay</a:t>
            </a:r>
          </a:p>
        </p:txBody>
      </p:sp>
      <p:graphicFrame>
        <p:nvGraphicFramePr>
          <p:cNvPr id="4" name="Table 0">
            <a:extLst>
              <a:ext uri="{FF2B5EF4-FFF2-40B4-BE49-F238E27FC236}">
                <a16:creationId xmlns:a16="http://schemas.microsoft.com/office/drawing/2014/main" id="{30DEAC6A-1991-43BD-F771-46EBD9B404A7}"/>
              </a:ext>
            </a:extLst>
          </p:cNvPr>
          <p:cNvGraphicFramePr>
            <a:graphicFrameLocks noGrp="1"/>
          </p:cNvGraphicFramePr>
          <p:nvPr>
            <p:extLst>
              <p:ext uri="{D42A27DB-BD31-4B8C-83A1-F6EECF244321}">
                <p14:modId xmlns:p14="http://schemas.microsoft.com/office/powerpoint/2010/main" val="1908585313"/>
              </p:ext>
            </p:extLst>
          </p:nvPr>
        </p:nvGraphicFramePr>
        <p:xfrm>
          <a:off x="228600" y="1581912"/>
          <a:ext cx="8763000" cy="4133088"/>
        </p:xfrm>
        <a:graphic>
          <a:graphicData uri="http://schemas.openxmlformats.org/drawingml/2006/table">
            <a:tbl>
              <a:tblPr>
                <a:tableStyleId>{616DA210-FB5B-4158-B5E0-FEB733F419BA}</a:tableStyleId>
              </a:tblPr>
              <a:tblGrid>
                <a:gridCol w="2201296">
                  <a:extLst>
                    <a:ext uri="{9D8B030D-6E8A-4147-A177-3AD203B41FA5}">
                      <a16:colId xmlns:a16="http://schemas.microsoft.com/office/drawing/2014/main" val="20000"/>
                    </a:ext>
                  </a:extLst>
                </a:gridCol>
                <a:gridCol w="928347">
                  <a:extLst>
                    <a:ext uri="{9D8B030D-6E8A-4147-A177-3AD203B41FA5}">
                      <a16:colId xmlns:a16="http://schemas.microsoft.com/office/drawing/2014/main" val="20001"/>
                    </a:ext>
                  </a:extLst>
                </a:gridCol>
                <a:gridCol w="1564821">
                  <a:extLst>
                    <a:ext uri="{9D8B030D-6E8A-4147-A177-3AD203B41FA5}">
                      <a16:colId xmlns:a16="http://schemas.microsoft.com/office/drawing/2014/main" val="20002"/>
                    </a:ext>
                  </a:extLst>
                </a:gridCol>
                <a:gridCol w="1956027">
                  <a:extLst>
                    <a:ext uri="{9D8B030D-6E8A-4147-A177-3AD203B41FA5}">
                      <a16:colId xmlns:a16="http://schemas.microsoft.com/office/drawing/2014/main" val="20003"/>
                    </a:ext>
                  </a:extLst>
                </a:gridCol>
                <a:gridCol w="2112509">
                  <a:extLst>
                    <a:ext uri="{9D8B030D-6E8A-4147-A177-3AD203B41FA5}">
                      <a16:colId xmlns:a16="http://schemas.microsoft.com/office/drawing/2014/main" val="3061534312"/>
                    </a:ext>
                  </a:extLst>
                </a:gridCol>
              </a:tblGrid>
              <a:tr h="0">
                <a:tc>
                  <a:txBody>
                    <a:bodyPr/>
                    <a:lstStyle/>
                    <a:p>
                      <a:pPr marL="0" indent="0">
                        <a:buNone/>
                      </a:pPr>
                      <a:r>
                        <a:rPr lang="en-US" sz="1600" b="1" dirty="0">
                          <a:solidFill>
                            <a:schemeClr val="tx1"/>
                          </a:solidFill>
                        </a:rPr>
                        <a:t>Condition</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b="1" dirty="0">
                          <a:solidFill>
                            <a:schemeClr val="tx1"/>
                          </a:solidFill>
                        </a:rPr>
                        <a:t>Patients</a:t>
                      </a:r>
                      <a:endParaRPr lang="en-US" sz="1600" dirty="0">
                        <a:solidFill>
                          <a:schemeClr val="tx1"/>
                        </a:solidFill>
                      </a:endParaRPr>
                    </a:p>
                    <a:p>
                      <a:pPr marL="0" indent="0">
                        <a:buNone/>
                      </a:pPr>
                      <a:r>
                        <a:rPr lang="en-US" sz="1600" b="1" dirty="0">
                          <a:solidFill>
                            <a:schemeClr val="tx1"/>
                          </a:solidFill>
                        </a:rPr>
                        <a:t>in care </a:t>
                      </a:r>
                    </a:p>
                    <a:p>
                      <a:pPr marL="0" indent="0">
                        <a:buNone/>
                      </a:pPr>
                      <a:r>
                        <a:rPr lang="en-US" sz="1600" b="0" dirty="0">
                          <a:solidFill>
                            <a:schemeClr val="tx1"/>
                          </a:solidFill>
                        </a:rPr>
                        <a:t>(millions)</a:t>
                      </a:r>
                      <a:endParaRPr lang="en-US" sz="1600" b="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b="1" dirty="0">
                          <a:solidFill>
                            <a:schemeClr val="tx1"/>
                          </a:solidFill>
                        </a:rPr>
                        <a:t>Full cost of care</a:t>
                      </a:r>
                      <a:endParaRPr lang="en-US" sz="1600" dirty="0">
                        <a:solidFill>
                          <a:schemeClr val="tx1"/>
                        </a:solidFill>
                      </a:endParaRPr>
                    </a:p>
                    <a:p>
                      <a:pPr marL="0" indent="0">
                        <a:buNone/>
                      </a:pPr>
                      <a:r>
                        <a:rPr lang="en-US" sz="1600" b="0" dirty="0">
                          <a:solidFill>
                            <a:schemeClr val="tx1"/>
                          </a:solidFill>
                        </a:rPr>
                        <a:t>IDR/patient-year (USD)</a:t>
                      </a:r>
                      <a:endParaRPr lang="en-US" sz="1600" b="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600" b="1" kern="1200" dirty="0">
                          <a:solidFill>
                            <a:schemeClr val="tx1"/>
                          </a:solidFill>
                          <a:latin typeface="+mn-lt"/>
                          <a:ea typeface="+mn-ea"/>
                          <a:cs typeface="+mn-cs"/>
                        </a:rPr>
                        <a:t>Household pay</a:t>
                      </a:r>
                      <a:r>
                        <a:rPr lang="en-US" sz="1600" b="1" kern="1200" dirty="0">
                          <a:solidFill>
                            <a:schemeClr val="tx1"/>
                          </a:solidFill>
                          <a:latin typeface="+mn-lt"/>
                          <a:ea typeface="+mn-ea"/>
                          <a:cs typeface="+mn-cs"/>
                        </a:rPr>
                        <a:t>ment when JKN is used</a:t>
                      </a:r>
                      <a:r>
                        <a:rPr sz="1600" b="1" kern="1200" dirty="0">
                          <a:solidFill>
                            <a:schemeClr val="tx1"/>
                          </a:solidFill>
                          <a:latin typeface="+mn-lt"/>
                          <a:ea typeface="+mn-ea"/>
                          <a:cs typeface="+mn-cs"/>
                        </a:rPr>
                        <a:t>
</a:t>
                      </a:r>
                      <a:r>
                        <a:rPr lang="en-US" sz="1600" b="0" dirty="0">
                          <a:solidFill>
                            <a:schemeClr val="tx1"/>
                          </a:solidFill>
                        </a:rPr>
                        <a:t>IDR/patient-year (USD)</a:t>
                      </a:r>
                      <a:endParaRPr lang="en-US" sz="1600" b="0" dirty="0">
                        <a:solidFill>
                          <a:schemeClr val="tx1"/>
                        </a:solidFill>
                        <a:latin typeface="Aptos" panose="020B0004020202020204" pitchFamily="34" charset="0"/>
                        <a:ea typeface="Calibri" charset="0"/>
                        <a:cs typeface="Calibri" charset="0"/>
                      </a:endParaRPr>
                    </a:p>
                  </a:txBody>
                  <a:tcPr marL="64008" marR="64008" marT="18288" marB="1828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600" b="1" kern="1200" dirty="0">
                          <a:solidFill>
                            <a:schemeClr val="tx1"/>
                          </a:solidFill>
                          <a:latin typeface="+mn-lt"/>
                          <a:ea typeface="+mn-ea"/>
                          <a:cs typeface="+mn-cs"/>
                        </a:rPr>
                        <a:t>Household pay</a:t>
                      </a:r>
                      <a:r>
                        <a:rPr lang="en-US" sz="1600" b="1" kern="1200" dirty="0">
                          <a:solidFill>
                            <a:schemeClr val="tx1"/>
                          </a:solidFill>
                          <a:latin typeface="+mn-lt"/>
                          <a:ea typeface="+mn-ea"/>
                          <a:cs typeface="+mn-cs"/>
                        </a:rPr>
                        <a:t>ment when JKN is not used</a:t>
                      </a:r>
                      <a:r>
                        <a:rPr sz="1600" b="1" kern="1200" dirty="0">
                          <a:solidFill>
                            <a:schemeClr val="tx1"/>
                          </a:solidFill>
                          <a:latin typeface="+mn-lt"/>
                          <a:ea typeface="+mn-ea"/>
                          <a:cs typeface="+mn-cs"/>
                        </a:rPr>
                        <a:t>
</a:t>
                      </a:r>
                      <a:r>
                        <a:rPr lang="en-US" sz="1600" b="0" dirty="0">
                          <a:solidFill>
                            <a:schemeClr val="tx1"/>
                          </a:solidFill>
                        </a:rPr>
                        <a:t>IDR/patient-year (USD)</a:t>
                      </a:r>
                      <a:endParaRPr lang="en-US" sz="1600" b="0" dirty="0">
                        <a:solidFill>
                          <a:schemeClr val="tx1"/>
                        </a:solidFill>
                        <a:latin typeface="Aptos" panose="020B0004020202020204" pitchFamily="34" charset="0"/>
                        <a:ea typeface="Calibri" charset="0"/>
                        <a:cs typeface="Calibri" charset="0"/>
                      </a:endParaRPr>
                    </a:p>
                  </a:txBody>
                  <a:tcPr marL="64008" marR="64008" marT="18288" marB="18288" anchor="ctr"/>
                </a:tc>
                <a:extLst>
                  <a:ext uri="{0D108BD9-81ED-4DB2-BD59-A6C34878D82A}">
                    <a16:rowId xmlns:a16="http://schemas.microsoft.com/office/drawing/2014/main" val="10000"/>
                  </a:ext>
                </a:extLst>
              </a:tr>
              <a:tr h="0">
                <a:tc>
                  <a:txBody>
                    <a:bodyPr/>
                    <a:lstStyle/>
                    <a:p>
                      <a:pPr marL="0" indent="0">
                        <a:buNone/>
                      </a:pPr>
                      <a:r>
                        <a:rPr lang="en-US" sz="1600" dirty="0">
                          <a:solidFill>
                            <a:schemeClr val="tx1"/>
                          </a:solidFill>
                        </a:rPr>
                        <a:t>Post-IHD secondary prevention + heart failure</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rPr>
                        <a:t>5.0</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rPr>
                        <a:t>3,374,650  (211)</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lgn="l" defTabSz="914400" rtl="0" eaLnBrk="1" latinLnBrk="0" hangingPunct="1">
                        <a:buNone/>
                      </a:pPr>
                      <a:r>
                        <a:rPr sz="1600" kern="1200" dirty="0">
                          <a:solidFill>
                            <a:schemeClr val="tx1"/>
                          </a:solidFill>
                          <a:latin typeface="+mn-lt"/>
                          <a:ea typeface="+mn-ea"/>
                          <a:cs typeface="+mn-cs"/>
                        </a:rPr>
                        <a:t>843,662  (53)</a:t>
                      </a:r>
                    </a:p>
                  </a:txBody>
                  <a:tcPr marL="64008" marR="64008" marT="18288" marB="18288" anchor="ctr"/>
                </a:tc>
                <a:tc>
                  <a:txBody>
                    <a:bodyPr/>
                    <a:lstStyle/>
                    <a:p>
                      <a:pPr marL="0" indent="0" algn="l" defTabSz="914400" rtl="0" eaLnBrk="1" latinLnBrk="0" hangingPunct="1">
                        <a:buNone/>
                      </a:pPr>
                      <a:r>
                        <a:rPr sz="1600" kern="1200">
                          <a:solidFill>
                            <a:schemeClr val="tx1"/>
                          </a:solidFill>
                          <a:latin typeface="+mn-lt"/>
                          <a:ea typeface="+mn-ea"/>
                          <a:cs typeface="+mn-cs"/>
                        </a:rPr>
                        <a:t>3,374,650  (211)</a:t>
                      </a:r>
                    </a:p>
                  </a:txBody>
                  <a:tcPr marL="64008" marR="64008" marT="18288" marB="18288" anchor="ctr"/>
                </a:tc>
                <a:extLst>
                  <a:ext uri="{0D108BD9-81ED-4DB2-BD59-A6C34878D82A}">
                    <a16:rowId xmlns:a16="http://schemas.microsoft.com/office/drawing/2014/main" val="10001"/>
                  </a:ext>
                </a:extLst>
              </a:tr>
              <a:tr h="0">
                <a:tc>
                  <a:txBody>
                    <a:bodyPr/>
                    <a:lstStyle/>
                    <a:p>
                      <a:pPr marL="0" indent="0">
                        <a:buNone/>
                      </a:pPr>
                      <a:r>
                        <a:rPr lang="en-US" sz="1600" dirty="0">
                          <a:solidFill>
                            <a:schemeClr val="tx1"/>
                          </a:solidFill>
                        </a:rPr>
                        <a:t>Post-ischaemic stroke</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latin typeface="Aptos" panose="020B0004020202020204" pitchFamily="34" charset="0"/>
                          <a:ea typeface="Calibri" charset="0"/>
                          <a:cs typeface="Calibri" charset="0"/>
                        </a:rPr>
                        <a:t>3.0</a:t>
                      </a:r>
                    </a:p>
                  </a:txBody>
                  <a:tcPr marL="36576" marR="36576" marT="36576" marB="36576" anchor="ctr"/>
                </a:tc>
                <a:tc>
                  <a:txBody>
                    <a:bodyPr/>
                    <a:lstStyle/>
                    <a:p>
                      <a:pPr marL="0" indent="0">
                        <a:buNone/>
                      </a:pPr>
                      <a:r>
                        <a:rPr lang="en-US" sz="1600" dirty="0">
                          <a:solidFill>
                            <a:schemeClr val="tx1"/>
                          </a:solidFill>
                        </a:rPr>
                        <a:t>1,367,842  (85)</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lgn="l" defTabSz="914400" rtl="0" eaLnBrk="1" latinLnBrk="0" hangingPunct="1">
                        <a:buNone/>
                      </a:pPr>
                      <a:r>
                        <a:rPr sz="1600" kern="1200" dirty="0">
                          <a:solidFill>
                            <a:schemeClr val="tx1"/>
                          </a:solidFill>
                          <a:latin typeface="+mn-lt"/>
                          <a:ea typeface="+mn-ea"/>
                          <a:cs typeface="+mn-cs"/>
                        </a:rPr>
                        <a:t>341,961  (21)</a:t>
                      </a:r>
                    </a:p>
                  </a:txBody>
                  <a:tcPr marL="64008" marR="64008" marT="18288" marB="18288" anchor="ctr"/>
                </a:tc>
                <a:tc>
                  <a:txBody>
                    <a:bodyPr/>
                    <a:lstStyle/>
                    <a:p>
                      <a:pPr marL="0" indent="0" algn="l" defTabSz="914400" rtl="0" eaLnBrk="1" latinLnBrk="0" hangingPunct="1">
                        <a:buNone/>
                      </a:pPr>
                      <a:r>
                        <a:rPr sz="1600" kern="1200" dirty="0">
                          <a:solidFill>
                            <a:schemeClr val="tx1"/>
                          </a:solidFill>
                          <a:latin typeface="+mn-lt"/>
                          <a:ea typeface="+mn-ea"/>
                          <a:cs typeface="+mn-cs"/>
                        </a:rPr>
                        <a:t>1,367,842  (85)</a:t>
                      </a:r>
                    </a:p>
                  </a:txBody>
                  <a:tcPr marL="64008" marR="64008" marT="18288" marB="18288" anchor="ctr"/>
                </a:tc>
                <a:extLst>
                  <a:ext uri="{0D108BD9-81ED-4DB2-BD59-A6C34878D82A}">
                    <a16:rowId xmlns:a16="http://schemas.microsoft.com/office/drawing/2014/main" val="10002"/>
                  </a:ext>
                </a:extLst>
              </a:tr>
              <a:tr h="0">
                <a:tc>
                  <a:txBody>
                    <a:bodyPr/>
                    <a:lstStyle/>
                    <a:p>
                      <a:pPr marL="0" indent="0">
                        <a:buNone/>
                      </a:pPr>
                      <a:r>
                        <a:rPr lang="en-US" sz="1600" dirty="0">
                          <a:solidFill>
                            <a:schemeClr val="tx1"/>
                          </a:solidFill>
                        </a:rPr>
                        <a:t>Post-intracerebral haemorrhage</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rPr>
                        <a:t>1.1</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rPr>
                        <a:t>1,367,842  (85)</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lgn="l" defTabSz="914400" rtl="0" eaLnBrk="1" latinLnBrk="0" hangingPunct="1">
                        <a:buNone/>
                      </a:pPr>
                      <a:r>
                        <a:rPr sz="1600" kern="1200">
                          <a:solidFill>
                            <a:schemeClr val="tx1"/>
                          </a:solidFill>
                          <a:latin typeface="+mn-lt"/>
                          <a:ea typeface="+mn-ea"/>
                          <a:cs typeface="+mn-cs"/>
                        </a:rPr>
                        <a:t>341,961  (21)</a:t>
                      </a:r>
                    </a:p>
                  </a:txBody>
                  <a:tcPr marL="64008" marR="64008" marT="18288" marB="18288" anchor="ctr"/>
                </a:tc>
                <a:tc>
                  <a:txBody>
                    <a:bodyPr/>
                    <a:lstStyle/>
                    <a:p>
                      <a:pPr marL="0" indent="0" algn="l" defTabSz="914400" rtl="0" eaLnBrk="1" latinLnBrk="0" hangingPunct="1">
                        <a:buNone/>
                      </a:pPr>
                      <a:r>
                        <a:rPr sz="1600" kern="1200" dirty="0">
                          <a:solidFill>
                            <a:schemeClr val="tx1"/>
                          </a:solidFill>
                          <a:latin typeface="+mn-lt"/>
                          <a:ea typeface="+mn-ea"/>
                          <a:cs typeface="+mn-cs"/>
                        </a:rPr>
                        <a:t>1,367,842  (85)</a:t>
                      </a:r>
                    </a:p>
                  </a:txBody>
                  <a:tcPr marL="64008" marR="64008" marT="18288" marB="18288" anchor="ctr"/>
                </a:tc>
                <a:extLst>
                  <a:ext uri="{0D108BD9-81ED-4DB2-BD59-A6C34878D82A}">
                    <a16:rowId xmlns:a16="http://schemas.microsoft.com/office/drawing/2014/main" val="10003"/>
                  </a:ext>
                </a:extLst>
              </a:tr>
              <a:tr h="0">
                <a:tc>
                  <a:txBody>
                    <a:bodyPr/>
                    <a:lstStyle/>
                    <a:p>
                      <a:pPr marL="0" indent="0">
                        <a:buNone/>
                      </a:pPr>
                      <a:r>
                        <a:rPr lang="en-US" sz="1600" dirty="0">
                          <a:solidFill>
                            <a:schemeClr val="tx1"/>
                          </a:solidFill>
                        </a:rPr>
                        <a:t>Hypertensive heart disease (chronic HF)</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rPr>
                        <a:t>0.4</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rPr>
                        <a:t>5,236,586  (327)</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lgn="l" defTabSz="914400" rtl="0" eaLnBrk="1" latinLnBrk="0" hangingPunct="1">
                        <a:buNone/>
                      </a:pPr>
                      <a:r>
                        <a:rPr sz="1600" kern="1200">
                          <a:solidFill>
                            <a:schemeClr val="tx1"/>
                          </a:solidFill>
                          <a:latin typeface="+mn-lt"/>
                          <a:ea typeface="+mn-ea"/>
                          <a:cs typeface="+mn-cs"/>
                        </a:rPr>
                        <a:t>1,309,146  (82)</a:t>
                      </a:r>
                    </a:p>
                  </a:txBody>
                  <a:tcPr marL="64008" marR="64008" marT="18288" marB="18288" anchor="ctr"/>
                </a:tc>
                <a:tc>
                  <a:txBody>
                    <a:bodyPr/>
                    <a:lstStyle/>
                    <a:p>
                      <a:pPr marL="0" indent="0" algn="l" defTabSz="914400" rtl="0" eaLnBrk="1" latinLnBrk="0" hangingPunct="1">
                        <a:buNone/>
                      </a:pPr>
                      <a:r>
                        <a:rPr sz="1600" kern="1200" dirty="0">
                          <a:solidFill>
                            <a:schemeClr val="tx1"/>
                          </a:solidFill>
                          <a:latin typeface="+mn-lt"/>
                          <a:ea typeface="+mn-ea"/>
                          <a:cs typeface="+mn-cs"/>
                        </a:rPr>
                        <a:t>5,236,586  (327)</a:t>
                      </a:r>
                    </a:p>
                  </a:txBody>
                  <a:tcPr marL="64008" marR="64008" marT="18288" marB="18288" anchor="ctr"/>
                </a:tc>
                <a:extLst>
                  <a:ext uri="{0D108BD9-81ED-4DB2-BD59-A6C34878D82A}">
                    <a16:rowId xmlns:a16="http://schemas.microsoft.com/office/drawing/2014/main" val="10004"/>
                  </a:ext>
                </a:extLst>
              </a:tr>
              <a:tr h="0">
                <a:tc>
                  <a:txBody>
                    <a:bodyPr/>
                    <a:lstStyle/>
                    <a:p>
                      <a:pPr marL="0" indent="0">
                        <a:buNone/>
                      </a:pPr>
                      <a:r>
                        <a:rPr lang="en-US" sz="1600" dirty="0">
                          <a:solidFill>
                            <a:schemeClr val="tx1"/>
                          </a:solidFill>
                        </a:rPr>
                        <a:t>Rheumatic heart disease (prophylaxis)</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rPr>
                        <a:t>1.3</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rPr>
                        <a:t>897,124  (56)</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lgn="l" defTabSz="914400" rtl="0" eaLnBrk="1" latinLnBrk="0" hangingPunct="1">
                        <a:buNone/>
                      </a:pPr>
                      <a:r>
                        <a:rPr sz="1600" kern="1200">
                          <a:solidFill>
                            <a:schemeClr val="tx1"/>
                          </a:solidFill>
                          <a:latin typeface="+mn-lt"/>
                          <a:ea typeface="+mn-ea"/>
                          <a:cs typeface="+mn-cs"/>
                        </a:rPr>
                        <a:t>224,281  (14)</a:t>
                      </a:r>
                    </a:p>
                  </a:txBody>
                  <a:tcPr marL="64008" marR="64008" marT="18288" marB="18288" anchor="ctr"/>
                </a:tc>
                <a:tc>
                  <a:txBody>
                    <a:bodyPr/>
                    <a:lstStyle/>
                    <a:p>
                      <a:pPr marL="0" indent="0" algn="l" defTabSz="914400" rtl="0" eaLnBrk="1" latinLnBrk="0" hangingPunct="1">
                        <a:buNone/>
                      </a:pPr>
                      <a:r>
                        <a:rPr sz="1600" kern="1200" dirty="0">
                          <a:solidFill>
                            <a:schemeClr val="tx1"/>
                          </a:solidFill>
                          <a:latin typeface="+mn-lt"/>
                          <a:ea typeface="+mn-ea"/>
                          <a:cs typeface="+mn-cs"/>
                        </a:rPr>
                        <a:t>897,124  (56)</a:t>
                      </a:r>
                    </a:p>
                  </a:txBody>
                  <a:tcPr marL="64008" marR="64008" marT="18288" marB="18288" anchor="ctr"/>
                </a:tc>
                <a:extLst>
                  <a:ext uri="{0D108BD9-81ED-4DB2-BD59-A6C34878D82A}">
                    <a16:rowId xmlns:a16="http://schemas.microsoft.com/office/drawing/2014/main" val="10005"/>
                  </a:ext>
                </a:extLst>
              </a:tr>
              <a:tr h="0">
                <a:tc>
                  <a:txBody>
                    <a:bodyPr/>
                    <a:lstStyle/>
                    <a:p>
                      <a:pPr marL="0" indent="0">
                        <a:buNone/>
                      </a:pPr>
                      <a:r>
                        <a:rPr lang="en-US" sz="1600" dirty="0">
                          <a:solidFill>
                            <a:schemeClr val="tx1"/>
                          </a:solidFill>
                        </a:rPr>
                        <a:t>Type 2 diabetes (treatment)</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latin typeface="Aptos" panose="020B0004020202020204" pitchFamily="34" charset="0"/>
                          <a:ea typeface="Calibri" charset="0"/>
                          <a:cs typeface="Calibri" charset="0"/>
                        </a:rPr>
                        <a:t>4.7</a:t>
                      </a:r>
                    </a:p>
                  </a:txBody>
                  <a:tcPr marL="36576" marR="36576" marT="36576" marB="36576" anchor="ctr"/>
                </a:tc>
                <a:tc>
                  <a:txBody>
                    <a:bodyPr/>
                    <a:lstStyle/>
                    <a:p>
                      <a:pPr marL="0" indent="0">
                        <a:buNone/>
                      </a:pPr>
                      <a:r>
                        <a:rPr lang="en-US" sz="1600" dirty="0">
                          <a:solidFill>
                            <a:schemeClr val="tx1"/>
                          </a:solidFill>
                        </a:rPr>
                        <a:t>3,867,720  (242)</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lgn="l" defTabSz="914400" rtl="0" eaLnBrk="1" latinLnBrk="0" hangingPunct="1">
                        <a:buNone/>
                      </a:pPr>
                      <a:r>
                        <a:rPr sz="1600" kern="1200">
                          <a:solidFill>
                            <a:schemeClr val="tx1"/>
                          </a:solidFill>
                          <a:latin typeface="+mn-lt"/>
                          <a:ea typeface="+mn-ea"/>
                          <a:cs typeface="+mn-cs"/>
                        </a:rPr>
                        <a:t>966,930  (60)</a:t>
                      </a:r>
                    </a:p>
                  </a:txBody>
                  <a:tcPr marL="64008" marR="64008" marT="18288" marB="18288" anchor="ctr"/>
                </a:tc>
                <a:tc>
                  <a:txBody>
                    <a:bodyPr/>
                    <a:lstStyle/>
                    <a:p>
                      <a:pPr marL="0" indent="0" algn="l" defTabSz="914400" rtl="0" eaLnBrk="1" latinLnBrk="0" hangingPunct="1">
                        <a:buNone/>
                      </a:pPr>
                      <a:r>
                        <a:rPr sz="1600" kern="1200" dirty="0">
                          <a:solidFill>
                            <a:schemeClr val="tx1"/>
                          </a:solidFill>
                          <a:latin typeface="+mn-lt"/>
                          <a:ea typeface="+mn-ea"/>
                          <a:cs typeface="+mn-cs"/>
                        </a:rPr>
                        <a:t>3,867,720  (242)</a:t>
                      </a:r>
                    </a:p>
                  </a:txBody>
                  <a:tcPr marL="64008" marR="64008" marT="18288" marB="18288" anchor="ctr"/>
                </a:tc>
                <a:extLst>
                  <a:ext uri="{0D108BD9-81ED-4DB2-BD59-A6C34878D82A}">
                    <a16:rowId xmlns:a16="http://schemas.microsoft.com/office/drawing/2014/main" val="10006"/>
                  </a:ext>
                </a:extLst>
              </a:tr>
            </a:tbl>
          </a:graphicData>
        </a:graphic>
      </p:graphicFrame>
      <p:sp>
        <p:nvSpPr>
          <p:cNvPr id="5" name="TextBox 4">
            <a:extLst>
              <a:ext uri="{FF2B5EF4-FFF2-40B4-BE49-F238E27FC236}">
                <a16:creationId xmlns:a16="http://schemas.microsoft.com/office/drawing/2014/main" id="{2674DF24-6147-F99E-A6A6-606D1B2014BD}"/>
              </a:ext>
            </a:extLst>
          </p:cNvPr>
          <p:cNvSpPr txBox="1"/>
          <p:nvPr/>
        </p:nvSpPr>
        <p:spPr>
          <a:xfrm>
            <a:off x="228600" y="5943600"/>
            <a:ext cx="8763000" cy="830997"/>
          </a:xfrm>
          <a:prstGeom prst="rect">
            <a:avLst/>
          </a:prstGeom>
          <a:noFill/>
        </p:spPr>
        <p:txBody>
          <a:bodyPr wrap="square" rtlCol="0">
            <a:spAutoFit/>
          </a:bodyPr>
          <a:lstStyle/>
          <a:p>
            <a:r>
              <a:rPr lang="en-US" sz="1600" b="1" dirty="0"/>
              <a:t>Note: </a:t>
            </a:r>
            <a:r>
              <a:rPr lang="en-US" sz="1600" dirty="0"/>
              <a:t>When JKN is used the household still pays 25% of cost for chronic care; when not used the household pays full cost (Fattah et al. </a:t>
            </a:r>
            <a:r>
              <a:rPr lang="en-US" sz="1600" i="1" dirty="0"/>
              <a:t>Int. J. Equity Health </a:t>
            </a:r>
            <a:r>
              <a:rPr lang="en-US" sz="1600" dirty="0"/>
              <a:t>2023). </a:t>
            </a:r>
            <a:r>
              <a:rPr lang="en-US" sz="1600" b="1" dirty="0"/>
              <a:t>Source: </a:t>
            </a:r>
            <a:r>
              <a:rPr lang="en-US" sz="1600" dirty="0"/>
              <a:t>built from Indonesia-adjusted unit costs extracted from the literature</a:t>
            </a:r>
          </a:p>
        </p:txBody>
      </p:sp>
    </p:spTree>
    <p:extLst>
      <p:ext uri="{BB962C8B-B14F-4D97-AF65-F5344CB8AC3E}">
        <p14:creationId xmlns:p14="http://schemas.microsoft.com/office/powerpoint/2010/main" val="15072220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D48D9-C0A8-1B77-8EE8-89E1B136D7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D2819-5091-4D1B-D3AF-B0D10832E31D}"/>
              </a:ext>
            </a:extLst>
          </p:cNvPr>
          <p:cNvSpPr>
            <a:spLocks noGrp="1"/>
          </p:cNvSpPr>
          <p:nvPr>
            <p:ph type="title"/>
          </p:nvPr>
        </p:nvSpPr>
        <p:spPr>
          <a:xfrm>
            <a:off x="306998" y="274638"/>
            <a:ext cx="8532202" cy="1143000"/>
          </a:xfrm>
        </p:spPr>
        <p:txBody>
          <a:bodyPr>
            <a:normAutofit fontScale="90000"/>
          </a:bodyPr>
          <a:lstStyle/>
          <a:p>
            <a:pPr algn="ctr"/>
            <a:r>
              <a:rPr lang="en-US" sz="4900" b="1" dirty="0"/>
              <a:t>Inputs (2): </a:t>
            </a:r>
            <a:r>
              <a:rPr lang="en-US" sz="4900" dirty="0"/>
              <a:t>Acute care costs</a:t>
            </a:r>
            <a:br>
              <a:rPr lang="en-US" dirty="0"/>
            </a:br>
            <a:r>
              <a:rPr lang="en-US" sz="2300" dirty="0"/>
              <a:t>Number of hospitalized CVD events, full cost of care, what households pay</a:t>
            </a:r>
          </a:p>
        </p:txBody>
      </p:sp>
      <p:graphicFrame>
        <p:nvGraphicFramePr>
          <p:cNvPr id="3" name="Table 2">
            <a:extLst>
              <a:ext uri="{FF2B5EF4-FFF2-40B4-BE49-F238E27FC236}">
                <a16:creationId xmlns:a16="http://schemas.microsoft.com/office/drawing/2014/main" id="{5097FF90-8409-0A1C-802C-4890C459723A}"/>
              </a:ext>
            </a:extLst>
          </p:cNvPr>
          <p:cNvGraphicFramePr>
            <a:graphicFrameLocks noGrp="1"/>
          </p:cNvGraphicFramePr>
          <p:nvPr>
            <p:extLst>
              <p:ext uri="{D42A27DB-BD31-4B8C-83A1-F6EECF244321}">
                <p14:modId xmlns:p14="http://schemas.microsoft.com/office/powerpoint/2010/main" val="3316320328"/>
              </p:ext>
            </p:extLst>
          </p:nvPr>
        </p:nvGraphicFramePr>
        <p:xfrm>
          <a:off x="419669" y="1611941"/>
          <a:ext cx="8229600" cy="3167911"/>
        </p:xfrm>
        <a:graphic>
          <a:graphicData uri="http://schemas.openxmlformats.org/drawingml/2006/table">
            <a:tbl>
              <a:tblPr>
                <a:tableStyleId>{616DA210-FB5B-4158-B5E0-FEB733F419BA}</a:tableStyleId>
              </a:tblPr>
              <a:tblGrid>
                <a:gridCol w="2323531">
                  <a:extLst>
                    <a:ext uri="{9D8B030D-6E8A-4147-A177-3AD203B41FA5}">
                      <a16:colId xmlns:a16="http://schemas.microsoft.com/office/drawing/2014/main" val="3407558032"/>
                    </a:ext>
                  </a:extLst>
                </a:gridCol>
                <a:gridCol w="1237709">
                  <a:extLst>
                    <a:ext uri="{9D8B030D-6E8A-4147-A177-3AD203B41FA5}">
                      <a16:colId xmlns:a16="http://schemas.microsoft.com/office/drawing/2014/main" val="685115275"/>
                    </a:ext>
                  </a:extLst>
                </a:gridCol>
                <a:gridCol w="1556120">
                  <a:extLst>
                    <a:ext uri="{9D8B030D-6E8A-4147-A177-3AD203B41FA5}">
                      <a16:colId xmlns:a16="http://schemas.microsoft.com/office/drawing/2014/main" val="363212307"/>
                    </a:ext>
                  </a:extLst>
                </a:gridCol>
                <a:gridCol w="1556120">
                  <a:extLst>
                    <a:ext uri="{9D8B030D-6E8A-4147-A177-3AD203B41FA5}">
                      <a16:colId xmlns:a16="http://schemas.microsoft.com/office/drawing/2014/main" val="1624139130"/>
                    </a:ext>
                  </a:extLst>
                </a:gridCol>
                <a:gridCol w="1556120">
                  <a:extLst>
                    <a:ext uri="{9D8B030D-6E8A-4147-A177-3AD203B41FA5}">
                      <a16:colId xmlns:a16="http://schemas.microsoft.com/office/drawing/2014/main" val="272064434"/>
                    </a:ext>
                  </a:extLst>
                </a:gridCol>
              </a:tblGrid>
              <a:tr h="618328">
                <a:tc>
                  <a:txBody>
                    <a:bodyPr/>
                    <a:lstStyle/>
                    <a:p>
                      <a:pPr marL="0" indent="0" algn="l" defTabSz="914400" rtl="0" eaLnBrk="1" fontAlgn="b" latinLnBrk="0" hangingPunct="1">
                        <a:spcBef>
                          <a:spcPts val="0"/>
                        </a:spcBef>
                        <a:buNone/>
                      </a:pPr>
                      <a:r>
                        <a:rPr lang="en-US" sz="1600" b="1" kern="1200" dirty="0">
                          <a:solidFill>
                            <a:schemeClr val="tx1"/>
                          </a:solidFill>
                          <a:latin typeface="Calibri" panose="020F0502020204030204" pitchFamily="34" charset="0"/>
                          <a:ea typeface="+mn-ea"/>
                          <a:cs typeface="Calibri" panose="020F0502020204030204" pitchFamily="34" charset="0"/>
                        </a:rPr>
                        <a:t>Event type</a:t>
                      </a:r>
                    </a:p>
                  </a:txBody>
                  <a:tcPr marL="92260" marR="92260" marT="44285" marB="92260" anchor="b"/>
                </a:tc>
                <a:tc>
                  <a:txBody>
                    <a:bodyPr/>
                    <a:lstStyle/>
                    <a:p>
                      <a:pPr marL="0" indent="0" algn="l" defTabSz="914400" rtl="0" eaLnBrk="1" fontAlgn="b" latinLnBrk="0" hangingPunct="1">
                        <a:spcBef>
                          <a:spcPts val="0"/>
                        </a:spcBef>
                        <a:buNone/>
                      </a:pPr>
                      <a:r>
                        <a:rPr lang="en-US" sz="1600" b="1" kern="1200" dirty="0">
                          <a:solidFill>
                            <a:schemeClr val="tx1"/>
                          </a:solidFill>
                          <a:latin typeface="Calibri" panose="020F0502020204030204" pitchFamily="34" charset="0"/>
                          <a:ea typeface="+mn-ea"/>
                          <a:cs typeface="Calibri" panose="020F0502020204030204" pitchFamily="34" charset="0"/>
                        </a:rPr>
                        <a:t>Admissions per year</a:t>
                      </a:r>
                    </a:p>
                    <a:p>
                      <a:pPr marL="0" indent="0" algn="l" defTabSz="914400" rtl="0" eaLnBrk="1" fontAlgn="b" latinLnBrk="0" hangingPunct="1">
                        <a:spcBef>
                          <a:spcPts val="0"/>
                        </a:spcBef>
                        <a:buNone/>
                      </a:pPr>
                      <a:r>
                        <a:rPr lang="en-US" sz="1600" b="0" kern="1200" dirty="0">
                          <a:solidFill>
                            <a:schemeClr val="tx1"/>
                          </a:solidFill>
                          <a:latin typeface="Calibri" panose="020F0502020204030204" pitchFamily="34" charset="0"/>
                          <a:ea typeface="+mn-ea"/>
                          <a:cs typeface="Calibri" panose="020F0502020204030204" pitchFamily="34" charset="0"/>
                        </a:rPr>
                        <a:t>(millions)</a:t>
                      </a:r>
                    </a:p>
                  </a:txBody>
                  <a:tcPr marL="92260" marR="92260" marT="44285" marB="92260" anchor="b"/>
                </a:tc>
                <a:tc>
                  <a:txBody>
                    <a:bodyPr/>
                    <a:lstStyle/>
                    <a:p>
                      <a:pPr marL="0" indent="0" algn="l" defTabSz="914400" rtl="0" eaLnBrk="1" fontAlgn="b" latinLnBrk="0" hangingPunct="1">
                        <a:spcBef>
                          <a:spcPts val="0"/>
                        </a:spcBef>
                        <a:buNone/>
                      </a:pPr>
                      <a:r>
                        <a:rPr lang="en-US" sz="1600" b="1" kern="1200" dirty="0">
                          <a:solidFill>
                            <a:schemeClr val="tx1"/>
                          </a:solidFill>
                          <a:latin typeface="Calibri" panose="020F0502020204030204" pitchFamily="34" charset="0"/>
                          <a:ea typeface="+mn-ea"/>
                          <a:cs typeface="Calibri" panose="020F0502020204030204" pitchFamily="34" charset="0"/>
                        </a:rPr>
                        <a:t>Full cost of care</a:t>
                      </a:r>
                    </a:p>
                    <a:p>
                      <a:pPr marL="0" indent="0" algn="l" defTabSz="914400" rtl="0" eaLnBrk="1" fontAlgn="b" latinLnBrk="0" hangingPunct="1">
                        <a:spcBef>
                          <a:spcPts val="0"/>
                        </a:spcBef>
                        <a:buNone/>
                      </a:pPr>
                      <a:r>
                        <a:rPr lang="en-US" sz="1600" b="0" kern="1200" dirty="0">
                          <a:solidFill>
                            <a:schemeClr val="tx1"/>
                          </a:solidFill>
                          <a:latin typeface="Calibri" panose="020F0502020204030204" pitchFamily="34" charset="0"/>
                          <a:ea typeface="+mn-ea"/>
                          <a:cs typeface="Calibri" panose="020F0502020204030204" pitchFamily="34" charset="0"/>
                        </a:rPr>
                        <a:t>IDR per admission (USD)</a:t>
                      </a:r>
                    </a:p>
                  </a:txBody>
                  <a:tcPr marL="92260" marR="92260" marT="44285" marB="92260"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600" b="1" kern="1200" dirty="0">
                          <a:solidFill>
                            <a:schemeClr val="tx1"/>
                          </a:solidFill>
                          <a:latin typeface="+mn-lt"/>
                          <a:ea typeface="+mn-ea"/>
                          <a:cs typeface="+mn-cs"/>
                        </a:rPr>
                        <a:t>Household pay</a:t>
                      </a:r>
                      <a:r>
                        <a:rPr lang="en-US" sz="1600" b="1" kern="1200" dirty="0">
                          <a:solidFill>
                            <a:schemeClr val="tx1"/>
                          </a:solidFill>
                          <a:latin typeface="+mn-lt"/>
                          <a:ea typeface="+mn-ea"/>
                          <a:cs typeface="+mn-cs"/>
                        </a:rPr>
                        <a:t>ment when JKN used</a:t>
                      </a:r>
                      <a:r>
                        <a:rPr sz="1600" b="1" kern="1200" dirty="0">
                          <a:solidFill>
                            <a:schemeClr val="tx1"/>
                          </a:solidFill>
                          <a:latin typeface="+mn-lt"/>
                          <a:ea typeface="+mn-ea"/>
                          <a:cs typeface="+mn-cs"/>
                        </a:rPr>
                        <a:t>
</a:t>
                      </a:r>
                      <a:r>
                        <a:rPr lang="en-US" sz="1600" b="0" dirty="0">
                          <a:solidFill>
                            <a:schemeClr val="tx1"/>
                          </a:solidFill>
                        </a:rPr>
                        <a:t>IDR (USD)</a:t>
                      </a:r>
                      <a:endParaRPr lang="en-US" sz="1600" b="0" dirty="0">
                        <a:solidFill>
                          <a:schemeClr val="tx1"/>
                        </a:solidFill>
                        <a:latin typeface="Aptos" panose="020B0004020202020204" pitchFamily="34" charset="0"/>
                        <a:ea typeface="Calibri" charset="0"/>
                        <a:cs typeface="Calibri" charset="0"/>
                      </a:endParaRPr>
                    </a:p>
                  </a:txBody>
                  <a:tcPr marL="64008" marR="64008" marT="18288" marB="1828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600" b="1" kern="1200" dirty="0">
                          <a:solidFill>
                            <a:schemeClr val="tx1"/>
                          </a:solidFill>
                          <a:latin typeface="+mn-lt"/>
                          <a:ea typeface="+mn-ea"/>
                          <a:cs typeface="+mn-cs"/>
                        </a:rPr>
                        <a:t>Household pay</a:t>
                      </a:r>
                      <a:r>
                        <a:rPr lang="en-US" sz="1600" b="1" kern="1200" dirty="0">
                          <a:solidFill>
                            <a:schemeClr val="tx1"/>
                          </a:solidFill>
                          <a:latin typeface="+mn-lt"/>
                          <a:ea typeface="+mn-ea"/>
                          <a:cs typeface="+mn-cs"/>
                        </a:rPr>
                        <a:t>ment when JKN not used</a:t>
                      </a:r>
                      <a:r>
                        <a:rPr sz="1600" b="1" kern="1200" dirty="0">
                          <a:solidFill>
                            <a:schemeClr val="tx1"/>
                          </a:solidFill>
                          <a:latin typeface="+mn-lt"/>
                          <a:ea typeface="+mn-ea"/>
                          <a:cs typeface="+mn-cs"/>
                        </a:rPr>
                        <a:t>
</a:t>
                      </a:r>
                      <a:r>
                        <a:rPr lang="en-US" sz="1600" b="0" dirty="0">
                          <a:solidFill>
                            <a:schemeClr val="tx1"/>
                          </a:solidFill>
                        </a:rPr>
                        <a:t>IDR (USD)</a:t>
                      </a:r>
                      <a:endParaRPr lang="en-US" sz="1600" b="0" dirty="0">
                        <a:solidFill>
                          <a:schemeClr val="tx1"/>
                        </a:solidFill>
                        <a:latin typeface="Aptos" panose="020B0004020202020204" pitchFamily="34" charset="0"/>
                        <a:ea typeface="Calibri" charset="0"/>
                        <a:cs typeface="Calibri" charset="0"/>
                      </a:endParaRPr>
                    </a:p>
                  </a:txBody>
                  <a:tcPr marL="64008" marR="64008" marT="18288" marB="18288" anchor="ctr"/>
                </a:tc>
                <a:extLst>
                  <a:ext uri="{0D108BD9-81ED-4DB2-BD59-A6C34878D82A}">
                    <a16:rowId xmlns:a16="http://schemas.microsoft.com/office/drawing/2014/main" val="2436017022"/>
                  </a:ext>
                </a:extLst>
              </a:tr>
              <a:tr h="583207">
                <a:tc>
                  <a:txBody>
                    <a:bodyPr/>
                    <a:lstStyle/>
                    <a:p>
                      <a:pPr marL="0" indent="0" algn="l" defTabSz="914400" rtl="0" eaLnBrk="1" latinLnBrk="0" hangingPunct="1">
                        <a:buNone/>
                      </a:pPr>
                      <a:r>
                        <a:rPr lang="en-US" sz="1600" kern="1200">
                          <a:solidFill>
                            <a:schemeClr val="tx1"/>
                          </a:solidFill>
                          <a:latin typeface="Calibri" panose="020F0502020204030204" pitchFamily="34" charset="0"/>
                          <a:ea typeface="+mn-ea"/>
                          <a:cs typeface="Calibri" panose="020F0502020204030204" pitchFamily="34" charset="0"/>
                        </a:rPr>
                        <a:t>Hospitalized acute CVD event (weighted average)</a:t>
                      </a:r>
                      <a:endParaRPr lang="en-US" sz="1600" kern="1200" dirty="0">
                        <a:solidFill>
                          <a:schemeClr val="tx1"/>
                        </a:solidFill>
                        <a:latin typeface="Calibri" panose="020F0502020204030204" pitchFamily="34" charset="0"/>
                        <a:ea typeface="+mn-ea"/>
                        <a:cs typeface="Calibri" panose="020F0502020204030204" pitchFamily="34" charset="0"/>
                      </a:endParaRPr>
                    </a:p>
                  </a:txBody>
                  <a:tcPr marL="64008" marR="64008" marT="18288" marB="18288" anchor="ctr"/>
                </a:tc>
                <a:tc>
                  <a:txBody>
                    <a:bodyPr/>
                    <a:lstStyle/>
                    <a:p>
                      <a:pPr algn="r" fontAlgn="t">
                        <a:spcBef>
                          <a:spcPts val="1800"/>
                        </a:spcBef>
                        <a:buNone/>
                      </a:pPr>
                      <a:r>
                        <a:rPr lang="en-US" sz="1600" dirty="0">
                          <a:effectLst/>
                          <a:latin typeface="Calibri" panose="020F0502020204030204" pitchFamily="34" charset="0"/>
                          <a:cs typeface="Calibri" panose="020F0502020204030204" pitchFamily="34" charset="0"/>
                        </a:rPr>
                        <a:t>1.86</a:t>
                      </a:r>
                      <a:endParaRPr lang="en-US" sz="1600" b="1" i="0" dirty="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6,950,500  (434)</a:t>
                      </a:r>
                      <a:endParaRPr lang="en-US" sz="1600" b="1"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2,331,893  (146)</a:t>
                      </a:r>
                      <a:endParaRPr lang="en-US" sz="1600" b="1"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6,950,500  (434)</a:t>
                      </a:r>
                      <a:endParaRPr lang="en-US" sz="1600" b="1" i="0">
                        <a:solidFill>
                          <a:srgbClr val="16202B"/>
                        </a:solidFill>
                        <a:effectLst/>
                        <a:latin typeface="Calibri" panose="020F0502020204030204" pitchFamily="34" charset="0"/>
                        <a:cs typeface="Calibri" panose="020F0502020204030204" pitchFamily="34" charset="0"/>
                      </a:endParaRPr>
                    </a:p>
                  </a:txBody>
                  <a:tcPr marL="92260" marR="92260" marT="119938" marB="119938"/>
                </a:tc>
                <a:extLst>
                  <a:ext uri="{0D108BD9-81ED-4DB2-BD59-A6C34878D82A}">
                    <a16:rowId xmlns:a16="http://schemas.microsoft.com/office/drawing/2014/main" val="3307277827"/>
                  </a:ext>
                </a:extLst>
              </a:tr>
              <a:tr h="411542">
                <a:tc>
                  <a:txBody>
                    <a:bodyPr/>
                    <a:lstStyle/>
                    <a:p>
                      <a:pPr marL="0" indent="0" algn="l" defTabSz="914400" rtl="0" eaLnBrk="1" latinLnBrk="0" hangingPunct="1">
                        <a:buNone/>
                      </a:pPr>
                      <a:r>
                        <a:rPr lang="en-US" sz="1600" kern="1200" dirty="0">
                          <a:solidFill>
                            <a:schemeClr val="tx1"/>
                          </a:solidFill>
                          <a:latin typeface="Calibri" panose="020F0502020204030204" pitchFamily="34" charset="0"/>
                          <a:ea typeface="+mn-ea"/>
                          <a:cs typeface="Calibri" panose="020F0502020204030204" pitchFamily="34" charset="0"/>
                        </a:rPr>
                        <a:t>—  ischemic stroke  (63% of events)</a:t>
                      </a:r>
                    </a:p>
                  </a:txBody>
                  <a:tcPr marL="64008" marR="64008" marT="18288" marB="18288" anchor="ctr"/>
                </a:tc>
                <a:tc>
                  <a:txBody>
                    <a:bodyPr/>
                    <a:lstStyle/>
                    <a:p>
                      <a:pPr algn="r" fontAlgn="t">
                        <a:spcBef>
                          <a:spcPts val="1800"/>
                        </a:spcBef>
                        <a:buNone/>
                      </a:pPr>
                      <a:r>
                        <a:rPr lang="en-US" sz="1600" dirty="0">
                          <a:effectLst/>
                          <a:latin typeface="Calibri" panose="020F0502020204030204" pitchFamily="34" charset="0"/>
                          <a:cs typeface="Calibri" panose="020F0502020204030204" pitchFamily="34" charset="0"/>
                        </a:rPr>
                        <a:t>1.18</a:t>
                      </a:r>
                      <a:endParaRPr lang="en-US" sz="1600" b="0" i="0" dirty="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7,061,300  (441)</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2,369,066  (148)</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7,061,300  (441)</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extLst>
                  <a:ext uri="{0D108BD9-81ED-4DB2-BD59-A6C34878D82A}">
                    <a16:rowId xmlns:a16="http://schemas.microsoft.com/office/drawing/2014/main" val="483273903"/>
                  </a:ext>
                </a:extLst>
              </a:tr>
              <a:tr h="411542">
                <a:tc>
                  <a:txBody>
                    <a:bodyPr/>
                    <a:lstStyle/>
                    <a:p>
                      <a:pPr marL="0" indent="0" algn="l" defTabSz="914400" rtl="0" eaLnBrk="1" latinLnBrk="0" hangingPunct="1">
                        <a:buNone/>
                      </a:pPr>
                      <a:r>
                        <a:rPr lang="en-US" sz="1600" kern="1200">
                          <a:solidFill>
                            <a:schemeClr val="tx1"/>
                          </a:solidFill>
                          <a:latin typeface="Calibri" panose="020F0502020204030204" pitchFamily="34" charset="0"/>
                          <a:ea typeface="+mn-ea"/>
                          <a:cs typeface="Calibri" panose="020F0502020204030204" pitchFamily="34" charset="0"/>
                        </a:rPr>
                        <a:t>—  hemorrhagic stroke / ICH  (14%)</a:t>
                      </a:r>
                      <a:endParaRPr lang="en-US" sz="1600" kern="1200" dirty="0">
                        <a:solidFill>
                          <a:schemeClr val="tx1"/>
                        </a:solidFill>
                        <a:latin typeface="Calibri" panose="020F0502020204030204" pitchFamily="34" charset="0"/>
                        <a:ea typeface="+mn-ea"/>
                        <a:cs typeface="Calibri" panose="020F0502020204030204" pitchFamily="34" charset="0"/>
                      </a:endParaRPr>
                    </a:p>
                  </a:txBody>
                  <a:tcPr marL="64008" marR="64008" marT="18288" marB="18288" anchor="ctr"/>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0.26</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5,822,600  (364)</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1,953,482  (122)</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5,822,600  (364)</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extLst>
                  <a:ext uri="{0D108BD9-81ED-4DB2-BD59-A6C34878D82A}">
                    <a16:rowId xmlns:a16="http://schemas.microsoft.com/office/drawing/2014/main" val="598392412"/>
                  </a:ext>
                </a:extLst>
              </a:tr>
              <a:tr h="411542">
                <a:tc>
                  <a:txBody>
                    <a:bodyPr/>
                    <a:lstStyle/>
                    <a:p>
                      <a:pPr marL="0" indent="0" algn="l" defTabSz="914400" rtl="0" eaLnBrk="1" latinLnBrk="0" hangingPunct="1">
                        <a:buNone/>
                      </a:pPr>
                      <a:r>
                        <a:rPr lang="en-US" sz="1600" kern="1200" dirty="0">
                          <a:solidFill>
                            <a:schemeClr val="tx1"/>
                          </a:solidFill>
                          <a:latin typeface="Calibri" panose="020F0502020204030204" pitchFamily="34" charset="0"/>
                          <a:ea typeface="+mn-ea"/>
                          <a:cs typeface="Calibri" panose="020F0502020204030204" pitchFamily="34" charset="0"/>
                        </a:rPr>
                        <a:t>—  acute myocardial infarction  (22%)</a:t>
                      </a:r>
                    </a:p>
                  </a:txBody>
                  <a:tcPr marL="64008" marR="64008" marT="18288" marB="18288" anchor="ctr"/>
                </a:tc>
                <a:tc>
                  <a:txBody>
                    <a:bodyPr/>
                    <a:lstStyle/>
                    <a:p>
                      <a:pPr algn="r" fontAlgn="t">
                        <a:spcBef>
                          <a:spcPts val="1800"/>
                        </a:spcBef>
                        <a:buNone/>
                      </a:pPr>
                      <a:r>
                        <a:rPr lang="en-US" sz="1600" dirty="0">
                          <a:effectLst/>
                          <a:latin typeface="Calibri" panose="020F0502020204030204" pitchFamily="34" charset="0"/>
                          <a:cs typeface="Calibri" panose="020F0502020204030204" pitchFamily="34" charset="0"/>
                        </a:rPr>
                        <a:t>0.42</a:t>
                      </a:r>
                      <a:endParaRPr lang="en-US" sz="1600" b="0" i="0" dirty="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7,377,900  (461)</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2,475,285  (155)</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dirty="0">
                          <a:effectLst/>
                          <a:latin typeface="Calibri" panose="020F0502020204030204" pitchFamily="34" charset="0"/>
                          <a:cs typeface="Calibri" panose="020F0502020204030204" pitchFamily="34" charset="0"/>
                        </a:rPr>
                        <a:t>7,377,900  (461)</a:t>
                      </a:r>
                      <a:endParaRPr lang="en-US" sz="1600" b="0" i="0" dirty="0">
                        <a:solidFill>
                          <a:srgbClr val="16202B"/>
                        </a:solidFill>
                        <a:effectLst/>
                        <a:latin typeface="Calibri" panose="020F0502020204030204" pitchFamily="34" charset="0"/>
                        <a:cs typeface="Calibri" panose="020F0502020204030204" pitchFamily="34" charset="0"/>
                      </a:endParaRPr>
                    </a:p>
                  </a:txBody>
                  <a:tcPr marL="92260" marR="92260" marT="119938" marB="119938"/>
                </a:tc>
                <a:extLst>
                  <a:ext uri="{0D108BD9-81ED-4DB2-BD59-A6C34878D82A}">
                    <a16:rowId xmlns:a16="http://schemas.microsoft.com/office/drawing/2014/main" val="67419864"/>
                  </a:ext>
                </a:extLst>
              </a:tr>
            </a:tbl>
          </a:graphicData>
        </a:graphic>
      </p:graphicFrame>
      <p:sp>
        <p:nvSpPr>
          <p:cNvPr id="5" name="TextBox 4">
            <a:extLst>
              <a:ext uri="{FF2B5EF4-FFF2-40B4-BE49-F238E27FC236}">
                <a16:creationId xmlns:a16="http://schemas.microsoft.com/office/drawing/2014/main" id="{96B34B3B-A44A-4513-3434-74E4D398D2D7}"/>
              </a:ext>
            </a:extLst>
          </p:cNvPr>
          <p:cNvSpPr txBox="1"/>
          <p:nvPr/>
        </p:nvSpPr>
        <p:spPr>
          <a:xfrm>
            <a:off x="382099" y="5246059"/>
            <a:ext cx="8379802" cy="1323439"/>
          </a:xfrm>
          <a:prstGeom prst="rect">
            <a:avLst/>
          </a:prstGeom>
          <a:noFill/>
        </p:spPr>
        <p:txBody>
          <a:bodyPr wrap="square" rtlCol="0">
            <a:spAutoFit/>
          </a:bodyPr>
          <a:lstStyle/>
          <a:p>
            <a:r>
              <a:rPr lang="en-US" sz="1600" b="1" dirty="0"/>
              <a:t>Note: </a:t>
            </a:r>
            <a:r>
              <a:rPr lang="en-US" sz="1600" dirty="0"/>
              <a:t>When JKN is used, the household still pays about 34% of the cost of acute care; when not used it pays the full cost (Fattah et al. </a:t>
            </a:r>
            <a:r>
              <a:rPr lang="en-US" sz="1600" i="1" dirty="0"/>
              <a:t>Int. J. Equity Health </a:t>
            </a:r>
            <a:r>
              <a:rPr lang="en-US" sz="1600" dirty="0"/>
              <a:t>2023; Dewan </a:t>
            </a:r>
            <a:r>
              <a:rPr lang="en-US" sz="1600" dirty="0" err="1"/>
              <a:t>Jaminan</a:t>
            </a:r>
            <a:r>
              <a:rPr lang="en-US" sz="1600" dirty="0"/>
              <a:t> </a:t>
            </a:r>
            <a:r>
              <a:rPr lang="en-US" sz="1600" dirty="0" err="1"/>
              <a:t>Sosial</a:t>
            </a:r>
            <a:r>
              <a:rPr lang="en-US" sz="1600" dirty="0"/>
              <a:t> Nasional). </a:t>
            </a:r>
          </a:p>
          <a:p>
            <a:r>
              <a:rPr lang="en-US" sz="1600" b="1" dirty="0"/>
              <a:t>Sources: </a:t>
            </a:r>
            <a:r>
              <a:rPr lang="en-US" sz="1600" dirty="0"/>
              <a:t>INA-CBG tariffs, </a:t>
            </a:r>
            <a:r>
              <a:rPr lang="en-US" sz="1600" dirty="0" err="1"/>
              <a:t>Permenkes</a:t>
            </a:r>
            <a:r>
              <a:rPr lang="en-US" sz="1600" dirty="0"/>
              <a:t> 3/2023 — </a:t>
            </a:r>
            <a:r>
              <a:rPr lang="en-US" sz="1600" dirty="0" err="1"/>
              <a:t>kelas</a:t>
            </a:r>
            <a:r>
              <a:rPr lang="en-US" sz="1600" dirty="0"/>
              <a:t> 3, severity II, Regional 1, government class B. Event counts: BPJS sample data 2020–24</a:t>
            </a:r>
          </a:p>
        </p:txBody>
      </p:sp>
    </p:spTree>
    <p:extLst>
      <p:ext uri="{BB962C8B-B14F-4D97-AF65-F5344CB8AC3E}">
        <p14:creationId xmlns:p14="http://schemas.microsoft.com/office/powerpoint/2010/main" val="40786942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64EEC-8C2D-02CB-CD2B-86807A5AE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28EEA6-F2D3-4E0F-02F8-F10261E4959D}"/>
              </a:ext>
            </a:extLst>
          </p:cNvPr>
          <p:cNvSpPr>
            <a:spLocks noGrp="1"/>
          </p:cNvSpPr>
          <p:nvPr>
            <p:ph type="title"/>
          </p:nvPr>
        </p:nvSpPr>
        <p:spPr>
          <a:xfrm>
            <a:off x="381000" y="274638"/>
            <a:ext cx="8305800" cy="1143000"/>
          </a:xfrm>
        </p:spPr>
        <p:txBody>
          <a:bodyPr>
            <a:noAutofit/>
          </a:bodyPr>
          <a:lstStyle/>
          <a:p>
            <a:pPr algn="ctr"/>
            <a:r>
              <a:rPr lang="en-US" b="1" dirty="0"/>
              <a:t>Inputs (3): </a:t>
            </a:r>
            <a:r>
              <a:rPr lang="en-US" dirty="0"/>
              <a:t>What fraction of cost is covered by JKN</a:t>
            </a:r>
            <a:endParaRPr lang="en-US" i="1" dirty="0"/>
          </a:p>
        </p:txBody>
      </p:sp>
      <p:grpSp>
        <p:nvGrpSpPr>
          <p:cNvPr id="111" name="Group 110">
            <a:extLst>
              <a:ext uri="{FF2B5EF4-FFF2-40B4-BE49-F238E27FC236}">
                <a16:creationId xmlns:a16="http://schemas.microsoft.com/office/drawing/2014/main" id="{DE893EB8-EA76-6BBA-ADD8-596A6E13D687}"/>
              </a:ext>
            </a:extLst>
          </p:cNvPr>
          <p:cNvGrpSpPr/>
          <p:nvPr/>
        </p:nvGrpSpPr>
        <p:grpSpPr>
          <a:xfrm>
            <a:off x="533400" y="1778586"/>
            <a:ext cx="3813047" cy="3860214"/>
            <a:chOff x="533400" y="1639461"/>
            <a:chExt cx="3813047" cy="3860214"/>
          </a:xfrm>
        </p:grpSpPr>
        <p:sp>
          <p:nvSpPr>
            <p:cNvPr id="3" name="TextBox 2">
              <a:extLst>
                <a:ext uri="{FF2B5EF4-FFF2-40B4-BE49-F238E27FC236}">
                  <a16:creationId xmlns:a16="http://schemas.microsoft.com/office/drawing/2014/main" id="{C7220B31-DAFA-5F7A-8845-1561CAD2BB45}"/>
                </a:ext>
              </a:extLst>
            </p:cNvPr>
            <p:cNvSpPr txBox="1"/>
            <p:nvPr/>
          </p:nvSpPr>
          <p:spPr>
            <a:xfrm>
              <a:off x="591312" y="1639461"/>
              <a:ext cx="2324404" cy="276999"/>
            </a:xfrm>
            <a:prstGeom prst="rect">
              <a:avLst/>
            </a:prstGeom>
            <a:noFill/>
          </p:spPr>
          <p:txBody>
            <a:bodyPr wrap="square" lIns="0" tIns="0" rIns="0" bIns="0" anchor="t">
              <a:spAutoFit/>
            </a:bodyPr>
            <a:lstStyle/>
            <a:p>
              <a:pPr algn="l"/>
              <a:r>
                <a:rPr b="1" i="0" dirty="0">
                  <a:solidFill>
                    <a:srgbClr val="002060"/>
                  </a:solidFill>
                  <a:latin typeface="Calibri"/>
                </a:rPr>
                <a:t>CHRONIC CARE</a:t>
              </a:r>
            </a:p>
          </p:txBody>
        </p:sp>
        <p:sp>
          <p:nvSpPr>
            <p:cNvPr id="6" name="TextBox 5">
              <a:extLst>
                <a:ext uri="{FF2B5EF4-FFF2-40B4-BE49-F238E27FC236}">
                  <a16:creationId xmlns:a16="http://schemas.microsoft.com/office/drawing/2014/main" id="{F7512209-B02D-5F01-1A14-EEDC41648932}"/>
                </a:ext>
              </a:extLst>
            </p:cNvPr>
            <p:cNvSpPr txBox="1"/>
            <p:nvPr/>
          </p:nvSpPr>
          <p:spPr>
            <a:xfrm>
              <a:off x="597408" y="2015811"/>
              <a:ext cx="3749039" cy="219456"/>
            </a:xfrm>
            <a:prstGeom prst="rect">
              <a:avLst/>
            </a:prstGeom>
            <a:noFill/>
          </p:spPr>
          <p:txBody>
            <a:bodyPr wrap="square" lIns="0" tIns="0" rIns="0" bIns="0" anchor="t">
              <a:spAutoFit/>
            </a:bodyPr>
            <a:lstStyle/>
            <a:p>
              <a:pPr algn="l"/>
              <a:r>
                <a:rPr sz="1050" b="0" i="0">
                  <a:solidFill>
                    <a:srgbClr val="5A6A7D"/>
                  </a:solidFill>
                  <a:latin typeface="Calibri"/>
                </a:rPr>
                <a:t>outpatient  ·  15.6M patients in care</a:t>
              </a:r>
            </a:p>
          </p:txBody>
        </p:sp>
        <p:cxnSp>
          <p:nvCxnSpPr>
            <p:cNvPr id="8" name="Connector 6">
              <a:extLst>
                <a:ext uri="{FF2B5EF4-FFF2-40B4-BE49-F238E27FC236}">
                  <a16:creationId xmlns:a16="http://schemas.microsoft.com/office/drawing/2014/main" id="{EFCEE8BF-1EA0-9EBF-1E96-BBB5D375856F}"/>
                </a:ext>
              </a:extLst>
            </p:cNvPr>
            <p:cNvCxnSpPr/>
            <p:nvPr/>
          </p:nvCxnSpPr>
          <p:spPr>
            <a:xfrm>
              <a:off x="1008888" y="5216211"/>
              <a:ext cx="3337559" cy="0"/>
            </a:xfrm>
            <a:prstGeom prst="line">
              <a:avLst/>
            </a:prstGeom>
            <a:ln w="9525">
              <a:solidFill>
                <a:srgbClr val="DDE4EC"/>
              </a:solidFill>
            </a:ln>
          </p:spPr>
        </p:cxnSp>
        <p:sp>
          <p:nvSpPr>
            <p:cNvPr id="9" name="TextBox 8">
              <a:extLst>
                <a:ext uri="{FF2B5EF4-FFF2-40B4-BE49-F238E27FC236}">
                  <a16:creationId xmlns:a16="http://schemas.microsoft.com/office/drawing/2014/main" id="{2F38AE21-7558-2299-95E3-6BE43132E0FC}"/>
                </a:ext>
              </a:extLst>
            </p:cNvPr>
            <p:cNvSpPr txBox="1"/>
            <p:nvPr/>
          </p:nvSpPr>
          <p:spPr>
            <a:xfrm>
              <a:off x="533400" y="5133915"/>
              <a:ext cx="420624" cy="182880"/>
            </a:xfrm>
            <a:prstGeom prst="rect">
              <a:avLst/>
            </a:prstGeom>
            <a:noFill/>
          </p:spPr>
          <p:txBody>
            <a:bodyPr wrap="square" lIns="0" tIns="0" rIns="0" bIns="0" anchor="t">
              <a:spAutoFit/>
            </a:bodyPr>
            <a:lstStyle/>
            <a:p>
              <a:pPr algn="r"/>
              <a:r>
                <a:rPr sz="950" b="0" i="0">
                  <a:solidFill>
                    <a:srgbClr val="5A6A7D"/>
                  </a:solidFill>
                  <a:latin typeface="Calibri"/>
                </a:rPr>
                <a:t>0%</a:t>
              </a:r>
            </a:p>
          </p:txBody>
        </p:sp>
        <p:cxnSp>
          <p:nvCxnSpPr>
            <p:cNvPr id="10" name="Connector 8">
              <a:extLst>
                <a:ext uri="{FF2B5EF4-FFF2-40B4-BE49-F238E27FC236}">
                  <a16:creationId xmlns:a16="http://schemas.microsoft.com/office/drawing/2014/main" id="{E6673825-2157-1A06-5C87-1830DDB19668}"/>
                </a:ext>
              </a:extLst>
            </p:cNvPr>
            <p:cNvCxnSpPr/>
            <p:nvPr/>
          </p:nvCxnSpPr>
          <p:spPr>
            <a:xfrm>
              <a:off x="1008888" y="4484691"/>
              <a:ext cx="3337559" cy="0"/>
            </a:xfrm>
            <a:prstGeom prst="line">
              <a:avLst/>
            </a:prstGeom>
            <a:ln w="9525">
              <a:solidFill>
                <a:srgbClr val="DDE4EC"/>
              </a:solidFill>
            </a:ln>
          </p:spPr>
        </p:cxnSp>
        <p:sp>
          <p:nvSpPr>
            <p:cNvPr id="11" name="TextBox 10">
              <a:extLst>
                <a:ext uri="{FF2B5EF4-FFF2-40B4-BE49-F238E27FC236}">
                  <a16:creationId xmlns:a16="http://schemas.microsoft.com/office/drawing/2014/main" id="{E3ADD284-1807-640F-C970-156FFD874805}"/>
                </a:ext>
              </a:extLst>
            </p:cNvPr>
            <p:cNvSpPr txBox="1"/>
            <p:nvPr/>
          </p:nvSpPr>
          <p:spPr>
            <a:xfrm>
              <a:off x="533400" y="4402395"/>
              <a:ext cx="420624" cy="182880"/>
            </a:xfrm>
            <a:prstGeom prst="rect">
              <a:avLst/>
            </a:prstGeom>
            <a:noFill/>
          </p:spPr>
          <p:txBody>
            <a:bodyPr wrap="square" lIns="0" tIns="0" rIns="0" bIns="0" anchor="t">
              <a:spAutoFit/>
            </a:bodyPr>
            <a:lstStyle/>
            <a:p>
              <a:pPr algn="r"/>
              <a:r>
                <a:rPr sz="950" b="0" i="0">
                  <a:solidFill>
                    <a:srgbClr val="5A6A7D"/>
                  </a:solidFill>
                  <a:latin typeface="Calibri"/>
                </a:rPr>
                <a:t>25%</a:t>
              </a:r>
            </a:p>
          </p:txBody>
        </p:sp>
        <p:cxnSp>
          <p:nvCxnSpPr>
            <p:cNvPr id="12" name="Connector 10">
              <a:extLst>
                <a:ext uri="{FF2B5EF4-FFF2-40B4-BE49-F238E27FC236}">
                  <a16:creationId xmlns:a16="http://schemas.microsoft.com/office/drawing/2014/main" id="{B0B68A6B-1E5E-D296-9C77-37957041663A}"/>
                </a:ext>
              </a:extLst>
            </p:cNvPr>
            <p:cNvCxnSpPr/>
            <p:nvPr/>
          </p:nvCxnSpPr>
          <p:spPr>
            <a:xfrm>
              <a:off x="1008888" y="3753171"/>
              <a:ext cx="3337559" cy="0"/>
            </a:xfrm>
            <a:prstGeom prst="line">
              <a:avLst/>
            </a:prstGeom>
            <a:ln w="9525">
              <a:solidFill>
                <a:srgbClr val="DDE4EC"/>
              </a:solidFill>
            </a:ln>
          </p:spPr>
        </p:cxnSp>
        <p:sp>
          <p:nvSpPr>
            <p:cNvPr id="13" name="TextBox 12">
              <a:extLst>
                <a:ext uri="{FF2B5EF4-FFF2-40B4-BE49-F238E27FC236}">
                  <a16:creationId xmlns:a16="http://schemas.microsoft.com/office/drawing/2014/main" id="{539FB5BF-8429-502F-10F5-718A02F98BC5}"/>
                </a:ext>
              </a:extLst>
            </p:cNvPr>
            <p:cNvSpPr txBox="1"/>
            <p:nvPr/>
          </p:nvSpPr>
          <p:spPr>
            <a:xfrm>
              <a:off x="533400" y="3670875"/>
              <a:ext cx="420624" cy="182880"/>
            </a:xfrm>
            <a:prstGeom prst="rect">
              <a:avLst/>
            </a:prstGeom>
            <a:noFill/>
          </p:spPr>
          <p:txBody>
            <a:bodyPr wrap="square" lIns="0" tIns="0" rIns="0" bIns="0" anchor="t">
              <a:spAutoFit/>
            </a:bodyPr>
            <a:lstStyle/>
            <a:p>
              <a:pPr algn="r"/>
              <a:r>
                <a:rPr sz="950" b="0" i="0">
                  <a:solidFill>
                    <a:srgbClr val="5A6A7D"/>
                  </a:solidFill>
                  <a:latin typeface="Calibri"/>
                </a:rPr>
                <a:t>50%</a:t>
              </a:r>
            </a:p>
          </p:txBody>
        </p:sp>
        <p:cxnSp>
          <p:nvCxnSpPr>
            <p:cNvPr id="14" name="Connector 12">
              <a:extLst>
                <a:ext uri="{FF2B5EF4-FFF2-40B4-BE49-F238E27FC236}">
                  <a16:creationId xmlns:a16="http://schemas.microsoft.com/office/drawing/2014/main" id="{A862D498-7108-AF20-B47D-76D78DC99435}"/>
                </a:ext>
              </a:extLst>
            </p:cNvPr>
            <p:cNvCxnSpPr/>
            <p:nvPr/>
          </p:nvCxnSpPr>
          <p:spPr>
            <a:xfrm>
              <a:off x="1008888" y="3021651"/>
              <a:ext cx="3337559" cy="0"/>
            </a:xfrm>
            <a:prstGeom prst="line">
              <a:avLst/>
            </a:prstGeom>
            <a:ln w="9525">
              <a:solidFill>
                <a:srgbClr val="DDE4EC"/>
              </a:solidFill>
            </a:ln>
          </p:spPr>
        </p:cxnSp>
        <p:sp>
          <p:nvSpPr>
            <p:cNvPr id="15" name="TextBox 14">
              <a:extLst>
                <a:ext uri="{FF2B5EF4-FFF2-40B4-BE49-F238E27FC236}">
                  <a16:creationId xmlns:a16="http://schemas.microsoft.com/office/drawing/2014/main" id="{6872FC13-8EFB-9F35-755A-519B0894AD88}"/>
                </a:ext>
              </a:extLst>
            </p:cNvPr>
            <p:cNvSpPr txBox="1"/>
            <p:nvPr/>
          </p:nvSpPr>
          <p:spPr>
            <a:xfrm>
              <a:off x="533400" y="2939355"/>
              <a:ext cx="420624" cy="182880"/>
            </a:xfrm>
            <a:prstGeom prst="rect">
              <a:avLst/>
            </a:prstGeom>
            <a:noFill/>
          </p:spPr>
          <p:txBody>
            <a:bodyPr wrap="square" lIns="0" tIns="0" rIns="0" bIns="0" anchor="t">
              <a:spAutoFit/>
            </a:bodyPr>
            <a:lstStyle/>
            <a:p>
              <a:pPr algn="r"/>
              <a:r>
                <a:rPr sz="950" b="0" i="0">
                  <a:solidFill>
                    <a:srgbClr val="5A6A7D"/>
                  </a:solidFill>
                  <a:latin typeface="Calibri"/>
                </a:rPr>
                <a:t>75%</a:t>
              </a:r>
            </a:p>
          </p:txBody>
        </p:sp>
        <p:cxnSp>
          <p:nvCxnSpPr>
            <p:cNvPr id="16" name="Connector 14">
              <a:extLst>
                <a:ext uri="{FF2B5EF4-FFF2-40B4-BE49-F238E27FC236}">
                  <a16:creationId xmlns:a16="http://schemas.microsoft.com/office/drawing/2014/main" id="{29527B14-9C42-EFBD-FE45-B636C1B5EA85}"/>
                </a:ext>
              </a:extLst>
            </p:cNvPr>
            <p:cNvCxnSpPr/>
            <p:nvPr/>
          </p:nvCxnSpPr>
          <p:spPr>
            <a:xfrm>
              <a:off x="1008888" y="2290131"/>
              <a:ext cx="3337559" cy="0"/>
            </a:xfrm>
            <a:prstGeom prst="line">
              <a:avLst/>
            </a:prstGeom>
            <a:ln w="9525">
              <a:solidFill>
                <a:srgbClr val="DDE4EC"/>
              </a:solidFill>
            </a:ln>
          </p:spPr>
        </p:cxnSp>
        <p:sp>
          <p:nvSpPr>
            <p:cNvPr id="17" name="TextBox 16">
              <a:extLst>
                <a:ext uri="{FF2B5EF4-FFF2-40B4-BE49-F238E27FC236}">
                  <a16:creationId xmlns:a16="http://schemas.microsoft.com/office/drawing/2014/main" id="{26EAAEB5-C6A4-2A5E-C2F7-BB92B3363CF1}"/>
                </a:ext>
              </a:extLst>
            </p:cNvPr>
            <p:cNvSpPr txBox="1"/>
            <p:nvPr/>
          </p:nvSpPr>
          <p:spPr>
            <a:xfrm>
              <a:off x="533400" y="2207835"/>
              <a:ext cx="420624" cy="182880"/>
            </a:xfrm>
            <a:prstGeom prst="rect">
              <a:avLst/>
            </a:prstGeom>
            <a:noFill/>
          </p:spPr>
          <p:txBody>
            <a:bodyPr wrap="square" lIns="0" tIns="0" rIns="0" bIns="0" anchor="t">
              <a:spAutoFit/>
            </a:bodyPr>
            <a:lstStyle/>
            <a:p>
              <a:pPr algn="r"/>
              <a:r>
                <a:rPr sz="950" b="0" i="0">
                  <a:solidFill>
                    <a:srgbClr val="5A6A7D"/>
                  </a:solidFill>
                  <a:latin typeface="Calibri"/>
                </a:rPr>
                <a:t>100%</a:t>
              </a:r>
            </a:p>
          </p:txBody>
        </p:sp>
        <p:sp>
          <p:nvSpPr>
            <p:cNvPr id="18" name="Rectangle 17">
              <a:extLst>
                <a:ext uri="{FF2B5EF4-FFF2-40B4-BE49-F238E27FC236}">
                  <a16:creationId xmlns:a16="http://schemas.microsoft.com/office/drawing/2014/main" id="{82E23BF0-064F-98AF-8550-65E4608AF52E}"/>
                </a:ext>
              </a:extLst>
            </p:cNvPr>
            <p:cNvSpPr/>
            <p:nvPr/>
          </p:nvSpPr>
          <p:spPr>
            <a:xfrm>
              <a:off x="1184148" y="4190254"/>
              <a:ext cx="457200" cy="1025956"/>
            </a:xfrm>
            <a:prstGeom prst="rect">
              <a:avLst/>
            </a:prstGeom>
            <a:solidFill>
              <a:srgbClr val="0F8C6B"/>
            </a:solidFill>
            <a:ln>
              <a:noFill/>
            </a:ln>
            <a:effectLst/>
          </p:spPr>
          <p:txBody>
            <a:bodyPr rtlCol="0" anchor="ctr"/>
            <a:lstStyle/>
            <a:p>
              <a:endParaRPr/>
            </a:p>
          </p:txBody>
        </p:sp>
        <p:sp>
          <p:nvSpPr>
            <p:cNvPr id="21" name="TextBox 20">
              <a:extLst>
                <a:ext uri="{FF2B5EF4-FFF2-40B4-BE49-F238E27FC236}">
                  <a16:creationId xmlns:a16="http://schemas.microsoft.com/office/drawing/2014/main" id="{90C5F9B1-192A-07C2-1194-B3DC5A5DF7DF}"/>
                </a:ext>
              </a:extLst>
            </p:cNvPr>
            <p:cNvSpPr txBox="1"/>
            <p:nvPr/>
          </p:nvSpPr>
          <p:spPr>
            <a:xfrm>
              <a:off x="1184148" y="4566072"/>
              <a:ext cx="457200" cy="274320"/>
            </a:xfrm>
            <a:prstGeom prst="rect">
              <a:avLst/>
            </a:prstGeom>
            <a:noFill/>
          </p:spPr>
          <p:txBody>
            <a:bodyPr wrap="square" lIns="0" tIns="0" rIns="0" bIns="0" anchor="ctr">
              <a:spAutoFit/>
            </a:bodyPr>
            <a:lstStyle/>
            <a:p>
              <a:pPr algn="ctr"/>
              <a:r>
                <a:rPr sz="1300" b="1" i="0" dirty="0">
                  <a:solidFill>
                    <a:srgbClr val="FFFFFF"/>
                  </a:solidFill>
                  <a:latin typeface="Calibri"/>
                </a:rPr>
                <a:t>35%</a:t>
              </a:r>
            </a:p>
          </p:txBody>
        </p:sp>
        <p:sp>
          <p:nvSpPr>
            <p:cNvPr id="22" name="TextBox 21">
              <a:extLst>
                <a:ext uri="{FF2B5EF4-FFF2-40B4-BE49-F238E27FC236}">
                  <a16:creationId xmlns:a16="http://schemas.microsoft.com/office/drawing/2014/main" id="{BB49A6B0-45F8-09B1-5EF8-04B7CFC31FDE}"/>
                </a:ext>
              </a:extLst>
            </p:cNvPr>
            <p:cNvSpPr txBox="1"/>
            <p:nvPr/>
          </p:nvSpPr>
          <p:spPr>
            <a:xfrm>
              <a:off x="1184148"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Q1</a:t>
              </a:r>
            </a:p>
          </p:txBody>
        </p:sp>
        <p:sp>
          <p:nvSpPr>
            <p:cNvPr id="23" name="Rectangle 22">
              <a:extLst>
                <a:ext uri="{FF2B5EF4-FFF2-40B4-BE49-F238E27FC236}">
                  <a16:creationId xmlns:a16="http://schemas.microsoft.com/office/drawing/2014/main" id="{4EE4C52E-E561-98B2-1D2E-17BBC337AF08}"/>
                </a:ext>
              </a:extLst>
            </p:cNvPr>
            <p:cNvSpPr/>
            <p:nvPr/>
          </p:nvSpPr>
          <p:spPr>
            <a:xfrm>
              <a:off x="1816608" y="4155580"/>
              <a:ext cx="457200" cy="1060630"/>
            </a:xfrm>
            <a:prstGeom prst="rect">
              <a:avLst/>
            </a:prstGeom>
            <a:solidFill>
              <a:srgbClr val="0F8C6B"/>
            </a:solidFill>
            <a:ln>
              <a:noFill/>
            </a:ln>
            <a:effectLst/>
          </p:spPr>
          <p:txBody>
            <a:bodyPr rtlCol="0" anchor="ctr"/>
            <a:lstStyle/>
            <a:p>
              <a:endParaRPr/>
            </a:p>
          </p:txBody>
        </p:sp>
        <p:sp>
          <p:nvSpPr>
            <p:cNvPr id="26" name="TextBox 25">
              <a:extLst>
                <a:ext uri="{FF2B5EF4-FFF2-40B4-BE49-F238E27FC236}">
                  <a16:creationId xmlns:a16="http://schemas.microsoft.com/office/drawing/2014/main" id="{CD2A2749-DF63-BA7B-7873-C801CCBB703A}"/>
                </a:ext>
              </a:extLst>
            </p:cNvPr>
            <p:cNvSpPr txBox="1"/>
            <p:nvPr/>
          </p:nvSpPr>
          <p:spPr>
            <a:xfrm>
              <a:off x="1816608" y="4548735"/>
              <a:ext cx="457200" cy="274320"/>
            </a:xfrm>
            <a:prstGeom prst="rect">
              <a:avLst/>
            </a:prstGeom>
            <a:noFill/>
          </p:spPr>
          <p:txBody>
            <a:bodyPr wrap="square" lIns="0" tIns="0" rIns="0" bIns="0" anchor="ctr">
              <a:spAutoFit/>
            </a:bodyPr>
            <a:lstStyle/>
            <a:p>
              <a:pPr algn="ctr"/>
              <a:r>
                <a:rPr sz="1300" b="1" i="0">
                  <a:solidFill>
                    <a:srgbClr val="FFFFFF"/>
                  </a:solidFill>
                  <a:latin typeface="Calibri"/>
                </a:rPr>
                <a:t>36%</a:t>
              </a:r>
            </a:p>
          </p:txBody>
        </p:sp>
        <p:sp>
          <p:nvSpPr>
            <p:cNvPr id="27" name="TextBox 26">
              <a:extLst>
                <a:ext uri="{FF2B5EF4-FFF2-40B4-BE49-F238E27FC236}">
                  <a16:creationId xmlns:a16="http://schemas.microsoft.com/office/drawing/2014/main" id="{CB90DCC2-7423-2C0D-93BD-CF95F9EB3476}"/>
                </a:ext>
              </a:extLst>
            </p:cNvPr>
            <p:cNvSpPr txBox="1"/>
            <p:nvPr/>
          </p:nvSpPr>
          <p:spPr>
            <a:xfrm>
              <a:off x="1816608"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Q2</a:t>
              </a:r>
            </a:p>
          </p:txBody>
        </p:sp>
        <p:sp>
          <p:nvSpPr>
            <p:cNvPr id="28" name="Rectangle 27">
              <a:extLst>
                <a:ext uri="{FF2B5EF4-FFF2-40B4-BE49-F238E27FC236}">
                  <a16:creationId xmlns:a16="http://schemas.microsoft.com/office/drawing/2014/main" id="{3F686852-7212-C954-94B9-548150321739}"/>
                </a:ext>
              </a:extLst>
            </p:cNvPr>
            <p:cNvSpPr/>
            <p:nvPr/>
          </p:nvSpPr>
          <p:spPr>
            <a:xfrm>
              <a:off x="2449067" y="4050899"/>
              <a:ext cx="457200" cy="1165311"/>
            </a:xfrm>
            <a:prstGeom prst="rect">
              <a:avLst/>
            </a:prstGeom>
            <a:solidFill>
              <a:srgbClr val="0F8C6B"/>
            </a:solidFill>
            <a:ln>
              <a:noFill/>
            </a:ln>
            <a:effectLst/>
          </p:spPr>
          <p:txBody>
            <a:bodyPr rtlCol="0" anchor="ctr"/>
            <a:lstStyle/>
            <a:p>
              <a:endParaRPr/>
            </a:p>
          </p:txBody>
        </p:sp>
        <p:sp>
          <p:nvSpPr>
            <p:cNvPr id="31" name="TextBox 30">
              <a:extLst>
                <a:ext uri="{FF2B5EF4-FFF2-40B4-BE49-F238E27FC236}">
                  <a16:creationId xmlns:a16="http://schemas.microsoft.com/office/drawing/2014/main" id="{B041F9B0-662C-3A24-BA53-65217DE6F1E3}"/>
                </a:ext>
              </a:extLst>
            </p:cNvPr>
            <p:cNvSpPr txBox="1"/>
            <p:nvPr/>
          </p:nvSpPr>
          <p:spPr>
            <a:xfrm>
              <a:off x="2449067" y="4496395"/>
              <a:ext cx="457200" cy="274320"/>
            </a:xfrm>
            <a:prstGeom prst="rect">
              <a:avLst/>
            </a:prstGeom>
            <a:noFill/>
          </p:spPr>
          <p:txBody>
            <a:bodyPr wrap="square" lIns="0" tIns="0" rIns="0" bIns="0" anchor="ctr">
              <a:spAutoFit/>
            </a:bodyPr>
            <a:lstStyle/>
            <a:p>
              <a:pPr algn="ctr"/>
              <a:r>
                <a:rPr sz="1300" b="1" i="0">
                  <a:solidFill>
                    <a:srgbClr val="FFFFFF"/>
                  </a:solidFill>
                  <a:latin typeface="Calibri"/>
                </a:rPr>
                <a:t>40%</a:t>
              </a:r>
            </a:p>
          </p:txBody>
        </p:sp>
        <p:sp>
          <p:nvSpPr>
            <p:cNvPr id="32" name="TextBox 31">
              <a:extLst>
                <a:ext uri="{FF2B5EF4-FFF2-40B4-BE49-F238E27FC236}">
                  <a16:creationId xmlns:a16="http://schemas.microsoft.com/office/drawing/2014/main" id="{2804E349-6796-1C83-943E-764F8AA318FE}"/>
                </a:ext>
              </a:extLst>
            </p:cNvPr>
            <p:cNvSpPr txBox="1"/>
            <p:nvPr/>
          </p:nvSpPr>
          <p:spPr>
            <a:xfrm>
              <a:off x="2449067"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Q3</a:t>
              </a:r>
            </a:p>
          </p:txBody>
        </p:sp>
        <p:sp>
          <p:nvSpPr>
            <p:cNvPr id="33" name="Rectangle 32">
              <a:extLst>
                <a:ext uri="{FF2B5EF4-FFF2-40B4-BE49-F238E27FC236}">
                  <a16:creationId xmlns:a16="http://schemas.microsoft.com/office/drawing/2014/main" id="{C4C3E08A-67E6-130F-5B5D-EC40E52469C6}"/>
                </a:ext>
              </a:extLst>
            </p:cNvPr>
            <p:cNvSpPr/>
            <p:nvPr/>
          </p:nvSpPr>
          <p:spPr>
            <a:xfrm>
              <a:off x="3081528" y="3991427"/>
              <a:ext cx="457200" cy="1224783"/>
            </a:xfrm>
            <a:prstGeom prst="rect">
              <a:avLst/>
            </a:prstGeom>
            <a:solidFill>
              <a:srgbClr val="0F8C6B"/>
            </a:solidFill>
            <a:ln>
              <a:noFill/>
            </a:ln>
            <a:effectLst/>
          </p:spPr>
          <p:txBody>
            <a:bodyPr rtlCol="0" anchor="ctr"/>
            <a:lstStyle/>
            <a:p>
              <a:endParaRPr/>
            </a:p>
          </p:txBody>
        </p:sp>
        <p:sp>
          <p:nvSpPr>
            <p:cNvPr id="36" name="TextBox 35">
              <a:extLst>
                <a:ext uri="{FF2B5EF4-FFF2-40B4-BE49-F238E27FC236}">
                  <a16:creationId xmlns:a16="http://schemas.microsoft.com/office/drawing/2014/main" id="{D4FD5974-F38F-392B-F29B-2E419D6FF39A}"/>
                </a:ext>
              </a:extLst>
            </p:cNvPr>
            <p:cNvSpPr txBox="1"/>
            <p:nvPr/>
          </p:nvSpPr>
          <p:spPr>
            <a:xfrm>
              <a:off x="3081528" y="4466659"/>
              <a:ext cx="457200" cy="274320"/>
            </a:xfrm>
            <a:prstGeom prst="rect">
              <a:avLst/>
            </a:prstGeom>
            <a:noFill/>
          </p:spPr>
          <p:txBody>
            <a:bodyPr wrap="square" lIns="0" tIns="0" rIns="0" bIns="0" anchor="ctr">
              <a:spAutoFit/>
            </a:bodyPr>
            <a:lstStyle/>
            <a:p>
              <a:pPr algn="ctr"/>
              <a:r>
                <a:rPr sz="1300" b="1" i="0">
                  <a:solidFill>
                    <a:srgbClr val="FFFFFF"/>
                  </a:solidFill>
                  <a:latin typeface="Calibri"/>
                </a:rPr>
                <a:t>42%</a:t>
              </a:r>
            </a:p>
          </p:txBody>
        </p:sp>
        <p:sp>
          <p:nvSpPr>
            <p:cNvPr id="37" name="TextBox 36">
              <a:extLst>
                <a:ext uri="{FF2B5EF4-FFF2-40B4-BE49-F238E27FC236}">
                  <a16:creationId xmlns:a16="http://schemas.microsoft.com/office/drawing/2014/main" id="{F9EAB61A-57B8-9B7A-53A5-9E6C7A058F98}"/>
                </a:ext>
              </a:extLst>
            </p:cNvPr>
            <p:cNvSpPr txBox="1"/>
            <p:nvPr/>
          </p:nvSpPr>
          <p:spPr>
            <a:xfrm>
              <a:off x="3081528"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Q4</a:t>
              </a:r>
            </a:p>
          </p:txBody>
        </p:sp>
        <p:sp>
          <p:nvSpPr>
            <p:cNvPr id="38" name="Rectangle 37">
              <a:extLst>
                <a:ext uri="{FF2B5EF4-FFF2-40B4-BE49-F238E27FC236}">
                  <a16:creationId xmlns:a16="http://schemas.microsoft.com/office/drawing/2014/main" id="{E3F81BAA-5324-7968-520F-1BEE4043C485}"/>
                </a:ext>
              </a:extLst>
            </p:cNvPr>
            <p:cNvSpPr/>
            <p:nvPr/>
          </p:nvSpPr>
          <p:spPr>
            <a:xfrm>
              <a:off x="3713987" y="3914398"/>
              <a:ext cx="457200" cy="1301812"/>
            </a:xfrm>
            <a:prstGeom prst="rect">
              <a:avLst/>
            </a:prstGeom>
            <a:solidFill>
              <a:srgbClr val="0F8C6B"/>
            </a:solidFill>
            <a:ln>
              <a:noFill/>
            </a:ln>
            <a:effectLst/>
          </p:spPr>
          <p:txBody>
            <a:bodyPr rtlCol="0" anchor="ctr"/>
            <a:lstStyle/>
            <a:p>
              <a:endParaRPr/>
            </a:p>
          </p:txBody>
        </p:sp>
        <p:sp>
          <p:nvSpPr>
            <p:cNvPr id="41" name="TextBox 40">
              <a:extLst>
                <a:ext uri="{FF2B5EF4-FFF2-40B4-BE49-F238E27FC236}">
                  <a16:creationId xmlns:a16="http://schemas.microsoft.com/office/drawing/2014/main" id="{F144AFB1-5E75-7762-1F90-EBC133AD9A64}"/>
                </a:ext>
              </a:extLst>
            </p:cNvPr>
            <p:cNvSpPr txBox="1"/>
            <p:nvPr/>
          </p:nvSpPr>
          <p:spPr>
            <a:xfrm>
              <a:off x="3713987" y="4428144"/>
              <a:ext cx="457200" cy="274320"/>
            </a:xfrm>
            <a:prstGeom prst="rect">
              <a:avLst/>
            </a:prstGeom>
            <a:noFill/>
          </p:spPr>
          <p:txBody>
            <a:bodyPr wrap="square" lIns="0" tIns="0" rIns="0" bIns="0" anchor="ctr">
              <a:spAutoFit/>
            </a:bodyPr>
            <a:lstStyle/>
            <a:p>
              <a:pPr algn="ctr"/>
              <a:r>
                <a:rPr sz="1300" b="1" i="0">
                  <a:solidFill>
                    <a:srgbClr val="FFFFFF"/>
                  </a:solidFill>
                  <a:latin typeface="Calibri"/>
                </a:rPr>
                <a:t>44%</a:t>
              </a:r>
            </a:p>
          </p:txBody>
        </p:sp>
        <p:sp>
          <p:nvSpPr>
            <p:cNvPr id="42" name="TextBox 41">
              <a:extLst>
                <a:ext uri="{FF2B5EF4-FFF2-40B4-BE49-F238E27FC236}">
                  <a16:creationId xmlns:a16="http://schemas.microsoft.com/office/drawing/2014/main" id="{3E88EAF8-7C27-F04A-2A08-1B52F5673136}"/>
                </a:ext>
              </a:extLst>
            </p:cNvPr>
            <p:cNvSpPr txBox="1"/>
            <p:nvPr/>
          </p:nvSpPr>
          <p:spPr>
            <a:xfrm>
              <a:off x="3713987"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Q5</a:t>
              </a:r>
            </a:p>
          </p:txBody>
        </p:sp>
        <p:cxnSp>
          <p:nvCxnSpPr>
            <p:cNvPr id="43" name="Connector 41">
              <a:extLst>
                <a:ext uri="{FF2B5EF4-FFF2-40B4-BE49-F238E27FC236}">
                  <a16:creationId xmlns:a16="http://schemas.microsoft.com/office/drawing/2014/main" id="{FCA24130-335E-C059-7734-78615E1FD351}"/>
                </a:ext>
              </a:extLst>
            </p:cNvPr>
            <p:cNvCxnSpPr/>
            <p:nvPr/>
          </p:nvCxnSpPr>
          <p:spPr>
            <a:xfrm flipV="1">
              <a:off x="1412748" y="3802036"/>
              <a:ext cx="632460" cy="46232"/>
            </a:xfrm>
            <a:prstGeom prst="line">
              <a:avLst/>
            </a:prstGeom>
            <a:ln w="19050">
              <a:solidFill>
                <a:srgbClr val="002060"/>
              </a:solidFill>
              <a:prstDash val="dash"/>
            </a:ln>
          </p:spPr>
        </p:cxnSp>
        <p:cxnSp>
          <p:nvCxnSpPr>
            <p:cNvPr id="44" name="Connector 42">
              <a:extLst>
                <a:ext uri="{FF2B5EF4-FFF2-40B4-BE49-F238E27FC236}">
                  <a16:creationId xmlns:a16="http://schemas.microsoft.com/office/drawing/2014/main" id="{DB56B700-67B4-D123-B0EA-8B49850ED775}"/>
                </a:ext>
              </a:extLst>
            </p:cNvPr>
            <p:cNvCxnSpPr/>
            <p:nvPr/>
          </p:nvCxnSpPr>
          <p:spPr>
            <a:xfrm flipV="1">
              <a:off x="2045208" y="3662462"/>
              <a:ext cx="632459" cy="139574"/>
            </a:xfrm>
            <a:prstGeom prst="line">
              <a:avLst/>
            </a:prstGeom>
            <a:ln w="19050">
              <a:solidFill>
                <a:srgbClr val="002060"/>
              </a:solidFill>
              <a:prstDash val="dash"/>
            </a:ln>
          </p:spPr>
        </p:cxnSp>
        <p:cxnSp>
          <p:nvCxnSpPr>
            <p:cNvPr id="45" name="Connector 43">
              <a:extLst>
                <a:ext uri="{FF2B5EF4-FFF2-40B4-BE49-F238E27FC236}">
                  <a16:creationId xmlns:a16="http://schemas.microsoft.com/office/drawing/2014/main" id="{A1113375-9203-7FAC-7359-6F03041A5BF7}"/>
                </a:ext>
              </a:extLst>
            </p:cNvPr>
            <p:cNvCxnSpPr/>
            <p:nvPr/>
          </p:nvCxnSpPr>
          <p:spPr>
            <a:xfrm flipV="1">
              <a:off x="2677667" y="3583165"/>
              <a:ext cx="632461" cy="79297"/>
            </a:xfrm>
            <a:prstGeom prst="line">
              <a:avLst/>
            </a:prstGeom>
            <a:ln w="19050">
              <a:solidFill>
                <a:srgbClr val="002060"/>
              </a:solidFill>
              <a:prstDash val="dash"/>
            </a:ln>
          </p:spPr>
        </p:cxnSp>
        <p:cxnSp>
          <p:nvCxnSpPr>
            <p:cNvPr id="46" name="Connector 44">
              <a:extLst>
                <a:ext uri="{FF2B5EF4-FFF2-40B4-BE49-F238E27FC236}">
                  <a16:creationId xmlns:a16="http://schemas.microsoft.com/office/drawing/2014/main" id="{49BB8C67-D039-A7F4-2E0A-18D1AC0CB48F}"/>
                </a:ext>
              </a:extLst>
            </p:cNvPr>
            <p:cNvCxnSpPr/>
            <p:nvPr/>
          </p:nvCxnSpPr>
          <p:spPr>
            <a:xfrm flipV="1">
              <a:off x="3310128" y="3480460"/>
              <a:ext cx="632459" cy="102705"/>
            </a:xfrm>
            <a:prstGeom prst="line">
              <a:avLst/>
            </a:prstGeom>
            <a:ln w="19050">
              <a:solidFill>
                <a:srgbClr val="002060"/>
              </a:solidFill>
              <a:prstDash val="dash"/>
            </a:ln>
          </p:spPr>
        </p:cxnSp>
        <p:sp>
          <p:nvSpPr>
            <p:cNvPr id="47" name="Oval 46">
              <a:extLst>
                <a:ext uri="{FF2B5EF4-FFF2-40B4-BE49-F238E27FC236}">
                  <a16:creationId xmlns:a16="http://schemas.microsoft.com/office/drawing/2014/main" id="{3ED6FCE2-C121-B182-02A4-6BB3D666ECCF}"/>
                </a:ext>
              </a:extLst>
            </p:cNvPr>
            <p:cNvSpPr/>
            <p:nvPr/>
          </p:nvSpPr>
          <p:spPr>
            <a:xfrm>
              <a:off x="1371600" y="3807120"/>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48" name="Oval 47">
              <a:extLst>
                <a:ext uri="{FF2B5EF4-FFF2-40B4-BE49-F238E27FC236}">
                  <a16:creationId xmlns:a16="http://schemas.microsoft.com/office/drawing/2014/main" id="{4D2E6D2E-EC2B-92F8-4002-FC776B7531CF}"/>
                </a:ext>
              </a:extLst>
            </p:cNvPr>
            <p:cNvSpPr/>
            <p:nvPr/>
          </p:nvSpPr>
          <p:spPr>
            <a:xfrm>
              <a:off x="2004060" y="3760888"/>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49" name="Oval 48">
              <a:extLst>
                <a:ext uri="{FF2B5EF4-FFF2-40B4-BE49-F238E27FC236}">
                  <a16:creationId xmlns:a16="http://schemas.microsoft.com/office/drawing/2014/main" id="{15D23954-990C-0EB4-190A-FF3EC623EE2B}"/>
                </a:ext>
              </a:extLst>
            </p:cNvPr>
            <p:cNvSpPr/>
            <p:nvPr/>
          </p:nvSpPr>
          <p:spPr>
            <a:xfrm>
              <a:off x="2636520" y="3621314"/>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50" name="Oval 49">
              <a:extLst>
                <a:ext uri="{FF2B5EF4-FFF2-40B4-BE49-F238E27FC236}">
                  <a16:creationId xmlns:a16="http://schemas.microsoft.com/office/drawing/2014/main" id="{1D022D5F-783D-6936-E3BD-398333331E53}"/>
                </a:ext>
              </a:extLst>
            </p:cNvPr>
            <p:cNvSpPr/>
            <p:nvPr/>
          </p:nvSpPr>
          <p:spPr>
            <a:xfrm>
              <a:off x="3268980" y="3542017"/>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51" name="Oval 50">
              <a:extLst>
                <a:ext uri="{FF2B5EF4-FFF2-40B4-BE49-F238E27FC236}">
                  <a16:creationId xmlns:a16="http://schemas.microsoft.com/office/drawing/2014/main" id="{FED299B4-2951-8E97-D5D5-4F355FDCF78A}"/>
                </a:ext>
              </a:extLst>
            </p:cNvPr>
            <p:cNvSpPr/>
            <p:nvPr/>
          </p:nvSpPr>
          <p:spPr>
            <a:xfrm>
              <a:off x="3901440" y="3439312"/>
              <a:ext cx="82296" cy="82296"/>
            </a:xfrm>
            <a:prstGeom prst="ellipse">
              <a:avLst/>
            </a:prstGeom>
            <a:solidFill>
              <a:srgbClr val="002060"/>
            </a:solidFill>
            <a:ln w="15875">
              <a:solidFill>
                <a:srgbClr val="FFFFFF"/>
              </a:solidFill>
            </a:ln>
            <a:effectLst/>
          </p:spPr>
          <p:txBody>
            <a:bodyPr rtlCol="0" anchor="ctr"/>
            <a:lstStyle/>
            <a:p>
              <a:pPr algn="ctr"/>
              <a:endParaRPr/>
            </a:p>
          </p:txBody>
        </p:sp>
      </p:grpSp>
      <p:grpSp>
        <p:nvGrpSpPr>
          <p:cNvPr id="110" name="Group 109">
            <a:extLst>
              <a:ext uri="{FF2B5EF4-FFF2-40B4-BE49-F238E27FC236}">
                <a16:creationId xmlns:a16="http://schemas.microsoft.com/office/drawing/2014/main" id="{8349971C-6B45-71E1-A970-17821E2ADBE0}"/>
              </a:ext>
            </a:extLst>
          </p:cNvPr>
          <p:cNvGrpSpPr/>
          <p:nvPr/>
        </p:nvGrpSpPr>
        <p:grpSpPr>
          <a:xfrm>
            <a:off x="4922519" y="1769487"/>
            <a:ext cx="3813049" cy="3869313"/>
            <a:chOff x="4922519" y="1630362"/>
            <a:chExt cx="3813049" cy="3869313"/>
          </a:xfrm>
        </p:grpSpPr>
        <p:sp>
          <p:nvSpPr>
            <p:cNvPr id="52" name="TextBox 51">
              <a:extLst>
                <a:ext uri="{FF2B5EF4-FFF2-40B4-BE49-F238E27FC236}">
                  <a16:creationId xmlns:a16="http://schemas.microsoft.com/office/drawing/2014/main" id="{5D6085D0-19BE-7FCE-6E83-5155B05D575D}"/>
                </a:ext>
              </a:extLst>
            </p:cNvPr>
            <p:cNvSpPr txBox="1"/>
            <p:nvPr/>
          </p:nvSpPr>
          <p:spPr>
            <a:xfrm>
              <a:off x="4934712" y="1630362"/>
              <a:ext cx="2324404" cy="276999"/>
            </a:xfrm>
            <a:prstGeom prst="rect">
              <a:avLst/>
            </a:prstGeom>
            <a:noFill/>
          </p:spPr>
          <p:txBody>
            <a:bodyPr wrap="square" lIns="0" tIns="0" rIns="0" bIns="0" anchor="t">
              <a:spAutoFit/>
            </a:bodyPr>
            <a:lstStyle/>
            <a:p>
              <a:pPr algn="l"/>
              <a:r>
                <a:rPr b="1" i="0">
                  <a:solidFill>
                    <a:srgbClr val="002060"/>
                  </a:solidFill>
                  <a:latin typeface="Calibri"/>
                </a:rPr>
                <a:t>ACUTE EVENTS</a:t>
              </a:r>
            </a:p>
          </p:txBody>
        </p:sp>
        <p:sp>
          <p:nvSpPr>
            <p:cNvPr id="54" name="TextBox 53">
              <a:extLst>
                <a:ext uri="{FF2B5EF4-FFF2-40B4-BE49-F238E27FC236}">
                  <a16:creationId xmlns:a16="http://schemas.microsoft.com/office/drawing/2014/main" id="{092F4822-34C6-CF26-6443-2EAEB30FEBA2}"/>
                </a:ext>
              </a:extLst>
            </p:cNvPr>
            <p:cNvSpPr txBox="1"/>
            <p:nvPr/>
          </p:nvSpPr>
          <p:spPr>
            <a:xfrm>
              <a:off x="4986528" y="2015811"/>
              <a:ext cx="3749039" cy="219456"/>
            </a:xfrm>
            <a:prstGeom prst="rect">
              <a:avLst/>
            </a:prstGeom>
            <a:noFill/>
          </p:spPr>
          <p:txBody>
            <a:bodyPr wrap="square" lIns="0" tIns="0" rIns="0" bIns="0" anchor="t">
              <a:spAutoFit/>
            </a:bodyPr>
            <a:lstStyle/>
            <a:p>
              <a:pPr algn="l"/>
              <a:r>
                <a:rPr sz="1050" b="0" i="0">
                  <a:solidFill>
                    <a:srgbClr val="5A6A7D"/>
                  </a:solidFill>
                  <a:latin typeface="Calibri"/>
                </a:rPr>
                <a:t>inpatient  ·  1.86M admissions a year</a:t>
              </a:r>
            </a:p>
          </p:txBody>
        </p:sp>
        <p:cxnSp>
          <p:nvCxnSpPr>
            <p:cNvPr id="55" name="Connector 53">
              <a:extLst>
                <a:ext uri="{FF2B5EF4-FFF2-40B4-BE49-F238E27FC236}">
                  <a16:creationId xmlns:a16="http://schemas.microsoft.com/office/drawing/2014/main" id="{9DD0DAA2-5766-40E1-249B-304A3E0FF18B}"/>
                </a:ext>
              </a:extLst>
            </p:cNvPr>
            <p:cNvCxnSpPr/>
            <p:nvPr/>
          </p:nvCxnSpPr>
          <p:spPr>
            <a:xfrm>
              <a:off x="5398008" y="5216211"/>
              <a:ext cx="3337560" cy="0"/>
            </a:xfrm>
            <a:prstGeom prst="line">
              <a:avLst/>
            </a:prstGeom>
            <a:ln w="9525">
              <a:solidFill>
                <a:srgbClr val="DDE4EC"/>
              </a:solidFill>
            </a:ln>
          </p:spPr>
        </p:cxnSp>
        <p:sp>
          <p:nvSpPr>
            <p:cNvPr id="56" name="TextBox 55">
              <a:extLst>
                <a:ext uri="{FF2B5EF4-FFF2-40B4-BE49-F238E27FC236}">
                  <a16:creationId xmlns:a16="http://schemas.microsoft.com/office/drawing/2014/main" id="{7F4659A5-6EEF-E937-1877-829C5DBAE523}"/>
                </a:ext>
              </a:extLst>
            </p:cNvPr>
            <p:cNvSpPr txBox="1"/>
            <p:nvPr/>
          </p:nvSpPr>
          <p:spPr>
            <a:xfrm>
              <a:off x="4922519" y="5133915"/>
              <a:ext cx="420624" cy="182880"/>
            </a:xfrm>
            <a:prstGeom prst="rect">
              <a:avLst/>
            </a:prstGeom>
            <a:noFill/>
          </p:spPr>
          <p:txBody>
            <a:bodyPr wrap="square" lIns="0" tIns="0" rIns="0" bIns="0" anchor="t">
              <a:spAutoFit/>
            </a:bodyPr>
            <a:lstStyle/>
            <a:p>
              <a:pPr algn="r"/>
              <a:r>
                <a:rPr sz="950" b="0" i="0">
                  <a:solidFill>
                    <a:srgbClr val="5A6A7D"/>
                  </a:solidFill>
                  <a:latin typeface="Calibri"/>
                </a:rPr>
                <a:t>0%</a:t>
              </a:r>
            </a:p>
          </p:txBody>
        </p:sp>
        <p:cxnSp>
          <p:nvCxnSpPr>
            <p:cNvPr id="57" name="Connector 55">
              <a:extLst>
                <a:ext uri="{FF2B5EF4-FFF2-40B4-BE49-F238E27FC236}">
                  <a16:creationId xmlns:a16="http://schemas.microsoft.com/office/drawing/2014/main" id="{CEA363D7-9930-0F27-EDE7-2617713F8701}"/>
                </a:ext>
              </a:extLst>
            </p:cNvPr>
            <p:cNvCxnSpPr/>
            <p:nvPr/>
          </p:nvCxnSpPr>
          <p:spPr>
            <a:xfrm>
              <a:off x="5398008" y="4484691"/>
              <a:ext cx="3337560" cy="0"/>
            </a:xfrm>
            <a:prstGeom prst="line">
              <a:avLst/>
            </a:prstGeom>
            <a:ln w="9525">
              <a:solidFill>
                <a:srgbClr val="DDE4EC"/>
              </a:solidFill>
            </a:ln>
          </p:spPr>
        </p:cxnSp>
        <p:sp>
          <p:nvSpPr>
            <p:cNvPr id="58" name="TextBox 57">
              <a:extLst>
                <a:ext uri="{FF2B5EF4-FFF2-40B4-BE49-F238E27FC236}">
                  <a16:creationId xmlns:a16="http://schemas.microsoft.com/office/drawing/2014/main" id="{DAFAE55B-3626-0784-6260-16E4A33CD28B}"/>
                </a:ext>
              </a:extLst>
            </p:cNvPr>
            <p:cNvSpPr txBox="1"/>
            <p:nvPr/>
          </p:nvSpPr>
          <p:spPr>
            <a:xfrm>
              <a:off x="4922519" y="4402395"/>
              <a:ext cx="420624" cy="182880"/>
            </a:xfrm>
            <a:prstGeom prst="rect">
              <a:avLst/>
            </a:prstGeom>
            <a:noFill/>
          </p:spPr>
          <p:txBody>
            <a:bodyPr wrap="square" lIns="0" tIns="0" rIns="0" bIns="0" anchor="t">
              <a:spAutoFit/>
            </a:bodyPr>
            <a:lstStyle/>
            <a:p>
              <a:pPr algn="r"/>
              <a:r>
                <a:rPr sz="950" b="0" i="0">
                  <a:solidFill>
                    <a:srgbClr val="5A6A7D"/>
                  </a:solidFill>
                  <a:latin typeface="Calibri"/>
                </a:rPr>
                <a:t>25%</a:t>
              </a:r>
            </a:p>
          </p:txBody>
        </p:sp>
        <p:cxnSp>
          <p:nvCxnSpPr>
            <p:cNvPr id="59" name="Connector 57">
              <a:extLst>
                <a:ext uri="{FF2B5EF4-FFF2-40B4-BE49-F238E27FC236}">
                  <a16:creationId xmlns:a16="http://schemas.microsoft.com/office/drawing/2014/main" id="{955B7EC0-FBD8-C11B-D550-0019385A7676}"/>
                </a:ext>
              </a:extLst>
            </p:cNvPr>
            <p:cNvCxnSpPr/>
            <p:nvPr/>
          </p:nvCxnSpPr>
          <p:spPr>
            <a:xfrm>
              <a:off x="5398008" y="3753171"/>
              <a:ext cx="3337560" cy="0"/>
            </a:xfrm>
            <a:prstGeom prst="line">
              <a:avLst/>
            </a:prstGeom>
            <a:ln w="9525">
              <a:solidFill>
                <a:srgbClr val="DDE4EC"/>
              </a:solidFill>
            </a:ln>
          </p:spPr>
        </p:cxnSp>
        <p:sp>
          <p:nvSpPr>
            <p:cNvPr id="60" name="TextBox 59">
              <a:extLst>
                <a:ext uri="{FF2B5EF4-FFF2-40B4-BE49-F238E27FC236}">
                  <a16:creationId xmlns:a16="http://schemas.microsoft.com/office/drawing/2014/main" id="{C95CE3D7-1738-2651-6718-3C378464890A}"/>
                </a:ext>
              </a:extLst>
            </p:cNvPr>
            <p:cNvSpPr txBox="1"/>
            <p:nvPr/>
          </p:nvSpPr>
          <p:spPr>
            <a:xfrm>
              <a:off x="4922519" y="3670875"/>
              <a:ext cx="420624" cy="182880"/>
            </a:xfrm>
            <a:prstGeom prst="rect">
              <a:avLst/>
            </a:prstGeom>
            <a:noFill/>
          </p:spPr>
          <p:txBody>
            <a:bodyPr wrap="square" lIns="0" tIns="0" rIns="0" bIns="0" anchor="t">
              <a:spAutoFit/>
            </a:bodyPr>
            <a:lstStyle/>
            <a:p>
              <a:pPr algn="r"/>
              <a:r>
                <a:rPr sz="950" b="0" i="0">
                  <a:solidFill>
                    <a:srgbClr val="5A6A7D"/>
                  </a:solidFill>
                  <a:latin typeface="Calibri"/>
                </a:rPr>
                <a:t>50%</a:t>
              </a:r>
            </a:p>
          </p:txBody>
        </p:sp>
        <p:cxnSp>
          <p:nvCxnSpPr>
            <p:cNvPr id="61" name="Connector 59">
              <a:extLst>
                <a:ext uri="{FF2B5EF4-FFF2-40B4-BE49-F238E27FC236}">
                  <a16:creationId xmlns:a16="http://schemas.microsoft.com/office/drawing/2014/main" id="{F52DE0B0-D58B-732A-7B81-03D83218BBBF}"/>
                </a:ext>
              </a:extLst>
            </p:cNvPr>
            <p:cNvCxnSpPr/>
            <p:nvPr/>
          </p:nvCxnSpPr>
          <p:spPr>
            <a:xfrm>
              <a:off x="5398008" y="3021651"/>
              <a:ext cx="3337560" cy="0"/>
            </a:xfrm>
            <a:prstGeom prst="line">
              <a:avLst/>
            </a:prstGeom>
            <a:ln w="9525">
              <a:solidFill>
                <a:srgbClr val="DDE4EC"/>
              </a:solidFill>
            </a:ln>
          </p:spPr>
        </p:cxnSp>
        <p:sp>
          <p:nvSpPr>
            <p:cNvPr id="62" name="TextBox 61">
              <a:extLst>
                <a:ext uri="{FF2B5EF4-FFF2-40B4-BE49-F238E27FC236}">
                  <a16:creationId xmlns:a16="http://schemas.microsoft.com/office/drawing/2014/main" id="{37672583-B93E-552A-566B-2BA35E04142E}"/>
                </a:ext>
              </a:extLst>
            </p:cNvPr>
            <p:cNvSpPr txBox="1"/>
            <p:nvPr/>
          </p:nvSpPr>
          <p:spPr>
            <a:xfrm>
              <a:off x="4922519" y="2939355"/>
              <a:ext cx="420624" cy="182880"/>
            </a:xfrm>
            <a:prstGeom prst="rect">
              <a:avLst/>
            </a:prstGeom>
            <a:noFill/>
          </p:spPr>
          <p:txBody>
            <a:bodyPr wrap="square" lIns="0" tIns="0" rIns="0" bIns="0" anchor="t">
              <a:spAutoFit/>
            </a:bodyPr>
            <a:lstStyle/>
            <a:p>
              <a:pPr algn="r"/>
              <a:r>
                <a:rPr sz="950" b="0" i="0">
                  <a:solidFill>
                    <a:srgbClr val="5A6A7D"/>
                  </a:solidFill>
                  <a:latin typeface="Calibri"/>
                </a:rPr>
                <a:t>75%</a:t>
              </a:r>
            </a:p>
          </p:txBody>
        </p:sp>
        <p:cxnSp>
          <p:nvCxnSpPr>
            <p:cNvPr id="63" name="Connector 61">
              <a:extLst>
                <a:ext uri="{FF2B5EF4-FFF2-40B4-BE49-F238E27FC236}">
                  <a16:creationId xmlns:a16="http://schemas.microsoft.com/office/drawing/2014/main" id="{9BAFB72E-FC41-5B31-C119-DFFA3016D866}"/>
                </a:ext>
              </a:extLst>
            </p:cNvPr>
            <p:cNvCxnSpPr/>
            <p:nvPr/>
          </p:nvCxnSpPr>
          <p:spPr>
            <a:xfrm>
              <a:off x="5398008" y="2290131"/>
              <a:ext cx="3337560" cy="0"/>
            </a:xfrm>
            <a:prstGeom prst="line">
              <a:avLst/>
            </a:prstGeom>
            <a:ln w="9525">
              <a:solidFill>
                <a:srgbClr val="DDE4EC"/>
              </a:solidFill>
            </a:ln>
          </p:spPr>
        </p:cxnSp>
        <p:sp>
          <p:nvSpPr>
            <p:cNvPr id="64" name="TextBox 63">
              <a:extLst>
                <a:ext uri="{FF2B5EF4-FFF2-40B4-BE49-F238E27FC236}">
                  <a16:creationId xmlns:a16="http://schemas.microsoft.com/office/drawing/2014/main" id="{BFA17C07-D685-561F-4C1D-98C662ED1816}"/>
                </a:ext>
              </a:extLst>
            </p:cNvPr>
            <p:cNvSpPr txBox="1"/>
            <p:nvPr/>
          </p:nvSpPr>
          <p:spPr>
            <a:xfrm>
              <a:off x="4922519" y="2207835"/>
              <a:ext cx="420624" cy="182880"/>
            </a:xfrm>
            <a:prstGeom prst="rect">
              <a:avLst/>
            </a:prstGeom>
            <a:noFill/>
          </p:spPr>
          <p:txBody>
            <a:bodyPr wrap="square" lIns="0" tIns="0" rIns="0" bIns="0" anchor="t">
              <a:spAutoFit/>
            </a:bodyPr>
            <a:lstStyle/>
            <a:p>
              <a:pPr algn="r"/>
              <a:r>
                <a:rPr sz="950" b="0" i="0">
                  <a:solidFill>
                    <a:srgbClr val="5A6A7D"/>
                  </a:solidFill>
                  <a:latin typeface="Calibri"/>
                </a:rPr>
                <a:t>100%</a:t>
              </a:r>
            </a:p>
          </p:txBody>
        </p:sp>
        <p:sp>
          <p:nvSpPr>
            <p:cNvPr id="65" name="Rectangle 64">
              <a:extLst>
                <a:ext uri="{FF2B5EF4-FFF2-40B4-BE49-F238E27FC236}">
                  <a16:creationId xmlns:a16="http://schemas.microsoft.com/office/drawing/2014/main" id="{1DE98CBD-E49C-4DCF-E5AC-BBABC9AEEC82}"/>
                </a:ext>
              </a:extLst>
            </p:cNvPr>
            <p:cNvSpPr/>
            <p:nvPr/>
          </p:nvSpPr>
          <p:spPr>
            <a:xfrm>
              <a:off x="5573268" y="3662845"/>
              <a:ext cx="457200" cy="1553365"/>
            </a:xfrm>
            <a:prstGeom prst="rect">
              <a:avLst/>
            </a:prstGeom>
            <a:solidFill>
              <a:srgbClr val="0F8C6B"/>
            </a:solidFill>
            <a:ln>
              <a:noFill/>
            </a:ln>
            <a:effectLst/>
          </p:spPr>
          <p:txBody>
            <a:bodyPr rtlCol="0" anchor="ctr"/>
            <a:lstStyle/>
            <a:p>
              <a:endParaRPr/>
            </a:p>
          </p:txBody>
        </p:sp>
        <p:sp>
          <p:nvSpPr>
            <p:cNvPr id="68" name="TextBox 67">
              <a:extLst>
                <a:ext uri="{FF2B5EF4-FFF2-40B4-BE49-F238E27FC236}">
                  <a16:creationId xmlns:a16="http://schemas.microsoft.com/office/drawing/2014/main" id="{1CA16501-4F4D-CF05-A395-183CCF671023}"/>
                </a:ext>
              </a:extLst>
            </p:cNvPr>
            <p:cNvSpPr txBox="1"/>
            <p:nvPr/>
          </p:nvSpPr>
          <p:spPr>
            <a:xfrm>
              <a:off x="5573268" y="4302368"/>
              <a:ext cx="457200" cy="274320"/>
            </a:xfrm>
            <a:prstGeom prst="rect">
              <a:avLst/>
            </a:prstGeom>
            <a:noFill/>
          </p:spPr>
          <p:txBody>
            <a:bodyPr wrap="square" lIns="0" tIns="0" rIns="0" bIns="0" anchor="ctr">
              <a:spAutoFit/>
            </a:bodyPr>
            <a:lstStyle/>
            <a:p>
              <a:pPr algn="ctr"/>
              <a:r>
                <a:rPr sz="1300" b="1" i="0">
                  <a:solidFill>
                    <a:srgbClr val="FFFFFF"/>
                  </a:solidFill>
                  <a:latin typeface="Calibri"/>
                </a:rPr>
                <a:t>53%</a:t>
              </a:r>
            </a:p>
          </p:txBody>
        </p:sp>
        <p:sp>
          <p:nvSpPr>
            <p:cNvPr id="69" name="TextBox 68">
              <a:extLst>
                <a:ext uri="{FF2B5EF4-FFF2-40B4-BE49-F238E27FC236}">
                  <a16:creationId xmlns:a16="http://schemas.microsoft.com/office/drawing/2014/main" id="{02D28BA4-A6AE-CB95-FE2D-19ABA0D850E6}"/>
                </a:ext>
              </a:extLst>
            </p:cNvPr>
            <p:cNvSpPr txBox="1"/>
            <p:nvPr/>
          </p:nvSpPr>
          <p:spPr>
            <a:xfrm>
              <a:off x="5573268"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Q1</a:t>
              </a:r>
            </a:p>
          </p:txBody>
        </p:sp>
        <p:sp>
          <p:nvSpPr>
            <p:cNvPr id="70" name="Rectangle 69">
              <a:extLst>
                <a:ext uri="{FF2B5EF4-FFF2-40B4-BE49-F238E27FC236}">
                  <a16:creationId xmlns:a16="http://schemas.microsoft.com/office/drawing/2014/main" id="{8CC8848D-D16C-2420-63DF-99C793857A80}"/>
                </a:ext>
              </a:extLst>
            </p:cNvPr>
            <p:cNvSpPr/>
            <p:nvPr/>
          </p:nvSpPr>
          <p:spPr>
            <a:xfrm>
              <a:off x="6205727" y="3605680"/>
              <a:ext cx="457200" cy="1610530"/>
            </a:xfrm>
            <a:prstGeom prst="rect">
              <a:avLst/>
            </a:prstGeom>
            <a:solidFill>
              <a:srgbClr val="0F8C6B"/>
            </a:solidFill>
            <a:ln>
              <a:noFill/>
            </a:ln>
            <a:effectLst/>
          </p:spPr>
          <p:txBody>
            <a:bodyPr rtlCol="0" anchor="ctr"/>
            <a:lstStyle/>
            <a:p>
              <a:endParaRPr/>
            </a:p>
          </p:txBody>
        </p:sp>
        <p:sp>
          <p:nvSpPr>
            <p:cNvPr id="73" name="TextBox 72">
              <a:extLst>
                <a:ext uri="{FF2B5EF4-FFF2-40B4-BE49-F238E27FC236}">
                  <a16:creationId xmlns:a16="http://schemas.microsoft.com/office/drawing/2014/main" id="{8B348BD7-FBCF-A466-526F-8C71FE1F913D}"/>
                </a:ext>
              </a:extLst>
            </p:cNvPr>
            <p:cNvSpPr txBox="1"/>
            <p:nvPr/>
          </p:nvSpPr>
          <p:spPr>
            <a:xfrm>
              <a:off x="6205727" y="4273785"/>
              <a:ext cx="457200" cy="274320"/>
            </a:xfrm>
            <a:prstGeom prst="rect">
              <a:avLst/>
            </a:prstGeom>
            <a:noFill/>
          </p:spPr>
          <p:txBody>
            <a:bodyPr wrap="square" lIns="0" tIns="0" rIns="0" bIns="0" anchor="ctr">
              <a:spAutoFit/>
            </a:bodyPr>
            <a:lstStyle/>
            <a:p>
              <a:pPr algn="ctr"/>
              <a:r>
                <a:rPr sz="1300" b="1" i="0">
                  <a:solidFill>
                    <a:srgbClr val="FFFFFF"/>
                  </a:solidFill>
                  <a:latin typeface="Calibri"/>
                </a:rPr>
                <a:t>55%</a:t>
              </a:r>
            </a:p>
          </p:txBody>
        </p:sp>
        <p:sp>
          <p:nvSpPr>
            <p:cNvPr id="74" name="TextBox 73">
              <a:extLst>
                <a:ext uri="{FF2B5EF4-FFF2-40B4-BE49-F238E27FC236}">
                  <a16:creationId xmlns:a16="http://schemas.microsoft.com/office/drawing/2014/main" id="{B6198BA3-5047-395D-9734-142A3C51D041}"/>
                </a:ext>
              </a:extLst>
            </p:cNvPr>
            <p:cNvSpPr txBox="1"/>
            <p:nvPr/>
          </p:nvSpPr>
          <p:spPr>
            <a:xfrm>
              <a:off x="6205727"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Q2</a:t>
              </a:r>
            </a:p>
          </p:txBody>
        </p:sp>
        <p:sp>
          <p:nvSpPr>
            <p:cNvPr id="75" name="Rectangle 74">
              <a:extLst>
                <a:ext uri="{FF2B5EF4-FFF2-40B4-BE49-F238E27FC236}">
                  <a16:creationId xmlns:a16="http://schemas.microsoft.com/office/drawing/2014/main" id="{C84AC68B-F1C0-E1F4-982C-DA07A23F8454}"/>
                </a:ext>
              </a:extLst>
            </p:cNvPr>
            <p:cNvSpPr/>
            <p:nvPr/>
          </p:nvSpPr>
          <p:spPr>
            <a:xfrm>
              <a:off x="6838187" y="3638346"/>
              <a:ext cx="457200" cy="1577864"/>
            </a:xfrm>
            <a:prstGeom prst="rect">
              <a:avLst/>
            </a:prstGeom>
            <a:solidFill>
              <a:srgbClr val="0F8C6B"/>
            </a:solidFill>
            <a:ln>
              <a:noFill/>
            </a:ln>
            <a:effectLst/>
          </p:spPr>
          <p:txBody>
            <a:bodyPr rtlCol="0" anchor="ctr"/>
            <a:lstStyle/>
            <a:p>
              <a:endParaRPr/>
            </a:p>
          </p:txBody>
        </p:sp>
        <p:sp>
          <p:nvSpPr>
            <p:cNvPr id="78" name="TextBox 77">
              <a:extLst>
                <a:ext uri="{FF2B5EF4-FFF2-40B4-BE49-F238E27FC236}">
                  <a16:creationId xmlns:a16="http://schemas.microsoft.com/office/drawing/2014/main" id="{14172711-7B61-9723-3CC5-40E9016B9414}"/>
                </a:ext>
              </a:extLst>
            </p:cNvPr>
            <p:cNvSpPr txBox="1"/>
            <p:nvPr/>
          </p:nvSpPr>
          <p:spPr>
            <a:xfrm>
              <a:off x="6838187" y="4290118"/>
              <a:ext cx="457200" cy="274320"/>
            </a:xfrm>
            <a:prstGeom prst="rect">
              <a:avLst/>
            </a:prstGeom>
            <a:noFill/>
          </p:spPr>
          <p:txBody>
            <a:bodyPr wrap="square" lIns="0" tIns="0" rIns="0" bIns="0" anchor="ctr">
              <a:spAutoFit/>
            </a:bodyPr>
            <a:lstStyle/>
            <a:p>
              <a:pPr algn="ctr"/>
              <a:r>
                <a:rPr sz="1300" b="1" i="0">
                  <a:solidFill>
                    <a:srgbClr val="FFFFFF"/>
                  </a:solidFill>
                  <a:latin typeface="Calibri"/>
                </a:rPr>
                <a:t>54%</a:t>
              </a:r>
            </a:p>
          </p:txBody>
        </p:sp>
        <p:sp>
          <p:nvSpPr>
            <p:cNvPr id="79" name="TextBox 78">
              <a:extLst>
                <a:ext uri="{FF2B5EF4-FFF2-40B4-BE49-F238E27FC236}">
                  <a16:creationId xmlns:a16="http://schemas.microsoft.com/office/drawing/2014/main" id="{CD64CE6A-8359-368A-CEA0-6E9D9F436B0D}"/>
                </a:ext>
              </a:extLst>
            </p:cNvPr>
            <p:cNvSpPr txBox="1"/>
            <p:nvPr/>
          </p:nvSpPr>
          <p:spPr>
            <a:xfrm>
              <a:off x="6838187"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Q3</a:t>
              </a:r>
            </a:p>
          </p:txBody>
        </p:sp>
        <p:sp>
          <p:nvSpPr>
            <p:cNvPr id="80" name="Rectangle 79">
              <a:extLst>
                <a:ext uri="{FF2B5EF4-FFF2-40B4-BE49-F238E27FC236}">
                  <a16:creationId xmlns:a16="http://schemas.microsoft.com/office/drawing/2014/main" id="{9CF10B73-818D-9E85-85F1-3E362E43AFF7}"/>
                </a:ext>
              </a:extLst>
            </p:cNvPr>
            <p:cNvSpPr/>
            <p:nvPr/>
          </p:nvSpPr>
          <p:spPr>
            <a:xfrm>
              <a:off x="7470648" y="3623569"/>
              <a:ext cx="457200" cy="1592641"/>
            </a:xfrm>
            <a:prstGeom prst="rect">
              <a:avLst/>
            </a:prstGeom>
            <a:solidFill>
              <a:srgbClr val="0F8C6B"/>
            </a:solidFill>
            <a:ln>
              <a:noFill/>
            </a:ln>
            <a:effectLst/>
          </p:spPr>
          <p:txBody>
            <a:bodyPr rtlCol="0" anchor="ctr"/>
            <a:lstStyle/>
            <a:p>
              <a:endParaRPr/>
            </a:p>
          </p:txBody>
        </p:sp>
        <p:sp>
          <p:nvSpPr>
            <p:cNvPr id="83" name="TextBox 82">
              <a:extLst>
                <a:ext uri="{FF2B5EF4-FFF2-40B4-BE49-F238E27FC236}">
                  <a16:creationId xmlns:a16="http://schemas.microsoft.com/office/drawing/2014/main" id="{C269F598-68E5-3EC1-6338-4FAB389A8DC4}"/>
                </a:ext>
              </a:extLst>
            </p:cNvPr>
            <p:cNvSpPr txBox="1"/>
            <p:nvPr/>
          </p:nvSpPr>
          <p:spPr>
            <a:xfrm>
              <a:off x="7470648" y="4282730"/>
              <a:ext cx="457200" cy="274320"/>
            </a:xfrm>
            <a:prstGeom prst="rect">
              <a:avLst/>
            </a:prstGeom>
            <a:noFill/>
          </p:spPr>
          <p:txBody>
            <a:bodyPr wrap="square" lIns="0" tIns="0" rIns="0" bIns="0" anchor="ctr">
              <a:spAutoFit/>
            </a:bodyPr>
            <a:lstStyle/>
            <a:p>
              <a:pPr algn="ctr"/>
              <a:r>
                <a:rPr sz="1300" b="1" i="0">
                  <a:solidFill>
                    <a:srgbClr val="FFFFFF"/>
                  </a:solidFill>
                  <a:latin typeface="Calibri"/>
                </a:rPr>
                <a:t>54%</a:t>
              </a:r>
            </a:p>
          </p:txBody>
        </p:sp>
        <p:sp>
          <p:nvSpPr>
            <p:cNvPr id="84" name="TextBox 83">
              <a:extLst>
                <a:ext uri="{FF2B5EF4-FFF2-40B4-BE49-F238E27FC236}">
                  <a16:creationId xmlns:a16="http://schemas.microsoft.com/office/drawing/2014/main" id="{8A2BCBE8-4081-563C-829A-EF23E19488AE}"/>
                </a:ext>
              </a:extLst>
            </p:cNvPr>
            <p:cNvSpPr txBox="1"/>
            <p:nvPr/>
          </p:nvSpPr>
          <p:spPr>
            <a:xfrm>
              <a:off x="7470648"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Q4</a:t>
              </a:r>
            </a:p>
          </p:txBody>
        </p:sp>
        <p:sp>
          <p:nvSpPr>
            <p:cNvPr id="85" name="Rectangle 84">
              <a:extLst>
                <a:ext uri="{FF2B5EF4-FFF2-40B4-BE49-F238E27FC236}">
                  <a16:creationId xmlns:a16="http://schemas.microsoft.com/office/drawing/2014/main" id="{845D9634-472F-A7D3-6C35-420B1EA172B2}"/>
                </a:ext>
              </a:extLst>
            </p:cNvPr>
            <p:cNvSpPr/>
            <p:nvPr/>
          </p:nvSpPr>
          <p:spPr>
            <a:xfrm>
              <a:off x="8103108" y="3696483"/>
              <a:ext cx="457200" cy="1519727"/>
            </a:xfrm>
            <a:prstGeom prst="rect">
              <a:avLst/>
            </a:prstGeom>
            <a:solidFill>
              <a:srgbClr val="0F8C6B"/>
            </a:solidFill>
            <a:ln>
              <a:noFill/>
            </a:ln>
            <a:effectLst/>
          </p:spPr>
          <p:txBody>
            <a:bodyPr rtlCol="0" anchor="ctr"/>
            <a:lstStyle/>
            <a:p>
              <a:endParaRPr/>
            </a:p>
          </p:txBody>
        </p:sp>
        <p:sp>
          <p:nvSpPr>
            <p:cNvPr id="88" name="TextBox 87">
              <a:extLst>
                <a:ext uri="{FF2B5EF4-FFF2-40B4-BE49-F238E27FC236}">
                  <a16:creationId xmlns:a16="http://schemas.microsoft.com/office/drawing/2014/main" id="{FEEB1D1E-0F39-6ED4-E5D5-877501386E7D}"/>
                </a:ext>
              </a:extLst>
            </p:cNvPr>
            <p:cNvSpPr txBox="1"/>
            <p:nvPr/>
          </p:nvSpPr>
          <p:spPr>
            <a:xfrm>
              <a:off x="8103108" y="4319187"/>
              <a:ext cx="457200" cy="274320"/>
            </a:xfrm>
            <a:prstGeom prst="rect">
              <a:avLst/>
            </a:prstGeom>
            <a:noFill/>
          </p:spPr>
          <p:txBody>
            <a:bodyPr wrap="square" lIns="0" tIns="0" rIns="0" bIns="0" anchor="ctr">
              <a:spAutoFit/>
            </a:bodyPr>
            <a:lstStyle/>
            <a:p>
              <a:pPr algn="ctr"/>
              <a:r>
                <a:rPr sz="1300" b="1" i="0">
                  <a:solidFill>
                    <a:srgbClr val="FFFFFF"/>
                  </a:solidFill>
                  <a:latin typeface="Calibri"/>
                </a:rPr>
                <a:t>52%</a:t>
              </a:r>
            </a:p>
          </p:txBody>
        </p:sp>
        <p:sp>
          <p:nvSpPr>
            <p:cNvPr id="89" name="TextBox 88">
              <a:extLst>
                <a:ext uri="{FF2B5EF4-FFF2-40B4-BE49-F238E27FC236}">
                  <a16:creationId xmlns:a16="http://schemas.microsoft.com/office/drawing/2014/main" id="{901E282E-68D3-8411-65E3-4B52FFB2EE09}"/>
                </a:ext>
              </a:extLst>
            </p:cNvPr>
            <p:cNvSpPr txBox="1"/>
            <p:nvPr/>
          </p:nvSpPr>
          <p:spPr>
            <a:xfrm>
              <a:off x="8103108"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Q5</a:t>
              </a:r>
            </a:p>
          </p:txBody>
        </p:sp>
        <p:cxnSp>
          <p:nvCxnSpPr>
            <p:cNvPr id="90" name="Connector 88">
              <a:extLst>
                <a:ext uri="{FF2B5EF4-FFF2-40B4-BE49-F238E27FC236}">
                  <a16:creationId xmlns:a16="http://schemas.microsoft.com/office/drawing/2014/main" id="{A0D4BFB4-FC23-92E3-EC9C-E27C8ED7F0E4}"/>
                </a:ext>
              </a:extLst>
            </p:cNvPr>
            <p:cNvCxnSpPr/>
            <p:nvPr/>
          </p:nvCxnSpPr>
          <p:spPr>
            <a:xfrm flipV="1">
              <a:off x="5801868" y="2792538"/>
              <a:ext cx="632459" cy="86027"/>
            </a:xfrm>
            <a:prstGeom prst="line">
              <a:avLst/>
            </a:prstGeom>
            <a:ln w="19050">
              <a:solidFill>
                <a:srgbClr val="002060"/>
              </a:solidFill>
              <a:prstDash val="dash"/>
            </a:ln>
          </p:spPr>
        </p:cxnSp>
        <p:cxnSp>
          <p:nvCxnSpPr>
            <p:cNvPr id="91" name="Connector 89">
              <a:extLst>
                <a:ext uri="{FF2B5EF4-FFF2-40B4-BE49-F238E27FC236}">
                  <a16:creationId xmlns:a16="http://schemas.microsoft.com/office/drawing/2014/main" id="{85460500-8C97-F796-673E-B3926EC4E623}"/>
                </a:ext>
              </a:extLst>
            </p:cNvPr>
            <p:cNvCxnSpPr/>
            <p:nvPr/>
          </p:nvCxnSpPr>
          <p:spPr>
            <a:xfrm>
              <a:off x="6434327" y="2792538"/>
              <a:ext cx="632460" cy="49159"/>
            </a:xfrm>
            <a:prstGeom prst="line">
              <a:avLst/>
            </a:prstGeom>
            <a:ln w="19050">
              <a:solidFill>
                <a:srgbClr val="002060"/>
              </a:solidFill>
              <a:prstDash val="dash"/>
            </a:ln>
          </p:spPr>
        </p:cxnSp>
        <p:cxnSp>
          <p:nvCxnSpPr>
            <p:cNvPr id="92" name="Connector 90">
              <a:extLst>
                <a:ext uri="{FF2B5EF4-FFF2-40B4-BE49-F238E27FC236}">
                  <a16:creationId xmlns:a16="http://schemas.microsoft.com/office/drawing/2014/main" id="{BADE7374-3CBC-8758-26DB-0A1D38E4347F}"/>
                </a:ext>
              </a:extLst>
            </p:cNvPr>
            <p:cNvCxnSpPr/>
            <p:nvPr/>
          </p:nvCxnSpPr>
          <p:spPr>
            <a:xfrm flipV="1">
              <a:off x="7066787" y="2819458"/>
              <a:ext cx="632461" cy="22239"/>
            </a:xfrm>
            <a:prstGeom prst="line">
              <a:avLst/>
            </a:prstGeom>
            <a:ln w="19050">
              <a:solidFill>
                <a:srgbClr val="002060"/>
              </a:solidFill>
              <a:prstDash val="dash"/>
            </a:ln>
          </p:spPr>
        </p:cxnSp>
        <p:cxnSp>
          <p:nvCxnSpPr>
            <p:cNvPr id="93" name="Connector 91">
              <a:extLst>
                <a:ext uri="{FF2B5EF4-FFF2-40B4-BE49-F238E27FC236}">
                  <a16:creationId xmlns:a16="http://schemas.microsoft.com/office/drawing/2014/main" id="{56234C15-087D-088C-8A56-CE75909D7FE8}"/>
                </a:ext>
              </a:extLst>
            </p:cNvPr>
            <p:cNvCxnSpPr/>
            <p:nvPr/>
          </p:nvCxnSpPr>
          <p:spPr>
            <a:xfrm>
              <a:off x="7699248" y="2819458"/>
              <a:ext cx="632460" cy="109728"/>
            </a:xfrm>
            <a:prstGeom prst="line">
              <a:avLst/>
            </a:prstGeom>
            <a:ln w="19050">
              <a:solidFill>
                <a:srgbClr val="002060"/>
              </a:solidFill>
              <a:prstDash val="dash"/>
            </a:ln>
          </p:spPr>
        </p:cxnSp>
        <p:sp>
          <p:nvSpPr>
            <p:cNvPr id="94" name="Oval 93">
              <a:extLst>
                <a:ext uri="{FF2B5EF4-FFF2-40B4-BE49-F238E27FC236}">
                  <a16:creationId xmlns:a16="http://schemas.microsoft.com/office/drawing/2014/main" id="{249CC127-C5A4-571E-9ED6-0FCA17550FAB}"/>
                </a:ext>
              </a:extLst>
            </p:cNvPr>
            <p:cNvSpPr/>
            <p:nvPr/>
          </p:nvSpPr>
          <p:spPr>
            <a:xfrm>
              <a:off x="5760720" y="2837417"/>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95" name="Oval 94">
              <a:extLst>
                <a:ext uri="{FF2B5EF4-FFF2-40B4-BE49-F238E27FC236}">
                  <a16:creationId xmlns:a16="http://schemas.microsoft.com/office/drawing/2014/main" id="{7BFC762B-91E8-FD39-5750-027013087FB2}"/>
                </a:ext>
              </a:extLst>
            </p:cNvPr>
            <p:cNvSpPr/>
            <p:nvPr/>
          </p:nvSpPr>
          <p:spPr>
            <a:xfrm>
              <a:off x="6393179" y="2751390"/>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96" name="Oval 95">
              <a:extLst>
                <a:ext uri="{FF2B5EF4-FFF2-40B4-BE49-F238E27FC236}">
                  <a16:creationId xmlns:a16="http://schemas.microsoft.com/office/drawing/2014/main" id="{39E9DA65-277B-00A8-2F28-17EFA096B56E}"/>
                </a:ext>
              </a:extLst>
            </p:cNvPr>
            <p:cNvSpPr/>
            <p:nvPr/>
          </p:nvSpPr>
          <p:spPr>
            <a:xfrm>
              <a:off x="7025639" y="2800549"/>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97" name="Oval 96">
              <a:extLst>
                <a:ext uri="{FF2B5EF4-FFF2-40B4-BE49-F238E27FC236}">
                  <a16:creationId xmlns:a16="http://schemas.microsoft.com/office/drawing/2014/main" id="{41A81204-52C0-A54F-6922-3804A36D10ED}"/>
                </a:ext>
              </a:extLst>
            </p:cNvPr>
            <p:cNvSpPr/>
            <p:nvPr/>
          </p:nvSpPr>
          <p:spPr>
            <a:xfrm>
              <a:off x="7658100" y="2778310"/>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98" name="Oval 97">
              <a:extLst>
                <a:ext uri="{FF2B5EF4-FFF2-40B4-BE49-F238E27FC236}">
                  <a16:creationId xmlns:a16="http://schemas.microsoft.com/office/drawing/2014/main" id="{07D0B2AB-18A3-7C09-CF50-BAD4A77B2463}"/>
                </a:ext>
              </a:extLst>
            </p:cNvPr>
            <p:cNvSpPr/>
            <p:nvPr/>
          </p:nvSpPr>
          <p:spPr>
            <a:xfrm>
              <a:off x="8290560" y="2888038"/>
              <a:ext cx="82296" cy="82296"/>
            </a:xfrm>
            <a:prstGeom prst="ellipse">
              <a:avLst/>
            </a:prstGeom>
            <a:solidFill>
              <a:srgbClr val="002060"/>
            </a:solidFill>
            <a:ln w="15875">
              <a:solidFill>
                <a:srgbClr val="FFFFFF"/>
              </a:solidFill>
            </a:ln>
            <a:effectLst/>
          </p:spPr>
          <p:txBody>
            <a:bodyPr rtlCol="0" anchor="ctr"/>
            <a:lstStyle/>
            <a:p>
              <a:pPr algn="ctr"/>
              <a:endParaRPr/>
            </a:p>
          </p:txBody>
        </p:sp>
      </p:grpSp>
      <p:grpSp>
        <p:nvGrpSpPr>
          <p:cNvPr id="109" name="Group 108">
            <a:extLst>
              <a:ext uri="{FF2B5EF4-FFF2-40B4-BE49-F238E27FC236}">
                <a16:creationId xmlns:a16="http://schemas.microsoft.com/office/drawing/2014/main" id="{C26B6477-4D27-9963-5FBB-76836B461FE5}"/>
              </a:ext>
            </a:extLst>
          </p:cNvPr>
          <p:cNvGrpSpPr/>
          <p:nvPr/>
        </p:nvGrpSpPr>
        <p:grpSpPr>
          <a:xfrm>
            <a:off x="584265" y="5947729"/>
            <a:ext cx="8193975" cy="546892"/>
            <a:chOff x="597408" y="6032341"/>
            <a:chExt cx="8193975" cy="546892"/>
          </a:xfrm>
        </p:grpSpPr>
        <p:sp>
          <p:nvSpPr>
            <p:cNvPr id="99" name="Rectangle 98">
              <a:extLst>
                <a:ext uri="{FF2B5EF4-FFF2-40B4-BE49-F238E27FC236}">
                  <a16:creationId xmlns:a16="http://schemas.microsoft.com/office/drawing/2014/main" id="{E9DFB7B5-31A3-ECC0-F013-6724864BE791}"/>
                </a:ext>
              </a:extLst>
            </p:cNvPr>
            <p:cNvSpPr/>
            <p:nvPr/>
          </p:nvSpPr>
          <p:spPr>
            <a:xfrm>
              <a:off x="673608" y="6098289"/>
              <a:ext cx="123444" cy="123444"/>
            </a:xfrm>
            <a:prstGeom prst="rect">
              <a:avLst/>
            </a:prstGeom>
            <a:solidFill>
              <a:srgbClr val="0F8C6B"/>
            </a:solidFill>
            <a:ln>
              <a:noFill/>
            </a:ln>
            <a:effectLst/>
          </p:spPr>
          <p:txBody>
            <a:bodyPr rtlCol="0" anchor="ctr"/>
            <a:lstStyle/>
            <a:p>
              <a:endParaRPr/>
            </a:p>
          </p:txBody>
        </p:sp>
        <p:sp>
          <p:nvSpPr>
            <p:cNvPr id="100" name="TextBox 99">
              <a:extLst>
                <a:ext uri="{FF2B5EF4-FFF2-40B4-BE49-F238E27FC236}">
                  <a16:creationId xmlns:a16="http://schemas.microsoft.com/office/drawing/2014/main" id="{E8C3F3EE-3471-87D2-CCB2-8BF600002F77}"/>
                </a:ext>
              </a:extLst>
            </p:cNvPr>
            <p:cNvSpPr txBox="1"/>
            <p:nvPr/>
          </p:nvSpPr>
          <p:spPr>
            <a:xfrm>
              <a:off x="929639" y="6032341"/>
              <a:ext cx="7770304" cy="246221"/>
            </a:xfrm>
            <a:prstGeom prst="rect">
              <a:avLst/>
            </a:prstGeom>
            <a:noFill/>
          </p:spPr>
          <p:txBody>
            <a:bodyPr wrap="square" lIns="0" tIns="0" rIns="0" bIns="0" anchor="t">
              <a:spAutoFit/>
            </a:bodyPr>
            <a:lstStyle/>
            <a:p>
              <a:r>
                <a:rPr lang="en-US" sz="1600" b="0" i="0" dirty="0">
                  <a:solidFill>
                    <a:srgbClr val="16202B"/>
                  </a:solidFill>
                  <a:latin typeface="Calibri"/>
                </a:rPr>
                <a:t>The percentage of total care cost </a:t>
              </a:r>
              <a:r>
                <a:rPr lang="en-US" sz="1600" dirty="0">
                  <a:solidFill>
                    <a:srgbClr val="16202B"/>
                  </a:solidFill>
                  <a:latin typeface="Calibri"/>
                </a:rPr>
                <a:t>c</a:t>
              </a:r>
              <a:r>
                <a:rPr sz="1600" b="0" i="0" dirty="0">
                  <a:solidFill>
                    <a:srgbClr val="16202B"/>
                  </a:solidFill>
                  <a:latin typeface="Calibri"/>
                </a:rPr>
                <a:t>overed by JKN  (</a:t>
              </a:r>
              <a:r>
                <a:rPr sz="1600" b="0" i="0" dirty="0" err="1">
                  <a:solidFill>
                    <a:srgbClr val="16202B"/>
                  </a:solidFill>
                  <a:latin typeface="Calibri"/>
                </a:rPr>
                <a:t>η</a:t>
              </a:r>
              <a:r>
                <a:rPr sz="1600" b="0" i="0" dirty="0">
                  <a:solidFill>
                    <a:srgbClr val="16202B"/>
                  </a:solidFill>
                  <a:latin typeface="Calibri"/>
                </a:rPr>
                <a:t>)</a:t>
              </a:r>
              <a:r>
                <a:rPr lang="en-US" sz="1600" dirty="0">
                  <a:solidFill>
                    <a:srgbClr val="16202B"/>
                  </a:solidFill>
                </a:rPr>
                <a:t>  — </a:t>
              </a:r>
              <a:r>
                <a:rPr lang="en-US" sz="1600" b="1" dirty="0">
                  <a:solidFill>
                    <a:srgbClr val="16202B"/>
                  </a:solidFill>
                </a:rPr>
                <a:t>Source: </a:t>
              </a:r>
              <a:r>
                <a:rPr lang="en-US" sz="1600" dirty="0">
                  <a:solidFill>
                    <a:srgbClr val="16202B"/>
                  </a:solidFill>
                </a:rPr>
                <a:t>modeled</a:t>
              </a:r>
              <a:endParaRPr sz="1600" b="0" i="0" dirty="0">
                <a:solidFill>
                  <a:srgbClr val="16202B"/>
                </a:solidFill>
                <a:latin typeface="Calibri"/>
              </a:endParaRPr>
            </a:p>
          </p:txBody>
        </p:sp>
        <p:cxnSp>
          <p:nvCxnSpPr>
            <p:cNvPr id="105" name="Connector 103">
              <a:extLst>
                <a:ext uri="{FF2B5EF4-FFF2-40B4-BE49-F238E27FC236}">
                  <a16:creationId xmlns:a16="http://schemas.microsoft.com/office/drawing/2014/main" id="{C49BDF9A-9C33-D904-ED05-8F1EAA81354A}"/>
                </a:ext>
              </a:extLst>
            </p:cNvPr>
            <p:cNvCxnSpPr/>
            <p:nvPr/>
          </p:nvCxnSpPr>
          <p:spPr>
            <a:xfrm>
              <a:off x="597408" y="6430962"/>
              <a:ext cx="173736" cy="0"/>
            </a:xfrm>
            <a:prstGeom prst="line">
              <a:avLst/>
            </a:prstGeom>
            <a:ln w="19050">
              <a:solidFill>
                <a:srgbClr val="002060"/>
              </a:solidFill>
              <a:prstDash val="dash"/>
            </a:ln>
          </p:spPr>
        </p:cxnSp>
        <p:sp>
          <p:nvSpPr>
            <p:cNvPr id="106" name="Oval 105">
              <a:extLst>
                <a:ext uri="{FF2B5EF4-FFF2-40B4-BE49-F238E27FC236}">
                  <a16:creationId xmlns:a16="http://schemas.microsoft.com/office/drawing/2014/main" id="{0FE159AB-2594-9341-4F5F-27893D699364}"/>
                </a:ext>
              </a:extLst>
            </p:cNvPr>
            <p:cNvSpPr/>
            <p:nvPr/>
          </p:nvSpPr>
          <p:spPr>
            <a:xfrm>
              <a:off x="643128" y="6387433"/>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107" name="TextBox 106">
              <a:extLst>
                <a:ext uri="{FF2B5EF4-FFF2-40B4-BE49-F238E27FC236}">
                  <a16:creationId xmlns:a16="http://schemas.microsoft.com/office/drawing/2014/main" id="{2A914092-1164-2C34-65D7-84E5E4361AC2}"/>
                </a:ext>
              </a:extLst>
            </p:cNvPr>
            <p:cNvSpPr txBox="1"/>
            <p:nvPr/>
          </p:nvSpPr>
          <p:spPr>
            <a:xfrm>
              <a:off x="927543" y="6333012"/>
              <a:ext cx="7863840" cy="246221"/>
            </a:xfrm>
            <a:prstGeom prst="rect">
              <a:avLst/>
            </a:prstGeom>
            <a:noFill/>
          </p:spPr>
          <p:txBody>
            <a:bodyPr wrap="square" lIns="0" tIns="0" rIns="0" bIns="0" anchor="t">
              <a:spAutoFit/>
            </a:bodyPr>
            <a:lstStyle/>
            <a:p>
              <a:pPr algn="l"/>
              <a:r>
                <a:rPr lang="en-US" sz="1600" b="0" i="0" dirty="0">
                  <a:solidFill>
                    <a:srgbClr val="16202B"/>
                  </a:solidFill>
                  <a:latin typeface="Calibri"/>
                </a:rPr>
                <a:t>The percentage of care utilization that </a:t>
              </a:r>
              <a:r>
                <a:rPr lang="en-US" sz="1600" dirty="0">
                  <a:solidFill>
                    <a:srgbClr val="16202B"/>
                  </a:solidFill>
                  <a:latin typeface="Calibri"/>
                </a:rPr>
                <a:t>uses </a:t>
              </a:r>
              <a:r>
                <a:rPr sz="1600" b="0" i="0" dirty="0">
                  <a:solidFill>
                    <a:srgbClr val="16202B"/>
                  </a:solidFill>
                  <a:latin typeface="Calibri"/>
                </a:rPr>
                <a:t>JKN (d)  —</a:t>
              </a:r>
              <a:r>
                <a:rPr lang="en-US" sz="1600" b="0" i="0" dirty="0">
                  <a:solidFill>
                    <a:srgbClr val="16202B"/>
                  </a:solidFill>
                  <a:latin typeface="Calibri"/>
                </a:rPr>
                <a:t> </a:t>
              </a:r>
              <a:r>
                <a:rPr lang="en-US" sz="1600" b="1" i="0" dirty="0">
                  <a:solidFill>
                    <a:srgbClr val="16202B"/>
                  </a:solidFill>
                  <a:latin typeface="Calibri"/>
                </a:rPr>
                <a:t>Source:</a:t>
              </a:r>
              <a:r>
                <a:rPr lang="en-US" sz="1600" b="0" i="0" dirty="0">
                  <a:solidFill>
                    <a:srgbClr val="16202B"/>
                  </a:solidFill>
                  <a:latin typeface="Calibri"/>
                </a:rPr>
                <a:t> </a:t>
              </a:r>
              <a:r>
                <a:rPr sz="1600" b="0" i="0" dirty="0" err="1">
                  <a:solidFill>
                    <a:srgbClr val="16202B"/>
                  </a:solidFill>
                  <a:latin typeface="Calibri"/>
                </a:rPr>
                <a:t>Susenas</a:t>
              </a:r>
              <a:r>
                <a:rPr sz="1600" b="0" i="0" dirty="0">
                  <a:solidFill>
                    <a:srgbClr val="16202B"/>
                  </a:solidFill>
                  <a:latin typeface="Calibri"/>
                </a:rPr>
                <a:t> 2025 Tabel 2.24 / 2.28</a:t>
              </a:r>
            </a:p>
          </p:txBody>
        </p:sp>
      </p:grpSp>
      <p:sp>
        <p:nvSpPr>
          <p:cNvPr id="112" name="TextBox 111">
            <a:extLst>
              <a:ext uri="{FF2B5EF4-FFF2-40B4-BE49-F238E27FC236}">
                <a16:creationId xmlns:a16="http://schemas.microsoft.com/office/drawing/2014/main" id="{96EDA35B-4C82-B7FC-A016-28326EF40EBA}"/>
              </a:ext>
            </a:extLst>
          </p:cNvPr>
          <p:cNvSpPr txBox="1"/>
          <p:nvPr/>
        </p:nvSpPr>
        <p:spPr>
          <a:xfrm>
            <a:off x="1143000" y="3644325"/>
            <a:ext cx="533400" cy="292388"/>
          </a:xfrm>
          <a:prstGeom prst="rect">
            <a:avLst/>
          </a:prstGeom>
          <a:noFill/>
        </p:spPr>
        <p:txBody>
          <a:bodyPr wrap="square" rtlCol="0">
            <a:spAutoFit/>
          </a:bodyPr>
          <a:lstStyle/>
          <a:p>
            <a:r>
              <a:rPr lang="en-US" sz="1300" b="1" dirty="0">
                <a:solidFill>
                  <a:schemeClr val="accent1">
                    <a:lumMod val="50000"/>
                  </a:schemeClr>
                </a:solidFill>
              </a:rPr>
              <a:t>47%</a:t>
            </a:r>
          </a:p>
        </p:txBody>
      </p:sp>
      <p:sp>
        <p:nvSpPr>
          <p:cNvPr id="113" name="TextBox 112">
            <a:extLst>
              <a:ext uri="{FF2B5EF4-FFF2-40B4-BE49-F238E27FC236}">
                <a16:creationId xmlns:a16="http://schemas.microsoft.com/office/drawing/2014/main" id="{CAF55B69-0318-9D21-1D2E-2CA1EE4D2C8D}"/>
              </a:ext>
            </a:extLst>
          </p:cNvPr>
          <p:cNvSpPr txBox="1"/>
          <p:nvPr/>
        </p:nvSpPr>
        <p:spPr>
          <a:xfrm>
            <a:off x="1828800" y="3580694"/>
            <a:ext cx="533400" cy="292388"/>
          </a:xfrm>
          <a:prstGeom prst="rect">
            <a:avLst/>
          </a:prstGeom>
          <a:noFill/>
        </p:spPr>
        <p:txBody>
          <a:bodyPr wrap="square" rtlCol="0">
            <a:spAutoFit/>
          </a:bodyPr>
          <a:lstStyle/>
          <a:p>
            <a:r>
              <a:rPr lang="en-US" sz="1300" b="1" dirty="0">
                <a:solidFill>
                  <a:schemeClr val="accent1">
                    <a:lumMod val="50000"/>
                  </a:schemeClr>
                </a:solidFill>
              </a:rPr>
              <a:t>48%</a:t>
            </a:r>
          </a:p>
        </p:txBody>
      </p:sp>
      <p:sp>
        <p:nvSpPr>
          <p:cNvPr id="114" name="TextBox 113">
            <a:extLst>
              <a:ext uri="{FF2B5EF4-FFF2-40B4-BE49-F238E27FC236}">
                <a16:creationId xmlns:a16="http://schemas.microsoft.com/office/drawing/2014/main" id="{0832DF24-2579-9DF8-BD68-A55E4130D001}"/>
              </a:ext>
            </a:extLst>
          </p:cNvPr>
          <p:cNvSpPr txBox="1"/>
          <p:nvPr/>
        </p:nvSpPr>
        <p:spPr>
          <a:xfrm>
            <a:off x="2465895" y="3421931"/>
            <a:ext cx="533400" cy="292388"/>
          </a:xfrm>
          <a:prstGeom prst="rect">
            <a:avLst/>
          </a:prstGeom>
          <a:noFill/>
        </p:spPr>
        <p:txBody>
          <a:bodyPr wrap="square" rtlCol="0">
            <a:spAutoFit/>
          </a:bodyPr>
          <a:lstStyle/>
          <a:p>
            <a:r>
              <a:rPr lang="en-US" sz="1300" b="1" dirty="0">
                <a:solidFill>
                  <a:schemeClr val="accent1">
                    <a:lumMod val="50000"/>
                  </a:schemeClr>
                </a:solidFill>
              </a:rPr>
              <a:t>53%</a:t>
            </a:r>
          </a:p>
        </p:txBody>
      </p:sp>
      <p:sp>
        <p:nvSpPr>
          <p:cNvPr id="115" name="TextBox 114">
            <a:extLst>
              <a:ext uri="{FF2B5EF4-FFF2-40B4-BE49-F238E27FC236}">
                <a16:creationId xmlns:a16="http://schemas.microsoft.com/office/drawing/2014/main" id="{731DF2E4-5A3F-FFCF-423F-8D991C470716}"/>
              </a:ext>
            </a:extLst>
          </p:cNvPr>
          <p:cNvSpPr txBox="1"/>
          <p:nvPr/>
        </p:nvSpPr>
        <p:spPr>
          <a:xfrm>
            <a:off x="3054285" y="3351937"/>
            <a:ext cx="533400" cy="292388"/>
          </a:xfrm>
          <a:prstGeom prst="rect">
            <a:avLst/>
          </a:prstGeom>
          <a:noFill/>
        </p:spPr>
        <p:txBody>
          <a:bodyPr wrap="square" rtlCol="0">
            <a:spAutoFit/>
          </a:bodyPr>
          <a:lstStyle/>
          <a:p>
            <a:r>
              <a:rPr lang="en-US" sz="1300" b="1" dirty="0">
                <a:solidFill>
                  <a:schemeClr val="accent1">
                    <a:lumMod val="50000"/>
                  </a:schemeClr>
                </a:solidFill>
              </a:rPr>
              <a:t>56%</a:t>
            </a:r>
          </a:p>
        </p:txBody>
      </p:sp>
      <p:sp>
        <p:nvSpPr>
          <p:cNvPr id="116" name="TextBox 115">
            <a:extLst>
              <a:ext uri="{FF2B5EF4-FFF2-40B4-BE49-F238E27FC236}">
                <a16:creationId xmlns:a16="http://schemas.microsoft.com/office/drawing/2014/main" id="{001EEFDB-2598-F0C0-88E4-FBD40A1A26AA}"/>
              </a:ext>
            </a:extLst>
          </p:cNvPr>
          <p:cNvSpPr txBox="1"/>
          <p:nvPr/>
        </p:nvSpPr>
        <p:spPr>
          <a:xfrm>
            <a:off x="3733800" y="3275737"/>
            <a:ext cx="533400" cy="292388"/>
          </a:xfrm>
          <a:prstGeom prst="rect">
            <a:avLst/>
          </a:prstGeom>
          <a:noFill/>
        </p:spPr>
        <p:txBody>
          <a:bodyPr wrap="square" rtlCol="0">
            <a:spAutoFit/>
          </a:bodyPr>
          <a:lstStyle/>
          <a:p>
            <a:r>
              <a:rPr lang="en-US" sz="1300" b="1" dirty="0">
                <a:solidFill>
                  <a:schemeClr val="accent1">
                    <a:lumMod val="50000"/>
                  </a:schemeClr>
                </a:solidFill>
              </a:rPr>
              <a:t>59%</a:t>
            </a:r>
          </a:p>
        </p:txBody>
      </p:sp>
      <p:sp>
        <p:nvSpPr>
          <p:cNvPr id="117" name="TextBox 116">
            <a:extLst>
              <a:ext uri="{FF2B5EF4-FFF2-40B4-BE49-F238E27FC236}">
                <a16:creationId xmlns:a16="http://schemas.microsoft.com/office/drawing/2014/main" id="{B1AA0426-B347-7CF9-F878-0123329B08B2}"/>
              </a:ext>
            </a:extLst>
          </p:cNvPr>
          <p:cNvSpPr txBox="1"/>
          <p:nvPr/>
        </p:nvSpPr>
        <p:spPr>
          <a:xfrm>
            <a:off x="5562600" y="2653725"/>
            <a:ext cx="533400" cy="292388"/>
          </a:xfrm>
          <a:prstGeom prst="rect">
            <a:avLst/>
          </a:prstGeom>
          <a:noFill/>
        </p:spPr>
        <p:txBody>
          <a:bodyPr wrap="square" rtlCol="0">
            <a:spAutoFit/>
          </a:bodyPr>
          <a:lstStyle/>
          <a:p>
            <a:r>
              <a:rPr lang="en-US" sz="1300" b="1" dirty="0">
                <a:solidFill>
                  <a:schemeClr val="accent1">
                    <a:lumMod val="50000"/>
                  </a:schemeClr>
                </a:solidFill>
              </a:rPr>
              <a:t>80%</a:t>
            </a:r>
          </a:p>
        </p:txBody>
      </p:sp>
      <p:sp>
        <p:nvSpPr>
          <p:cNvPr id="118" name="TextBox 117">
            <a:extLst>
              <a:ext uri="{FF2B5EF4-FFF2-40B4-BE49-F238E27FC236}">
                <a16:creationId xmlns:a16="http://schemas.microsoft.com/office/drawing/2014/main" id="{D10DFBCB-2D2E-8E33-B8AF-E78867AE7E50}"/>
              </a:ext>
            </a:extLst>
          </p:cNvPr>
          <p:cNvSpPr txBox="1"/>
          <p:nvPr/>
        </p:nvSpPr>
        <p:spPr>
          <a:xfrm>
            <a:off x="6172200" y="2577525"/>
            <a:ext cx="533400" cy="292388"/>
          </a:xfrm>
          <a:prstGeom prst="rect">
            <a:avLst/>
          </a:prstGeom>
          <a:noFill/>
        </p:spPr>
        <p:txBody>
          <a:bodyPr wrap="square" rtlCol="0">
            <a:spAutoFit/>
          </a:bodyPr>
          <a:lstStyle/>
          <a:p>
            <a:r>
              <a:rPr lang="en-US" sz="1300" b="1" dirty="0">
                <a:solidFill>
                  <a:schemeClr val="accent1">
                    <a:lumMod val="50000"/>
                  </a:schemeClr>
                </a:solidFill>
              </a:rPr>
              <a:t>83%</a:t>
            </a:r>
          </a:p>
        </p:txBody>
      </p:sp>
      <p:sp>
        <p:nvSpPr>
          <p:cNvPr id="119" name="TextBox 118">
            <a:extLst>
              <a:ext uri="{FF2B5EF4-FFF2-40B4-BE49-F238E27FC236}">
                <a16:creationId xmlns:a16="http://schemas.microsoft.com/office/drawing/2014/main" id="{9B048654-D063-8807-25E5-922407D9B8D4}"/>
              </a:ext>
            </a:extLst>
          </p:cNvPr>
          <p:cNvSpPr txBox="1"/>
          <p:nvPr/>
        </p:nvSpPr>
        <p:spPr>
          <a:xfrm>
            <a:off x="6858000" y="2608162"/>
            <a:ext cx="533400" cy="292388"/>
          </a:xfrm>
          <a:prstGeom prst="rect">
            <a:avLst/>
          </a:prstGeom>
          <a:noFill/>
        </p:spPr>
        <p:txBody>
          <a:bodyPr wrap="square" rtlCol="0">
            <a:spAutoFit/>
          </a:bodyPr>
          <a:lstStyle/>
          <a:p>
            <a:r>
              <a:rPr lang="en-US" sz="1300" b="1" dirty="0">
                <a:solidFill>
                  <a:schemeClr val="accent1">
                    <a:lumMod val="50000"/>
                  </a:schemeClr>
                </a:solidFill>
              </a:rPr>
              <a:t>81%</a:t>
            </a:r>
          </a:p>
        </p:txBody>
      </p:sp>
      <p:sp>
        <p:nvSpPr>
          <p:cNvPr id="120" name="TextBox 119">
            <a:extLst>
              <a:ext uri="{FF2B5EF4-FFF2-40B4-BE49-F238E27FC236}">
                <a16:creationId xmlns:a16="http://schemas.microsoft.com/office/drawing/2014/main" id="{B623F99B-9A55-7710-41CA-82B04D2BE188}"/>
              </a:ext>
            </a:extLst>
          </p:cNvPr>
          <p:cNvSpPr txBox="1"/>
          <p:nvPr/>
        </p:nvSpPr>
        <p:spPr>
          <a:xfrm>
            <a:off x="7467600" y="2579882"/>
            <a:ext cx="533400" cy="292388"/>
          </a:xfrm>
          <a:prstGeom prst="rect">
            <a:avLst/>
          </a:prstGeom>
          <a:noFill/>
        </p:spPr>
        <p:txBody>
          <a:bodyPr wrap="square" rtlCol="0">
            <a:spAutoFit/>
          </a:bodyPr>
          <a:lstStyle/>
          <a:p>
            <a:r>
              <a:rPr lang="en-US" sz="1300" b="1" dirty="0">
                <a:solidFill>
                  <a:schemeClr val="accent1">
                    <a:lumMod val="50000"/>
                  </a:schemeClr>
                </a:solidFill>
              </a:rPr>
              <a:t>82%</a:t>
            </a:r>
          </a:p>
        </p:txBody>
      </p:sp>
      <p:sp>
        <p:nvSpPr>
          <p:cNvPr id="121" name="TextBox 120">
            <a:extLst>
              <a:ext uri="{FF2B5EF4-FFF2-40B4-BE49-F238E27FC236}">
                <a16:creationId xmlns:a16="http://schemas.microsoft.com/office/drawing/2014/main" id="{E3A7DCFE-7154-B587-90B8-D5125DCF67F6}"/>
              </a:ext>
            </a:extLst>
          </p:cNvPr>
          <p:cNvSpPr txBox="1"/>
          <p:nvPr/>
        </p:nvSpPr>
        <p:spPr>
          <a:xfrm>
            <a:off x="8077200" y="2735503"/>
            <a:ext cx="533400" cy="292388"/>
          </a:xfrm>
          <a:prstGeom prst="rect">
            <a:avLst/>
          </a:prstGeom>
          <a:noFill/>
        </p:spPr>
        <p:txBody>
          <a:bodyPr wrap="square" rtlCol="0">
            <a:spAutoFit/>
          </a:bodyPr>
          <a:lstStyle/>
          <a:p>
            <a:r>
              <a:rPr lang="en-US" sz="1300" b="1" dirty="0">
                <a:solidFill>
                  <a:schemeClr val="accent1">
                    <a:lumMod val="50000"/>
                  </a:schemeClr>
                </a:solidFill>
              </a:rPr>
              <a:t>78%</a:t>
            </a:r>
          </a:p>
        </p:txBody>
      </p:sp>
    </p:spTree>
    <p:extLst>
      <p:ext uri="{BB962C8B-B14F-4D97-AF65-F5344CB8AC3E}">
        <p14:creationId xmlns:p14="http://schemas.microsoft.com/office/powerpoint/2010/main" val="15667001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8321040" cy="1249573"/>
          </a:xfrm>
          <a:prstGeom prst="rect">
            <a:avLst/>
          </a:prstGeom>
          <a:noFill/>
        </p:spPr>
        <p:txBody>
          <a:bodyPr wrap="square" lIns="18288" tIns="9144" rIns="18288" bIns="9144" anchor="t">
            <a:spAutoFit/>
          </a:bodyPr>
          <a:lstStyle/>
          <a:p>
            <a:pPr algn="ctr"/>
            <a:r>
              <a:rPr lang="en-US" sz="4000" b="1" dirty="0">
                <a:solidFill>
                  <a:srgbClr val="002060"/>
                </a:solidFill>
                <a:latin typeface="+mj-lt"/>
                <a:ea typeface="+mj-ea"/>
                <a:cs typeface="+mj-cs"/>
              </a:rPr>
              <a:t>Key finding</a:t>
            </a:r>
            <a:r>
              <a:rPr sz="4000" b="1" dirty="0">
                <a:solidFill>
                  <a:srgbClr val="002060"/>
                </a:solidFill>
                <a:latin typeface="+mj-lt"/>
                <a:ea typeface="+mj-ea"/>
                <a:cs typeface="+mj-cs"/>
              </a:rPr>
              <a:t> 1: </a:t>
            </a:r>
            <a:r>
              <a:rPr lang="en-US" sz="4000" dirty="0">
                <a:solidFill>
                  <a:srgbClr val="002060"/>
                </a:solidFill>
                <a:latin typeface="+mj-lt"/>
                <a:ea typeface="+mj-ea"/>
                <a:cs typeface="+mj-cs"/>
              </a:rPr>
              <a:t>C</a:t>
            </a:r>
            <a:r>
              <a:rPr sz="4000" dirty="0">
                <a:solidFill>
                  <a:srgbClr val="002060"/>
                </a:solidFill>
                <a:latin typeface="+mj-lt"/>
                <a:ea typeface="+mj-ea"/>
                <a:cs typeface="+mj-cs"/>
              </a:rPr>
              <a:t>hronic care</a:t>
            </a:r>
            <a:endParaRPr lang="en-US" sz="4000" dirty="0">
              <a:solidFill>
                <a:srgbClr val="002060"/>
              </a:solidFill>
              <a:latin typeface="+mj-lt"/>
              <a:ea typeface="+mj-ea"/>
              <a:cs typeface="+mj-cs"/>
            </a:endParaRPr>
          </a:p>
          <a:p>
            <a:pPr algn="ctr"/>
            <a:r>
              <a:rPr lang="en-US" sz="2000" dirty="0">
                <a:solidFill>
                  <a:srgbClr val="002060"/>
                </a:solidFill>
                <a:latin typeface="+mj-lt"/>
                <a:ea typeface="+mj-ea"/>
                <a:cs typeface="+mj-cs"/>
              </a:rPr>
              <a:t>1.3 million catastrophic cases per year = 8% of 15.6M patients in care</a:t>
            </a:r>
          </a:p>
          <a:p>
            <a:pPr algn="ctr"/>
            <a:r>
              <a:rPr lang="en-US" sz="2000" dirty="0">
                <a:solidFill>
                  <a:srgbClr val="002060"/>
                </a:solidFill>
                <a:latin typeface="+mj-lt"/>
                <a:ea typeface="+mj-ea"/>
                <a:cs typeface="+mj-cs"/>
              </a:rPr>
              <a:t>Two thirds of them in Q1 consumption quintile</a:t>
            </a:r>
          </a:p>
        </p:txBody>
      </p:sp>
      <p:sp>
        <p:nvSpPr>
          <p:cNvPr id="8" name="TextBox 7">
            <a:extLst>
              <a:ext uri="{FF2B5EF4-FFF2-40B4-BE49-F238E27FC236}">
                <a16:creationId xmlns:a16="http://schemas.microsoft.com/office/drawing/2014/main" id="{12D0C2C2-9C2E-29B1-DB83-CA246BE99AD7}"/>
              </a:ext>
            </a:extLst>
          </p:cNvPr>
          <p:cNvSpPr txBox="1"/>
          <p:nvPr/>
        </p:nvSpPr>
        <p:spPr>
          <a:xfrm>
            <a:off x="533400" y="1668959"/>
            <a:ext cx="8171633" cy="769441"/>
          </a:xfrm>
          <a:prstGeom prst="rect">
            <a:avLst/>
          </a:prstGeom>
          <a:noFill/>
        </p:spPr>
        <p:txBody>
          <a:bodyPr wrap="square" rtlCol="0">
            <a:spAutoFit/>
          </a:bodyPr>
          <a:lstStyle/>
          <a:p>
            <a:pPr algn="ctr"/>
            <a:r>
              <a:rPr lang="en-US" sz="2200" b="1" dirty="0"/>
              <a:t>Catastrophic health expenditure (CHE) cases</a:t>
            </a:r>
          </a:p>
          <a:p>
            <a:pPr algn="ctr"/>
            <a:r>
              <a:rPr lang="en-US" sz="2200" dirty="0"/>
              <a:t>(OOP costs &gt; 10% of household expenditure) </a:t>
            </a:r>
            <a:r>
              <a:rPr lang="en-US" sz="2200" b="1" dirty="0"/>
              <a:t>related to chronic care</a:t>
            </a:r>
          </a:p>
        </p:txBody>
      </p:sp>
      <p:pic>
        <p:nvPicPr>
          <p:cNvPr id="4" name="Picture 3">
            <a:extLst>
              <a:ext uri="{FF2B5EF4-FFF2-40B4-BE49-F238E27FC236}">
                <a16:creationId xmlns:a16="http://schemas.microsoft.com/office/drawing/2014/main" id="{5D7A5DCC-9C19-68B2-046C-E00E96683AA7}"/>
              </a:ext>
            </a:extLst>
          </p:cNvPr>
          <p:cNvPicPr>
            <a:picLocks noChangeAspect="1"/>
          </p:cNvPicPr>
          <p:nvPr/>
        </p:nvPicPr>
        <p:blipFill>
          <a:blip r:embed="rId3">
            <a:extLst>
              <a:ext uri="{28A0092B-C50C-407E-A947-70E740481C1C}">
                <a14:useLocalDpi xmlns:a14="http://schemas.microsoft.com/office/drawing/2010/main" val="0"/>
              </a:ext>
            </a:extLst>
          </a:blip>
          <a:srcRect t="16383"/>
          <a:stretch>
            <a:fillRect/>
          </a:stretch>
        </p:blipFill>
        <p:spPr>
          <a:xfrm>
            <a:off x="406037" y="2674906"/>
            <a:ext cx="8171632" cy="4135683"/>
          </a:xfrm>
          <a:prstGeom prst="rect">
            <a:avLst/>
          </a:prstGeom>
        </p:spPr>
      </p:pic>
      <p:pic>
        <p:nvPicPr>
          <p:cNvPr id="9" name="Picture 8">
            <a:extLst>
              <a:ext uri="{FF2B5EF4-FFF2-40B4-BE49-F238E27FC236}">
                <a16:creationId xmlns:a16="http://schemas.microsoft.com/office/drawing/2014/main" id="{3FACC56D-DA27-C2C0-1EE3-0710BC6CA13A}"/>
              </a:ext>
            </a:extLst>
          </p:cNvPr>
          <p:cNvPicPr>
            <a:picLocks noChangeAspect="1"/>
          </p:cNvPicPr>
          <p:nvPr/>
        </p:nvPicPr>
        <p:blipFill>
          <a:blip r:embed="rId3">
            <a:extLst>
              <a:ext uri="{28A0092B-C50C-407E-A947-70E740481C1C}">
                <a14:useLocalDpi xmlns:a14="http://schemas.microsoft.com/office/drawing/2010/main" val="0"/>
              </a:ext>
            </a:extLst>
          </a:blip>
          <a:srcRect l="66667" t="8452" b="75192"/>
          <a:stretch>
            <a:fillRect/>
          </a:stretch>
        </p:blipFill>
        <p:spPr>
          <a:xfrm>
            <a:off x="3776059" y="2667000"/>
            <a:ext cx="4801610" cy="1426029"/>
          </a:xfrm>
          <a:prstGeom prst="rect">
            <a:avLst/>
          </a:prstGeom>
          <a:ln>
            <a:solidFill>
              <a:schemeClr val="tx1"/>
            </a:solid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AB577F-1D8D-AA6A-99E4-5809A22C40E7}"/>
              </a:ext>
            </a:extLst>
          </p:cNvPr>
          <p:cNvSpPr txBox="1"/>
          <p:nvPr/>
        </p:nvSpPr>
        <p:spPr>
          <a:xfrm>
            <a:off x="401780" y="119051"/>
            <a:ext cx="8321040" cy="1557349"/>
          </a:xfrm>
          <a:prstGeom prst="rect">
            <a:avLst/>
          </a:prstGeom>
          <a:noFill/>
        </p:spPr>
        <p:txBody>
          <a:bodyPr wrap="square" lIns="18288" tIns="9144" rIns="18288" bIns="9144" anchor="t">
            <a:spAutoFit/>
          </a:bodyPr>
          <a:lstStyle/>
          <a:p>
            <a:pPr algn="ctr"/>
            <a:r>
              <a:rPr lang="en-US" sz="4000" b="1" dirty="0">
                <a:solidFill>
                  <a:srgbClr val="002060"/>
                </a:solidFill>
                <a:latin typeface="+mj-lt"/>
                <a:ea typeface="+mj-ea"/>
                <a:cs typeface="+mj-cs"/>
              </a:rPr>
              <a:t>Key finding</a:t>
            </a:r>
            <a:r>
              <a:rPr sz="4000" b="1" dirty="0">
                <a:solidFill>
                  <a:srgbClr val="002060"/>
                </a:solidFill>
                <a:latin typeface="+mj-lt"/>
                <a:ea typeface="+mj-ea"/>
                <a:cs typeface="+mj-cs"/>
              </a:rPr>
              <a:t> </a:t>
            </a:r>
            <a:r>
              <a:rPr lang="en-US" sz="4000" b="1" dirty="0">
                <a:solidFill>
                  <a:srgbClr val="002060"/>
                </a:solidFill>
                <a:latin typeface="+mj-lt"/>
                <a:ea typeface="+mj-ea"/>
                <a:cs typeface="+mj-cs"/>
              </a:rPr>
              <a:t>2</a:t>
            </a:r>
            <a:r>
              <a:rPr sz="4000" b="1" dirty="0">
                <a:solidFill>
                  <a:srgbClr val="002060"/>
                </a:solidFill>
                <a:latin typeface="+mj-lt"/>
                <a:ea typeface="+mj-ea"/>
                <a:cs typeface="+mj-cs"/>
              </a:rPr>
              <a:t>: </a:t>
            </a:r>
            <a:r>
              <a:rPr lang="en-US" sz="4000" dirty="0">
                <a:solidFill>
                  <a:srgbClr val="002060"/>
                </a:solidFill>
                <a:latin typeface="+mj-lt"/>
                <a:ea typeface="+mj-ea"/>
                <a:cs typeface="+mj-cs"/>
              </a:rPr>
              <a:t>Acute events</a:t>
            </a:r>
          </a:p>
          <a:p>
            <a:pPr algn="ctr"/>
            <a:r>
              <a:rPr lang="en-US" sz="2000" dirty="0">
                <a:solidFill>
                  <a:srgbClr val="002060"/>
                </a:solidFill>
              </a:rPr>
              <a:t>401,000 catastrophic admissions a year = 22% of all CVD admissions</a:t>
            </a:r>
          </a:p>
          <a:p>
            <a:pPr algn="ctr"/>
            <a:r>
              <a:rPr lang="en-US" sz="2000" dirty="0">
                <a:solidFill>
                  <a:srgbClr val="002060"/>
                </a:solidFill>
              </a:rPr>
              <a:t>62% of those in Q1</a:t>
            </a:r>
          </a:p>
          <a:p>
            <a:pPr algn="ctr"/>
            <a:endParaRPr lang="en-US" sz="2000" dirty="0">
              <a:solidFill>
                <a:srgbClr val="002060"/>
              </a:solidFill>
              <a:latin typeface="+mj-lt"/>
              <a:ea typeface="+mj-ea"/>
              <a:cs typeface="+mj-cs"/>
            </a:endParaRPr>
          </a:p>
        </p:txBody>
      </p:sp>
      <p:sp>
        <p:nvSpPr>
          <p:cNvPr id="4" name="TextBox 3">
            <a:extLst>
              <a:ext uri="{FF2B5EF4-FFF2-40B4-BE49-F238E27FC236}">
                <a16:creationId xmlns:a16="http://schemas.microsoft.com/office/drawing/2014/main" id="{155BD4E5-EBF3-5C8D-A0AD-AFB7383F0CC8}"/>
              </a:ext>
            </a:extLst>
          </p:cNvPr>
          <p:cNvSpPr txBox="1"/>
          <p:nvPr/>
        </p:nvSpPr>
        <p:spPr>
          <a:xfrm>
            <a:off x="533400" y="1371600"/>
            <a:ext cx="8171633" cy="769441"/>
          </a:xfrm>
          <a:prstGeom prst="rect">
            <a:avLst/>
          </a:prstGeom>
          <a:noFill/>
        </p:spPr>
        <p:txBody>
          <a:bodyPr wrap="square" rtlCol="0">
            <a:spAutoFit/>
          </a:bodyPr>
          <a:lstStyle/>
          <a:p>
            <a:pPr algn="ctr"/>
            <a:r>
              <a:rPr lang="en-US" sz="2200" b="1" dirty="0"/>
              <a:t>Catastrophic health expenditure (CHE) cases</a:t>
            </a:r>
          </a:p>
          <a:p>
            <a:pPr algn="ctr"/>
            <a:r>
              <a:rPr lang="en-US" sz="2200" dirty="0"/>
              <a:t>(OOP costs &gt; 10% of household expenditure) </a:t>
            </a:r>
            <a:r>
              <a:rPr lang="en-US" sz="2200" b="1" dirty="0"/>
              <a:t>related to acute care</a:t>
            </a:r>
          </a:p>
        </p:txBody>
      </p:sp>
      <p:pic>
        <p:nvPicPr>
          <p:cNvPr id="6" name="Picture 5">
            <a:extLst>
              <a:ext uri="{FF2B5EF4-FFF2-40B4-BE49-F238E27FC236}">
                <a16:creationId xmlns:a16="http://schemas.microsoft.com/office/drawing/2014/main" id="{21D54769-6195-A893-0AFE-3089AE8175BF}"/>
              </a:ext>
            </a:extLst>
          </p:cNvPr>
          <p:cNvPicPr>
            <a:picLocks noChangeAspect="1"/>
          </p:cNvPicPr>
          <p:nvPr/>
        </p:nvPicPr>
        <p:blipFill>
          <a:blip r:embed="rId3">
            <a:extLst>
              <a:ext uri="{28A0092B-C50C-407E-A947-70E740481C1C}">
                <a14:useLocalDpi xmlns:a14="http://schemas.microsoft.com/office/drawing/2010/main" val="0"/>
              </a:ext>
            </a:extLst>
          </a:blip>
          <a:srcRect t="11850" b="4126"/>
          <a:stretch>
            <a:fillRect/>
          </a:stretch>
        </p:blipFill>
        <p:spPr>
          <a:xfrm>
            <a:off x="144588" y="2270345"/>
            <a:ext cx="8854824" cy="4503240"/>
          </a:xfrm>
          <a:prstGeom prst="rect">
            <a:avLst/>
          </a:prstGeom>
        </p:spPr>
      </p:pic>
      <p:pic>
        <p:nvPicPr>
          <p:cNvPr id="9" name="Picture 8">
            <a:extLst>
              <a:ext uri="{FF2B5EF4-FFF2-40B4-BE49-F238E27FC236}">
                <a16:creationId xmlns:a16="http://schemas.microsoft.com/office/drawing/2014/main" id="{7158EC36-4592-0782-1328-865EEE1A61E9}"/>
              </a:ext>
            </a:extLst>
          </p:cNvPr>
          <p:cNvPicPr>
            <a:picLocks noChangeAspect="1"/>
          </p:cNvPicPr>
          <p:nvPr/>
        </p:nvPicPr>
        <p:blipFill>
          <a:blip r:embed="rId3">
            <a:extLst>
              <a:ext uri="{28A0092B-C50C-407E-A947-70E740481C1C}">
                <a14:useLocalDpi xmlns:a14="http://schemas.microsoft.com/office/drawing/2010/main" val="0"/>
              </a:ext>
            </a:extLst>
          </a:blip>
          <a:srcRect l="66667" t="7961" b="75683"/>
          <a:stretch>
            <a:fillRect/>
          </a:stretch>
        </p:blipFill>
        <p:spPr>
          <a:xfrm>
            <a:off x="3595419" y="2270345"/>
            <a:ext cx="5243781" cy="1557349"/>
          </a:xfrm>
          <a:prstGeom prst="rect">
            <a:avLst/>
          </a:prstGeom>
          <a:ln>
            <a:solidFill>
              <a:schemeClr val="tx1"/>
            </a:solid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AAE24-4507-CD22-8A12-95FAD71D9A3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5095D7-4367-FB1E-29F2-6CCB529B48D3}"/>
              </a:ext>
            </a:extLst>
          </p:cNvPr>
          <p:cNvSpPr txBox="1"/>
          <p:nvPr/>
        </p:nvSpPr>
        <p:spPr>
          <a:xfrm>
            <a:off x="411480" y="182880"/>
            <a:ext cx="8321040" cy="1680460"/>
          </a:xfrm>
          <a:prstGeom prst="rect">
            <a:avLst/>
          </a:prstGeom>
          <a:noFill/>
        </p:spPr>
        <p:txBody>
          <a:bodyPr wrap="square" lIns="18288" tIns="9144" rIns="18288" bIns="9144" anchor="t">
            <a:spAutoFit/>
          </a:bodyPr>
          <a:lstStyle/>
          <a:p>
            <a:pPr algn="ctr"/>
            <a:r>
              <a:rPr lang="en-US" sz="3600" b="1" dirty="0">
                <a:solidFill>
                  <a:srgbClr val="002060"/>
                </a:solidFill>
                <a:latin typeface="+mj-lt"/>
                <a:ea typeface="+mj-ea"/>
                <a:cs typeface="+mj-cs"/>
              </a:rPr>
              <a:t>Catastrophic cases falls as effective coverage rises from where it is today to 100% coverage</a:t>
            </a:r>
          </a:p>
        </p:txBody>
      </p:sp>
      <p:sp>
        <p:nvSpPr>
          <p:cNvPr id="6" name="TextBox 5">
            <a:extLst>
              <a:ext uri="{FF2B5EF4-FFF2-40B4-BE49-F238E27FC236}">
                <a16:creationId xmlns:a16="http://schemas.microsoft.com/office/drawing/2014/main" id="{4CC9D84B-88CD-5EAE-45E0-8600E01A5212}"/>
              </a:ext>
            </a:extLst>
          </p:cNvPr>
          <p:cNvSpPr txBox="1"/>
          <p:nvPr/>
        </p:nvSpPr>
        <p:spPr>
          <a:xfrm>
            <a:off x="685800" y="6443246"/>
            <a:ext cx="8018398" cy="338554"/>
          </a:xfrm>
          <a:prstGeom prst="rect">
            <a:avLst/>
          </a:prstGeom>
          <a:noFill/>
        </p:spPr>
        <p:txBody>
          <a:bodyPr wrap="square" rtlCol="0">
            <a:spAutoFit/>
          </a:bodyPr>
          <a:lstStyle/>
          <a:p>
            <a:r>
              <a:rPr lang="en-US" sz="1600" dirty="0"/>
              <a:t>Note: Catastrophic health expenditure cases when OOP costs &gt; 10% of household expenditure</a:t>
            </a:r>
          </a:p>
        </p:txBody>
      </p:sp>
      <p:pic>
        <p:nvPicPr>
          <p:cNvPr id="8" name="Picture 7">
            <a:extLst>
              <a:ext uri="{FF2B5EF4-FFF2-40B4-BE49-F238E27FC236}">
                <a16:creationId xmlns:a16="http://schemas.microsoft.com/office/drawing/2014/main" id="{F36EB725-610B-8B84-0EF6-B84E5B668E65}"/>
              </a:ext>
            </a:extLst>
          </p:cNvPr>
          <p:cNvPicPr>
            <a:picLocks noChangeAspect="1"/>
          </p:cNvPicPr>
          <p:nvPr/>
        </p:nvPicPr>
        <p:blipFill>
          <a:blip r:embed="rId2">
            <a:extLst>
              <a:ext uri="{28A0092B-C50C-407E-A947-70E740481C1C}">
                <a14:useLocalDpi xmlns:a14="http://schemas.microsoft.com/office/drawing/2010/main" val="0"/>
              </a:ext>
            </a:extLst>
          </a:blip>
          <a:srcRect t="7384" b="5148"/>
          <a:stretch>
            <a:fillRect/>
          </a:stretch>
        </p:blipFill>
        <p:spPr>
          <a:xfrm>
            <a:off x="356065" y="1828800"/>
            <a:ext cx="8348133" cy="4419600"/>
          </a:xfrm>
          <a:prstGeom prst="rect">
            <a:avLst/>
          </a:prstGeom>
        </p:spPr>
      </p:pic>
    </p:spTree>
    <p:extLst>
      <p:ext uri="{BB962C8B-B14F-4D97-AF65-F5344CB8AC3E}">
        <p14:creationId xmlns:p14="http://schemas.microsoft.com/office/powerpoint/2010/main" val="15603547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13950-B30D-D892-8B46-477E43B988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BB5B91-C2E2-2508-C3AC-BDFD5433E03A}"/>
              </a:ext>
            </a:extLst>
          </p:cNvPr>
          <p:cNvSpPr txBox="1"/>
          <p:nvPr/>
        </p:nvSpPr>
        <p:spPr>
          <a:xfrm>
            <a:off x="411480" y="228600"/>
            <a:ext cx="8321040" cy="2234458"/>
          </a:xfrm>
          <a:prstGeom prst="rect">
            <a:avLst/>
          </a:prstGeom>
          <a:noFill/>
        </p:spPr>
        <p:txBody>
          <a:bodyPr wrap="square" lIns="18288" tIns="9144" rIns="18288" bIns="9144" anchor="t">
            <a:spAutoFit/>
          </a:bodyPr>
          <a:lstStyle/>
          <a:p>
            <a:pPr algn="ctr"/>
            <a:r>
              <a:rPr lang="en-US" sz="4000" b="1" dirty="0">
                <a:solidFill>
                  <a:srgbClr val="002060"/>
                </a:solidFill>
                <a:latin typeface="+mj-lt"/>
                <a:ea typeface="+mj-ea"/>
                <a:cs typeface="+mj-cs"/>
              </a:rPr>
              <a:t>Brief summary</a:t>
            </a:r>
            <a:r>
              <a:rPr lang="en-US" sz="4000" dirty="0">
                <a:solidFill>
                  <a:srgbClr val="002060"/>
                </a:solidFill>
                <a:latin typeface="+mj-lt"/>
                <a:ea typeface="+mj-ea"/>
                <a:cs typeface="+mj-cs"/>
              </a:rPr>
              <a:t>: Four scenarios and corresponding catastrophic health expenditure (CHE)</a:t>
            </a:r>
          </a:p>
          <a:p>
            <a:pPr algn="ctr"/>
            <a:r>
              <a:rPr lang="en-US" sz="2400" dirty="0">
                <a:solidFill>
                  <a:srgbClr val="002060"/>
                </a:solidFill>
                <a:latin typeface="+mj-lt"/>
                <a:ea typeface="+mj-ea"/>
                <a:cs typeface="+mj-cs"/>
              </a:rPr>
              <a:t>R</a:t>
            </a:r>
            <a:r>
              <a:rPr sz="2400" dirty="0">
                <a:solidFill>
                  <a:srgbClr val="002060"/>
                </a:solidFill>
                <a:latin typeface="+mj-lt"/>
                <a:ea typeface="+mj-ea"/>
                <a:cs typeface="+mj-cs"/>
              </a:rPr>
              <a:t>ais</a:t>
            </a:r>
            <a:r>
              <a:rPr lang="en-US" sz="2400" dirty="0">
                <a:solidFill>
                  <a:srgbClr val="002060"/>
                </a:solidFill>
                <a:latin typeface="+mj-lt"/>
                <a:ea typeface="+mj-ea"/>
                <a:cs typeface="+mj-cs"/>
              </a:rPr>
              <a:t>ing</a:t>
            </a:r>
            <a:r>
              <a:rPr sz="2400" dirty="0">
                <a:solidFill>
                  <a:srgbClr val="002060"/>
                </a:solidFill>
                <a:latin typeface="+mj-lt"/>
                <a:ea typeface="+mj-ea"/>
                <a:cs typeface="+mj-cs"/>
              </a:rPr>
              <a:t> </a:t>
            </a:r>
            <a:r>
              <a:rPr lang="en-US" sz="2400" dirty="0">
                <a:solidFill>
                  <a:srgbClr val="002060"/>
                </a:solidFill>
                <a:latin typeface="+mj-lt"/>
                <a:ea typeface="+mj-ea"/>
                <a:cs typeface="+mj-cs"/>
              </a:rPr>
              <a:t>coverage</a:t>
            </a:r>
            <a:r>
              <a:rPr sz="2400" dirty="0">
                <a:solidFill>
                  <a:srgbClr val="002060"/>
                </a:solidFill>
                <a:latin typeface="+mj-lt"/>
                <a:ea typeface="+mj-ea"/>
                <a:cs typeface="+mj-cs"/>
              </a:rPr>
              <a:t> toward </a:t>
            </a:r>
            <a:r>
              <a:rPr lang="en-US" sz="2400" dirty="0">
                <a:solidFill>
                  <a:srgbClr val="002060"/>
                </a:solidFill>
                <a:latin typeface="+mj-lt"/>
                <a:ea typeface="+mj-ea"/>
                <a:cs typeface="+mj-cs"/>
              </a:rPr>
              <a:t>original policy </a:t>
            </a:r>
            <a:r>
              <a:rPr sz="2400" dirty="0">
                <a:solidFill>
                  <a:srgbClr val="002060"/>
                </a:solidFill>
                <a:latin typeface="+mj-lt"/>
                <a:ea typeface="+mj-ea"/>
                <a:cs typeface="+mj-cs"/>
              </a:rPr>
              <a:t>design</a:t>
            </a:r>
            <a:endParaRPr lang="en-US" sz="2400" dirty="0">
              <a:solidFill>
                <a:srgbClr val="002060"/>
              </a:solidFill>
              <a:latin typeface="+mj-lt"/>
              <a:ea typeface="+mj-ea"/>
              <a:cs typeface="+mj-cs"/>
            </a:endParaRPr>
          </a:p>
        </p:txBody>
      </p:sp>
      <p:graphicFrame>
        <p:nvGraphicFramePr>
          <p:cNvPr id="4" name="Table 3">
            <a:extLst>
              <a:ext uri="{FF2B5EF4-FFF2-40B4-BE49-F238E27FC236}">
                <a16:creationId xmlns:a16="http://schemas.microsoft.com/office/drawing/2014/main" id="{AB009376-CA8A-B1AB-E96B-70926B71B931}"/>
              </a:ext>
            </a:extLst>
          </p:cNvPr>
          <p:cNvGraphicFramePr>
            <a:graphicFrameLocks noGrp="1"/>
          </p:cNvGraphicFramePr>
          <p:nvPr/>
        </p:nvGraphicFramePr>
        <p:xfrm>
          <a:off x="502920" y="2700265"/>
          <a:ext cx="8138160" cy="3145536"/>
        </p:xfrm>
        <a:graphic>
          <a:graphicData uri="http://schemas.openxmlformats.org/drawingml/2006/table">
            <a:tbl>
              <a:tblPr firstRow="1">
                <a:tableStyleId>{5940675A-B579-460E-94D1-54222C63F5DA}</a:tableStyleId>
              </a:tblPr>
              <a:tblGrid>
                <a:gridCol w="3529584">
                  <a:extLst>
                    <a:ext uri="{9D8B030D-6E8A-4147-A177-3AD203B41FA5}">
                      <a16:colId xmlns:a16="http://schemas.microsoft.com/office/drawing/2014/main" val="20000"/>
                    </a:ext>
                  </a:extLst>
                </a:gridCol>
                <a:gridCol w="1591056">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tblGrid>
              <a:tr h="475488">
                <a:tc>
                  <a:txBody>
                    <a:bodyPr/>
                    <a:lstStyle/>
                    <a:p>
                      <a:r>
                        <a:rPr sz="1800" b="1" dirty="0">
                          <a:solidFill>
                            <a:schemeClr val="tx1"/>
                          </a:solidFill>
                        </a:rPr>
                        <a:t>Scenario</a:t>
                      </a:r>
                      <a:endParaRPr sz="1800" b="1" dirty="0">
                        <a:solidFill>
                          <a:schemeClr val="tx1"/>
                        </a:solidFill>
                        <a:latin typeface="Calibri"/>
                      </a:endParaRPr>
                    </a:p>
                  </a:txBody>
                  <a:tcPr marL="64008" marR="64008" marT="18288" marB="18288" anchor="ctr"/>
                </a:tc>
                <a:tc>
                  <a:txBody>
                    <a:bodyPr/>
                    <a:lstStyle/>
                    <a:p>
                      <a:pPr algn="ctr"/>
                      <a:r>
                        <a:rPr lang="en-US" sz="1800" b="1" dirty="0">
                          <a:solidFill>
                            <a:schemeClr val="tx1"/>
                          </a:solidFill>
                        </a:rPr>
                        <a:t>National average c</a:t>
                      </a:r>
                      <a:r>
                        <a:rPr sz="1800" b="1" dirty="0">
                          <a:solidFill>
                            <a:schemeClr val="tx1"/>
                          </a:solidFill>
                        </a:rPr>
                        <a:t>overage
chronic / acute</a:t>
                      </a:r>
                      <a:endParaRPr sz="1800" b="1" dirty="0">
                        <a:solidFill>
                          <a:schemeClr val="tx1"/>
                        </a:solidFill>
                        <a:latin typeface="Calibri"/>
                      </a:endParaRPr>
                    </a:p>
                  </a:txBody>
                  <a:tcPr marL="64008" marR="64008" marT="18288" marB="18288" anchor="ctr"/>
                </a:tc>
                <a:tc>
                  <a:txBody>
                    <a:bodyPr/>
                    <a:lstStyle/>
                    <a:p>
                      <a:pPr algn="ctr"/>
                      <a:r>
                        <a:rPr sz="1800" b="1" dirty="0">
                          <a:solidFill>
                            <a:schemeClr val="tx1"/>
                          </a:solidFill>
                        </a:rPr>
                        <a:t>Chronic CHE
cases per year</a:t>
                      </a:r>
                      <a:endParaRPr sz="1800" b="1" dirty="0">
                        <a:solidFill>
                          <a:schemeClr val="tx1"/>
                        </a:solidFill>
                        <a:latin typeface="Calibri"/>
                      </a:endParaRPr>
                    </a:p>
                  </a:txBody>
                  <a:tcPr marL="64008" marR="64008" marT="18288" marB="18288" anchor="ctr"/>
                </a:tc>
                <a:tc>
                  <a:txBody>
                    <a:bodyPr/>
                    <a:lstStyle/>
                    <a:p>
                      <a:pPr algn="ctr"/>
                      <a:r>
                        <a:rPr sz="1800" b="1">
                          <a:solidFill>
                            <a:schemeClr val="tx1"/>
                          </a:solidFill>
                        </a:rPr>
                        <a:t>Acute CHE
cases per year</a:t>
                      </a:r>
                      <a:endParaRPr sz="1800" b="1">
                        <a:solidFill>
                          <a:schemeClr val="tx1"/>
                        </a:solidFill>
                        <a:latin typeface="Calibri"/>
                      </a:endParaRPr>
                    </a:p>
                  </a:txBody>
                  <a:tcPr marL="64008" marR="64008" marT="18288" marB="18288" anchor="ctr"/>
                </a:tc>
                <a:extLst>
                  <a:ext uri="{0D108BD9-81ED-4DB2-BD59-A6C34878D82A}">
                    <a16:rowId xmlns:a16="http://schemas.microsoft.com/office/drawing/2014/main" val="10000"/>
                  </a:ext>
                </a:extLst>
              </a:tr>
              <a:tr h="475488">
                <a:tc>
                  <a:txBody>
                    <a:bodyPr/>
                    <a:lstStyle/>
                    <a:p>
                      <a:r>
                        <a:rPr sz="1800" b="1" dirty="0">
                          <a:solidFill>
                            <a:schemeClr val="tx1"/>
                          </a:solidFill>
                        </a:rPr>
                        <a:t>S1.  Current coverage</a:t>
                      </a:r>
                      <a:endParaRPr sz="1800" b="1" dirty="0">
                        <a:solidFill>
                          <a:schemeClr val="tx1"/>
                        </a:solidFill>
                        <a:latin typeface="Calibri"/>
                      </a:endParaRPr>
                    </a:p>
                  </a:txBody>
                  <a:tcPr marL="64008" marR="64008" marT="18288" marB="18288" anchor="ctr"/>
                </a:tc>
                <a:tc>
                  <a:txBody>
                    <a:bodyPr/>
                    <a:lstStyle/>
                    <a:p>
                      <a:pPr algn="ctr"/>
                      <a:r>
                        <a:rPr sz="1800" b="0">
                          <a:solidFill>
                            <a:schemeClr val="tx1"/>
                          </a:solidFill>
                        </a:rPr>
                        <a:t>40%  /  54%</a:t>
                      </a:r>
                      <a:endParaRPr sz="1800" b="0">
                        <a:solidFill>
                          <a:schemeClr val="tx1"/>
                        </a:solidFill>
                        <a:latin typeface="Calibri"/>
                      </a:endParaRPr>
                    </a:p>
                  </a:txBody>
                  <a:tcPr marL="64008" marR="64008" marT="18288" marB="18288" anchor="ctr"/>
                </a:tc>
                <a:tc>
                  <a:txBody>
                    <a:bodyPr/>
                    <a:lstStyle/>
                    <a:p>
                      <a:pPr algn="ctr"/>
                      <a:r>
                        <a:rPr sz="1800" b="0">
                          <a:solidFill>
                            <a:schemeClr val="tx1"/>
                          </a:solidFill>
                        </a:rPr>
                        <a:t>1,316,821</a:t>
                      </a:r>
                      <a:endParaRPr sz="1800" b="0">
                        <a:solidFill>
                          <a:schemeClr val="tx1"/>
                        </a:solidFill>
                        <a:latin typeface="Calibri"/>
                      </a:endParaRPr>
                    </a:p>
                  </a:txBody>
                  <a:tcPr marL="64008" marR="64008" marT="18288" marB="18288" anchor="ctr"/>
                </a:tc>
                <a:tc>
                  <a:txBody>
                    <a:bodyPr/>
                    <a:lstStyle/>
                    <a:p>
                      <a:pPr algn="ctr"/>
                      <a:r>
                        <a:rPr sz="1800" b="0">
                          <a:solidFill>
                            <a:schemeClr val="tx1"/>
                          </a:solidFill>
                        </a:rPr>
                        <a:t>401,099</a:t>
                      </a:r>
                      <a:endParaRPr sz="1800" b="0">
                        <a:solidFill>
                          <a:schemeClr val="tx1"/>
                        </a:solidFill>
                        <a:latin typeface="Calibri"/>
                      </a:endParaRPr>
                    </a:p>
                  </a:txBody>
                  <a:tcPr marL="64008" marR="64008" marT="18288" marB="18288" anchor="ctr"/>
                </a:tc>
                <a:extLst>
                  <a:ext uri="{0D108BD9-81ED-4DB2-BD59-A6C34878D82A}">
                    <a16:rowId xmlns:a16="http://schemas.microsoft.com/office/drawing/2014/main" val="10001"/>
                  </a:ext>
                </a:extLst>
              </a:tr>
              <a:tr h="475488">
                <a:tc>
                  <a:txBody>
                    <a:bodyPr/>
                    <a:lstStyle/>
                    <a:p>
                      <a:r>
                        <a:rPr sz="1800" b="1" dirty="0">
                          <a:solidFill>
                            <a:schemeClr val="tx1"/>
                          </a:solidFill>
                        </a:rPr>
                        <a:t>S2.  One quarter of the gap closed</a:t>
                      </a:r>
                      <a:endParaRPr sz="1800" b="1" dirty="0">
                        <a:solidFill>
                          <a:schemeClr val="tx1"/>
                        </a:solidFill>
                        <a:latin typeface="Calibri"/>
                      </a:endParaRPr>
                    </a:p>
                  </a:txBody>
                  <a:tcPr marL="64008" marR="64008" marT="18288" marB="18288" anchor="ctr"/>
                </a:tc>
                <a:tc>
                  <a:txBody>
                    <a:bodyPr/>
                    <a:lstStyle/>
                    <a:p>
                      <a:pPr algn="ctr"/>
                      <a:r>
                        <a:rPr sz="1800" b="0">
                          <a:solidFill>
                            <a:schemeClr val="tx1"/>
                          </a:solidFill>
                        </a:rPr>
                        <a:t>53%  /  64%</a:t>
                      </a:r>
                      <a:endParaRPr sz="1800" b="0">
                        <a:solidFill>
                          <a:schemeClr val="tx1"/>
                        </a:solidFill>
                        <a:latin typeface="Calibri"/>
                      </a:endParaRPr>
                    </a:p>
                  </a:txBody>
                  <a:tcPr marL="64008" marR="64008" marT="18288" marB="18288" anchor="ctr"/>
                </a:tc>
                <a:tc>
                  <a:txBody>
                    <a:bodyPr/>
                    <a:lstStyle/>
                    <a:p>
                      <a:pPr algn="ctr"/>
                      <a:r>
                        <a:rPr sz="1800" b="0">
                          <a:solidFill>
                            <a:schemeClr val="tx1"/>
                          </a:solidFill>
                        </a:rPr>
                        <a:t>982,559</a:t>
                      </a:r>
                      <a:endParaRPr sz="1800" b="0">
                        <a:solidFill>
                          <a:schemeClr val="tx1"/>
                        </a:solidFill>
                        <a:latin typeface="Calibri"/>
                      </a:endParaRPr>
                    </a:p>
                  </a:txBody>
                  <a:tcPr marL="64008" marR="64008" marT="18288" marB="18288" anchor="ctr"/>
                </a:tc>
                <a:tc>
                  <a:txBody>
                    <a:bodyPr/>
                    <a:lstStyle/>
                    <a:p>
                      <a:pPr algn="ctr"/>
                      <a:r>
                        <a:rPr sz="1800" b="0">
                          <a:solidFill>
                            <a:schemeClr val="tx1"/>
                          </a:solidFill>
                        </a:rPr>
                        <a:t>248,508</a:t>
                      </a:r>
                      <a:endParaRPr sz="1800" b="0">
                        <a:solidFill>
                          <a:schemeClr val="tx1"/>
                        </a:solidFill>
                        <a:latin typeface="Calibri"/>
                      </a:endParaRPr>
                    </a:p>
                  </a:txBody>
                  <a:tcPr marL="64008" marR="64008" marT="18288" marB="18288" anchor="ctr"/>
                </a:tc>
                <a:extLst>
                  <a:ext uri="{0D108BD9-81ED-4DB2-BD59-A6C34878D82A}">
                    <a16:rowId xmlns:a16="http://schemas.microsoft.com/office/drawing/2014/main" val="10002"/>
                  </a:ext>
                </a:extLst>
              </a:tr>
              <a:tr h="475488">
                <a:tc>
                  <a:txBody>
                    <a:bodyPr/>
                    <a:lstStyle/>
                    <a:p>
                      <a:r>
                        <a:rPr sz="1800" b="1">
                          <a:solidFill>
                            <a:schemeClr val="tx1"/>
                          </a:solidFill>
                        </a:rPr>
                        <a:t>S3.  Half the gap closed</a:t>
                      </a:r>
                      <a:endParaRPr sz="1800" b="1">
                        <a:solidFill>
                          <a:schemeClr val="tx1"/>
                        </a:solidFill>
                        <a:latin typeface="Calibri"/>
                      </a:endParaRPr>
                    </a:p>
                  </a:txBody>
                  <a:tcPr marL="64008" marR="64008" marT="18288" marB="18288" anchor="ctr"/>
                </a:tc>
                <a:tc>
                  <a:txBody>
                    <a:bodyPr/>
                    <a:lstStyle/>
                    <a:p>
                      <a:pPr algn="ctr"/>
                      <a:r>
                        <a:rPr sz="1800" b="0">
                          <a:solidFill>
                            <a:schemeClr val="tx1"/>
                          </a:solidFill>
                        </a:rPr>
                        <a:t>67%  /  75%</a:t>
                      </a:r>
                      <a:endParaRPr sz="1800" b="0">
                        <a:solidFill>
                          <a:schemeClr val="tx1"/>
                        </a:solidFill>
                        <a:latin typeface="Calibri"/>
                      </a:endParaRPr>
                    </a:p>
                  </a:txBody>
                  <a:tcPr marL="64008" marR="64008" marT="18288" marB="18288" anchor="ctr"/>
                </a:tc>
                <a:tc>
                  <a:txBody>
                    <a:bodyPr/>
                    <a:lstStyle/>
                    <a:p>
                      <a:pPr algn="ctr"/>
                      <a:r>
                        <a:rPr sz="1800" b="0" dirty="0">
                          <a:solidFill>
                            <a:schemeClr val="tx1"/>
                          </a:solidFill>
                        </a:rPr>
                        <a:t>652,988</a:t>
                      </a:r>
                      <a:endParaRPr sz="1800" b="0" dirty="0">
                        <a:solidFill>
                          <a:schemeClr val="tx1"/>
                        </a:solidFill>
                        <a:latin typeface="Calibri"/>
                      </a:endParaRPr>
                    </a:p>
                  </a:txBody>
                  <a:tcPr marL="64008" marR="64008" marT="18288" marB="18288" anchor="ctr"/>
                </a:tc>
                <a:tc>
                  <a:txBody>
                    <a:bodyPr/>
                    <a:lstStyle/>
                    <a:p>
                      <a:pPr algn="ctr"/>
                      <a:r>
                        <a:rPr sz="1800" b="0">
                          <a:solidFill>
                            <a:schemeClr val="tx1"/>
                          </a:solidFill>
                        </a:rPr>
                        <a:t>133,623</a:t>
                      </a:r>
                      <a:endParaRPr sz="1800" b="0">
                        <a:solidFill>
                          <a:schemeClr val="tx1"/>
                        </a:solidFill>
                        <a:latin typeface="Calibri"/>
                      </a:endParaRPr>
                    </a:p>
                  </a:txBody>
                  <a:tcPr marL="64008" marR="64008" marT="18288" marB="18288" anchor="ctr"/>
                </a:tc>
                <a:extLst>
                  <a:ext uri="{0D108BD9-81ED-4DB2-BD59-A6C34878D82A}">
                    <a16:rowId xmlns:a16="http://schemas.microsoft.com/office/drawing/2014/main" val="10003"/>
                  </a:ext>
                </a:extLst>
              </a:tr>
              <a:tr h="475488">
                <a:tc>
                  <a:txBody>
                    <a:bodyPr/>
                    <a:lstStyle/>
                    <a:p>
                      <a:r>
                        <a:rPr sz="1800" b="1" dirty="0">
                          <a:solidFill>
                            <a:schemeClr val="tx1"/>
                          </a:solidFill>
                        </a:rPr>
                        <a:t>S4.  Policy design</a:t>
                      </a:r>
                      <a:r>
                        <a:rPr lang="en-US" sz="1800" b="1" dirty="0">
                          <a:solidFill>
                            <a:schemeClr val="tx1"/>
                          </a:solidFill>
                        </a:rPr>
                        <a:t>:</a:t>
                      </a:r>
                      <a:r>
                        <a:rPr sz="1800" b="1" dirty="0">
                          <a:solidFill>
                            <a:schemeClr val="tx1"/>
                          </a:solidFill>
                        </a:rPr>
                        <a:t> </a:t>
                      </a:r>
                      <a:r>
                        <a:rPr lang="en-US" sz="1800" b="1" dirty="0">
                          <a:solidFill>
                            <a:schemeClr val="tx1"/>
                          </a:solidFill>
                        </a:rPr>
                        <a:t>coverage</a:t>
                      </a:r>
                      <a:r>
                        <a:rPr sz="1800" b="1" dirty="0">
                          <a:solidFill>
                            <a:schemeClr val="tx1"/>
                          </a:solidFill>
                        </a:rPr>
                        <a:t> fully delivered</a:t>
                      </a:r>
                      <a:endParaRPr sz="1800" b="1" dirty="0">
                        <a:solidFill>
                          <a:schemeClr val="tx1"/>
                        </a:solidFill>
                        <a:latin typeface="Calibri"/>
                      </a:endParaRPr>
                    </a:p>
                  </a:txBody>
                  <a:tcPr marL="64008" marR="64008" marT="18288" marB="18288" anchor="ctr"/>
                </a:tc>
                <a:tc>
                  <a:txBody>
                    <a:bodyPr/>
                    <a:lstStyle/>
                    <a:p>
                      <a:pPr algn="ctr"/>
                      <a:r>
                        <a:rPr sz="1800" b="0" dirty="0">
                          <a:solidFill>
                            <a:schemeClr val="tx1"/>
                          </a:solidFill>
                        </a:rPr>
                        <a:t>100%  /  100%</a:t>
                      </a:r>
                      <a:endParaRPr sz="1800" b="0" dirty="0">
                        <a:solidFill>
                          <a:schemeClr val="tx1"/>
                        </a:solidFill>
                        <a:latin typeface="Calibri"/>
                      </a:endParaRPr>
                    </a:p>
                  </a:txBody>
                  <a:tcPr marL="64008" marR="64008" marT="18288" marB="18288" anchor="ctr"/>
                </a:tc>
                <a:tc>
                  <a:txBody>
                    <a:bodyPr/>
                    <a:lstStyle/>
                    <a:p>
                      <a:pPr algn="ctr"/>
                      <a:r>
                        <a:rPr sz="1800" b="0">
                          <a:solidFill>
                            <a:schemeClr val="tx1"/>
                          </a:solidFill>
                        </a:rPr>
                        <a:t>0</a:t>
                      </a:r>
                      <a:endParaRPr sz="1800" b="0">
                        <a:solidFill>
                          <a:schemeClr val="tx1"/>
                        </a:solidFill>
                        <a:latin typeface="Calibri"/>
                      </a:endParaRPr>
                    </a:p>
                  </a:txBody>
                  <a:tcPr marL="64008" marR="64008" marT="18288" marB="18288" anchor="ctr"/>
                </a:tc>
                <a:tc>
                  <a:txBody>
                    <a:bodyPr/>
                    <a:lstStyle/>
                    <a:p>
                      <a:pPr algn="ctr"/>
                      <a:r>
                        <a:rPr sz="1800" b="0" dirty="0">
                          <a:solidFill>
                            <a:schemeClr val="tx1"/>
                          </a:solidFill>
                        </a:rPr>
                        <a:t>0</a:t>
                      </a:r>
                      <a:endParaRPr sz="1800" b="0" dirty="0">
                        <a:solidFill>
                          <a:schemeClr val="tx1"/>
                        </a:solidFill>
                        <a:latin typeface="Calibri"/>
                      </a:endParaRPr>
                    </a:p>
                  </a:txBody>
                  <a:tcPr marL="64008" marR="64008" marT="18288" marB="18288" anchor="ctr"/>
                </a:tc>
                <a:extLst>
                  <a:ext uri="{0D108BD9-81ED-4DB2-BD59-A6C34878D82A}">
                    <a16:rowId xmlns:a16="http://schemas.microsoft.com/office/drawing/2014/main" val="10004"/>
                  </a:ext>
                </a:extLst>
              </a:tr>
            </a:tbl>
          </a:graphicData>
        </a:graphic>
      </p:graphicFrame>
      <p:sp>
        <p:nvSpPr>
          <p:cNvPr id="6" name="TextBox 5">
            <a:extLst>
              <a:ext uri="{FF2B5EF4-FFF2-40B4-BE49-F238E27FC236}">
                <a16:creationId xmlns:a16="http://schemas.microsoft.com/office/drawing/2014/main" id="{CBF86130-7BBF-CF57-6E7F-F729B131EA37}"/>
              </a:ext>
            </a:extLst>
          </p:cNvPr>
          <p:cNvSpPr txBox="1"/>
          <p:nvPr/>
        </p:nvSpPr>
        <p:spPr>
          <a:xfrm>
            <a:off x="670560" y="6019800"/>
            <a:ext cx="7863840" cy="695575"/>
          </a:xfrm>
          <a:prstGeom prst="rect">
            <a:avLst/>
          </a:prstGeom>
          <a:noFill/>
        </p:spPr>
        <p:txBody>
          <a:bodyPr wrap="square" lIns="18288" tIns="9144" rIns="18288" bIns="9144" anchor="t">
            <a:spAutoFit/>
          </a:bodyPr>
          <a:lstStyle/>
          <a:p>
            <a:pPr algn="l">
              <a:spcBef>
                <a:spcPts val="300"/>
              </a:spcBef>
            </a:pPr>
            <a:r>
              <a:rPr lang="en-US" sz="2200" b="1" i="0" dirty="0">
                <a:latin typeface="Calibri"/>
              </a:rPr>
              <a:t>Note: </a:t>
            </a:r>
            <a:r>
              <a:rPr sz="2200" b="0" i="0" dirty="0">
                <a:latin typeface="Calibri"/>
              </a:rPr>
              <a:t>C</a:t>
            </a:r>
            <a:r>
              <a:rPr lang="en-US" sz="2200" b="0" i="0" dirty="0">
                <a:latin typeface="Calibri"/>
              </a:rPr>
              <a:t>HE c</a:t>
            </a:r>
            <a:r>
              <a:rPr sz="2200" b="0" i="0" dirty="0">
                <a:latin typeface="Calibri"/>
              </a:rPr>
              <a:t>ases per year at </a:t>
            </a:r>
            <a:r>
              <a:rPr lang="en-US" sz="2200" dirty="0">
                <a:latin typeface="Calibri"/>
              </a:rPr>
              <a:t>a</a:t>
            </a:r>
            <a:r>
              <a:rPr sz="2200" b="0" i="0" dirty="0">
                <a:latin typeface="Calibri"/>
              </a:rPr>
              <a:t> 10% threshold</a:t>
            </a:r>
            <a:r>
              <a:rPr lang="en-US" sz="2200" dirty="0">
                <a:latin typeface="Calibri"/>
              </a:rPr>
              <a:t> of annual consumption expenditures</a:t>
            </a:r>
            <a:endParaRPr sz="2200" b="0" i="0" dirty="0">
              <a:latin typeface="Calibri"/>
            </a:endParaRPr>
          </a:p>
        </p:txBody>
      </p:sp>
    </p:spTree>
    <p:extLst>
      <p:ext uri="{BB962C8B-B14F-4D97-AF65-F5344CB8AC3E}">
        <p14:creationId xmlns:p14="http://schemas.microsoft.com/office/powerpoint/2010/main" val="1539855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7C00C-B69F-4C00-8EE8-74864503FD9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CD423F-4074-A449-296F-6D87592EC85B}"/>
              </a:ext>
            </a:extLst>
          </p:cNvPr>
          <p:cNvSpPr>
            <a:spLocks noGrp="1"/>
          </p:cNvSpPr>
          <p:nvPr>
            <p:ph idx="1"/>
          </p:nvPr>
        </p:nvSpPr>
        <p:spPr>
          <a:xfrm>
            <a:off x="457200" y="2667000"/>
            <a:ext cx="8229600" cy="1523999"/>
          </a:xfrm>
        </p:spPr>
        <p:txBody>
          <a:bodyPr>
            <a:noAutofit/>
          </a:bodyPr>
          <a:lstStyle/>
          <a:p>
            <a:pPr marL="0" indent="0" algn="ctr">
              <a:buNone/>
            </a:pPr>
            <a:r>
              <a:rPr lang="en-US" sz="4000" b="1" dirty="0">
                <a:solidFill>
                  <a:srgbClr val="002060"/>
                </a:solidFill>
              </a:rPr>
              <a:t>Message 4</a:t>
            </a:r>
            <a:r>
              <a:rPr lang="en-US" sz="4000" dirty="0">
                <a:solidFill>
                  <a:srgbClr val="002060"/>
                </a:solidFill>
              </a:rPr>
              <a:t>. Tobacco tax hikes bring large mortality reduction, pro-poor impact, &amp; large fiscal revenues</a:t>
            </a:r>
          </a:p>
        </p:txBody>
      </p:sp>
    </p:spTree>
    <p:extLst>
      <p:ext uri="{BB962C8B-B14F-4D97-AF65-F5344CB8AC3E}">
        <p14:creationId xmlns:p14="http://schemas.microsoft.com/office/powerpoint/2010/main" val="36709037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A5412-1504-A191-41E1-825D8A378CC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1DAE6D8-4002-1505-B132-EE6C37AB651C}"/>
              </a:ext>
            </a:extLst>
          </p:cNvPr>
          <p:cNvSpPr>
            <a:spLocks noGrp="1"/>
          </p:cNvSpPr>
          <p:nvPr>
            <p:ph sz="quarter" idx="13"/>
          </p:nvPr>
        </p:nvSpPr>
        <p:spPr>
          <a:xfrm>
            <a:off x="340218" y="3028525"/>
            <a:ext cx="8498981" cy="3372275"/>
          </a:xfrm>
        </p:spPr>
        <p:txBody>
          <a:bodyPr>
            <a:noAutofit/>
          </a:bodyPr>
          <a:lstStyle/>
          <a:p>
            <a:pPr marL="0" indent="0">
              <a:buNone/>
            </a:pPr>
            <a:r>
              <a:rPr lang="en-US" sz="2600" b="1" u="sng" dirty="0">
                <a:latin typeface="Calibri" panose="020F0502020204030204" pitchFamily="34" charset="0"/>
                <a:cs typeface="Calibri" panose="020F0502020204030204" pitchFamily="34" charset="0"/>
              </a:rPr>
              <a:t>Objective</a:t>
            </a:r>
            <a:r>
              <a:rPr lang="en-US" sz="2600" b="1" dirty="0">
                <a:latin typeface="Calibri" panose="020F0502020204030204" pitchFamily="34" charset="0"/>
                <a:cs typeface="Calibri" panose="020F0502020204030204" pitchFamily="34" charset="0"/>
              </a:rPr>
              <a:t>: To estimate the health gains, financial risk protection benefits, and fiscal revenues raised with different scenarios of increased tobacco taxes</a:t>
            </a:r>
          </a:p>
          <a:p>
            <a:r>
              <a:rPr lang="en-US" sz="2600" dirty="0">
                <a:latin typeface="Calibri" panose="020F0502020204030204" pitchFamily="34" charset="0"/>
                <a:cs typeface="Calibri" panose="020F0502020204030204" pitchFamily="34" charset="0"/>
              </a:rPr>
              <a:t>We assess the impact on mortality reduction, on reducing the number of cases of catastrophic health expenditures associated with out-of-pocket costs related to treatment of tobacco-related diseases, and the revenues raised</a:t>
            </a:r>
          </a:p>
          <a:p>
            <a:endParaRPr lang="en-US" sz="2200" dirty="0">
              <a:solidFill>
                <a:srgbClr val="002060"/>
              </a:solidFill>
              <a:latin typeface="Calibri" panose="020F0502020204030204" pitchFamily="34" charset="0"/>
              <a:cs typeface="Calibri" panose="020F0502020204030204" pitchFamily="34" charset="0"/>
            </a:endParaRPr>
          </a:p>
        </p:txBody>
      </p:sp>
      <p:sp>
        <p:nvSpPr>
          <p:cNvPr id="5" name="Text Placeholder 1">
            <a:extLst>
              <a:ext uri="{FF2B5EF4-FFF2-40B4-BE49-F238E27FC236}">
                <a16:creationId xmlns:a16="http://schemas.microsoft.com/office/drawing/2014/main" id="{CCC0DA87-578B-F359-CB39-CCE24B3E2139}"/>
              </a:ext>
            </a:extLst>
          </p:cNvPr>
          <p:cNvSpPr>
            <a:spLocks noGrp="1"/>
          </p:cNvSpPr>
          <p:nvPr>
            <p:ph type="body" sz="quarter" idx="12"/>
          </p:nvPr>
        </p:nvSpPr>
        <p:spPr>
          <a:xfrm>
            <a:off x="510594" y="1321303"/>
            <a:ext cx="8176206" cy="431297"/>
          </a:xfrm>
        </p:spPr>
        <p:txBody>
          <a:bodyPr>
            <a:noAutofit/>
          </a:bodyPr>
          <a:lstStyle/>
          <a:p>
            <a:pPr marL="0" indent="0" algn="ctr">
              <a:buNone/>
            </a:pPr>
            <a:r>
              <a:rPr lang="en-US" sz="3600" b="1" dirty="0">
                <a:solidFill>
                  <a:srgbClr val="002060"/>
                </a:solidFill>
              </a:rPr>
              <a:t>question: </a:t>
            </a:r>
            <a:r>
              <a:rPr lang="en-US" sz="3600" dirty="0">
                <a:solidFill>
                  <a:srgbClr val="002060"/>
                </a:solidFill>
              </a:rPr>
              <a:t>What are the health and financial consequences of increased tobacco taxes in Indonesia?</a:t>
            </a:r>
          </a:p>
        </p:txBody>
      </p:sp>
      <p:sp>
        <p:nvSpPr>
          <p:cNvPr id="8" name="Content Placeholder 3">
            <a:extLst>
              <a:ext uri="{FF2B5EF4-FFF2-40B4-BE49-F238E27FC236}">
                <a16:creationId xmlns:a16="http://schemas.microsoft.com/office/drawing/2014/main" id="{56031C42-A509-3706-7F2B-9D201C906E3C}"/>
              </a:ext>
            </a:extLst>
          </p:cNvPr>
          <p:cNvSpPr txBox="1">
            <a:spLocks/>
          </p:cNvSpPr>
          <p:nvPr/>
        </p:nvSpPr>
        <p:spPr>
          <a:xfrm>
            <a:off x="756997" y="5194641"/>
            <a:ext cx="7753411" cy="595719"/>
          </a:xfrm>
          <a:prstGeom prst="rect">
            <a:avLst/>
          </a:prstGeom>
        </p:spPr>
        <p:txBody>
          <a:bodyPr vert="horz" lIns="34299" tIns="17149" rIns="34299" bIns="17149" rtlCol="0">
            <a:norm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endParaRPr lang="en-US" sz="1500" b="1" dirty="0">
              <a:latin typeface="Arial" panose="020B0604020202020204" pitchFamily="34" charset="0"/>
              <a:ea typeface="Times New Roman" panose="02020603050405020304" pitchFamily="18" charset="0"/>
              <a:cs typeface="Arial" panose="020B0604020202020204" pitchFamily="34" charset="0"/>
            </a:endParaRPr>
          </a:p>
        </p:txBody>
      </p:sp>
      <p:sp>
        <p:nvSpPr>
          <p:cNvPr id="2" name="TextBox 1">
            <a:extLst>
              <a:ext uri="{FF2B5EF4-FFF2-40B4-BE49-F238E27FC236}">
                <a16:creationId xmlns:a16="http://schemas.microsoft.com/office/drawing/2014/main" id="{10F189BB-157D-8BC6-3512-E2766A4A6ADD}"/>
              </a:ext>
            </a:extLst>
          </p:cNvPr>
          <p:cNvSpPr txBox="1"/>
          <p:nvPr/>
        </p:nvSpPr>
        <p:spPr>
          <a:xfrm>
            <a:off x="304801" y="6248401"/>
            <a:ext cx="8686799" cy="353943"/>
          </a:xfrm>
          <a:prstGeom prst="rect">
            <a:avLst/>
          </a:prstGeom>
          <a:noFill/>
        </p:spPr>
        <p:txBody>
          <a:bodyPr wrap="square" rtlCol="0">
            <a:spAutoFit/>
          </a:bodyPr>
          <a:lstStyle/>
          <a:p>
            <a:pPr algn="ctr"/>
            <a:r>
              <a:rPr lang="en-US" sz="1700" dirty="0">
                <a:solidFill>
                  <a:srgbClr val="000000"/>
                </a:solidFill>
              </a:rPr>
              <a:t>Adapted from: </a:t>
            </a:r>
            <a:r>
              <a:rPr lang="en-US" sz="1700" dirty="0" err="1">
                <a:solidFill>
                  <a:srgbClr val="000000"/>
                </a:solidFill>
              </a:rPr>
              <a:t>Lisus</a:t>
            </a:r>
            <a:r>
              <a:rPr lang="en-US" sz="1700" dirty="0">
                <a:solidFill>
                  <a:srgbClr val="000000"/>
                </a:solidFill>
              </a:rPr>
              <a:t>, Roy, et al. </a:t>
            </a:r>
            <a:r>
              <a:rPr lang="en-US" sz="1700" i="1" dirty="0">
                <a:solidFill>
                  <a:srgbClr val="000000"/>
                </a:solidFill>
              </a:rPr>
              <a:t>Forthcoming; </a:t>
            </a:r>
            <a:r>
              <a:rPr lang="en-US" sz="1700" dirty="0">
                <a:solidFill>
                  <a:srgbClr val="000000"/>
                </a:solidFill>
              </a:rPr>
              <a:t>Verguet, Gauvreau et al. </a:t>
            </a:r>
            <a:r>
              <a:rPr lang="en-US" sz="1700" i="1" dirty="0">
                <a:solidFill>
                  <a:srgbClr val="000000"/>
                </a:solidFill>
              </a:rPr>
              <a:t>Lancet Global Health </a:t>
            </a:r>
            <a:r>
              <a:rPr lang="en-US" sz="1700" dirty="0">
                <a:solidFill>
                  <a:srgbClr val="000000"/>
                </a:solidFill>
              </a:rPr>
              <a:t>2015</a:t>
            </a:r>
          </a:p>
        </p:txBody>
      </p:sp>
    </p:spTree>
    <p:extLst>
      <p:ext uri="{BB962C8B-B14F-4D97-AF65-F5344CB8AC3E}">
        <p14:creationId xmlns:p14="http://schemas.microsoft.com/office/powerpoint/2010/main" val="4530366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304800" y="1335024"/>
            <a:ext cx="2514600" cy="1316736"/>
          </a:xfrm>
          <a:prstGeom prst="roundRect">
            <a:avLst>
              <a:gd name="adj" fmla="val 6000"/>
            </a:avLst>
          </a:prstGeom>
          <a:solidFill>
            <a:srgbClr val="EDF1F7"/>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36576" rtlCol="0" anchor="t"/>
          <a:lstStyle/>
          <a:p>
            <a:pPr algn="l"/>
            <a:r>
              <a:rPr sz="1400" b="1" i="0" dirty="0">
                <a:solidFill>
                  <a:srgbClr val="002060"/>
                </a:solidFill>
                <a:latin typeface="Calibri"/>
              </a:rPr>
              <a:t>WHO SMOKES</a:t>
            </a:r>
          </a:p>
          <a:p>
            <a:pPr algn="l">
              <a:spcBef>
                <a:spcPts val="300"/>
              </a:spcBef>
            </a:pPr>
            <a:r>
              <a:rPr b="1" i="0" dirty="0">
                <a:solidFill>
                  <a:srgbClr val="262626"/>
                </a:solidFill>
                <a:latin typeface="Calibri"/>
              </a:rPr>
              <a:t>62.8M smokers</a:t>
            </a:r>
          </a:p>
          <a:p>
            <a:pPr algn="l">
              <a:spcBef>
                <a:spcPts val="400"/>
              </a:spcBef>
            </a:pPr>
            <a:r>
              <a:rPr sz="1600" b="0" i="0" dirty="0">
                <a:solidFill>
                  <a:schemeClr val="tx1"/>
                </a:solidFill>
                <a:latin typeface="Calibri"/>
              </a:rPr>
              <a:t>aged 15+, split by quintile, age and sex  (SKI 2023)</a:t>
            </a:r>
          </a:p>
        </p:txBody>
      </p:sp>
      <p:sp>
        <p:nvSpPr>
          <p:cNvPr id="5" name="Rounded Rectangle 4"/>
          <p:cNvSpPr/>
          <p:nvPr/>
        </p:nvSpPr>
        <p:spPr>
          <a:xfrm>
            <a:off x="2014728" y="1225295"/>
            <a:ext cx="731520" cy="219456"/>
          </a:xfrm>
          <a:prstGeom prst="roundRect">
            <a:avLst>
              <a:gd name="adj" fmla="val 3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200" b="1" i="0" dirty="0">
                <a:solidFill>
                  <a:srgbClr val="FFFFFF"/>
                </a:solidFill>
                <a:latin typeface="Calibri"/>
              </a:rPr>
              <a:t>INPUT 1</a:t>
            </a:r>
          </a:p>
        </p:txBody>
      </p:sp>
      <p:sp>
        <p:nvSpPr>
          <p:cNvPr id="6" name="Right Arrow 5"/>
          <p:cNvSpPr/>
          <p:nvPr/>
        </p:nvSpPr>
        <p:spPr>
          <a:xfrm>
            <a:off x="2869692" y="1792224"/>
            <a:ext cx="196596" cy="219456"/>
          </a:xfrm>
          <a:prstGeom prst="right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116579" y="1335023"/>
            <a:ext cx="2884935" cy="1316735"/>
          </a:xfrm>
          <a:prstGeom prst="roundRect">
            <a:avLst>
              <a:gd name="adj" fmla="val 6000"/>
            </a:avLst>
          </a:prstGeom>
          <a:solidFill>
            <a:srgbClr val="EDF1F7"/>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36576" rtlCol="0" anchor="t"/>
          <a:lstStyle/>
          <a:p>
            <a:pPr algn="l"/>
            <a:r>
              <a:rPr sz="1400" b="1" i="0" dirty="0">
                <a:solidFill>
                  <a:srgbClr val="002060"/>
                </a:solidFill>
                <a:latin typeface="Calibri"/>
              </a:rPr>
              <a:t>TAX → PRICE</a:t>
            </a:r>
          </a:p>
          <a:p>
            <a:pPr>
              <a:spcBef>
                <a:spcPts val="300"/>
              </a:spcBef>
            </a:pPr>
            <a:r>
              <a:rPr b="1" i="0" dirty="0">
                <a:solidFill>
                  <a:srgbClr val="262626"/>
                </a:solidFill>
                <a:latin typeface="Calibri"/>
              </a:rPr>
              <a:t>+50% excise </a:t>
            </a:r>
            <a:r>
              <a:rPr lang="en-US" b="1" i="0" dirty="0">
                <a:solidFill>
                  <a:srgbClr val="262626"/>
                </a:solidFill>
                <a:latin typeface="Calibri"/>
              </a:rPr>
              <a:t>→ </a:t>
            </a:r>
            <a:r>
              <a:rPr b="1" i="0" dirty="0">
                <a:solidFill>
                  <a:srgbClr val="262626"/>
                </a:solidFill>
                <a:latin typeface="Calibri"/>
              </a:rPr>
              <a:t>+19% price</a:t>
            </a:r>
          </a:p>
          <a:p>
            <a:pPr algn="l">
              <a:spcBef>
                <a:spcPts val="400"/>
              </a:spcBef>
            </a:pPr>
            <a:r>
              <a:rPr lang="en-US" sz="1600" b="0" i="0" dirty="0">
                <a:solidFill>
                  <a:schemeClr val="tx1"/>
                </a:solidFill>
                <a:latin typeface="Calibri"/>
              </a:rPr>
              <a:t>Currently </a:t>
            </a:r>
            <a:r>
              <a:rPr sz="1600" b="0" i="0" dirty="0">
                <a:solidFill>
                  <a:schemeClr val="tx1"/>
                </a:solidFill>
                <a:latin typeface="Calibri"/>
              </a:rPr>
              <a:t>excise</a:t>
            </a:r>
            <a:r>
              <a:rPr lang="en-US" sz="1600" b="0" i="0" dirty="0">
                <a:solidFill>
                  <a:schemeClr val="tx1"/>
                </a:solidFill>
                <a:latin typeface="Calibri"/>
              </a:rPr>
              <a:t> tax</a:t>
            </a:r>
            <a:r>
              <a:rPr sz="1600" b="0" i="0" dirty="0">
                <a:solidFill>
                  <a:schemeClr val="tx1"/>
                </a:solidFill>
                <a:latin typeface="Calibri"/>
              </a:rPr>
              <a:t> is 38% of the retail price</a:t>
            </a:r>
            <a:r>
              <a:rPr lang="en-US" sz="1600" b="0" i="0" dirty="0">
                <a:solidFill>
                  <a:schemeClr val="tx1"/>
                </a:solidFill>
                <a:latin typeface="Calibri"/>
              </a:rPr>
              <a:t> of cigarettes</a:t>
            </a:r>
            <a:endParaRPr sz="1600" b="0" i="0" dirty="0">
              <a:solidFill>
                <a:schemeClr val="tx1"/>
              </a:solidFill>
              <a:latin typeface="Calibri"/>
            </a:endParaRPr>
          </a:p>
        </p:txBody>
      </p:sp>
      <p:sp>
        <p:nvSpPr>
          <p:cNvPr id="8" name="Rounded Rectangle 7"/>
          <p:cNvSpPr/>
          <p:nvPr/>
        </p:nvSpPr>
        <p:spPr>
          <a:xfrm>
            <a:off x="5136642" y="1236042"/>
            <a:ext cx="731520" cy="219456"/>
          </a:xfrm>
          <a:prstGeom prst="roundRect">
            <a:avLst>
              <a:gd name="adj" fmla="val 3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200" b="1" i="0">
                <a:solidFill>
                  <a:srgbClr val="FFFFFF"/>
                </a:solidFill>
                <a:latin typeface="Calibri"/>
              </a:rPr>
              <a:t>INPUT 2</a:t>
            </a:r>
          </a:p>
        </p:txBody>
      </p:sp>
      <p:sp>
        <p:nvSpPr>
          <p:cNvPr id="9" name="Right Arrow 8"/>
          <p:cNvSpPr/>
          <p:nvPr/>
        </p:nvSpPr>
        <p:spPr>
          <a:xfrm>
            <a:off x="6050280" y="1792224"/>
            <a:ext cx="196596" cy="219456"/>
          </a:xfrm>
          <a:prstGeom prst="right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297168" y="1335024"/>
            <a:ext cx="2514600" cy="1316734"/>
          </a:xfrm>
          <a:prstGeom prst="roundRect">
            <a:avLst>
              <a:gd name="adj" fmla="val 6000"/>
            </a:avLst>
          </a:prstGeom>
          <a:solidFill>
            <a:srgbClr val="EDF1F7"/>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36576" rtlCol="0" anchor="t"/>
          <a:lstStyle/>
          <a:p>
            <a:pPr algn="l"/>
            <a:r>
              <a:rPr sz="1400" b="1" i="0" dirty="0">
                <a:solidFill>
                  <a:srgbClr val="002060"/>
                </a:solidFill>
                <a:latin typeface="Calibri"/>
              </a:rPr>
              <a:t>HOW SMOKERS RESPOND</a:t>
            </a:r>
          </a:p>
          <a:p>
            <a:pPr algn="l">
              <a:spcBef>
                <a:spcPts val="300"/>
              </a:spcBef>
            </a:pPr>
            <a:r>
              <a:rPr b="1" i="0" dirty="0">
                <a:solidFill>
                  <a:srgbClr val="262626"/>
                </a:solidFill>
                <a:latin typeface="Calibri"/>
              </a:rPr>
              <a:t>Two </a:t>
            </a:r>
            <a:r>
              <a:rPr lang="en-US" b="1" i="0" dirty="0">
                <a:solidFill>
                  <a:srgbClr val="262626"/>
                </a:solidFill>
                <a:latin typeface="Calibri"/>
              </a:rPr>
              <a:t>response</a:t>
            </a:r>
            <a:r>
              <a:rPr b="1" i="0" dirty="0">
                <a:solidFill>
                  <a:srgbClr val="262626"/>
                </a:solidFill>
                <a:latin typeface="Calibri"/>
              </a:rPr>
              <a:t>s</a:t>
            </a:r>
          </a:p>
          <a:p>
            <a:pPr algn="l">
              <a:spcBef>
                <a:spcPts val="400"/>
              </a:spcBef>
            </a:pPr>
            <a:r>
              <a:rPr lang="en-US" sz="1600" dirty="0">
                <a:solidFill>
                  <a:schemeClr val="tx1"/>
                </a:solidFill>
                <a:latin typeface="Calibri"/>
              </a:rPr>
              <a:t>P</a:t>
            </a:r>
            <a:r>
              <a:rPr lang="en-US" sz="1600" b="0" i="0" dirty="0">
                <a:solidFill>
                  <a:schemeClr val="tx1"/>
                </a:solidFill>
                <a:latin typeface="Calibri"/>
              </a:rPr>
              <a:t>rice </a:t>
            </a:r>
            <a:r>
              <a:rPr sz="1600" b="0" i="0" dirty="0">
                <a:solidFill>
                  <a:schemeClr val="tx1"/>
                </a:solidFill>
                <a:latin typeface="Calibri"/>
              </a:rPr>
              <a:t>elasticities, by age </a:t>
            </a:r>
            <a:r>
              <a:rPr lang="en-US" sz="1600" b="0" i="0" dirty="0">
                <a:solidFill>
                  <a:schemeClr val="tx1"/>
                </a:solidFill>
                <a:latin typeface="Calibri"/>
              </a:rPr>
              <a:t>and income </a:t>
            </a:r>
            <a:r>
              <a:rPr sz="1600" b="0" i="0" dirty="0">
                <a:solidFill>
                  <a:schemeClr val="tx1"/>
                </a:solidFill>
                <a:latin typeface="Calibri"/>
              </a:rPr>
              <a:t>group</a:t>
            </a:r>
          </a:p>
        </p:txBody>
      </p:sp>
      <p:sp>
        <p:nvSpPr>
          <p:cNvPr id="11" name="Rounded Rectangle 10"/>
          <p:cNvSpPr/>
          <p:nvPr/>
        </p:nvSpPr>
        <p:spPr>
          <a:xfrm>
            <a:off x="8007095" y="1225295"/>
            <a:ext cx="731520" cy="219456"/>
          </a:xfrm>
          <a:prstGeom prst="roundRect">
            <a:avLst>
              <a:gd name="adj" fmla="val 3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200" b="1" i="0">
                <a:solidFill>
                  <a:srgbClr val="FFFFFF"/>
                </a:solidFill>
                <a:latin typeface="Calibri"/>
              </a:rPr>
              <a:t>INPUT 3</a:t>
            </a:r>
          </a:p>
        </p:txBody>
      </p:sp>
      <p:sp>
        <p:nvSpPr>
          <p:cNvPr id="12" name="Down Arrow 11"/>
          <p:cNvSpPr/>
          <p:nvPr/>
        </p:nvSpPr>
        <p:spPr>
          <a:xfrm>
            <a:off x="4450080" y="2743200"/>
            <a:ext cx="274320" cy="237744"/>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04800" y="3054096"/>
            <a:ext cx="4267200" cy="1188720"/>
          </a:xfrm>
          <a:prstGeom prst="roundRect">
            <a:avLst>
              <a:gd name="adj" fmla="val 6000"/>
            </a:avLst>
          </a:prstGeom>
          <a:solidFill>
            <a:srgbClr val="EAF3F0"/>
          </a:solidFill>
          <a:ln w="15875">
            <a:solidFill>
              <a:srgbClr val="117864"/>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36576" rtlCol="0" anchor="t"/>
          <a:lstStyle/>
          <a:p>
            <a:pPr algn="l"/>
            <a:r>
              <a:rPr lang="en-US" sz="1600" b="1" i="0" dirty="0">
                <a:solidFill>
                  <a:srgbClr val="117864"/>
                </a:solidFill>
                <a:latin typeface="Calibri"/>
              </a:rPr>
              <a:t>HEALTH GAIN RESPONSE</a:t>
            </a:r>
            <a:endParaRPr sz="1600" b="1" i="0" dirty="0">
              <a:solidFill>
                <a:srgbClr val="117864"/>
              </a:solidFill>
              <a:latin typeface="Calibri"/>
            </a:endParaRPr>
          </a:p>
          <a:p>
            <a:pPr algn="l">
              <a:spcBef>
                <a:spcPts val="500"/>
              </a:spcBef>
            </a:pPr>
            <a:r>
              <a:rPr sz="1400" b="0" i="0" dirty="0">
                <a:solidFill>
                  <a:schemeClr val="tx1"/>
                </a:solidFill>
                <a:latin typeface="Calibri"/>
              </a:rPr>
              <a:t>Quitters </a:t>
            </a:r>
            <a:r>
              <a:rPr lang="en-US" sz="1400" b="0" i="0" dirty="0">
                <a:solidFill>
                  <a:schemeClr val="tx1"/>
                </a:solidFill>
                <a:latin typeface="Calibri"/>
              </a:rPr>
              <a:t>lose</a:t>
            </a:r>
            <a:r>
              <a:rPr sz="1400" b="0" i="0" dirty="0">
                <a:solidFill>
                  <a:schemeClr val="tx1"/>
                </a:solidFill>
                <a:latin typeface="Calibri"/>
              </a:rPr>
              <a:t> most of their </a:t>
            </a:r>
            <a:r>
              <a:rPr lang="en-US" sz="1400" b="0" i="0" dirty="0">
                <a:solidFill>
                  <a:schemeClr val="tx1"/>
                </a:solidFill>
                <a:latin typeface="Calibri"/>
              </a:rPr>
              <a:t>increased mortality risk (50%), moderated by age</a:t>
            </a:r>
            <a:endParaRPr sz="1400" b="0" i="0" dirty="0">
              <a:solidFill>
                <a:schemeClr val="tx1"/>
              </a:solidFill>
              <a:latin typeface="Calibri"/>
            </a:endParaRPr>
          </a:p>
          <a:p>
            <a:pPr algn="l">
              <a:spcBef>
                <a:spcPts val="400"/>
              </a:spcBef>
            </a:pPr>
            <a:r>
              <a:rPr lang="en-US" sz="1400" dirty="0">
                <a:solidFill>
                  <a:schemeClr val="tx1"/>
                </a:solidFill>
                <a:latin typeface="Calibri"/>
              </a:rPr>
              <a:t>Impact on</a:t>
            </a:r>
            <a:r>
              <a:rPr sz="1400" b="0" i="0" dirty="0">
                <a:solidFill>
                  <a:schemeClr val="tx1"/>
                </a:solidFill>
                <a:latin typeface="Calibri"/>
              </a:rPr>
              <a:t> 19 tobacco-</a:t>
            </a:r>
            <a:r>
              <a:rPr lang="en-US" sz="1400" b="0" i="0" dirty="0">
                <a:solidFill>
                  <a:schemeClr val="tx1"/>
                </a:solidFill>
                <a:latin typeface="Calibri"/>
              </a:rPr>
              <a:t>related</a:t>
            </a:r>
            <a:r>
              <a:rPr sz="1400" b="0" i="0" dirty="0">
                <a:solidFill>
                  <a:schemeClr val="tx1"/>
                </a:solidFill>
                <a:latin typeface="Calibri"/>
              </a:rPr>
              <a:t> conditions </a:t>
            </a:r>
            <a:r>
              <a:rPr lang="en-US" sz="1400" b="0" i="0" dirty="0">
                <a:solidFill>
                  <a:schemeClr val="tx1"/>
                </a:solidFill>
                <a:latin typeface="Calibri"/>
              </a:rPr>
              <a:t>(</a:t>
            </a:r>
            <a:r>
              <a:rPr sz="1400" b="0" i="0" dirty="0">
                <a:solidFill>
                  <a:schemeClr val="tx1"/>
                </a:solidFill>
                <a:latin typeface="Calibri"/>
              </a:rPr>
              <a:t>GBD 202</a:t>
            </a:r>
            <a:r>
              <a:rPr lang="en-US" sz="1400" b="0" i="0" dirty="0">
                <a:solidFill>
                  <a:schemeClr val="tx1"/>
                </a:solidFill>
                <a:latin typeface="Calibri"/>
              </a:rPr>
              <a:t>3)</a:t>
            </a:r>
            <a:endParaRPr sz="1400" b="0" i="0" dirty="0">
              <a:solidFill>
                <a:schemeClr val="tx1"/>
              </a:solidFill>
              <a:latin typeface="Calibri"/>
            </a:endParaRPr>
          </a:p>
        </p:txBody>
      </p:sp>
      <p:sp>
        <p:nvSpPr>
          <p:cNvPr id="14" name="Rounded Rectangle 13"/>
          <p:cNvSpPr/>
          <p:nvPr/>
        </p:nvSpPr>
        <p:spPr>
          <a:xfrm>
            <a:off x="4709160" y="3054096"/>
            <a:ext cx="4102608" cy="1188720"/>
          </a:xfrm>
          <a:prstGeom prst="roundRect">
            <a:avLst>
              <a:gd name="adj" fmla="val 6000"/>
            </a:avLst>
          </a:prstGeom>
          <a:solidFill>
            <a:srgbClr val="EAF1F7"/>
          </a:solidFill>
          <a:ln w="15875">
            <a:solidFill>
              <a:srgbClr val="2471A3"/>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36576" rtlCol="0" anchor="t"/>
          <a:lstStyle/>
          <a:p>
            <a:pPr algn="l"/>
            <a:r>
              <a:rPr lang="en-US" sz="1600" b="1" i="0" dirty="0">
                <a:solidFill>
                  <a:srgbClr val="2471A3"/>
                </a:solidFill>
                <a:latin typeface="Calibri"/>
              </a:rPr>
              <a:t>FISCAL GAIN RESPONSE</a:t>
            </a:r>
            <a:endParaRPr sz="1600" b="1" i="0" dirty="0">
              <a:solidFill>
                <a:srgbClr val="2471A3"/>
              </a:solidFill>
              <a:latin typeface="Calibri"/>
            </a:endParaRPr>
          </a:p>
          <a:p>
            <a:pPr>
              <a:spcBef>
                <a:spcPts val="500"/>
              </a:spcBef>
            </a:pPr>
            <a:r>
              <a:rPr lang="en-US" sz="1600" dirty="0">
                <a:solidFill>
                  <a:schemeClr val="tx1"/>
                </a:solidFill>
              </a:rPr>
              <a:t>Higher prices lead to higher revenues even though cigarette consumption decreases</a:t>
            </a:r>
            <a:endParaRPr sz="1600" b="0" i="0" dirty="0">
              <a:solidFill>
                <a:schemeClr val="tx1"/>
              </a:solidFill>
              <a:latin typeface="Calibri"/>
            </a:endParaRPr>
          </a:p>
        </p:txBody>
      </p:sp>
      <p:sp>
        <p:nvSpPr>
          <p:cNvPr id="15" name="Down Arrow 14"/>
          <p:cNvSpPr/>
          <p:nvPr/>
        </p:nvSpPr>
        <p:spPr>
          <a:xfrm>
            <a:off x="2308860" y="4297680"/>
            <a:ext cx="274320" cy="237744"/>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Down Arrow 15"/>
          <p:cNvSpPr/>
          <p:nvPr/>
        </p:nvSpPr>
        <p:spPr>
          <a:xfrm>
            <a:off x="6560820" y="4297680"/>
            <a:ext cx="274320" cy="237744"/>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04800" y="4571999"/>
            <a:ext cx="4267200" cy="1846049"/>
          </a:xfrm>
          <a:prstGeom prst="roundRect">
            <a:avLst>
              <a:gd name="adj" fmla="val 6000"/>
            </a:avLst>
          </a:prstGeom>
          <a:solidFill>
            <a:srgbClr val="F7F9FC"/>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lIns="164592" tIns="100584" rIns="164592" bIns="36576" rtlCol="0" anchor="t"/>
          <a:lstStyle/>
          <a:p>
            <a:pPr algn="l"/>
            <a:r>
              <a:rPr sz="1600" b="1" i="0" dirty="0">
                <a:solidFill>
                  <a:srgbClr val="002060"/>
                </a:solidFill>
                <a:latin typeface="Calibri"/>
              </a:rPr>
              <a:t>RESULT 1  </a:t>
            </a:r>
            <a:r>
              <a:rPr lang="en-US" sz="1600" b="1" i="0" dirty="0">
                <a:solidFill>
                  <a:srgbClr val="262626"/>
                </a:solidFill>
                <a:latin typeface="Calibri"/>
              </a:rPr>
              <a:t>MORTALITY REDUCTION</a:t>
            </a:r>
            <a:endParaRPr sz="1600" b="1" i="0" dirty="0">
              <a:solidFill>
                <a:srgbClr val="262626"/>
              </a:solidFill>
              <a:latin typeface="Calibri"/>
            </a:endParaRPr>
          </a:p>
          <a:p>
            <a:pPr algn="l"/>
            <a:r>
              <a:rPr lang="en-US" sz="1600" dirty="0">
                <a:solidFill>
                  <a:schemeClr val="tx1"/>
                </a:solidFill>
                <a:latin typeface="Calibri"/>
              </a:rPr>
              <a:t>P</a:t>
            </a:r>
            <a:r>
              <a:rPr sz="1600" b="0" i="0" dirty="0">
                <a:solidFill>
                  <a:schemeClr val="tx1"/>
                </a:solidFill>
                <a:latin typeface="Calibri"/>
              </a:rPr>
              <a:t>remature deaths averted over the lifetime of today's smokers</a:t>
            </a:r>
          </a:p>
          <a:p>
            <a:pPr algn="l">
              <a:spcBef>
                <a:spcPts val="600"/>
              </a:spcBef>
            </a:pPr>
            <a:r>
              <a:rPr sz="1600" b="1" i="0" dirty="0">
                <a:solidFill>
                  <a:srgbClr val="002060"/>
                </a:solidFill>
                <a:latin typeface="Calibri"/>
              </a:rPr>
              <a:t>RESULT 2  </a:t>
            </a:r>
            <a:r>
              <a:rPr lang="en-US" sz="1600" b="1" i="0" dirty="0">
                <a:solidFill>
                  <a:srgbClr val="262626"/>
                </a:solidFill>
                <a:latin typeface="Calibri"/>
              </a:rPr>
              <a:t>CATASTROPHIC EXPENDITURES AVERTED</a:t>
            </a:r>
            <a:endParaRPr sz="1600" b="1" i="0" dirty="0">
              <a:solidFill>
                <a:srgbClr val="262626"/>
              </a:solidFill>
              <a:latin typeface="Calibri"/>
            </a:endParaRPr>
          </a:p>
          <a:p>
            <a:r>
              <a:rPr lang="en-US" sz="1600" dirty="0">
                <a:solidFill>
                  <a:schemeClr val="tx1"/>
                </a:solidFill>
                <a:latin typeface="Calibri"/>
              </a:rPr>
              <a:t>Same JKN coverage assumptions as before</a:t>
            </a:r>
            <a:endParaRPr sz="1600" b="0" i="0" dirty="0">
              <a:solidFill>
                <a:schemeClr val="tx1"/>
              </a:solidFill>
              <a:latin typeface="Calibri"/>
            </a:endParaRPr>
          </a:p>
        </p:txBody>
      </p:sp>
      <p:sp>
        <p:nvSpPr>
          <p:cNvPr id="18" name="Rounded Rectangle 17"/>
          <p:cNvSpPr/>
          <p:nvPr/>
        </p:nvSpPr>
        <p:spPr>
          <a:xfrm>
            <a:off x="4709160" y="4572000"/>
            <a:ext cx="4102608" cy="1295400"/>
          </a:xfrm>
          <a:prstGeom prst="roundRect">
            <a:avLst>
              <a:gd name="adj" fmla="val 6000"/>
            </a:avLst>
          </a:prstGeom>
          <a:solidFill>
            <a:srgbClr val="F7F9FC"/>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lIns="164592" tIns="100584" rIns="164592" bIns="36576" rtlCol="0" anchor="t"/>
          <a:lstStyle/>
          <a:p>
            <a:pPr algn="l"/>
            <a:r>
              <a:rPr sz="1600" b="1" i="0" dirty="0">
                <a:solidFill>
                  <a:srgbClr val="002060"/>
                </a:solidFill>
                <a:latin typeface="Calibri"/>
              </a:rPr>
              <a:t>RESULT 3  </a:t>
            </a:r>
            <a:r>
              <a:rPr lang="en-US" sz="1600" b="1" dirty="0">
                <a:solidFill>
                  <a:srgbClr val="262626"/>
                </a:solidFill>
                <a:latin typeface="Calibri"/>
              </a:rPr>
              <a:t>REVENUES RAISED</a:t>
            </a:r>
            <a:endParaRPr sz="1600" b="1" i="0" dirty="0">
              <a:solidFill>
                <a:srgbClr val="262626"/>
              </a:solidFill>
              <a:latin typeface="Calibri"/>
            </a:endParaRPr>
          </a:p>
          <a:p>
            <a:pPr algn="l"/>
            <a:r>
              <a:rPr lang="en-US" sz="1600" dirty="0">
                <a:solidFill>
                  <a:schemeClr val="tx1"/>
                </a:solidFill>
                <a:latin typeface="Calibri"/>
              </a:rPr>
              <a:t>E</a:t>
            </a:r>
            <a:r>
              <a:rPr sz="1600" b="0" i="0" dirty="0">
                <a:solidFill>
                  <a:schemeClr val="tx1"/>
                </a:solidFill>
                <a:latin typeface="Calibri"/>
              </a:rPr>
              <a:t>xcise revenue</a:t>
            </a:r>
            <a:r>
              <a:rPr lang="en-US" sz="1600" b="0" i="0" dirty="0">
                <a:solidFill>
                  <a:schemeClr val="tx1"/>
                </a:solidFill>
                <a:latin typeface="Calibri"/>
              </a:rPr>
              <a:t>s</a:t>
            </a:r>
            <a:r>
              <a:rPr sz="1600" b="0" i="0" dirty="0">
                <a:solidFill>
                  <a:schemeClr val="tx1"/>
                </a:solidFill>
                <a:latin typeface="Calibri"/>
              </a:rPr>
              <a:t> rise</a:t>
            </a:r>
            <a:r>
              <a:rPr lang="en-US" sz="1600" dirty="0">
                <a:solidFill>
                  <a:schemeClr val="tx1"/>
                </a:solidFill>
                <a:latin typeface="Calibri"/>
              </a:rPr>
              <a:t> </a:t>
            </a:r>
          </a:p>
          <a:p>
            <a:pPr algn="l"/>
            <a:r>
              <a:rPr lang="en-US" sz="1600" dirty="0">
                <a:solidFill>
                  <a:schemeClr val="tx1"/>
                </a:solidFill>
                <a:latin typeface="Calibri"/>
              </a:rPr>
              <a:t>T</a:t>
            </a:r>
            <a:r>
              <a:rPr lang="en-US" sz="1600" b="0" i="0" dirty="0">
                <a:solidFill>
                  <a:schemeClr val="tx1"/>
                </a:solidFill>
                <a:latin typeface="Calibri"/>
              </a:rPr>
              <a:t>he distribution of increased </a:t>
            </a:r>
            <a:r>
              <a:rPr sz="1600" b="0" i="0" dirty="0">
                <a:solidFill>
                  <a:schemeClr val="tx1"/>
                </a:solidFill>
                <a:latin typeface="Calibri"/>
              </a:rPr>
              <a:t>tax</a:t>
            </a:r>
            <a:r>
              <a:rPr lang="en-US" sz="1600" b="0" i="0" dirty="0">
                <a:solidFill>
                  <a:schemeClr val="tx1"/>
                </a:solidFill>
                <a:latin typeface="Calibri"/>
              </a:rPr>
              <a:t> revenues</a:t>
            </a:r>
            <a:r>
              <a:rPr sz="1600" b="0" i="0" dirty="0">
                <a:solidFill>
                  <a:schemeClr val="tx1"/>
                </a:solidFill>
                <a:latin typeface="Calibri"/>
              </a:rPr>
              <a:t> </a:t>
            </a:r>
            <a:r>
              <a:rPr lang="en-US" sz="1600" b="0" i="0" dirty="0">
                <a:solidFill>
                  <a:schemeClr val="tx1"/>
                </a:solidFill>
                <a:latin typeface="Calibri"/>
              </a:rPr>
              <a:t>varies </a:t>
            </a:r>
            <a:r>
              <a:rPr sz="1600" b="0" i="0" dirty="0">
                <a:solidFill>
                  <a:schemeClr val="tx1"/>
                </a:solidFill>
                <a:latin typeface="Calibri"/>
              </a:rPr>
              <a:t>by </a:t>
            </a:r>
            <a:r>
              <a:rPr lang="en-US" sz="1600" b="0" i="0" dirty="0">
                <a:solidFill>
                  <a:schemeClr val="tx1"/>
                </a:solidFill>
                <a:latin typeface="Calibri"/>
              </a:rPr>
              <a:t>income </a:t>
            </a:r>
            <a:r>
              <a:rPr sz="1600" b="0" i="0" dirty="0">
                <a:solidFill>
                  <a:schemeClr val="tx1"/>
                </a:solidFill>
                <a:latin typeface="Calibri"/>
              </a:rPr>
              <a:t>quintile</a:t>
            </a:r>
          </a:p>
        </p:txBody>
      </p:sp>
      <p:sp>
        <p:nvSpPr>
          <p:cNvPr id="19" name="TextBox 18"/>
          <p:cNvSpPr txBox="1"/>
          <p:nvPr/>
        </p:nvSpPr>
        <p:spPr>
          <a:xfrm>
            <a:off x="2308860" y="6337203"/>
            <a:ext cx="5006340" cy="457048"/>
          </a:xfrm>
          <a:prstGeom prst="rect">
            <a:avLst/>
          </a:prstGeom>
          <a:noFill/>
        </p:spPr>
        <p:txBody>
          <a:bodyPr wrap="square" lIns="18288" tIns="9144" rIns="18288" bIns="9144" anchor="t">
            <a:spAutoFit/>
          </a:bodyPr>
          <a:lstStyle/>
          <a:p>
            <a:pPr algn="l">
              <a:spcBef>
                <a:spcPts val="300"/>
              </a:spcBef>
            </a:pPr>
            <a:endParaRPr lang="en-US" sz="1200" dirty="0">
              <a:latin typeface="Calibri"/>
            </a:endParaRPr>
          </a:p>
          <a:p>
            <a:pPr>
              <a:spcBef>
                <a:spcPts val="300"/>
              </a:spcBef>
            </a:pPr>
            <a:r>
              <a:rPr lang="en-US" sz="1400" b="0" i="0" dirty="0">
                <a:latin typeface="Calibri"/>
              </a:rPr>
              <a:t>SKI = </a:t>
            </a:r>
            <a:r>
              <a:rPr lang="en-US" sz="1400" b="0" i="0" dirty="0" err="1">
                <a:latin typeface="Calibri"/>
              </a:rPr>
              <a:t>Survei</a:t>
            </a:r>
            <a:r>
              <a:rPr lang="en-US" sz="1400" b="0" i="0" dirty="0">
                <a:latin typeface="Calibri"/>
              </a:rPr>
              <a:t> Kesehatan Indonesia (Indonesia Health Survey)</a:t>
            </a:r>
          </a:p>
        </p:txBody>
      </p:sp>
      <p:sp>
        <p:nvSpPr>
          <p:cNvPr id="21" name="Title 1">
            <a:extLst>
              <a:ext uri="{FF2B5EF4-FFF2-40B4-BE49-F238E27FC236}">
                <a16:creationId xmlns:a16="http://schemas.microsoft.com/office/drawing/2014/main" id="{2C405264-5FD0-15EA-D3B6-01ABE7AFBBD2}"/>
              </a:ext>
            </a:extLst>
          </p:cNvPr>
          <p:cNvSpPr>
            <a:spLocks noGrp="1"/>
          </p:cNvSpPr>
          <p:nvPr>
            <p:ph type="title"/>
          </p:nvPr>
        </p:nvSpPr>
        <p:spPr>
          <a:xfrm>
            <a:off x="502920" y="228600"/>
            <a:ext cx="7970000" cy="834837"/>
          </a:xfrm>
        </p:spPr>
        <p:txBody>
          <a:bodyPr>
            <a:normAutofit/>
          </a:bodyPr>
          <a:lstStyle/>
          <a:p>
            <a:pPr algn="ctr"/>
            <a:r>
              <a:rPr lang="en-US" b="1" dirty="0"/>
              <a:t>Model overview</a:t>
            </a:r>
            <a:endParaRPr b="1"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000" y="533400"/>
            <a:ext cx="7970000" cy="917424"/>
          </a:xfrm>
        </p:spPr>
        <p:txBody>
          <a:bodyPr>
            <a:noAutofit/>
          </a:bodyPr>
          <a:lstStyle/>
          <a:p>
            <a:pPr algn="ctr"/>
            <a:r>
              <a:rPr sz="4000" b="1" dirty="0"/>
              <a:t>Input </a:t>
            </a:r>
            <a:r>
              <a:rPr lang="en-US" sz="4000" b="1" dirty="0"/>
              <a:t>(</a:t>
            </a:r>
            <a:r>
              <a:rPr sz="4000" b="1" dirty="0"/>
              <a:t>1</a:t>
            </a:r>
            <a:r>
              <a:rPr lang="en-US" sz="4000" b="1" dirty="0"/>
              <a:t>)</a:t>
            </a:r>
            <a:r>
              <a:rPr sz="4000" b="1" dirty="0"/>
              <a:t>: </a:t>
            </a:r>
            <a:r>
              <a:rPr lang="en-US" sz="4000" dirty="0"/>
              <a:t>S</a:t>
            </a:r>
            <a:r>
              <a:rPr sz="4000" dirty="0"/>
              <a:t>moking </a:t>
            </a:r>
            <a:r>
              <a:rPr lang="en-US" sz="4000" dirty="0"/>
              <a:t>prevalence &amp; tobacco</a:t>
            </a:r>
            <a:r>
              <a:rPr sz="4000" dirty="0"/>
              <a:t> prices</a:t>
            </a:r>
          </a:p>
        </p:txBody>
      </p:sp>
      <p:graphicFrame>
        <p:nvGraphicFramePr>
          <p:cNvPr id="3" name="Table 2"/>
          <p:cNvGraphicFramePr>
            <a:graphicFrameLocks noGrp="1"/>
          </p:cNvGraphicFramePr>
          <p:nvPr>
            <p:extLst>
              <p:ext uri="{D42A27DB-BD31-4B8C-83A1-F6EECF244321}">
                <p14:modId xmlns:p14="http://schemas.microsoft.com/office/powerpoint/2010/main" val="1188290405"/>
              </p:ext>
            </p:extLst>
          </p:nvPr>
        </p:nvGraphicFramePr>
        <p:xfrm>
          <a:off x="304800" y="2109216"/>
          <a:ext cx="8686800" cy="2462784"/>
        </p:xfrm>
        <a:graphic>
          <a:graphicData uri="http://schemas.openxmlformats.org/drawingml/2006/table">
            <a:tbl>
              <a:tblPr firstRow="1">
                <a:tableStyleId>{616DA210-FB5B-4158-B5E0-FEB733F419BA}</a:tableStyleId>
              </a:tblPr>
              <a:tblGrid>
                <a:gridCol w="1213830">
                  <a:extLst>
                    <a:ext uri="{9D8B030D-6E8A-4147-A177-3AD203B41FA5}">
                      <a16:colId xmlns:a16="http://schemas.microsoft.com/office/drawing/2014/main" val="20000"/>
                    </a:ext>
                  </a:extLst>
                </a:gridCol>
                <a:gridCol w="1319380">
                  <a:extLst>
                    <a:ext uri="{9D8B030D-6E8A-4147-A177-3AD203B41FA5}">
                      <a16:colId xmlns:a16="http://schemas.microsoft.com/office/drawing/2014/main" val="20001"/>
                    </a:ext>
                  </a:extLst>
                </a:gridCol>
                <a:gridCol w="1055504">
                  <a:extLst>
                    <a:ext uri="{9D8B030D-6E8A-4147-A177-3AD203B41FA5}">
                      <a16:colId xmlns:a16="http://schemas.microsoft.com/office/drawing/2014/main" val="20002"/>
                    </a:ext>
                  </a:extLst>
                </a:gridCol>
                <a:gridCol w="1213830">
                  <a:extLst>
                    <a:ext uri="{9D8B030D-6E8A-4147-A177-3AD203B41FA5}">
                      <a16:colId xmlns:a16="http://schemas.microsoft.com/office/drawing/2014/main" val="20003"/>
                    </a:ext>
                  </a:extLst>
                </a:gridCol>
                <a:gridCol w="1213830">
                  <a:extLst>
                    <a:ext uri="{9D8B030D-6E8A-4147-A177-3AD203B41FA5}">
                      <a16:colId xmlns:a16="http://schemas.microsoft.com/office/drawing/2014/main" val="20004"/>
                    </a:ext>
                  </a:extLst>
                </a:gridCol>
                <a:gridCol w="1424931">
                  <a:extLst>
                    <a:ext uri="{9D8B030D-6E8A-4147-A177-3AD203B41FA5}">
                      <a16:colId xmlns:a16="http://schemas.microsoft.com/office/drawing/2014/main" val="20005"/>
                    </a:ext>
                  </a:extLst>
                </a:gridCol>
                <a:gridCol w="1245495">
                  <a:extLst>
                    <a:ext uri="{9D8B030D-6E8A-4147-A177-3AD203B41FA5}">
                      <a16:colId xmlns:a16="http://schemas.microsoft.com/office/drawing/2014/main" val="20006"/>
                    </a:ext>
                  </a:extLst>
                </a:gridCol>
              </a:tblGrid>
              <a:tr h="300445">
                <a:tc>
                  <a:txBody>
                    <a:bodyPr/>
                    <a:lstStyle/>
                    <a:p>
                      <a:r>
                        <a:rPr sz="1600" b="1" dirty="0">
                          <a:solidFill>
                            <a:srgbClr val="000000"/>
                          </a:solidFill>
                        </a:rPr>
                        <a:t>Quintile</a:t>
                      </a:r>
                      <a:endParaRPr sz="1600" b="1"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1">
                          <a:solidFill>
                            <a:srgbClr val="000000"/>
                          </a:solidFill>
                        </a:rPr>
                        <a:t>Population 15+ (M)</a:t>
                      </a:r>
                      <a:endParaRPr sz="1600" b="1">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1">
                          <a:solidFill>
                            <a:srgbClr val="000000"/>
                          </a:solidFill>
                        </a:rPr>
                        <a:t>Smokers (M)</a:t>
                      </a:r>
                      <a:endParaRPr sz="1600" b="1">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1">
                          <a:solidFill>
                            <a:srgbClr val="000000"/>
                          </a:solidFill>
                        </a:rPr>
                        <a:t>Prevalence 15+</a:t>
                      </a:r>
                      <a:endParaRPr sz="1600" b="1">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1" dirty="0">
                          <a:solidFill>
                            <a:srgbClr val="000000"/>
                          </a:solidFill>
                        </a:rPr>
                        <a:t>Cigarettes</a:t>
                      </a:r>
                      <a:endParaRPr lang="en-US" sz="1600" b="1" dirty="0">
                        <a:solidFill>
                          <a:srgbClr val="000000"/>
                        </a:solidFill>
                      </a:endParaRPr>
                    </a:p>
                    <a:p>
                      <a:r>
                        <a:rPr sz="1600" b="1" dirty="0">
                          <a:solidFill>
                            <a:srgbClr val="000000"/>
                          </a:solidFill>
                        </a:rPr>
                        <a:t>/day</a:t>
                      </a:r>
                      <a:endParaRPr sz="1600" b="1"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1" dirty="0">
                          <a:solidFill>
                            <a:srgbClr val="000000"/>
                          </a:solidFill>
                        </a:rPr>
                        <a:t>Price paid (IDR/stick)</a:t>
                      </a:r>
                      <a:endParaRPr sz="1600" b="1"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1" dirty="0">
                          <a:solidFill>
                            <a:srgbClr val="000000"/>
                          </a:solidFill>
                        </a:rPr>
                        <a:t>Consumption (B sticks/yr)</a:t>
                      </a:r>
                      <a:endParaRPr sz="1600" b="1" dirty="0">
                        <a:solidFill>
                          <a:srgbClr val="000000"/>
                        </a:solidFill>
                        <a:latin typeface="Aptos" panose="020B0004020202020204" pitchFamily="34" charset="0"/>
                        <a:cs typeface="Aparajita" panose="02020603050405020304" pitchFamily="18" charset="0"/>
                      </a:endParaRPr>
                    </a:p>
                  </a:txBody>
                  <a:tcPr marL="36576" marR="36576" marT="36576" marB="36576"/>
                </a:tc>
                <a:extLst>
                  <a:ext uri="{0D108BD9-81ED-4DB2-BD59-A6C34878D82A}">
                    <a16:rowId xmlns:a16="http://schemas.microsoft.com/office/drawing/2014/main" val="10000"/>
                  </a:ext>
                </a:extLst>
              </a:tr>
              <a:tr h="300445">
                <a:tc>
                  <a:txBody>
                    <a:bodyPr/>
                    <a:lstStyle/>
                    <a:p>
                      <a:r>
                        <a:rPr sz="1600" b="0" dirty="0">
                          <a:solidFill>
                            <a:srgbClr val="000000"/>
                          </a:solidFill>
                        </a:rPr>
                        <a:t>Q1 (poorest)</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34.8</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11.4</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3</a:t>
                      </a:r>
                      <a:r>
                        <a:rPr lang="en-US" sz="1600" b="0" dirty="0">
                          <a:solidFill>
                            <a:srgbClr val="000000"/>
                          </a:solidFill>
                        </a:rPr>
                        <a:t>3</a:t>
                      </a:r>
                      <a:r>
                        <a:rPr sz="1600" b="0" dirty="0">
                          <a:solidFill>
                            <a:srgbClr val="000000"/>
                          </a:solidFill>
                        </a:rPr>
                        <a:t>%</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11.6</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1,465</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48.3</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extLst>
                  <a:ext uri="{0D108BD9-81ED-4DB2-BD59-A6C34878D82A}">
                    <a16:rowId xmlns:a16="http://schemas.microsoft.com/office/drawing/2014/main" val="10001"/>
                  </a:ext>
                </a:extLst>
              </a:tr>
              <a:tr h="300445">
                <a:tc>
                  <a:txBody>
                    <a:bodyPr/>
                    <a:lstStyle/>
                    <a:p>
                      <a:r>
                        <a:rPr sz="1600" b="0">
                          <a:solidFill>
                            <a:srgbClr val="000000"/>
                          </a:solidFill>
                        </a:rPr>
                        <a:t>Q2</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40.0</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13.1</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3</a:t>
                      </a:r>
                      <a:r>
                        <a:rPr lang="en-US" sz="1600" b="0" dirty="0">
                          <a:solidFill>
                            <a:srgbClr val="000000"/>
                          </a:solidFill>
                        </a:rPr>
                        <a:t>3</a:t>
                      </a:r>
                      <a:r>
                        <a:rPr sz="1600" b="0" dirty="0">
                          <a:solidFill>
                            <a:srgbClr val="000000"/>
                          </a:solidFill>
                        </a:rPr>
                        <a:t>%</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11.8</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1,535</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56.7</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extLst>
                  <a:ext uri="{0D108BD9-81ED-4DB2-BD59-A6C34878D82A}">
                    <a16:rowId xmlns:a16="http://schemas.microsoft.com/office/drawing/2014/main" val="10002"/>
                  </a:ext>
                </a:extLst>
              </a:tr>
              <a:tr h="300445">
                <a:tc>
                  <a:txBody>
                    <a:bodyPr/>
                    <a:lstStyle/>
                    <a:p>
                      <a:r>
                        <a:rPr sz="1600" b="0">
                          <a:solidFill>
                            <a:srgbClr val="000000"/>
                          </a:solidFill>
                        </a:rPr>
                        <a:t>Q3</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44.4</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13.9</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31%</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11.9</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1,615</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60.4</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extLst>
                  <a:ext uri="{0D108BD9-81ED-4DB2-BD59-A6C34878D82A}">
                    <a16:rowId xmlns:a16="http://schemas.microsoft.com/office/drawing/2014/main" val="10003"/>
                  </a:ext>
                </a:extLst>
              </a:tr>
              <a:tr h="300445">
                <a:tc>
                  <a:txBody>
                    <a:bodyPr/>
                    <a:lstStyle/>
                    <a:p>
                      <a:r>
                        <a:rPr sz="1600" b="0" dirty="0">
                          <a:solidFill>
                            <a:srgbClr val="000000"/>
                          </a:solidFill>
                        </a:rPr>
                        <a:t>Q4</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47.3</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13.7</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29%</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12.0</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1,737</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60.1</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extLst>
                  <a:ext uri="{0D108BD9-81ED-4DB2-BD59-A6C34878D82A}">
                    <a16:rowId xmlns:a16="http://schemas.microsoft.com/office/drawing/2014/main" val="10004"/>
                  </a:ext>
                </a:extLst>
              </a:tr>
              <a:tr h="300445">
                <a:tc>
                  <a:txBody>
                    <a:bodyPr/>
                    <a:lstStyle/>
                    <a:p>
                      <a:r>
                        <a:rPr sz="1600" b="0" dirty="0">
                          <a:solidFill>
                            <a:srgbClr val="000000"/>
                          </a:solidFill>
                        </a:rPr>
                        <a:t>Q5 (richest)</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46.0</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10.7</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23%</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12.5</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1,934</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49.2</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extLst>
                  <a:ext uri="{0D108BD9-81ED-4DB2-BD59-A6C34878D82A}">
                    <a16:rowId xmlns:a16="http://schemas.microsoft.com/office/drawing/2014/main" val="10005"/>
                  </a:ext>
                </a:extLst>
              </a:tr>
              <a:tr h="300450">
                <a:tc>
                  <a:txBody>
                    <a:bodyPr/>
                    <a:lstStyle/>
                    <a:p>
                      <a:r>
                        <a:rPr sz="1600" b="0" dirty="0">
                          <a:solidFill>
                            <a:srgbClr val="000000"/>
                          </a:solidFill>
                        </a:rPr>
                        <a:t>TOTAL</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212.4</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62.8</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lang="en-US" sz="1600" b="0" dirty="0">
                          <a:solidFill>
                            <a:srgbClr val="000000"/>
                          </a:solidFill>
                        </a:rPr>
                        <a:t>30</a:t>
                      </a:r>
                      <a:r>
                        <a:rPr sz="1600" b="0" dirty="0">
                          <a:solidFill>
                            <a:srgbClr val="000000"/>
                          </a:solidFill>
                        </a:rPr>
                        <a:t>%</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12.0</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274.7</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extLst>
                  <a:ext uri="{0D108BD9-81ED-4DB2-BD59-A6C34878D82A}">
                    <a16:rowId xmlns:a16="http://schemas.microsoft.com/office/drawing/2014/main" val="10006"/>
                  </a:ext>
                </a:extLst>
              </a:tr>
            </a:tbl>
          </a:graphicData>
        </a:graphic>
      </p:graphicFrame>
      <p:sp>
        <p:nvSpPr>
          <p:cNvPr id="4" name="TextBox 3"/>
          <p:cNvSpPr txBox="1"/>
          <p:nvPr/>
        </p:nvSpPr>
        <p:spPr>
          <a:xfrm>
            <a:off x="533400" y="4960203"/>
            <a:ext cx="8229600" cy="584775"/>
          </a:xfrm>
          <a:prstGeom prst="rect">
            <a:avLst/>
          </a:prstGeom>
          <a:noFill/>
        </p:spPr>
        <p:txBody>
          <a:bodyPr wrap="square">
            <a:spAutoFit/>
          </a:bodyPr>
          <a:lstStyle/>
          <a:p>
            <a:r>
              <a:rPr lang="en-US" sz="1600" dirty="0">
                <a:solidFill>
                  <a:srgbClr val="000000"/>
                </a:solidFill>
                <a:latin typeface="Aptos" panose="020B0004020202020204" pitchFamily="34" charset="0"/>
              </a:rPr>
              <a:t>The</a:t>
            </a:r>
            <a:r>
              <a:rPr lang="en-US" sz="1600" b="1" dirty="0">
                <a:solidFill>
                  <a:srgbClr val="000000"/>
                </a:solidFill>
                <a:latin typeface="Aptos" panose="020B0004020202020204" pitchFamily="34" charset="0"/>
              </a:rPr>
              <a:t> </a:t>
            </a:r>
            <a:r>
              <a:rPr sz="1600" dirty="0">
                <a:solidFill>
                  <a:srgbClr val="000000"/>
                </a:solidFill>
                <a:latin typeface="Aptos" panose="020B0004020202020204" pitchFamily="34" charset="0"/>
              </a:rPr>
              <a:t>poorest quintile</a:t>
            </a:r>
            <a:r>
              <a:rPr lang="en-US" sz="1600" dirty="0">
                <a:solidFill>
                  <a:srgbClr val="000000"/>
                </a:solidFill>
                <a:latin typeface="Aptos" panose="020B0004020202020204" pitchFamily="34" charset="0"/>
              </a:rPr>
              <a:t> (Q1)</a:t>
            </a:r>
            <a:r>
              <a:rPr sz="1600" dirty="0">
                <a:solidFill>
                  <a:srgbClr val="000000"/>
                </a:solidFill>
                <a:latin typeface="Aptos" panose="020B0004020202020204" pitchFamily="34" charset="0"/>
              </a:rPr>
              <a:t> has the highest smoking prevalence so carries the </a:t>
            </a:r>
            <a:r>
              <a:rPr lang="en-US" sz="1600" dirty="0">
                <a:solidFill>
                  <a:srgbClr val="000000"/>
                </a:solidFill>
                <a:latin typeface="Aptos" panose="020B0004020202020204" pitchFamily="34" charset="0"/>
              </a:rPr>
              <a:t>greatest</a:t>
            </a:r>
            <a:r>
              <a:rPr sz="1600" dirty="0">
                <a:solidFill>
                  <a:srgbClr val="000000"/>
                </a:solidFill>
                <a:latin typeface="Aptos" panose="020B0004020202020204" pitchFamily="34" charset="0"/>
              </a:rPr>
              <a:t> </a:t>
            </a:r>
            <a:r>
              <a:rPr lang="en-US" sz="1600" dirty="0">
                <a:solidFill>
                  <a:srgbClr val="000000"/>
                </a:solidFill>
                <a:latin typeface="Aptos" panose="020B0004020202020204" pitchFamily="34" charset="0"/>
              </a:rPr>
              <a:t>burden. </a:t>
            </a:r>
            <a:r>
              <a:rPr sz="1600" dirty="0">
                <a:solidFill>
                  <a:srgbClr val="000000"/>
                </a:solidFill>
                <a:latin typeface="Aptos" panose="020B0004020202020204" pitchFamily="34" charset="0"/>
              </a:rPr>
              <a:t>Modelled prevalence for ages 15+ (</a:t>
            </a:r>
            <a:r>
              <a:rPr lang="en-US" sz="1600" dirty="0">
                <a:solidFill>
                  <a:srgbClr val="000000"/>
                </a:solidFill>
                <a:latin typeface="Aptos" panose="020B0004020202020204" pitchFamily="34" charset="0"/>
              </a:rPr>
              <a:t>30</a:t>
            </a:r>
            <a:r>
              <a:rPr sz="1600" dirty="0">
                <a:solidFill>
                  <a:srgbClr val="000000"/>
                </a:solidFill>
                <a:latin typeface="Aptos" panose="020B0004020202020204" pitchFamily="34" charset="0"/>
              </a:rPr>
              <a:t>%) reproduces SKI's published figure (</a:t>
            </a:r>
            <a:r>
              <a:rPr lang="en-US" sz="1600" dirty="0">
                <a:solidFill>
                  <a:srgbClr val="000000"/>
                </a:solidFill>
                <a:latin typeface="Aptos" panose="020B0004020202020204" pitchFamily="34" charset="0"/>
              </a:rPr>
              <a:t>30</a:t>
            </a:r>
            <a:r>
              <a:rPr sz="1600" dirty="0">
                <a:solidFill>
                  <a:srgbClr val="000000"/>
                </a:solidFill>
                <a:latin typeface="Aptos" panose="020B0004020202020204" pitchFamily="34" charset="0"/>
              </a:rPr>
              <a:t>%).</a:t>
            </a:r>
          </a:p>
        </p:txBody>
      </p:sp>
      <p:sp>
        <p:nvSpPr>
          <p:cNvPr id="6" name="TextBox 5">
            <a:extLst>
              <a:ext uri="{FF2B5EF4-FFF2-40B4-BE49-F238E27FC236}">
                <a16:creationId xmlns:a16="http://schemas.microsoft.com/office/drawing/2014/main" id="{115C23C7-3F06-5BE3-DABC-AE6E2A4ACA12}"/>
              </a:ext>
            </a:extLst>
          </p:cNvPr>
          <p:cNvSpPr txBox="1"/>
          <p:nvPr/>
        </p:nvSpPr>
        <p:spPr>
          <a:xfrm>
            <a:off x="601514" y="5909101"/>
            <a:ext cx="8229600" cy="830997"/>
          </a:xfrm>
          <a:prstGeom prst="rect">
            <a:avLst/>
          </a:prstGeom>
          <a:noFill/>
        </p:spPr>
        <p:txBody>
          <a:bodyPr wrap="square">
            <a:spAutoFit/>
          </a:bodyPr>
          <a:lstStyle/>
          <a:p>
            <a:r>
              <a:rPr lang="en-US" sz="1600" b="1" dirty="0">
                <a:solidFill>
                  <a:srgbClr val="000000"/>
                </a:solidFill>
                <a:latin typeface="Aptos" panose="020B0004020202020204" pitchFamily="34" charset="0"/>
              </a:rPr>
              <a:t>Data sources: </a:t>
            </a:r>
            <a:r>
              <a:rPr lang="en-US" sz="1600" dirty="0">
                <a:solidFill>
                  <a:srgbClr val="000000"/>
                </a:solidFill>
                <a:latin typeface="Aptos" panose="020B0004020202020204" pitchFamily="34" charset="0"/>
              </a:rPr>
              <a:t>smokers and prevalence: </a:t>
            </a:r>
            <a:r>
              <a:rPr lang="en-US" sz="1600" dirty="0"/>
              <a:t>SKI 2023 (</a:t>
            </a:r>
            <a:r>
              <a:rPr lang="en-US" sz="1600" dirty="0" err="1"/>
              <a:t>Kemenkes</a:t>
            </a:r>
            <a:r>
              <a:rPr lang="en-US" sz="1600" dirty="0"/>
              <a:t>/BKPK, </a:t>
            </a:r>
            <a:r>
              <a:rPr lang="en-US" sz="1600" i="1" dirty="0"/>
              <a:t>SKI 2023 </a:t>
            </a:r>
            <a:r>
              <a:rPr lang="en-US" sz="1600" i="1" dirty="0" err="1"/>
              <a:t>Dalam</a:t>
            </a:r>
            <a:r>
              <a:rPr lang="en-US" sz="1600" i="1" dirty="0"/>
              <a:t> Angka</a:t>
            </a:r>
            <a:r>
              <a:rPr lang="en-US" sz="1600" dirty="0"/>
              <a:t>), Table 11.3; cigarettes/day: SKI 2023 Table 11.32; Price paid (IDR/stick): SKI 2023 Table 11.34; Consumption (B sticks/yr): derived </a:t>
            </a:r>
            <a:endParaRPr sz="1600" dirty="0">
              <a:solidFill>
                <a:srgbClr val="000000"/>
              </a:solidFill>
              <a:latin typeface="Aptos" panose="020B00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000" y="533400"/>
            <a:ext cx="7970000" cy="1150000"/>
          </a:xfrm>
        </p:spPr>
        <p:txBody>
          <a:bodyPr>
            <a:noAutofit/>
          </a:bodyPr>
          <a:lstStyle/>
          <a:p>
            <a:pPr algn="ctr"/>
            <a:r>
              <a:rPr sz="4000" b="1" dirty="0"/>
              <a:t>Input </a:t>
            </a:r>
            <a:r>
              <a:rPr lang="en-US" sz="4000" b="1" dirty="0"/>
              <a:t>(</a:t>
            </a:r>
            <a:r>
              <a:rPr sz="4000" b="1" dirty="0"/>
              <a:t>2</a:t>
            </a:r>
            <a:r>
              <a:rPr lang="en-US" sz="4000" b="1" dirty="0"/>
              <a:t>)</a:t>
            </a:r>
            <a:r>
              <a:rPr sz="4000" b="1" dirty="0"/>
              <a:t>: </a:t>
            </a:r>
            <a:r>
              <a:rPr lang="en-US" sz="4000" dirty="0"/>
              <a:t>T</a:t>
            </a:r>
            <a:r>
              <a:rPr sz="4000" dirty="0"/>
              <a:t>ax scenarios</a:t>
            </a:r>
            <a:br>
              <a:rPr sz="4000" dirty="0"/>
            </a:br>
            <a:r>
              <a:rPr sz="3000" dirty="0"/>
              <a:t>Current excise → modeled increase → price </a:t>
            </a:r>
            <a:r>
              <a:rPr lang="en-US" sz="3000" dirty="0"/>
              <a:t>         </a:t>
            </a:r>
            <a:r>
              <a:rPr sz="3000" dirty="0"/>
              <a:t>→ consumption</a:t>
            </a:r>
          </a:p>
        </p:txBody>
      </p:sp>
      <p:graphicFrame>
        <p:nvGraphicFramePr>
          <p:cNvPr id="3" name="Table 2"/>
          <p:cNvGraphicFramePr>
            <a:graphicFrameLocks noGrp="1"/>
          </p:cNvGraphicFramePr>
          <p:nvPr>
            <p:extLst>
              <p:ext uri="{D42A27DB-BD31-4B8C-83A1-F6EECF244321}">
                <p14:modId xmlns:p14="http://schemas.microsoft.com/office/powerpoint/2010/main" val="1740250112"/>
              </p:ext>
            </p:extLst>
          </p:nvPr>
        </p:nvGraphicFramePr>
        <p:xfrm>
          <a:off x="457200" y="2155698"/>
          <a:ext cx="8099800" cy="2950464"/>
        </p:xfrm>
        <a:graphic>
          <a:graphicData uri="http://schemas.openxmlformats.org/drawingml/2006/table">
            <a:tbl>
              <a:tblPr firstRow="1">
                <a:tableStyleId>{616DA210-FB5B-4158-B5E0-FEB733F419BA}</a:tableStyleId>
              </a:tblPr>
              <a:tblGrid>
                <a:gridCol w="1173596">
                  <a:extLst>
                    <a:ext uri="{9D8B030D-6E8A-4147-A177-3AD203B41FA5}">
                      <a16:colId xmlns:a16="http://schemas.microsoft.com/office/drawing/2014/main" val="20001"/>
                    </a:ext>
                  </a:extLst>
                </a:gridCol>
                <a:gridCol w="1123867">
                  <a:extLst>
                    <a:ext uri="{9D8B030D-6E8A-4147-A177-3AD203B41FA5}">
                      <a16:colId xmlns:a16="http://schemas.microsoft.com/office/drawing/2014/main" val="20002"/>
                    </a:ext>
                  </a:extLst>
                </a:gridCol>
                <a:gridCol w="1422239">
                  <a:extLst>
                    <a:ext uri="{9D8B030D-6E8A-4147-A177-3AD203B41FA5}">
                      <a16:colId xmlns:a16="http://schemas.microsoft.com/office/drawing/2014/main" val="20003"/>
                    </a:ext>
                  </a:extLst>
                </a:gridCol>
                <a:gridCol w="4380098">
                  <a:extLst>
                    <a:ext uri="{9D8B030D-6E8A-4147-A177-3AD203B41FA5}">
                      <a16:colId xmlns:a16="http://schemas.microsoft.com/office/drawing/2014/main" val="20004"/>
                    </a:ext>
                  </a:extLst>
                </a:gridCol>
              </a:tblGrid>
              <a:tr h="287382">
                <a:tc>
                  <a:txBody>
                    <a:bodyPr/>
                    <a:lstStyle/>
                    <a:p>
                      <a:r>
                        <a:rPr sz="1600" b="1" dirty="0">
                          <a:solidFill>
                            <a:srgbClr val="000000"/>
                          </a:solidFill>
                        </a:rPr>
                        <a:t>Excise increase</a:t>
                      </a:r>
                      <a:r>
                        <a:rPr lang="en-US" sz="1600" b="1" dirty="0">
                          <a:solidFill>
                            <a:srgbClr val="000000"/>
                          </a:solidFill>
                        </a:rPr>
                        <a:t> scenario</a:t>
                      </a:r>
                      <a:endParaRPr sz="1600" b="1" dirty="0">
                        <a:solidFill>
                          <a:srgbClr val="000000"/>
                        </a:solidFill>
                        <a:latin typeface="Aptos" panose="020B0004020202020204" pitchFamily="34" charset="0"/>
                      </a:endParaRPr>
                    </a:p>
                  </a:txBody>
                  <a:tcPr marL="36576" marR="36576" marT="36576" marB="36576"/>
                </a:tc>
                <a:tc>
                  <a:txBody>
                    <a:bodyPr/>
                    <a:lstStyle/>
                    <a:p>
                      <a:r>
                        <a:rPr sz="1600" b="1">
                          <a:solidFill>
                            <a:srgbClr val="000000"/>
                          </a:solidFill>
                        </a:rPr>
                        <a:t>Retail price</a:t>
                      </a:r>
                      <a:endParaRPr sz="1600" b="1">
                        <a:solidFill>
                          <a:srgbClr val="000000"/>
                        </a:solidFill>
                        <a:latin typeface="Aptos" panose="020B0004020202020204" pitchFamily="34" charset="0"/>
                      </a:endParaRPr>
                    </a:p>
                  </a:txBody>
                  <a:tcPr marL="36576" marR="36576" marT="36576" marB="36576"/>
                </a:tc>
                <a:tc>
                  <a:txBody>
                    <a:bodyPr/>
                    <a:lstStyle/>
                    <a:p>
                      <a:r>
                        <a:rPr sz="1600" b="1">
                          <a:solidFill>
                            <a:srgbClr val="000000"/>
                          </a:solidFill>
                        </a:rPr>
                        <a:t>Cigarettes smoked</a:t>
                      </a:r>
                      <a:endParaRPr sz="1600" b="1">
                        <a:solidFill>
                          <a:srgbClr val="000000"/>
                        </a:solidFill>
                        <a:latin typeface="Aptos" panose="020B0004020202020204" pitchFamily="34" charset="0"/>
                      </a:endParaRPr>
                    </a:p>
                  </a:txBody>
                  <a:tcPr marL="36576" marR="36576" marT="36576" marB="36576"/>
                </a:tc>
                <a:tc>
                  <a:txBody>
                    <a:bodyPr/>
                    <a:lstStyle/>
                    <a:p>
                      <a:r>
                        <a:rPr sz="1600" b="1">
                          <a:solidFill>
                            <a:srgbClr val="000000"/>
                          </a:solidFill>
                        </a:rPr>
                        <a:t>Reads as</a:t>
                      </a:r>
                      <a:endParaRPr sz="1600" b="1">
                        <a:solidFill>
                          <a:srgbClr val="000000"/>
                        </a:solidFill>
                        <a:latin typeface="Aptos" panose="020B0004020202020204" pitchFamily="34" charset="0"/>
                      </a:endParaRPr>
                    </a:p>
                  </a:txBody>
                  <a:tcPr marL="36576" marR="36576" marT="36576" marB="36576"/>
                </a:tc>
                <a:extLst>
                  <a:ext uri="{0D108BD9-81ED-4DB2-BD59-A6C34878D82A}">
                    <a16:rowId xmlns:a16="http://schemas.microsoft.com/office/drawing/2014/main" val="10000"/>
                  </a:ext>
                </a:extLst>
              </a:tr>
              <a:tr h="287382">
                <a:tc>
                  <a:txBody>
                    <a:bodyPr/>
                    <a:lstStyle/>
                    <a:p>
                      <a:r>
                        <a:rPr lang="en-US" sz="1600" b="0" dirty="0">
                          <a:solidFill>
                            <a:srgbClr val="000000"/>
                          </a:solidFill>
                          <a:latin typeface="Aptos" panose="020B0004020202020204" pitchFamily="34" charset="0"/>
                        </a:rPr>
                        <a:t>Baseline</a:t>
                      </a:r>
                      <a:endParaRPr sz="1600" b="0" dirty="0">
                        <a:solidFill>
                          <a:srgbClr val="000000"/>
                        </a:solidFill>
                        <a:latin typeface="Aptos" panose="020B0004020202020204" pitchFamily="34" charset="0"/>
                      </a:endParaRPr>
                    </a:p>
                  </a:txBody>
                  <a:tcPr marL="36576" marR="36576" marT="36576" marB="36576"/>
                </a:tc>
                <a:tc>
                  <a:txBody>
                    <a:bodyPr/>
                    <a:lstStyle/>
                    <a:p>
                      <a:r>
                        <a:rPr sz="1600" b="0">
                          <a:solidFill>
                            <a:srgbClr val="000000"/>
                          </a:solidFill>
                        </a:rPr>
                        <a:t>—</a:t>
                      </a:r>
                      <a:endParaRPr sz="1600" b="0">
                        <a:solidFill>
                          <a:srgbClr val="000000"/>
                        </a:solidFill>
                        <a:latin typeface="Aptos" panose="020B0004020202020204" pitchFamily="34" charset="0"/>
                      </a:endParaRPr>
                    </a:p>
                  </a:txBody>
                  <a:tcPr marL="36576" marR="36576" marT="36576" marB="36576"/>
                </a:tc>
                <a:tc>
                  <a:txBody>
                    <a:bodyPr/>
                    <a:lstStyle/>
                    <a:p>
                      <a:r>
                        <a:rPr sz="1600" b="0" dirty="0">
                          <a:solidFill>
                            <a:srgbClr val="000000"/>
                          </a:solidFill>
                        </a:rPr>
                        <a:t>27</a:t>
                      </a:r>
                      <a:r>
                        <a:rPr lang="en-US" sz="1600" b="0" dirty="0">
                          <a:solidFill>
                            <a:srgbClr val="000000"/>
                          </a:solidFill>
                        </a:rPr>
                        <a:t>5</a:t>
                      </a:r>
                      <a:r>
                        <a:rPr sz="1600" b="0" dirty="0">
                          <a:solidFill>
                            <a:srgbClr val="000000"/>
                          </a:solidFill>
                        </a:rPr>
                        <a:t>B sticks/yr</a:t>
                      </a:r>
                      <a:endParaRPr sz="1600" b="0" dirty="0">
                        <a:solidFill>
                          <a:srgbClr val="000000"/>
                        </a:solidFill>
                        <a:latin typeface="Aptos" panose="020B0004020202020204" pitchFamily="34" charset="0"/>
                      </a:endParaRPr>
                    </a:p>
                  </a:txBody>
                  <a:tcPr marL="36576" marR="36576" marT="36576" marB="36576"/>
                </a:tc>
                <a:tc>
                  <a:txBody>
                    <a:bodyPr/>
                    <a:lstStyle/>
                    <a:p>
                      <a:r>
                        <a:rPr sz="1600" b="0">
                          <a:solidFill>
                            <a:srgbClr val="000000"/>
                          </a:solidFill>
                        </a:rPr>
                        <a:t>Current policy: tiered excise, PMK 97/2024 (2025 tariff)</a:t>
                      </a:r>
                      <a:endParaRPr sz="1600" b="0">
                        <a:solidFill>
                          <a:srgbClr val="000000"/>
                        </a:solidFill>
                        <a:latin typeface="Aptos" panose="020B0004020202020204" pitchFamily="34" charset="0"/>
                      </a:endParaRPr>
                    </a:p>
                  </a:txBody>
                  <a:tcPr marL="36576" marR="36576" marT="36576" marB="36576"/>
                </a:tc>
                <a:extLst>
                  <a:ext uri="{0D108BD9-81ED-4DB2-BD59-A6C34878D82A}">
                    <a16:rowId xmlns:a16="http://schemas.microsoft.com/office/drawing/2014/main" val="10001"/>
                  </a:ext>
                </a:extLst>
              </a:tr>
              <a:tr h="287382">
                <a:tc>
                  <a:txBody>
                    <a:bodyPr/>
                    <a:lstStyle/>
                    <a:p>
                      <a:r>
                        <a:rPr sz="1600" b="0" dirty="0">
                          <a:solidFill>
                            <a:srgbClr val="000000"/>
                          </a:solidFill>
                        </a:rPr>
                        <a:t>+1</a:t>
                      </a:r>
                      <a:r>
                        <a:rPr lang="en-US" sz="1600" b="0" dirty="0">
                          <a:solidFill>
                            <a:srgbClr val="000000"/>
                          </a:solidFill>
                        </a:rPr>
                        <a:t>3</a:t>
                      </a:r>
                      <a:r>
                        <a:rPr sz="1600" b="0" dirty="0">
                          <a:solidFill>
                            <a:srgbClr val="000000"/>
                          </a:solidFill>
                        </a:rPr>
                        <a:t>%</a:t>
                      </a:r>
                      <a:endParaRPr sz="1600" b="0" dirty="0">
                        <a:solidFill>
                          <a:srgbClr val="000000"/>
                        </a:solidFill>
                        <a:latin typeface="Aptos" panose="020B0004020202020204" pitchFamily="34" charset="0"/>
                      </a:endParaRPr>
                    </a:p>
                  </a:txBody>
                  <a:tcPr marL="36576" marR="36576" marT="36576" marB="36576"/>
                </a:tc>
                <a:tc>
                  <a:txBody>
                    <a:bodyPr/>
                    <a:lstStyle/>
                    <a:p>
                      <a:r>
                        <a:rPr sz="1600" b="0" dirty="0">
                          <a:solidFill>
                            <a:srgbClr val="000000"/>
                          </a:solidFill>
                        </a:rPr>
                        <a:t>+4.7%</a:t>
                      </a:r>
                      <a:endParaRPr sz="1600" b="0" dirty="0">
                        <a:solidFill>
                          <a:srgbClr val="000000"/>
                        </a:solidFill>
                        <a:latin typeface="Aptos" panose="020B0004020202020204" pitchFamily="34" charset="0"/>
                      </a:endParaRPr>
                    </a:p>
                  </a:txBody>
                  <a:tcPr marL="36576" marR="36576" marT="36576" marB="36576"/>
                </a:tc>
                <a:tc>
                  <a:txBody>
                    <a:bodyPr/>
                    <a:lstStyle/>
                    <a:p>
                      <a:r>
                        <a:rPr lang="en-US" sz="1600" b="0" dirty="0">
                          <a:solidFill>
                            <a:srgbClr val="000000"/>
                          </a:solidFill>
                        </a:rPr>
                        <a:t>-</a:t>
                      </a:r>
                      <a:r>
                        <a:rPr sz="1600" b="0" dirty="0">
                          <a:solidFill>
                            <a:srgbClr val="000000"/>
                          </a:solidFill>
                        </a:rPr>
                        <a:t>2.4%</a:t>
                      </a:r>
                      <a:endParaRPr sz="1600" b="0" dirty="0">
                        <a:solidFill>
                          <a:srgbClr val="000000"/>
                        </a:solidFill>
                        <a:latin typeface="Aptos" panose="020B0004020202020204" pitchFamily="34" charset="0"/>
                      </a:endParaRPr>
                    </a:p>
                  </a:txBody>
                  <a:tcPr marL="36576" marR="36576" marT="36576" marB="36576"/>
                </a:tc>
                <a:tc>
                  <a:txBody>
                    <a:bodyPr/>
                    <a:lstStyle/>
                    <a:p>
                      <a:r>
                        <a:rPr lang="en-US" sz="1600" b="0" dirty="0">
                          <a:solidFill>
                            <a:srgbClr val="000000"/>
                          </a:solidFill>
                        </a:rPr>
                        <a:t>T</a:t>
                      </a:r>
                      <a:r>
                        <a:rPr sz="1600" b="0" dirty="0">
                          <a:solidFill>
                            <a:srgbClr val="000000"/>
                          </a:solidFill>
                        </a:rPr>
                        <a:t>ypical annual tariff adjustment</a:t>
                      </a:r>
                      <a:endParaRPr sz="1600" b="0" dirty="0">
                        <a:solidFill>
                          <a:srgbClr val="000000"/>
                        </a:solidFill>
                        <a:latin typeface="Aptos" panose="020B0004020202020204" pitchFamily="34" charset="0"/>
                      </a:endParaRPr>
                    </a:p>
                  </a:txBody>
                  <a:tcPr marL="36576" marR="36576" marT="36576" marB="36576"/>
                </a:tc>
                <a:extLst>
                  <a:ext uri="{0D108BD9-81ED-4DB2-BD59-A6C34878D82A}">
                    <a16:rowId xmlns:a16="http://schemas.microsoft.com/office/drawing/2014/main" val="10002"/>
                  </a:ext>
                </a:extLst>
              </a:tr>
              <a:tr h="287382">
                <a:tc>
                  <a:txBody>
                    <a:bodyPr/>
                    <a:lstStyle/>
                    <a:p>
                      <a:r>
                        <a:rPr sz="1600" b="0">
                          <a:solidFill>
                            <a:srgbClr val="000000"/>
                          </a:solidFill>
                        </a:rPr>
                        <a:t>+25%</a:t>
                      </a:r>
                      <a:endParaRPr sz="1600" b="0">
                        <a:solidFill>
                          <a:srgbClr val="000000"/>
                        </a:solidFill>
                        <a:latin typeface="Aptos" panose="020B0004020202020204" pitchFamily="34" charset="0"/>
                      </a:endParaRPr>
                    </a:p>
                  </a:txBody>
                  <a:tcPr marL="36576" marR="36576" marT="36576" marB="36576"/>
                </a:tc>
                <a:tc>
                  <a:txBody>
                    <a:bodyPr/>
                    <a:lstStyle/>
                    <a:p>
                      <a:r>
                        <a:rPr sz="1600" b="0">
                          <a:solidFill>
                            <a:srgbClr val="000000"/>
                          </a:solidFill>
                        </a:rPr>
                        <a:t>+9.5%</a:t>
                      </a:r>
                      <a:endParaRPr sz="1600" b="0">
                        <a:solidFill>
                          <a:srgbClr val="000000"/>
                        </a:solidFill>
                        <a:latin typeface="Aptos" panose="020B0004020202020204" pitchFamily="34" charset="0"/>
                      </a:endParaRPr>
                    </a:p>
                  </a:txBody>
                  <a:tcPr marL="36576" marR="36576" marT="36576" marB="36576"/>
                </a:tc>
                <a:tc>
                  <a:txBody>
                    <a:bodyPr/>
                    <a:lstStyle/>
                    <a:p>
                      <a:r>
                        <a:rPr lang="en-US" sz="1600" b="0" dirty="0">
                          <a:solidFill>
                            <a:srgbClr val="000000"/>
                          </a:solidFill>
                        </a:rPr>
                        <a:t>-</a:t>
                      </a:r>
                      <a:r>
                        <a:rPr sz="1600" b="0" dirty="0">
                          <a:solidFill>
                            <a:srgbClr val="000000"/>
                          </a:solidFill>
                        </a:rPr>
                        <a:t>4.8%</a:t>
                      </a:r>
                      <a:endParaRPr sz="1600" b="0" dirty="0">
                        <a:solidFill>
                          <a:srgbClr val="000000"/>
                        </a:solidFill>
                        <a:latin typeface="Aptos" panose="020B0004020202020204" pitchFamily="34" charset="0"/>
                      </a:endParaRPr>
                    </a:p>
                  </a:txBody>
                  <a:tcPr marL="36576" marR="36576" marT="36576" marB="36576"/>
                </a:tc>
                <a:tc>
                  <a:txBody>
                    <a:bodyPr/>
                    <a:lstStyle/>
                    <a:p>
                      <a:r>
                        <a:rPr sz="1600" b="0">
                          <a:solidFill>
                            <a:srgbClr val="000000"/>
                          </a:solidFill>
                        </a:rPr>
                        <a:t>Moderate reform</a:t>
                      </a:r>
                      <a:endParaRPr sz="1600" b="0">
                        <a:solidFill>
                          <a:srgbClr val="000000"/>
                        </a:solidFill>
                        <a:latin typeface="Aptos" panose="020B0004020202020204" pitchFamily="34" charset="0"/>
                      </a:endParaRPr>
                    </a:p>
                  </a:txBody>
                  <a:tcPr marL="36576" marR="36576" marT="36576" marB="36576"/>
                </a:tc>
                <a:extLst>
                  <a:ext uri="{0D108BD9-81ED-4DB2-BD59-A6C34878D82A}">
                    <a16:rowId xmlns:a16="http://schemas.microsoft.com/office/drawing/2014/main" val="10003"/>
                  </a:ext>
                </a:extLst>
              </a:tr>
              <a:tr h="287382">
                <a:tc>
                  <a:txBody>
                    <a:bodyPr/>
                    <a:lstStyle/>
                    <a:p>
                      <a:r>
                        <a:rPr sz="1600" b="1" dirty="0">
                          <a:solidFill>
                            <a:srgbClr val="002060"/>
                          </a:solidFill>
                        </a:rPr>
                        <a:t>+50%</a:t>
                      </a:r>
                      <a:endParaRPr sz="1600" b="1" dirty="0">
                        <a:solidFill>
                          <a:srgbClr val="002060"/>
                        </a:solidFill>
                        <a:latin typeface="Aptos" panose="020B0004020202020204" pitchFamily="34" charset="0"/>
                      </a:endParaRPr>
                    </a:p>
                  </a:txBody>
                  <a:tcPr marL="36576" marR="36576" marT="36576" marB="36576"/>
                </a:tc>
                <a:tc>
                  <a:txBody>
                    <a:bodyPr/>
                    <a:lstStyle/>
                    <a:p>
                      <a:r>
                        <a:rPr sz="1600" b="1" dirty="0">
                          <a:solidFill>
                            <a:srgbClr val="002060"/>
                          </a:solidFill>
                        </a:rPr>
                        <a:t>+19.0%</a:t>
                      </a:r>
                      <a:endParaRPr sz="1600" b="1" dirty="0">
                        <a:solidFill>
                          <a:srgbClr val="002060"/>
                        </a:solidFill>
                        <a:latin typeface="Aptos" panose="020B0004020202020204" pitchFamily="34" charset="0"/>
                      </a:endParaRPr>
                    </a:p>
                  </a:txBody>
                  <a:tcPr marL="36576" marR="36576" marT="36576" marB="36576"/>
                </a:tc>
                <a:tc>
                  <a:txBody>
                    <a:bodyPr/>
                    <a:lstStyle/>
                    <a:p>
                      <a:r>
                        <a:rPr lang="en-US" sz="1600" b="1" dirty="0">
                          <a:solidFill>
                            <a:srgbClr val="002060"/>
                          </a:solidFill>
                        </a:rPr>
                        <a:t>-</a:t>
                      </a:r>
                      <a:r>
                        <a:rPr sz="1600" b="1" dirty="0">
                          <a:solidFill>
                            <a:srgbClr val="002060"/>
                          </a:solidFill>
                        </a:rPr>
                        <a:t>9.5%</a:t>
                      </a:r>
                      <a:endParaRPr sz="1600" b="1" dirty="0">
                        <a:solidFill>
                          <a:srgbClr val="002060"/>
                        </a:solidFill>
                        <a:latin typeface="Aptos" panose="020B0004020202020204" pitchFamily="34" charset="0"/>
                      </a:endParaRPr>
                    </a:p>
                  </a:txBody>
                  <a:tcPr marL="36576" marR="36576" marT="36576" marB="36576"/>
                </a:tc>
                <a:tc>
                  <a:txBody>
                    <a:bodyPr/>
                    <a:lstStyle/>
                    <a:p>
                      <a:r>
                        <a:rPr sz="1600" b="1" dirty="0">
                          <a:solidFill>
                            <a:srgbClr val="002060"/>
                          </a:solidFill>
                        </a:rPr>
                        <a:t>Central case used in the results that follow</a:t>
                      </a:r>
                      <a:endParaRPr sz="1600" b="1" dirty="0">
                        <a:solidFill>
                          <a:srgbClr val="002060"/>
                        </a:solidFill>
                        <a:latin typeface="Aptos" panose="020B0004020202020204" pitchFamily="34" charset="0"/>
                      </a:endParaRPr>
                    </a:p>
                  </a:txBody>
                  <a:tcPr marL="36576" marR="36576" marT="36576" marB="36576"/>
                </a:tc>
                <a:extLst>
                  <a:ext uri="{0D108BD9-81ED-4DB2-BD59-A6C34878D82A}">
                    <a16:rowId xmlns:a16="http://schemas.microsoft.com/office/drawing/2014/main" val="10004"/>
                  </a:ext>
                </a:extLst>
              </a:tr>
              <a:tr h="287382">
                <a:tc>
                  <a:txBody>
                    <a:bodyPr/>
                    <a:lstStyle/>
                    <a:p>
                      <a:r>
                        <a:rPr sz="1600" b="0" dirty="0">
                          <a:solidFill>
                            <a:srgbClr val="000000"/>
                          </a:solidFill>
                        </a:rPr>
                        <a:t>+100%</a:t>
                      </a:r>
                      <a:endParaRPr sz="1600" b="0" dirty="0">
                        <a:solidFill>
                          <a:srgbClr val="000000"/>
                        </a:solidFill>
                        <a:latin typeface="Aptos" panose="020B0004020202020204" pitchFamily="34" charset="0"/>
                      </a:endParaRPr>
                    </a:p>
                  </a:txBody>
                  <a:tcPr marL="36576" marR="36576" marT="36576" marB="36576"/>
                </a:tc>
                <a:tc>
                  <a:txBody>
                    <a:bodyPr/>
                    <a:lstStyle/>
                    <a:p>
                      <a:r>
                        <a:rPr sz="1600" b="0" dirty="0">
                          <a:solidFill>
                            <a:srgbClr val="000000"/>
                          </a:solidFill>
                        </a:rPr>
                        <a:t>+37.9%</a:t>
                      </a:r>
                      <a:endParaRPr sz="1600" b="0" dirty="0">
                        <a:solidFill>
                          <a:srgbClr val="000000"/>
                        </a:solidFill>
                        <a:latin typeface="Aptos" panose="020B0004020202020204" pitchFamily="34" charset="0"/>
                      </a:endParaRPr>
                    </a:p>
                  </a:txBody>
                  <a:tcPr marL="36576" marR="36576" marT="36576" marB="36576"/>
                </a:tc>
                <a:tc>
                  <a:txBody>
                    <a:bodyPr/>
                    <a:lstStyle/>
                    <a:p>
                      <a:r>
                        <a:rPr lang="en-US" sz="1600" b="0" dirty="0">
                          <a:solidFill>
                            <a:srgbClr val="000000"/>
                          </a:solidFill>
                        </a:rPr>
                        <a:t>-</a:t>
                      </a:r>
                      <a:r>
                        <a:rPr sz="1600" b="0" dirty="0">
                          <a:solidFill>
                            <a:srgbClr val="000000"/>
                          </a:solidFill>
                        </a:rPr>
                        <a:t>18.6%</a:t>
                      </a:r>
                      <a:endParaRPr sz="1600" b="0" dirty="0">
                        <a:solidFill>
                          <a:srgbClr val="000000"/>
                        </a:solidFill>
                        <a:latin typeface="Aptos" panose="020B0004020202020204" pitchFamily="34" charset="0"/>
                      </a:endParaRPr>
                    </a:p>
                  </a:txBody>
                  <a:tcPr marL="36576" marR="36576" marT="36576" marB="36576"/>
                </a:tc>
                <a:tc>
                  <a:txBody>
                    <a:bodyPr/>
                    <a:lstStyle/>
                    <a:p>
                      <a:r>
                        <a:rPr sz="1600" b="0">
                          <a:solidFill>
                            <a:srgbClr val="000000"/>
                          </a:solidFill>
                        </a:rPr>
                        <a:t>Ambitious reform</a:t>
                      </a:r>
                      <a:endParaRPr sz="1600" b="0">
                        <a:solidFill>
                          <a:srgbClr val="000000"/>
                        </a:solidFill>
                        <a:latin typeface="Aptos" panose="020B0004020202020204" pitchFamily="34" charset="0"/>
                      </a:endParaRPr>
                    </a:p>
                  </a:txBody>
                  <a:tcPr marL="36576" marR="36576" marT="36576" marB="36576"/>
                </a:tc>
                <a:extLst>
                  <a:ext uri="{0D108BD9-81ED-4DB2-BD59-A6C34878D82A}">
                    <a16:rowId xmlns:a16="http://schemas.microsoft.com/office/drawing/2014/main" val="10005"/>
                  </a:ext>
                </a:extLst>
              </a:tr>
              <a:tr h="287388">
                <a:tc>
                  <a:txBody>
                    <a:bodyPr/>
                    <a:lstStyle/>
                    <a:p>
                      <a:r>
                        <a:rPr sz="1600" b="0" dirty="0">
                          <a:solidFill>
                            <a:srgbClr val="000000"/>
                          </a:solidFill>
                        </a:rPr>
                        <a:t>+200%</a:t>
                      </a:r>
                      <a:endParaRPr sz="1600" b="0" dirty="0">
                        <a:solidFill>
                          <a:srgbClr val="000000"/>
                        </a:solidFill>
                        <a:latin typeface="Aptos" panose="020B0004020202020204" pitchFamily="34" charset="0"/>
                      </a:endParaRPr>
                    </a:p>
                  </a:txBody>
                  <a:tcPr marL="36576" marR="36576" marT="36576" marB="36576"/>
                </a:tc>
                <a:tc>
                  <a:txBody>
                    <a:bodyPr/>
                    <a:lstStyle/>
                    <a:p>
                      <a:r>
                        <a:rPr sz="1600" b="0" dirty="0">
                          <a:solidFill>
                            <a:srgbClr val="000000"/>
                          </a:solidFill>
                        </a:rPr>
                        <a:t>+75.9%</a:t>
                      </a:r>
                      <a:endParaRPr sz="1600" b="0" dirty="0">
                        <a:solidFill>
                          <a:srgbClr val="000000"/>
                        </a:solidFill>
                        <a:latin typeface="Aptos" panose="020B0004020202020204" pitchFamily="34" charset="0"/>
                      </a:endParaRPr>
                    </a:p>
                  </a:txBody>
                  <a:tcPr marL="36576" marR="36576" marT="36576" marB="36576"/>
                </a:tc>
                <a:tc>
                  <a:txBody>
                    <a:bodyPr/>
                    <a:lstStyle/>
                    <a:p>
                      <a:r>
                        <a:rPr lang="en-US" sz="1600" b="0" dirty="0">
                          <a:solidFill>
                            <a:srgbClr val="000000"/>
                          </a:solidFill>
                        </a:rPr>
                        <a:t>-</a:t>
                      </a:r>
                      <a:r>
                        <a:rPr sz="1600" b="0" dirty="0">
                          <a:solidFill>
                            <a:srgbClr val="000000"/>
                          </a:solidFill>
                        </a:rPr>
                        <a:t>35.3%</a:t>
                      </a:r>
                      <a:endParaRPr sz="1600" b="0" dirty="0">
                        <a:solidFill>
                          <a:srgbClr val="000000"/>
                        </a:solidFill>
                        <a:latin typeface="Aptos" panose="020B0004020202020204" pitchFamily="34" charset="0"/>
                      </a:endParaRPr>
                    </a:p>
                  </a:txBody>
                  <a:tcPr marL="36576" marR="36576" marT="36576" marB="36576"/>
                </a:tc>
                <a:tc>
                  <a:txBody>
                    <a:bodyPr/>
                    <a:lstStyle/>
                    <a:p>
                      <a:r>
                        <a:rPr sz="1600" b="0" dirty="0">
                          <a:solidFill>
                            <a:srgbClr val="000000"/>
                          </a:solidFill>
                        </a:rPr>
                        <a:t>Upper bound examined</a:t>
                      </a:r>
                      <a:endParaRPr sz="1600" b="0" dirty="0">
                        <a:solidFill>
                          <a:srgbClr val="000000"/>
                        </a:solidFill>
                        <a:latin typeface="Aptos" panose="020B0004020202020204" pitchFamily="34" charset="0"/>
                      </a:endParaRPr>
                    </a:p>
                  </a:txBody>
                  <a:tcPr marL="36576" marR="36576" marT="36576" marB="36576"/>
                </a:tc>
                <a:extLst>
                  <a:ext uri="{0D108BD9-81ED-4DB2-BD59-A6C34878D82A}">
                    <a16:rowId xmlns:a16="http://schemas.microsoft.com/office/drawing/2014/main" val="10006"/>
                  </a:ext>
                </a:extLst>
              </a:tr>
            </a:tbl>
          </a:graphicData>
        </a:graphic>
      </p:graphicFrame>
      <p:sp>
        <p:nvSpPr>
          <p:cNvPr id="4" name="TextBox 3"/>
          <p:cNvSpPr txBox="1"/>
          <p:nvPr/>
        </p:nvSpPr>
        <p:spPr>
          <a:xfrm>
            <a:off x="457200" y="5352871"/>
            <a:ext cx="8229600" cy="1200329"/>
          </a:xfrm>
          <a:prstGeom prst="rect">
            <a:avLst/>
          </a:prstGeom>
          <a:noFill/>
        </p:spPr>
        <p:txBody>
          <a:bodyPr wrap="square">
            <a:spAutoFit/>
          </a:bodyPr>
          <a:lstStyle/>
          <a:p>
            <a:r>
              <a:rPr b="1" dirty="0">
                <a:solidFill>
                  <a:srgbClr val="000000"/>
                </a:solidFill>
                <a:latin typeface="Calibri"/>
              </a:rPr>
              <a:t>Why price rises less than the tax:  </a:t>
            </a:r>
            <a:r>
              <a:rPr dirty="0">
                <a:solidFill>
                  <a:srgbClr val="000000"/>
                </a:solidFill>
                <a:latin typeface="Calibri"/>
              </a:rPr>
              <a:t>excise is 38% of the retail price on average across the nine cigarette tiers — 14% for the cheapest hand-rolled tier, 54% for machine-made — so a 50% excise increase lifts price by 19%. We assume the full increase passes to consumers</a:t>
            </a:r>
            <a:r>
              <a:rPr lang="en-US" dirty="0">
                <a:solidFill>
                  <a:srgbClr val="000000"/>
                </a:solidFill>
                <a:latin typeface="Calibri"/>
              </a:rPr>
              <a:t>.</a:t>
            </a:r>
            <a:endParaRPr dirty="0">
              <a:solidFill>
                <a:srgbClr val="000000"/>
              </a:solidFill>
              <a:latin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000" y="457200"/>
            <a:ext cx="7970000" cy="1150000"/>
          </a:xfrm>
        </p:spPr>
        <p:txBody>
          <a:bodyPr>
            <a:noAutofit/>
          </a:bodyPr>
          <a:lstStyle/>
          <a:p>
            <a:pPr algn="ctr"/>
            <a:r>
              <a:rPr sz="4000" b="1" dirty="0">
                <a:latin typeface="Calibri" panose="020F0502020204030204" pitchFamily="34" charset="0"/>
                <a:cs typeface="Calibri" panose="020F0502020204030204" pitchFamily="34" charset="0"/>
              </a:rPr>
              <a:t>Input </a:t>
            </a:r>
            <a:r>
              <a:rPr lang="en-US" sz="4000" b="1" dirty="0">
                <a:latin typeface="Calibri" panose="020F0502020204030204" pitchFamily="34" charset="0"/>
                <a:cs typeface="Calibri" panose="020F0502020204030204" pitchFamily="34" charset="0"/>
              </a:rPr>
              <a:t>(</a:t>
            </a:r>
            <a:r>
              <a:rPr sz="4000" b="1" dirty="0">
                <a:latin typeface="Calibri" panose="020F0502020204030204" pitchFamily="34" charset="0"/>
                <a:cs typeface="Calibri" panose="020F0502020204030204" pitchFamily="34" charset="0"/>
              </a:rPr>
              <a:t>3</a:t>
            </a:r>
            <a:r>
              <a:rPr lang="en-US" sz="4000" b="1" dirty="0">
                <a:latin typeface="Calibri" panose="020F0502020204030204" pitchFamily="34" charset="0"/>
                <a:cs typeface="Calibri" panose="020F0502020204030204" pitchFamily="34" charset="0"/>
              </a:rPr>
              <a:t>)</a:t>
            </a:r>
            <a:r>
              <a:rPr sz="4000" b="1" dirty="0">
                <a:latin typeface="Calibri" panose="020F0502020204030204" pitchFamily="34" charset="0"/>
                <a:cs typeface="Calibri" panose="020F0502020204030204" pitchFamily="34" charset="0"/>
              </a:rPr>
              <a:t>: </a:t>
            </a:r>
            <a:r>
              <a:rPr lang="en-US" sz="4000" dirty="0">
                <a:latin typeface="Calibri" panose="020F0502020204030204" pitchFamily="34" charset="0"/>
                <a:cs typeface="Calibri" panose="020F0502020204030204" pitchFamily="34" charset="0"/>
              </a:rPr>
              <a:t>H</a:t>
            </a:r>
            <a:r>
              <a:rPr sz="4000" dirty="0">
                <a:latin typeface="Calibri" panose="020F0502020204030204" pitchFamily="34" charset="0"/>
                <a:cs typeface="Calibri" panose="020F0502020204030204" pitchFamily="34" charset="0"/>
              </a:rPr>
              <a:t>ow smokers respond</a:t>
            </a:r>
            <a:br>
              <a:rPr sz="4000" dirty="0">
                <a:latin typeface="Calibri" panose="020F0502020204030204" pitchFamily="34" charset="0"/>
                <a:cs typeface="Calibri" panose="020F0502020204030204" pitchFamily="34" charset="0"/>
              </a:rPr>
            </a:br>
            <a:r>
              <a:rPr sz="3000" dirty="0">
                <a:latin typeface="Calibri" panose="020F0502020204030204" pitchFamily="34" charset="0"/>
                <a:cs typeface="Calibri" panose="020F0502020204030204" pitchFamily="34" charset="0"/>
              </a:rPr>
              <a:t>Two </a:t>
            </a:r>
            <a:r>
              <a:rPr lang="en-US" sz="3000" dirty="0">
                <a:latin typeface="Calibri" panose="020F0502020204030204" pitchFamily="34" charset="0"/>
                <a:cs typeface="Calibri" panose="020F0502020204030204" pitchFamily="34" charset="0"/>
              </a:rPr>
              <a:t>behavioral response</a:t>
            </a:r>
            <a:r>
              <a:rPr sz="3000" dirty="0">
                <a:latin typeface="Calibri" panose="020F0502020204030204" pitchFamily="34" charset="0"/>
                <a:cs typeface="Calibri" panose="020F0502020204030204" pitchFamily="34" charset="0"/>
              </a:rPr>
              <a:t>s — </a:t>
            </a:r>
            <a:r>
              <a:rPr lang="en-US" sz="3000" dirty="0">
                <a:latin typeface="Calibri" panose="020F0502020204030204" pitchFamily="34" charset="0"/>
                <a:cs typeface="Calibri" panose="020F0502020204030204" pitchFamily="34" charset="0"/>
              </a:rPr>
              <a:t>yet</a:t>
            </a:r>
            <a:r>
              <a:rPr sz="3000" dirty="0">
                <a:latin typeface="Calibri" panose="020F0502020204030204" pitchFamily="34" charset="0"/>
                <a:cs typeface="Calibri" panose="020F0502020204030204" pitchFamily="34" charset="0"/>
              </a:rPr>
              <a:t> only quitting </a:t>
            </a:r>
            <a:r>
              <a:rPr lang="en-US" sz="3000" dirty="0">
                <a:latin typeface="Calibri" panose="020F0502020204030204" pitchFamily="34" charset="0"/>
                <a:cs typeface="Calibri" panose="020F0502020204030204" pitchFamily="34" charset="0"/>
              </a:rPr>
              <a:t>provides</a:t>
            </a:r>
            <a:r>
              <a:rPr sz="3000" dirty="0">
                <a:latin typeface="Calibri" panose="020F0502020204030204" pitchFamily="34" charset="0"/>
                <a:cs typeface="Calibri" panose="020F0502020204030204" pitchFamily="34" charset="0"/>
              </a:rPr>
              <a:t> </a:t>
            </a:r>
            <a:r>
              <a:rPr lang="en-US" sz="3000" dirty="0">
                <a:latin typeface="Calibri" panose="020F0502020204030204" pitchFamily="34" charset="0"/>
                <a:cs typeface="Calibri" panose="020F0502020204030204" pitchFamily="34" charset="0"/>
              </a:rPr>
              <a:t>mortality reduction benefits</a:t>
            </a:r>
            <a:endParaRPr sz="3000" dirty="0">
              <a:latin typeface="Calibri" panose="020F0502020204030204" pitchFamily="34" charset="0"/>
              <a:cs typeface="Calibri" panose="020F050202020403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2159085263"/>
              </p:ext>
            </p:extLst>
          </p:nvPr>
        </p:nvGraphicFramePr>
        <p:xfrm>
          <a:off x="1136978" y="2057400"/>
          <a:ext cx="6716985" cy="2950464"/>
        </p:xfrm>
        <a:graphic>
          <a:graphicData uri="http://schemas.openxmlformats.org/drawingml/2006/table">
            <a:tbl>
              <a:tblPr firstRow="1">
                <a:tableStyleId>{616DA210-FB5B-4158-B5E0-FEB733F419BA}</a:tableStyleId>
              </a:tblPr>
              <a:tblGrid>
                <a:gridCol w="880135">
                  <a:extLst>
                    <a:ext uri="{9D8B030D-6E8A-4147-A177-3AD203B41FA5}">
                      <a16:colId xmlns:a16="http://schemas.microsoft.com/office/drawing/2014/main" val="20000"/>
                    </a:ext>
                  </a:extLst>
                </a:gridCol>
                <a:gridCol w="278885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274320">
                <a:tc>
                  <a:txBody>
                    <a:bodyPr/>
                    <a:lstStyle/>
                    <a:p>
                      <a:r>
                        <a:rPr sz="2000" b="1" dirty="0">
                          <a:solidFill>
                            <a:srgbClr val="000000"/>
                          </a:solidFill>
                          <a:latin typeface="Calibri"/>
                        </a:rPr>
                        <a:t>Age band</a:t>
                      </a:r>
                    </a:p>
                  </a:txBody>
                  <a:tcPr marL="36576" marR="36576" marT="36576" marB="36576"/>
                </a:tc>
                <a:tc>
                  <a:txBody>
                    <a:bodyPr/>
                    <a:lstStyle/>
                    <a:p>
                      <a:r>
                        <a:rPr sz="2000" b="1" dirty="0">
                          <a:solidFill>
                            <a:srgbClr val="000000"/>
                          </a:solidFill>
                          <a:latin typeface="Calibri"/>
                        </a:rPr>
                        <a:t>Participation (quitting)</a:t>
                      </a:r>
                    </a:p>
                  </a:txBody>
                  <a:tcPr marL="36576" marR="36576" marT="36576" marB="36576"/>
                </a:tc>
                <a:tc>
                  <a:txBody>
                    <a:bodyPr/>
                    <a:lstStyle/>
                    <a:p>
                      <a:r>
                        <a:rPr sz="2000" b="1">
                          <a:solidFill>
                            <a:srgbClr val="000000"/>
                          </a:solidFill>
                          <a:latin typeface="Calibri"/>
                        </a:rPr>
                        <a:t>Intensity (smoking less)</a:t>
                      </a:r>
                    </a:p>
                  </a:txBody>
                  <a:tcPr marL="36576" marR="36576" marT="36576" marB="36576"/>
                </a:tc>
                <a:extLst>
                  <a:ext uri="{0D108BD9-81ED-4DB2-BD59-A6C34878D82A}">
                    <a16:rowId xmlns:a16="http://schemas.microsoft.com/office/drawing/2014/main" val="10000"/>
                  </a:ext>
                </a:extLst>
              </a:tr>
              <a:tr h="274320">
                <a:tc>
                  <a:txBody>
                    <a:bodyPr/>
                    <a:lstStyle/>
                    <a:p>
                      <a:r>
                        <a:rPr sz="2000" b="0" dirty="0">
                          <a:solidFill>
                            <a:srgbClr val="000000"/>
                          </a:solidFill>
                          <a:latin typeface="Calibri"/>
                        </a:rPr>
                        <a:t>15–24</a:t>
                      </a:r>
                    </a:p>
                  </a:txBody>
                  <a:tcPr marL="36576" marR="36576" marT="36576" marB="36576"/>
                </a:tc>
                <a:tc>
                  <a:txBody>
                    <a:bodyPr/>
                    <a:lstStyle/>
                    <a:p>
                      <a:r>
                        <a:rPr sz="2000" b="0" dirty="0">
                          <a:solidFill>
                            <a:srgbClr val="000000"/>
                          </a:solidFill>
                          <a:latin typeface="Calibri"/>
                        </a:rPr>
                        <a:t>−0.31</a:t>
                      </a:r>
                    </a:p>
                  </a:txBody>
                  <a:tcPr marL="36576" marR="36576" marT="36576" marB="36576"/>
                </a:tc>
                <a:tc>
                  <a:txBody>
                    <a:bodyPr/>
                    <a:lstStyle/>
                    <a:p>
                      <a:r>
                        <a:rPr sz="2000" b="0" dirty="0">
                          <a:solidFill>
                            <a:srgbClr val="000000"/>
                          </a:solidFill>
                          <a:latin typeface="Calibri"/>
                        </a:rPr>
                        <a:t>−0.36</a:t>
                      </a:r>
                    </a:p>
                  </a:txBody>
                  <a:tcPr marL="36576" marR="36576" marT="36576" marB="36576"/>
                </a:tc>
                <a:extLst>
                  <a:ext uri="{0D108BD9-81ED-4DB2-BD59-A6C34878D82A}">
                    <a16:rowId xmlns:a16="http://schemas.microsoft.com/office/drawing/2014/main" val="10001"/>
                  </a:ext>
                </a:extLst>
              </a:tr>
              <a:tr h="274320">
                <a:tc>
                  <a:txBody>
                    <a:bodyPr/>
                    <a:lstStyle/>
                    <a:p>
                      <a:r>
                        <a:rPr sz="2000" b="0">
                          <a:solidFill>
                            <a:srgbClr val="000000"/>
                          </a:solidFill>
                          <a:latin typeface="Calibri"/>
                        </a:rPr>
                        <a:t>25–34</a:t>
                      </a:r>
                    </a:p>
                  </a:txBody>
                  <a:tcPr marL="36576" marR="36576" marT="36576" marB="36576"/>
                </a:tc>
                <a:tc>
                  <a:txBody>
                    <a:bodyPr/>
                    <a:lstStyle/>
                    <a:p>
                      <a:r>
                        <a:rPr sz="2000" b="0" dirty="0">
                          <a:solidFill>
                            <a:srgbClr val="000000"/>
                          </a:solidFill>
                          <a:latin typeface="Calibri"/>
                        </a:rPr>
                        <a:t>−0.19</a:t>
                      </a:r>
                    </a:p>
                  </a:txBody>
                  <a:tcPr marL="36576" marR="36576" marT="36576" marB="36576"/>
                </a:tc>
                <a:tc>
                  <a:txBody>
                    <a:bodyPr/>
                    <a:lstStyle/>
                    <a:p>
                      <a:r>
                        <a:rPr sz="2000" b="0" dirty="0">
                          <a:solidFill>
                            <a:srgbClr val="000000"/>
                          </a:solidFill>
                          <a:latin typeface="Calibri"/>
                        </a:rPr>
                        <a:t>−0.39</a:t>
                      </a:r>
                    </a:p>
                  </a:txBody>
                  <a:tcPr marL="36576" marR="36576" marT="36576" marB="36576"/>
                </a:tc>
                <a:extLst>
                  <a:ext uri="{0D108BD9-81ED-4DB2-BD59-A6C34878D82A}">
                    <a16:rowId xmlns:a16="http://schemas.microsoft.com/office/drawing/2014/main" val="10002"/>
                  </a:ext>
                </a:extLst>
              </a:tr>
              <a:tr h="274320">
                <a:tc>
                  <a:txBody>
                    <a:bodyPr/>
                    <a:lstStyle/>
                    <a:p>
                      <a:r>
                        <a:rPr sz="2000" b="0">
                          <a:solidFill>
                            <a:srgbClr val="000000"/>
                          </a:solidFill>
                          <a:latin typeface="Calibri"/>
                        </a:rPr>
                        <a:t>35–44</a:t>
                      </a:r>
                    </a:p>
                  </a:txBody>
                  <a:tcPr marL="36576" marR="36576" marT="36576" marB="36576"/>
                </a:tc>
                <a:tc>
                  <a:txBody>
                    <a:bodyPr/>
                    <a:lstStyle/>
                    <a:p>
                      <a:r>
                        <a:rPr sz="2000" b="0" dirty="0">
                          <a:solidFill>
                            <a:srgbClr val="000000"/>
                          </a:solidFill>
                          <a:latin typeface="Calibri"/>
                        </a:rPr>
                        <a:t>−0.09</a:t>
                      </a:r>
                    </a:p>
                  </a:txBody>
                  <a:tcPr marL="36576" marR="36576" marT="36576" marB="36576"/>
                </a:tc>
                <a:tc>
                  <a:txBody>
                    <a:bodyPr/>
                    <a:lstStyle/>
                    <a:p>
                      <a:r>
                        <a:rPr sz="2000" b="0">
                          <a:solidFill>
                            <a:srgbClr val="000000"/>
                          </a:solidFill>
                          <a:latin typeface="Calibri"/>
                        </a:rPr>
                        <a:t>−0.37</a:t>
                      </a:r>
                    </a:p>
                  </a:txBody>
                  <a:tcPr marL="36576" marR="36576" marT="36576" marB="36576"/>
                </a:tc>
                <a:extLst>
                  <a:ext uri="{0D108BD9-81ED-4DB2-BD59-A6C34878D82A}">
                    <a16:rowId xmlns:a16="http://schemas.microsoft.com/office/drawing/2014/main" val="10003"/>
                  </a:ext>
                </a:extLst>
              </a:tr>
              <a:tr h="274320">
                <a:tc>
                  <a:txBody>
                    <a:bodyPr/>
                    <a:lstStyle/>
                    <a:p>
                      <a:r>
                        <a:rPr sz="2000" b="0">
                          <a:solidFill>
                            <a:srgbClr val="000000"/>
                          </a:solidFill>
                          <a:latin typeface="Calibri"/>
                        </a:rPr>
                        <a:t>45–54</a:t>
                      </a:r>
                    </a:p>
                  </a:txBody>
                  <a:tcPr marL="36576" marR="36576" marT="36576" marB="36576"/>
                </a:tc>
                <a:tc>
                  <a:txBody>
                    <a:bodyPr/>
                    <a:lstStyle/>
                    <a:p>
                      <a:r>
                        <a:rPr sz="2000" b="0" dirty="0">
                          <a:solidFill>
                            <a:srgbClr val="000000"/>
                          </a:solidFill>
                          <a:latin typeface="Calibri"/>
                        </a:rPr>
                        <a:t>−0.04</a:t>
                      </a:r>
                    </a:p>
                  </a:txBody>
                  <a:tcPr marL="36576" marR="36576" marT="36576" marB="36576"/>
                </a:tc>
                <a:tc>
                  <a:txBody>
                    <a:bodyPr/>
                    <a:lstStyle/>
                    <a:p>
                      <a:r>
                        <a:rPr sz="2000" b="0" dirty="0">
                          <a:solidFill>
                            <a:srgbClr val="000000"/>
                          </a:solidFill>
                          <a:latin typeface="Calibri"/>
                        </a:rPr>
                        <a:t>−0.37</a:t>
                      </a:r>
                    </a:p>
                  </a:txBody>
                  <a:tcPr marL="36576" marR="36576" marT="36576" marB="36576"/>
                </a:tc>
                <a:extLst>
                  <a:ext uri="{0D108BD9-81ED-4DB2-BD59-A6C34878D82A}">
                    <a16:rowId xmlns:a16="http://schemas.microsoft.com/office/drawing/2014/main" val="10004"/>
                  </a:ext>
                </a:extLst>
              </a:tr>
              <a:tr h="274320">
                <a:tc>
                  <a:txBody>
                    <a:bodyPr/>
                    <a:lstStyle/>
                    <a:p>
                      <a:r>
                        <a:rPr sz="2000" b="0">
                          <a:solidFill>
                            <a:srgbClr val="000000"/>
                          </a:solidFill>
                          <a:latin typeface="Calibri"/>
                        </a:rPr>
                        <a:t>55–64</a:t>
                      </a:r>
                    </a:p>
                  </a:txBody>
                  <a:tcPr marL="36576" marR="36576" marT="36576" marB="36576"/>
                </a:tc>
                <a:tc>
                  <a:txBody>
                    <a:bodyPr/>
                    <a:lstStyle/>
                    <a:p>
                      <a:r>
                        <a:rPr sz="2000" b="0" dirty="0">
                          <a:solidFill>
                            <a:srgbClr val="000000"/>
                          </a:solidFill>
                          <a:latin typeface="Calibri"/>
                        </a:rPr>
                        <a:t>−0.07</a:t>
                      </a:r>
                    </a:p>
                  </a:txBody>
                  <a:tcPr marL="36576" marR="36576" marT="36576" marB="36576"/>
                </a:tc>
                <a:tc>
                  <a:txBody>
                    <a:bodyPr/>
                    <a:lstStyle/>
                    <a:p>
                      <a:r>
                        <a:rPr sz="2000" b="0" dirty="0">
                          <a:solidFill>
                            <a:srgbClr val="000000"/>
                          </a:solidFill>
                          <a:latin typeface="Calibri"/>
                        </a:rPr>
                        <a:t>−0.39</a:t>
                      </a:r>
                    </a:p>
                  </a:txBody>
                  <a:tcPr marL="36576" marR="36576" marT="36576" marB="36576"/>
                </a:tc>
                <a:extLst>
                  <a:ext uri="{0D108BD9-81ED-4DB2-BD59-A6C34878D82A}">
                    <a16:rowId xmlns:a16="http://schemas.microsoft.com/office/drawing/2014/main" val="10005"/>
                  </a:ext>
                </a:extLst>
              </a:tr>
              <a:tr h="274320">
                <a:tc>
                  <a:txBody>
                    <a:bodyPr/>
                    <a:lstStyle/>
                    <a:p>
                      <a:r>
                        <a:rPr sz="2000" b="0">
                          <a:solidFill>
                            <a:srgbClr val="000000"/>
                          </a:solidFill>
                          <a:latin typeface="Calibri"/>
                        </a:rPr>
                        <a:t>65+</a:t>
                      </a:r>
                    </a:p>
                  </a:txBody>
                  <a:tcPr marL="36576" marR="36576" marT="36576" marB="36576"/>
                </a:tc>
                <a:tc>
                  <a:txBody>
                    <a:bodyPr/>
                    <a:lstStyle/>
                    <a:p>
                      <a:r>
                        <a:rPr sz="2000" b="0">
                          <a:solidFill>
                            <a:srgbClr val="000000"/>
                          </a:solidFill>
                          <a:latin typeface="Calibri"/>
                        </a:rPr>
                        <a:t>−0.25</a:t>
                      </a:r>
                    </a:p>
                  </a:txBody>
                  <a:tcPr marL="36576" marR="36576" marT="36576" marB="36576"/>
                </a:tc>
                <a:tc>
                  <a:txBody>
                    <a:bodyPr/>
                    <a:lstStyle/>
                    <a:p>
                      <a:r>
                        <a:rPr sz="2000" b="0" dirty="0">
                          <a:solidFill>
                            <a:srgbClr val="000000"/>
                          </a:solidFill>
                          <a:latin typeface="Calibri"/>
                        </a:rPr>
                        <a:t>−0.38</a:t>
                      </a:r>
                    </a:p>
                  </a:txBody>
                  <a:tcPr marL="36576" marR="36576" marT="36576" marB="36576"/>
                </a:tc>
                <a:extLst>
                  <a:ext uri="{0D108BD9-81ED-4DB2-BD59-A6C34878D82A}">
                    <a16:rowId xmlns:a16="http://schemas.microsoft.com/office/drawing/2014/main" val="10006"/>
                  </a:ext>
                </a:extLst>
              </a:tr>
            </a:tbl>
          </a:graphicData>
        </a:graphic>
      </p:graphicFrame>
      <p:sp>
        <p:nvSpPr>
          <p:cNvPr id="5" name="TextBox 4"/>
          <p:cNvSpPr txBox="1"/>
          <p:nvPr/>
        </p:nvSpPr>
        <p:spPr>
          <a:xfrm>
            <a:off x="510471" y="5152072"/>
            <a:ext cx="7970000" cy="1477328"/>
          </a:xfrm>
          <a:prstGeom prst="rect">
            <a:avLst/>
          </a:prstGeom>
          <a:noFill/>
        </p:spPr>
        <p:txBody>
          <a:bodyPr wrap="square">
            <a:spAutoFit/>
          </a:bodyPr>
          <a:lstStyle/>
          <a:p>
            <a:r>
              <a:rPr lang="en-US" b="1" dirty="0">
                <a:solidFill>
                  <a:srgbClr val="000000"/>
                </a:solidFill>
                <a:latin typeface="Calibri"/>
              </a:rPr>
              <a:t>Notes:</a:t>
            </a:r>
          </a:p>
          <a:p>
            <a:pPr marL="285750" indent="-285750">
              <a:buFont typeface="Arial" panose="020B0604020202020204" pitchFamily="34" charset="0"/>
              <a:buChar char="•"/>
            </a:pPr>
            <a:r>
              <a:rPr dirty="0">
                <a:solidFill>
                  <a:srgbClr val="000000"/>
                </a:solidFill>
                <a:latin typeface="Calibri"/>
              </a:rPr>
              <a:t>The age pattern is</a:t>
            </a:r>
            <a:r>
              <a:rPr lang="en-US" dirty="0">
                <a:solidFill>
                  <a:srgbClr val="000000"/>
                </a:solidFill>
                <a:latin typeface="Calibri"/>
              </a:rPr>
              <a:t> from</a:t>
            </a:r>
            <a:r>
              <a:rPr dirty="0">
                <a:solidFill>
                  <a:srgbClr val="000000"/>
                </a:solidFill>
                <a:latin typeface="Calibri"/>
              </a:rPr>
              <a:t> Indonesian</a:t>
            </a:r>
            <a:r>
              <a:rPr lang="en-US" dirty="0">
                <a:solidFill>
                  <a:srgbClr val="000000"/>
                </a:solidFill>
                <a:latin typeface="Calibri"/>
              </a:rPr>
              <a:t> data</a:t>
            </a:r>
            <a:r>
              <a:rPr dirty="0">
                <a:solidFill>
                  <a:srgbClr val="000000"/>
                </a:solidFill>
                <a:latin typeface="Calibri"/>
              </a:rPr>
              <a:t> </a:t>
            </a:r>
            <a:r>
              <a:rPr lang="en-US" dirty="0">
                <a:solidFill>
                  <a:srgbClr val="000000"/>
                </a:solidFill>
                <a:latin typeface="Calibri"/>
              </a:rPr>
              <a:t>(</a:t>
            </a:r>
            <a:r>
              <a:rPr dirty="0">
                <a:solidFill>
                  <a:srgbClr val="000000"/>
                </a:solidFill>
                <a:latin typeface="Calibri"/>
              </a:rPr>
              <a:t>Fauzi</a:t>
            </a:r>
            <a:r>
              <a:rPr lang="en-US" dirty="0">
                <a:solidFill>
                  <a:srgbClr val="000000"/>
                </a:solidFill>
                <a:latin typeface="Calibri"/>
              </a:rPr>
              <a:t>, </a:t>
            </a:r>
            <a:r>
              <a:rPr dirty="0">
                <a:solidFill>
                  <a:srgbClr val="000000"/>
                </a:solidFill>
                <a:latin typeface="Calibri"/>
              </a:rPr>
              <a:t>2021</a:t>
            </a:r>
            <a:r>
              <a:rPr lang="en-US" dirty="0">
                <a:solidFill>
                  <a:srgbClr val="000000"/>
                </a:solidFill>
                <a:latin typeface="Calibri"/>
              </a:rPr>
              <a:t>). </a:t>
            </a:r>
          </a:p>
          <a:p>
            <a:pPr marL="285750" indent="-285750">
              <a:buFont typeface="Arial" panose="020B0604020202020204" pitchFamily="34" charset="0"/>
              <a:buChar char="•"/>
            </a:pPr>
            <a:r>
              <a:rPr dirty="0">
                <a:solidFill>
                  <a:srgbClr val="000000"/>
                </a:solidFill>
                <a:latin typeface="Calibri"/>
              </a:rPr>
              <a:t>The income gradient </a:t>
            </a:r>
            <a:r>
              <a:rPr lang="en-US" dirty="0">
                <a:solidFill>
                  <a:srgbClr val="000000"/>
                </a:solidFill>
                <a:latin typeface="Calibri"/>
              </a:rPr>
              <a:t>uses Fauzi’s Indonesian national values and assumptions adapted from previous publications outside of Indonesia (WHO, 2000; Verguet, Gauvreau et al. </a:t>
            </a:r>
            <a:r>
              <a:rPr lang="en-US" i="1" dirty="0">
                <a:solidFill>
                  <a:srgbClr val="000000"/>
                </a:solidFill>
                <a:latin typeface="Calibri"/>
              </a:rPr>
              <a:t>Lancet Global Health </a:t>
            </a:r>
            <a:r>
              <a:rPr lang="en-US" dirty="0">
                <a:solidFill>
                  <a:srgbClr val="000000"/>
                </a:solidFill>
                <a:latin typeface="Calibri"/>
              </a:rPr>
              <a:t>2015).</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FC02AF0-CB29-32D4-BE71-93B3B9F09AB5}"/>
              </a:ext>
            </a:extLst>
          </p:cNvPr>
          <p:cNvPicPr>
            <a:picLocks noChangeAspect="1"/>
          </p:cNvPicPr>
          <p:nvPr/>
        </p:nvPicPr>
        <p:blipFill>
          <a:blip r:embed="rId3">
            <a:extLst>
              <a:ext uri="{28A0092B-C50C-407E-A947-70E740481C1C}">
                <a14:useLocalDpi xmlns:a14="http://schemas.microsoft.com/office/drawing/2010/main" val="0"/>
              </a:ext>
            </a:extLst>
          </a:blip>
          <a:srcRect t="12590" b="8152"/>
          <a:stretch>
            <a:fillRect/>
          </a:stretch>
        </p:blipFill>
        <p:spPr>
          <a:xfrm>
            <a:off x="327399" y="1855947"/>
            <a:ext cx="8200485" cy="3859053"/>
          </a:xfrm>
          <a:prstGeom prst="rect">
            <a:avLst/>
          </a:prstGeom>
        </p:spPr>
      </p:pic>
      <p:sp>
        <p:nvSpPr>
          <p:cNvPr id="2" name="Title 1"/>
          <p:cNvSpPr>
            <a:spLocks noGrp="1"/>
          </p:cNvSpPr>
          <p:nvPr>
            <p:ph type="title"/>
          </p:nvPr>
        </p:nvSpPr>
        <p:spPr>
          <a:xfrm>
            <a:off x="327399" y="457200"/>
            <a:ext cx="8377213" cy="1150000"/>
          </a:xfrm>
        </p:spPr>
        <p:txBody>
          <a:bodyPr>
            <a:noAutofit/>
          </a:bodyPr>
          <a:lstStyle/>
          <a:p>
            <a:pPr algn="ctr"/>
            <a:r>
              <a:rPr lang="en-US" sz="4200" b="1" dirty="0"/>
              <a:t>Key finding</a:t>
            </a:r>
            <a:r>
              <a:rPr sz="4200" b="1" dirty="0"/>
              <a:t> 1: </a:t>
            </a:r>
            <a:r>
              <a:rPr lang="en-US" sz="4200" dirty="0"/>
              <a:t>H</a:t>
            </a:r>
            <a:r>
              <a:rPr sz="4200" dirty="0"/>
              <a:t>ealth gains</a:t>
            </a:r>
            <a:r>
              <a:rPr lang="en-US" sz="4200" dirty="0"/>
              <a:t> are large &amp; pro-poor </a:t>
            </a:r>
            <a:br>
              <a:rPr lang="en-US" sz="4200" dirty="0"/>
            </a:br>
            <a:r>
              <a:rPr sz="3000" dirty="0"/>
              <a:t>724,000 premature deaths averted</a:t>
            </a:r>
            <a:r>
              <a:rPr lang="en-US" sz="3000" dirty="0"/>
              <a:t>; 60</a:t>
            </a:r>
            <a:r>
              <a:rPr sz="3000" dirty="0"/>
              <a:t>% in</a:t>
            </a:r>
            <a:r>
              <a:rPr lang="en-US" sz="3000" dirty="0"/>
              <a:t> Q1 &amp; Q2</a:t>
            </a:r>
            <a:endParaRPr sz="3000" dirty="0"/>
          </a:p>
        </p:txBody>
      </p:sp>
      <p:sp>
        <p:nvSpPr>
          <p:cNvPr id="4" name="TextBox 3"/>
          <p:cNvSpPr txBox="1"/>
          <p:nvPr/>
        </p:nvSpPr>
        <p:spPr>
          <a:xfrm>
            <a:off x="288886" y="5715000"/>
            <a:ext cx="8566227" cy="830997"/>
          </a:xfrm>
          <a:prstGeom prst="rect">
            <a:avLst/>
          </a:prstGeom>
          <a:noFill/>
        </p:spPr>
        <p:txBody>
          <a:bodyPr wrap="square">
            <a:spAutoFit/>
          </a:bodyPr>
          <a:lstStyle/>
          <a:p>
            <a:r>
              <a:rPr lang="en-US" sz="1600" b="1" dirty="0">
                <a:solidFill>
                  <a:srgbClr val="000000"/>
                </a:solidFill>
                <a:latin typeface="Calibri"/>
              </a:rPr>
              <a:t>Note: </a:t>
            </a:r>
            <a:r>
              <a:rPr sz="1600" dirty="0">
                <a:solidFill>
                  <a:srgbClr val="000000"/>
                </a:solidFill>
                <a:latin typeface="Calibri"/>
              </a:rPr>
              <a:t>19 tobacco-related conditions </a:t>
            </a:r>
            <a:r>
              <a:rPr lang="en-US" sz="1600" dirty="0">
                <a:solidFill>
                  <a:srgbClr val="000000"/>
                </a:solidFill>
                <a:latin typeface="Calibri"/>
              </a:rPr>
              <a:t>(incl. </a:t>
            </a:r>
            <a:r>
              <a:rPr sz="1600" dirty="0">
                <a:solidFill>
                  <a:srgbClr val="000000"/>
                </a:solidFill>
                <a:latin typeface="Calibri"/>
              </a:rPr>
              <a:t>cardiovascular 58%, COPD 15%, lung cancer 14%, diabetes 5%</a:t>
            </a:r>
            <a:r>
              <a:rPr lang="en-US" sz="1600" dirty="0">
                <a:solidFill>
                  <a:srgbClr val="000000"/>
                </a:solidFill>
                <a:latin typeface="Calibri"/>
              </a:rPr>
              <a:t>)</a:t>
            </a:r>
            <a:r>
              <a:rPr sz="1600" dirty="0">
                <a:solidFill>
                  <a:srgbClr val="000000"/>
                </a:solidFill>
                <a:latin typeface="Calibri"/>
              </a:rPr>
              <a:t> covering 85% of Indonesia's smoking-attributable deaths;</a:t>
            </a:r>
            <a:r>
              <a:rPr lang="en-US" sz="1600" dirty="0">
                <a:solidFill>
                  <a:srgbClr val="000000"/>
                </a:solidFill>
                <a:latin typeface="Calibri"/>
              </a:rPr>
              <a:t> tuberculosis and respiratory infections not yet included, so this is conservative. 95% uncertainty intervals (n= 2,000 Monte Carlo draws). </a:t>
            </a:r>
            <a:endParaRPr sz="1600" dirty="0">
              <a:solidFill>
                <a:srgbClr val="000000"/>
              </a:solidFill>
              <a:latin typeface="Calibri"/>
            </a:endParaRPr>
          </a:p>
        </p:txBody>
      </p:sp>
      <p:sp>
        <p:nvSpPr>
          <p:cNvPr id="3" name="TextBox 2">
            <a:extLst>
              <a:ext uri="{FF2B5EF4-FFF2-40B4-BE49-F238E27FC236}">
                <a16:creationId xmlns:a16="http://schemas.microsoft.com/office/drawing/2014/main" id="{DD6DE0A3-9829-D8B1-A844-E0F888DBF0C7}"/>
              </a:ext>
            </a:extLst>
          </p:cNvPr>
          <p:cNvSpPr txBox="1"/>
          <p:nvPr/>
        </p:nvSpPr>
        <p:spPr>
          <a:xfrm>
            <a:off x="5018314" y="2438400"/>
            <a:ext cx="3675412" cy="461665"/>
          </a:xfrm>
          <a:prstGeom prst="rect">
            <a:avLst/>
          </a:prstGeom>
          <a:noFill/>
        </p:spPr>
        <p:txBody>
          <a:bodyPr wrap="square" rtlCol="0">
            <a:spAutoFit/>
          </a:bodyPr>
          <a:lstStyle/>
          <a:p>
            <a:r>
              <a:rPr lang="en-US" sz="2400" b="1" dirty="0"/>
              <a:t>50% increase in excise tax</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4C1BC2B-FF21-A40D-149E-553C42698183}"/>
              </a:ext>
            </a:extLst>
          </p:cNvPr>
          <p:cNvPicPr>
            <a:picLocks noChangeAspect="1"/>
          </p:cNvPicPr>
          <p:nvPr/>
        </p:nvPicPr>
        <p:blipFill>
          <a:blip r:embed="rId3">
            <a:extLst>
              <a:ext uri="{28A0092B-C50C-407E-A947-70E740481C1C}">
                <a14:useLocalDpi xmlns:a14="http://schemas.microsoft.com/office/drawing/2010/main" val="0"/>
              </a:ext>
            </a:extLst>
          </a:blip>
          <a:srcRect t="12590" b="8152"/>
          <a:stretch>
            <a:fillRect/>
          </a:stretch>
        </p:blipFill>
        <p:spPr>
          <a:xfrm>
            <a:off x="327399" y="1821995"/>
            <a:ext cx="8582023" cy="4038600"/>
          </a:xfrm>
          <a:prstGeom prst="rect">
            <a:avLst/>
          </a:prstGeom>
        </p:spPr>
      </p:pic>
      <p:sp>
        <p:nvSpPr>
          <p:cNvPr id="4" name="TextBox 3"/>
          <p:cNvSpPr txBox="1"/>
          <p:nvPr/>
        </p:nvSpPr>
        <p:spPr>
          <a:xfrm>
            <a:off x="475012" y="5829064"/>
            <a:ext cx="8229600" cy="830997"/>
          </a:xfrm>
          <a:prstGeom prst="rect">
            <a:avLst/>
          </a:prstGeom>
          <a:noFill/>
        </p:spPr>
        <p:txBody>
          <a:bodyPr wrap="square">
            <a:spAutoFit/>
          </a:bodyPr>
          <a:lstStyle/>
          <a:p>
            <a:pPr lvl="0">
              <a:defRPr/>
            </a:pPr>
            <a:r>
              <a:rPr lang="en-US" sz="1600" b="1" dirty="0"/>
              <a:t>Note</a:t>
            </a:r>
            <a:r>
              <a:rPr lang="en-US" sz="1600" dirty="0"/>
              <a:t>: Catastrophic health expenditure (CHE) cases defined as an out-of-pocket payment above 10% of annual household consumption expenditure. </a:t>
            </a:r>
            <a:r>
              <a:rPr lang="en-US" sz="1600" dirty="0">
                <a:solidFill>
                  <a:srgbClr val="000000"/>
                </a:solidFill>
              </a:rPr>
              <a:t>95% uncertainty intervals (n= 2,000 Monte Carlo draws). </a:t>
            </a:r>
            <a:endParaRPr lang="en-US" sz="1600" dirty="0"/>
          </a:p>
        </p:txBody>
      </p:sp>
      <p:sp>
        <p:nvSpPr>
          <p:cNvPr id="3" name="Title 1">
            <a:extLst>
              <a:ext uri="{FF2B5EF4-FFF2-40B4-BE49-F238E27FC236}">
                <a16:creationId xmlns:a16="http://schemas.microsoft.com/office/drawing/2014/main" id="{5B5FF4CF-68A2-D02D-F7AD-E424C7C63B97}"/>
              </a:ext>
            </a:extLst>
          </p:cNvPr>
          <p:cNvSpPr txBox="1">
            <a:spLocks/>
          </p:cNvSpPr>
          <p:nvPr/>
        </p:nvSpPr>
        <p:spPr>
          <a:xfrm>
            <a:off x="327399" y="450200"/>
            <a:ext cx="8377213" cy="1150000"/>
          </a:xfrm>
          <a:prstGeom prst="rect">
            <a:avLst/>
          </a:prstGeom>
        </p:spPr>
        <p:txBody>
          <a:bodyPr vert="horz" lIns="91440" tIns="45720" rIns="91440" bIns="45720" rtlCol="0" anchor="ctr">
            <a:noAutofit/>
          </a:bodyPr>
          <a:lstStyle>
            <a:lvl1pPr algn="r" defTabSz="914400" rtl="0" eaLnBrk="1" latinLnBrk="0" hangingPunct="1">
              <a:spcBef>
                <a:spcPct val="0"/>
              </a:spcBef>
              <a:buNone/>
              <a:defRPr sz="4400" kern="1200">
                <a:solidFill>
                  <a:srgbClr val="002060"/>
                </a:solidFill>
                <a:latin typeface="+mj-lt"/>
                <a:ea typeface="+mj-ea"/>
                <a:cs typeface="+mj-cs"/>
              </a:defRPr>
            </a:lvl1pPr>
          </a:lstStyle>
          <a:p>
            <a:pPr algn="ctr"/>
            <a:r>
              <a:rPr lang="en-US" sz="4200" b="1" dirty="0"/>
              <a:t>Key finding 2: </a:t>
            </a:r>
            <a:r>
              <a:rPr lang="en-US" sz="4200" dirty="0"/>
              <a:t>Financial protection gains are large &amp; pro-poor</a:t>
            </a:r>
            <a:br>
              <a:rPr lang="en-US" dirty="0"/>
            </a:br>
            <a:r>
              <a:rPr lang="en-US" sz="3000" dirty="0"/>
              <a:t>577,000 catastrophic cases averted, 82% in Q1 &amp; Q2</a:t>
            </a:r>
          </a:p>
        </p:txBody>
      </p:sp>
      <p:sp>
        <p:nvSpPr>
          <p:cNvPr id="8" name="TextBox 7">
            <a:extLst>
              <a:ext uri="{FF2B5EF4-FFF2-40B4-BE49-F238E27FC236}">
                <a16:creationId xmlns:a16="http://schemas.microsoft.com/office/drawing/2014/main" id="{7E69D066-6307-6CED-F955-B4B052DB90A0}"/>
              </a:ext>
            </a:extLst>
          </p:cNvPr>
          <p:cNvSpPr txBox="1"/>
          <p:nvPr/>
        </p:nvSpPr>
        <p:spPr>
          <a:xfrm>
            <a:off x="5018314" y="2438400"/>
            <a:ext cx="3675412" cy="461665"/>
          </a:xfrm>
          <a:prstGeom prst="rect">
            <a:avLst/>
          </a:prstGeom>
          <a:noFill/>
        </p:spPr>
        <p:txBody>
          <a:bodyPr wrap="square" rtlCol="0">
            <a:spAutoFit/>
          </a:bodyPr>
          <a:lstStyle/>
          <a:p>
            <a:r>
              <a:rPr lang="en-US" sz="2400" b="1" dirty="0"/>
              <a:t>50% increase in excise tax</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FA83F2B-0FEC-3AA3-8513-74EC79C90942}"/>
              </a:ext>
            </a:extLst>
          </p:cNvPr>
          <p:cNvPicPr>
            <a:picLocks noChangeAspect="1"/>
          </p:cNvPicPr>
          <p:nvPr/>
        </p:nvPicPr>
        <p:blipFill>
          <a:blip r:embed="rId3">
            <a:extLst>
              <a:ext uri="{28A0092B-C50C-407E-A947-70E740481C1C}">
                <a14:useLocalDpi xmlns:a14="http://schemas.microsoft.com/office/drawing/2010/main" val="0"/>
              </a:ext>
            </a:extLst>
          </a:blip>
          <a:srcRect t="15893" b="11847"/>
          <a:stretch>
            <a:fillRect/>
          </a:stretch>
        </p:blipFill>
        <p:spPr>
          <a:xfrm>
            <a:off x="226402" y="2119926"/>
            <a:ext cx="8917598" cy="3826047"/>
          </a:xfrm>
          <a:prstGeom prst="rect">
            <a:avLst/>
          </a:prstGeom>
        </p:spPr>
      </p:pic>
      <p:sp>
        <p:nvSpPr>
          <p:cNvPr id="2" name="Title 1"/>
          <p:cNvSpPr>
            <a:spLocks noGrp="1"/>
          </p:cNvSpPr>
          <p:nvPr>
            <p:ph type="title"/>
          </p:nvPr>
        </p:nvSpPr>
        <p:spPr>
          <a:xfrm>
            <a:off x="304800" y="662797"/>
            <a:ext cx="8610600" cy="1150000"/>
          </a:xfrm>
        </p:spPr>
        <p:txBody>
          <a:bodyPr>
            <a:normAutofit fontScale="90000"/>
          </a:bodyPr>
          <a:lstStyle/>
          <a:p>
            <a:pPr algn="ctr"/>
            <a:r>
              <a:rPr lang="en-US" sz="4700" b="1" dirty="0"/>
              <a:t>Key finding 3</a:t>
            </a:r>
            <a:r>
              <a:rPr sz="4700" dirty="0"/>
              <a:t>: </a:t>
            </a:r>
            <a:r>
              <a:rPr lang="en-US" sz="4700" dirty="0"/>
              <a:t>F</a:t>
            </a:r>
            <a:r>
              <a:rPr sz="4700" dirty="0"/>
              <a:t>iscal </a:t>
            </a:r>
            <a:r>
              <a:rPr lang="en-US" sz="4700" dirty="0"/>
              <a:t>revenues raised are large &amp; accrue among the rich</a:t>
            </a:r>
            <a:br>
              <a:rPr sz="4700" dirty="0"/>
            </a:br>
            <a:r>
              <a:rPr lang="en-US" sz="3300" dirty="0"/>
              <a:t>R</a:t>
            </a:r>
            <a:r>
              <a:rPr sz="3300" dirty="0"/>
              <a:t>evenue</a:t>
            </a:r>
            <a:r>
              <a:rPr lang="en-US" sz="3300" dirty="0"/>
              <a:t>s</a:t>
            </a:r>
            <a:r>
              <a:rPr sz="3300" dirty="0"/>
              <a:t> rise </a:t>
            </a:r>
            <a:r>
              <a:rPr lang="en-US" sz="3300" dirty="0"/>
              <a:t>by </a:t>
            </a:r>
            <a:r>
              <a:rPr sz="3300" dirty="0"/>
              <a:t>31%</a:t>
            </a:r>
            <a:r>
              <a:rPr lang="en-US" sz="3300" dirty="0"/>
              <a:t>; Q5 pays 27% of it</a:t>
            </a:r>
            <a:endParaRPr sz="3300" dirty="0"/>
          </a:p>
        </p:txBody>
      </p:sp>
      <p:sp>
        <p:nvSpPr>
          <p:cNvPr id="3" name="TextBox 2">
            <a:extLst>
              <a:ext uri="{FF2B5EF4-FFF2-40B4-BE49-F238E27FC236}">
                <a16:creationId xmlns:a16="http://schemas.microsoft.com/office/drawing/2014/main" id="{89E0E0B7-C270-08DD-31A4-AC67F8524B02}"/>
              </a:ext>
            </a:extLst>
          </p:cNvPr>
          <p:cNvSpPr txBox="1"/>
          <p:nvPr/>
        </p:nvSpPr>
        <p:spPr>
          <a:xfrm>
            <a:off x="1524000" y="2362200"/>
            <a:ext cx="3675412" cy="461665"/>
          </a:xfrm>
          <a:prstGeom prst="rect">
            <a:avLst/>
          </a:prstGeom>
          <a:noFill/>
        </p:spPr>
        <p:txBody>
          <a:bodyPr wrap="square" rtlCol="0">
            <a:spAutoFit/>
          </a:bodyPr>
          <a:lstStyle/>
          <a:p>
            <a:r>
              <a:rPr lang="en-US" sz="2400" b="1" dirty="0"/>
              <a:t>50% increase in excise tax</a:t>
            </a:r>
          </a:p>
        </p:txBody>
      </p:sp>
      <p:sp>
        <p:nvSpPr>
          <p:cNvPr id="7" name="TextBox 6">
            <a:extLst>
              <a:ext uri="{FF2B5EF4-FFF2-40B4-BE49-F238E27FC236}">
                <a16:creationId xmlns:a16="http://schemas.microsoft.com/office/drawing/2014/main" id="{0A4A7DF6-1F8C-0D1B-6A7C-ACB6BF785796}"/>
              </a:ext>
            </a:extLst>
          </p:cNvPr>
          <p:cNvSpPr txBox="1"/>
          <p:nvPr/>
        </p:nvSpPr>
        <p:spPr>
          <a:xfrm>
            <a:off x="207818" y="5945973"/>
            <a:ext cx="8869136" cy="830997"/>
          </a:xfrm>
          <a:prstGeom prst="rect">
            <a:avLst/>
          </a:prstGeom>
          <a:noFill/>
        </p:spPr>
        <p:txBody>
          <a:bodyPr wrap="square" rtlCol="0">
            <a:spAutoFit/>
          </a:bodyPr>
          <a:lstStyle/>
          <a:p>
            <a:r>
              <a:rPr lang="en-US" sz="1600" b="1" dirty="0"/>
              <a:t>Note: </a:t>
            </a:r>
            <a:r>
              <a:rPr lang="en-US" sz="1600" dirty="0"/>
              <a:t>National total IDR 72T per year. An annual flow in a single steady-state year, not a lifetime total. In US dollars: Q1 480, Q2 717, Q3 947, Q4 1,169, Q5 1,209 million; total US$4,522 million per year. </a:t>
            </a:r>
            <a:r>
              <a:rPr lang="en-US" sz="1600" dirty="0">
                <a:solidFill>
                  <a:srgbClr val="000000"/>
                </a:solidFill>
              </a:rPr>
              <a:t>95% uncertainty intervals (n= 2,000 Monte Carlo draws). </a:t>
            </a:r>
            <a:endParaRPr lang="en-US" sz="1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3DB5-5456-121E-33D7-5DC0DE587B89}"/>
              </a:ext>
            </a:extLst>
          </p:cNvPr>
          <p:cNvSpPr>
            <a:spLocks noGrp="1"/>
          </p:cNvSpPr>
          <p:nvPr>
            <p:ph type="title"/>
          </p:nvPr>
        </p:nvSpPr>
        <p:spPr>
          <a:xfrm>
            <a:off x="304800" y="2857500"/>
            <a:ext cx="8305800" cy="1143000"/>
          </a:xfrm>
        </p:spPr>
        <p:txBody>
          <a:bodyPr>
            <a:normAutofit/>
          </a:bodyPr>
          <a:lstStyle/>
          <a:p>
            <a:pPr algn="ctr"/>
            <a:r>
              <a:rPr lang="en-US" sz="4800" dirty="0"/>
              <a:t>Thank you</a:t>
            </a:r>
          </a:p>
        </p:txBody>
      </p:sp>
      <p:pic>
        <p:nvPicPr>
          <p:cNvPr id="3" name="Picture 2" descr="A close up of a logo&#10;&#10;AI-generated content may be incorrect.">
            <a:extLst>
              <a:ext uri="{FF2B5EF4-FFF2-40B4-BE49-F238E27FC236}">
                <a16:creationId xmlns:a16="http://schemas.microsoft.com/office/drawing/2014/main" id="{C9BAC3AD-9767-334A-FAC4-2407F71CEE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457200"/>
            <a:ext cx="3514434" cy="1280160"/>
          </a:xfrm>
          <a:prstGeom prst="rect">
            <a:avLst/>
          </a:prstGeom>
        </p:spPr>
      </p:pic>
    </p:spTree>
    <p:extLst>
      <p:ext uri="{BB962C8B-B14F-4D97-AF65-F5344CB8AC3E}">
        <p14:creationId xmlns:p14="http://schemas.microsoft.com/office/powerpoint/2010/main" val="2087799322"/>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KRP_v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CP3 PPT Template_NEW.pptx" id="{57DC6CDC-E007-4880-AC95-23CAB42ACB6E}" vid="{EF819FD4-7F74-4B6C-80CE-FF69E1896A5B}"/>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hsph-test2">
  <a:themeElements>
    <a:clrScheme name="Custom 4">
      <a:dk1>
        <a:srgbClr val="97BE6D"/>
      </a:dk1>
      <a:lt1>
        <a:srgbClr val="FFFFFF"/>
      </a:lt1>
      <a:dk2>
        <a:srgbClr val="74556A"/>
      </a:dk2>
      <a:lt2>
        <a:srgbClr val="FFFFFF"/>
      </a:lt2>
      <a:accent1>
        <a:srgbClr val="74556A"/>
      </a:accent1>
      <a:accent2>
        <a:srgbClr val="468D97"/>
      </a:accent2>
      <a:accent3>
        <a:srgbClr val="97BE6D"/>
      </a:accent3>
      <a:accent4>
        <a:srgbClr val="70AECD"/>
      </a:accent4>
      <a:accent5>
        <a:srgbClr val="D5752B"/>
      </a:accent5>
      <a:accent6>
        <a:srgbClr val="FFFFFF"/>
      </a:accent6>
      <a:hlink>
        <a:srgbClr val="009999"/>
      </a:hlink>
      <a:folHlink>
        <a:srgbClr val="99CC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pitchFamily="-1" charset="0"/>
            <a:ea typeface="ヒラギノ角ゴ ProN W3" pitchFamily="-1" charset="-128"/>
            <a:cs typeface="ヒラギノ角ゴ ProN W3" pitchFamily="-1" charset="-128"/>
            <a:sym typeface="Gill Sans" pitchFamily="-1"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pitchFamily="-1" charset="0"/>
            <a:ea typeface="ヒラギノ角ゴ ProN W3" pitchFamily="-1" charset="-128"/>
            <a:cs typeface="ヒラギノ角ゴ ProN W3" pitchFamily="-1" charset="-128"/>
            <a:sym typeface="Gill Sans" pitchFamily="-1" charset="0"/>
          </a:defRPr>
        </a:defPPr>
      </a:lstStyle>
    </a:lnDef>
  </a:objectDefaults>
  <a:extraClrSchemeLst>
    <a:extraClrScheme>
      <a:clrScheme name="Title &amp; Bullets - Lef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KRP_v2.potx</Template>
  <TotalTime>28969</TotalTime>
  <Words>4980</Words>
  <Application>Microsoft Office PowerPoint</Application>
  <PresentationFormat>On-screen Show (4:3)</PresentationFormat>
  <Paragraphs>679</Paragraphs>
  <Slides>53</Slides>
  <Notes>27</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53</vt:i4>
      </vt:variant>
    </vt:vector>
  </HeadingPairs>
  <TitlesOfParts>
    <vt:vector size="67" baseType="lpstr">
      <vt:lpstr>Aptos</vt:lpstr>
      <vt:lpstr>Arial</vt:lpstr>
      <vt:lpstr>Calibri</vt:lpstr>
      <vt:lpstr>Calibri Light</vt:lpstr>
      <vt:lpstr>Cambria Math</vt:lpstr>
      <vt:lpstr>Garamond</vt:lpstr>
      <vt:lpstr>Gill Sans</vt:lpstr>
      <vt:lpstr>Helvetica</vt:lpstr>
      <vt:lpstr>Rubik</vt:lpstr>
      <vt:lpstr>Times</vt:lpstr>
      <vt:lpstr>Wingdings</vt:lpstr>
      <vt:lpstr>KRP_v2</vt:lpstr>
      <vt:lpstr>Custom Design</vt:lpstr>
      <vt:lpstr>hsph-test2</vt:lpstr>
      <vt:lpstr>PowerPoint Presentation</vt:lpstr>
      <vt:lpstr>PowerPoint Presentation</vt:lpstr>
      <vt:lpstr>HEALTHY LONGEVITY INITIATIVE</vt:lpstr>
      <vt:lpstr>OBJECTIVE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Methods: how interventions change the disease pathway</vt:lpstr>
      <vt:lpstr>Analytical framework: increases in intervention utilization leads to lower mortality (at additional costs)</vt:lpstr>
      <vt:lpstr>Analysis 1: mortality impact and cost of achieving a 70-70-70 target for CVD prevention</vt:lpstr>
      <vt:lpstr>Improved CVD prevention lowers premature mortality at a rising but bounded cost</vt:lpstr>
      <vt:lpstr>The 70-70-70 target would result in about 1.6 million fewer deaths by 2050</vt:lpstr>
      <vt:lpstr>Achieving 70-70-70 would require differential action at the provincial level to close gaps</vt:lpstr>
      <vt:lpstr>Achieving 70-70-70 would cause premature CVD mortality to fall in every province by 2040</vt:lpstr>
      <vt:lpstr>About half of averted CVD deaths come from the three most populous provinces</vt:lpstr>
      <vt:lpstr>70-70-70 has a different financing requirement according to provincial burden and access gap</vt:lpstr>
      <vt:lpstr>Other interventions can add impact (and cost) to primary CVD prevention</vt:lpstr>
      <vt:lpstr>Tobacco control policies could add significant impact to the clinical program </vt:lpstr>
      <vt:lpstr>Policy goal: improving Indonesia’s performance on CVD mortality among ASEAN countries</vt:lpstr>
      <vt:lpstr>Implementation of clinical interventions and tobacco control could get Indonesia close to Malaysia’s CVD mortality level by 2050</vt:lpstr>
      <vt:lpstr>PowerPoint Presentation</vt:lpstr>
      <vt:lpstr>PowerPoint Presentation</vt:lpstr>
      <vt:lpstr>Model overview</vt:lpstr>
      <vt:lpstr>Under JKN as designed, no households would pay</vt:lpstr>
      <vt:lpstr>Inputs (1): Chronic care costs Number of patients in care, full cost of care, and what households pay</vt:lpstr>
      <vt:lpstr>Inputs (2): Acute care costs Number of hospitalized CVD events, full cost of care, what households pay</vt:lpstr>
      <vt:lpstr>Inputs (3): What fraction of cost is covered by JKN</vt:lpstr>
      <vt:lpstr>PowerPoint Presentation</vt:lpstr>
      <vt:lpstr>PowerPoint Presentation</vt:lpstr>
      <vt:lpstr>PowerPoint Presentation</vt:lpstr>
      <vt:lpstr>PowerPoint Presentation</vt:lpstr>
      <vt:lpstr>PowerPoint Presentation</vt:lpstr>
      <vt:lpstr>PowerPoint Presentation</vt:lpstr>
      <vt:lpstr>Model overview</vt:lpstr>
      <vt:lpstr>Input (1): Smoking prevalence &amp; tobacco prices</vt:lpstr>
      <vt:lpstr>Input (2): Tax scenarios Current excise → modeled increase → price          → consumption</vt:lpstr>
      <vt:lpstr>Input (3): How smokers respond Two behavioral responses — yet only quitting provides mortality reduction benefits</vt:lpstr>
      <vt:lpstr>Key finding 1: Health gains are large &amp; pro-poor  724,000 premature deaths averted; 60% in Q1 &amp; Q2</vt:lpstr>
      <vt:lpstr>PowerPoint Presentation</vt:lpstr>
      <vt:lpstr>Key finding 3: Fiscal revenues raised are large &amp; accrue among the rich Revenues rise by 31%; Q5 pays 27% of it</vt:lpstr>
      <vt:lpstr>Thank you</vt:lpstr>
    </vt:vector>
  </TitlesOfParts>
  <Company>University of Washington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Brianne Adderley</dc:creator>
  <cp:lastModifiedBy>William R Garcia</cp:lastModifiedBy>
  <cp:revision>2415</cp:revision>
  <cp:lastPrinted>2026-08-26T18:54:58Z</cp:lastPrinted>
  <dcterms:created xsi:type="dcterms:W3CDTF">2013-03-11T17:50:41Z</dcterms:created>
  <dcterms:modified xsi:type="dcterms:W3CDTF">2026-08-31T13:24:10Z</dcterms:modified>
</cp:coreProperties>
</file>