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1"/>
  </p:notesMasterIdLst>
  <p:sldIdLst>
    <p:sldId id="2735" r:id="rId2"/>
    <p:sldId id="2147480010" r:id="rId3"/>
    <p:sldId id="2147480007" r:id="rId4"/>
    <p:sldId id="575" r:id="rId5"/>
    <p:sldId id="3456" r:id="rId6"/>
    <p:sldId id="2147480008" r:id="rId7"/>
    <p:sldId id="2147479951" r:id="rId8"/>
    <p:sldId id="2147479948" r:id="rId9"/>
    <p:sldId id="2147480009" r:id="rId10"/>
    <p:sldId id="277" r:id="rId11"/>
    <p:sldId id="278" r:id="rId12"/>
    <p:sldId id="2147479960" r:id="rId13"/>
    <p:sldId id="263" r:id="rId14"/>
    <p:sldId id="275" r:id="rId15"/>
    <p:sldId id="2147479949" r:id="rId16"/>
    <p:sldId id="2147479990" r:id="rId17"/>
    <p:sldId id="2147479977" r:id="rId18"/>
    <p:sldId id="2147479978" r:id="rId19"/>
    <p:sldId id="2147479991" r:id="rId20"/>
    <p:sldId id="2147479959" r:id="rId21"/>
    <p:sldId id="2147479993" r:id="rId22"/>
    <p:sldId id="2147479999" r:id="rId23"/>
    <p:sldId id="2147480000" r:id="rId24"/>
    <p:sldId id="2147480001" r:id="rId25"/>
    <p:sldId id="2147480011" r:id="rId26"/>
    <p:sldId id="2147480004" r:id="rId27"/>
    <p:sldId id="2147480005" r:id="rId28"/>
    <p:sldId id="2147480006" r:id="rId29"/>
    <p:sldId id="2147479776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BF10D7-2384-48B1-80F7-59184E0F9E56}">
          <p14:sldIdLst/>
        </p14:section>
        <p14:section name="Default Section" id="{1106B37B-E629-8247-A53F-53A9397BE13B}">
          <p14:sldIdLst>
            <p14:sldId id="2735"/>
            <p14:sldId id="2147480010"/>
            <p14:sldId id="2147480007"/>
          </p14:sldIdLst>
        </p14:section>
        <p14:section name="Default Section" id="{10D93067-51E5-7548-980D-BF589F3DDB4A}">
          <p14:sldIdLst>
            <p14:sldId id="575"/>
            <p14:sldId id="3456"/>
            <p14:sldId id="2147480008"/>
            <p14:sldId id="2147479951"/>
          </p14:sldIdLst>
        </p14:section>
        <p14:section name="Main Slide Layouts" id="{54EEB197-12CA-EF49-B4C4-9F0D1A644478}">
          <p14:sldIdLst>
            <p14:sldId id="2147479948"/>
            <p14:sldId id="2147480009"/>
            <p14:sldId id="277"/>
            <p14:sldId id="278"/>
            <p14:sldId id="2147479960"/>
            <p14:sldId id="263"/>
            <p14:sldId id="275"/>
            <p14:sldId id="2147479949"/>
            <p14:sldId id="2147479990"/>
            <p14:sldId id="2147479977"/>
            <p14:sldId id="2147479978"/>
            <p14:sldId id="2147479991"/>
            <p14:sldId id="2147479959"/>
            <p14:sldId id="2147479993"/>
            <p14:sldId id="2147479999"/>
            <p14:sldId id="2147480000"/>
            <p14:sldId id="2147480001"/>
            <p14:sldId id="2147480011"/>
            <p14:sldId id="2147480004"/>
            <p14:sldId id="2147480005"/>
            <p14:sldId id="2147480006"/>
            <p14:sldId id="2147479776"/>
          </p14:sldIdLst>
        </p14:section>
        <p14:section name="Main Slide Layouts" id="{B5AC7A25-30D3-B746-A28C-D272C5E18556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0C6EB-9A69-A5A2-AC2E-0E111777E240}" name="Verguet, Stéphane" initials="SV" userId="S::verguet@hsph.harvard.edu::df35d26a-4906-4d1b-8e79-7ecad4eec6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4D20A0-4765-4B7E-8FCF-4CAF2000E237}" v="2" dt="2026-08-31T23:30:44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6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 Garcia" userId="52698913-8803-44d0-b81a-d207944fdb38" providerId="ADAL" clId="{2E18606C-B16D-48DE-A10F-40DC70145920}"/>
    <pc:docChg chg="custSel addSld delSld modSld modSection">
      <pc:chgData name="William R Garcia" userId="52698913-8803-44d0-b81a-d207944fdb38" providerId="ADAL" clId="{2E18606C-B16D-48DE-A10F-40DC70145920}" dt="2026-08-31T23:30:49.271" v="5" actId="1076"/>
      <pc:docMkLst>
        <pc:docMk/>
      </pc:docMkLst>
      <pc:sldChg chg="add del">
        <pc:chgData name="William R Garcia" userId="52698913-8803-44d0-b81a-d207944fdb38" providerId="ADAL" clId="{2E18606C-B16D-48DE-A10F-40DC70145920}" dt="2026-08-31T20:59:44.663" v="1"/>
        <pc:sldMkLst>
          <pc:docMk/>
          <pc:sldMk cId="876686658" sldId="263"/>
        </pc:sldMkLst>
      </pc:sldChg>
      <pc:sldChg chg="addSp delSp modSp add del mod">
        <pc:chgData name="William R Garcia" userId="52698913-8803-44d0-b81a-d207944fdb38" providerId="ADAL" clId="{2E18606C-B16D-48DE-A10F-40DC70145920}" dt="2026-08-31T23:30:49.271" v="5" actId="1076"/>
        <pc:sldMkLst>
          <pc:docMk/>
          <pc:sldMk cId="0" sldId="275"/>
        </pc:sldMkLst>
        <pc:picChg chg="add mod">
          <ac:chgData name="William R Garcia" userId="52698913-8803-44d0-b81a-d207944fdb38" providerId="ADAL" clId="{2E18606C-B16D-48DE-A10F-40DC70145920}" dt="2026-08-31T23:30:49.271" v="5" actId="1076"/>
          <ac:picMkLst>
            <pc:docMk/>
            <pc:sldMk cId="0" sldId="275"/>
            <ac:picMk id="4" creationId="{00000000-0008-0000-1200-000002000000}"/>
          </ac:picMkLst>
        </pc:picChg>
        <pc:picChg chg="del">
          <ac:chgData name="William R Garcia" userId="52698913-8803-44d0-b81a-d207944fdb38" providerId="ADAL" clId="{2E18606C-B16D-48DE-A10F-40DC70145920}" dt="2026-08-31T23:30:43.461" v="2" actId="478"/>
          <ac:picMkLst>
            <pc:docMk/>
            <pc:sldMk cId="0" sldId="275"/>
            <ac:picMk id="5" creationId="{00000000-0008-0000-1200-000002000000}"/>
          </ac:picMkLst>
        </pc:picChg>
      </pc:sldChg>
      <pc:sldChg chg="add del">
        <pc:chgData name="William R Garcia" userId="52698913-8803-44d0-b81a-d207944fdb38" providerId="ADAL" clId="{2E18606C-B16D-48DE-A10F-40DC70145920}" dt="2026-08-31T20:59:44.663" v="1"/>
        <pc:sldMkLst>
          <pc:docMk/>
          <pc:sldMk cId="806804552" sldId="278"/>
        </pc:sldMkLst>
      </pc:sldChg>
      <pc:sldChg chg="add del">
        <pc:chgData name="William R Garcia" userId="52698913-8803-44d0-b81a-d207944fdb38" providerId="ADAL" clId="{2E18606C-B16D-48DE-A10F-40DC70145920}" dt="2026-08-31T20:59:44.663" v="1"/>
        <pc:sldMkLst>
          <pc:docMk/>
          <pc:sldMk cId="71399543" sldId="214747996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25E5C3-A4FA-8842-B9FD-F862142E29C8}" type="doc">
      <dgm:prSet loTypeId="urn:microsoft.com/office/officeart/2024/layout/BulletTimelineInverted#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94301105-4BCC-A540-A327-C3BBDD8E244F}">
      <dgm:prSet phldrT="Add an event"/>
      <dgm:spPr/>
      <dgm:t>
        <a:bodyPr/>
        <a:lstStyle/>
        <a:p>
          <a:pPr>
            <a:defRPr b="1"/>
          </a:pPr>
          <a:r>
            <a:rPr lang="en-US" dirty="0"/>
            <a:t>October 2026</a:t>
          </a:r>
        </a:p>
      </dgm:t>
    </dgm:pt>
    <dgm:pt modelId="{B58EDCCA-87C3-334E-8B5A-F6B56B2B711E}" type="parTrans" cxnId="{3FFAA68A-EE43-8F41-9C9E-3B26FB83D5B4}">
      <dgm:prSet/>
      <dgm:spPr/>
      <dgm:t>
        <a:bodyPr/>
        <a:lstStyle/>
        <a:p>
          <a:endParaRPr lang="en-US"/>
        </a:p>
      </dgm:t>
    </dgm:pt>
    <dgm:pt modelId="{990B2901-8E55-944C-A301-2EB6367B7AA7}" type="sibTrans" cxnId="{3FFAA68A-EE43-8F41-9C9E-3B26FB83D5B4}">
      <dgm:prSet/>
      <dgm:spPr/>
      <dgm:t>
        <a:bodyPr/>
        <a:lstStyle/>
        <a:p>
          <a:endParaRPr lang="en-US"/>
        </a:p>
      </dgm:t>
    </dgm:pt>
    <dgm:pt modelId="{E051AA33-4013-5F45-BACB-173F5D8CBD78}">
      <dgm:prSet phldrT="Write a description of the significance of this event" custT="1"/>
      <dgm:spPr/>
      <dgm:t>
        <a:bodyPr/>
        <a:lstStyle/>
        <a:p>
          <a:r>
            <a:rPr lang="en-US" sz="1800" dirty="0"/>
            <a:t>foundational lectures (part 1 of 2)</a:t>
          </a:r>
        </a:p>
      </dgm:t>
    </dgm:pt>
    <dgm:pt modelId="{F7C8BE07-6481-254B-8B53-414CFA60D24D}" type="parTrans" cxnId="{021E5FFF-C400-EB4F-9AF2-214A2093ADB9}">
      <dgm:prSet/>
      <dgm:spPr/>
      <dgm:t>
        <a:bodyPr/>
        <a:lstStyle/>
        <a:p>
          <a:endParaRPr lang="en-US"/>
        </a:p>
      </dgm:t>
    </dgm:pt>
    <dgm:pt modelId="{DA733E3A-9C9A-F548-80E2-58C4C48ADF4A}" type="sibTrans" cxnId="{021E5FFF-C400-EB4F-9AF2-214A2093ADB9}">
      <dgm:prSet/>
      <dgm:spPr/>
      <dgm:t>
        <a:bodyPr/>
        <a:lstStyle/>
        <a:p>
          <a:endParaRPr lang="en-US"/>
        </a:p>
      </dgm:t>
    </dgm:pt>
    <dgm:pt modelId="{15DB07C3-0E39-4E44-89F1-02034BC872AE}">
      <dgm:prSet phldrT="Add an event"/>
      <dgm:spPr/>
      <dgm:t>
        <a:bodyPr/>
        <a:lstStyle/>
        <a:p>
          <a:pPr>
            <a:defRPr b="1"/>
          </a:pPr>
          <a:r>
            <a:rPr lang="en-US" dirty="0"/>
            <a:t>November 2026</a:t>
          </a:r>
        </a:p>
      </dgm:t>
    </dgm:pt>
    <dgm:pt modelId="{D1AA3355-3411-974C-B4A6-9C2D3FAE066A}" type="parTrans" cxnId="{449221D5-08FB-8740-B324-8D931841DF17}">
      <dgm:prSet/>
      <dgm:spPr/>
      <dgm:t>
        <a:bodyPr/>
        <a:lstStyle/>
        <a:p>
          <a:endParaRPr lang="en-US"/>
        </a:p>
      </dgm:t>
    </dgm:pt>
    <dgm:pt modelId="{6E3A21EE-EB18-B647-A1D3-9A1EF61534AE}" type="sibTrans" cxnId="{449221D5-08FB-8740-B324-8D931841DF17}">
      <dgm:prSet/>
      <dgm:spPr/>
      <dgm:t>
        <a:bodyPr/>
        <a:lstStyle/>
        <a:p>
          <a:endParaRPr lang="en-US"/>
        </a:p>
      </dgm:t>
    </dgm:pt>
    <dgm:pt modelId="{E74F76A8-C5B9-FA43-ACF9-E28323DAFD15}">
      <dgm:prSet phldrT="Write a description of the significance of this event" custT="1"/>
      <dgm:spPr/>
      <dgm:t>
        <a:bodyPr/>
        <a:lstStyle/>
        <a:p>
          <a:r>
            <a:rPr lang="en-US" sz="1800" dirty="0"/>
            <a:t>foundational lectures (part 2 of 2)</a:t>
          </a:r>
        </a:p>
      </dgm:t>
    </dgm:pt>
    <dgm:pt modelId="{A28B7E31-DB58-FF49-9B7E-D7C1D501E0F6}" type="parTrans" cxnId="{ABBEFAD3-609F-C743-9F02-2FFE9140333F}">
      <dgm:prSet/>
      <dgm:spPr/>
      <dgm:t>
        <a:bodyPr/>
        <a:lstStyle/>
        <a:p>
          <a:endParaRPr lang="en-US"/>
        </a:p>
      </dgm:t>
    </dgm:pt>
    <dgm:pt modelId="{04E6C4DA-BDF3-3344-955D-56A647745E74}" type="sibTrans" cxnId="{ABBEFAD3-609F-C743-9F02-2FFE9140333F}">
      <dgm:prSet/>
      <dgm:spPr/>
      <dgm:t>
        <a:bodyPr/>
        <a:lstStyle/>
        <a:p>
          <a:endParaRPr lang="en-US"/>
        </a:p>
      </dgm:t>
    </dgm:pt>
    <dgm:pt modelId="{63EEEEFF-730B-6446-944E-83EDB5286245}">
      <dgm:prSet phldrT="Add an event"/>
      <dgm:spPr/>
      <dgm:t>
        <a:bodyPr/>
        <a:lstStyle/>
        <a:p>
          <a:pPr>
            <a:defRPr b="1"/>
          </a:pPr>
          <a:r>
            <a:rPr lang="en-US" dirty="0"/>
            <a:t>December 2026</a:t>
          </a:r>
        </a:p>
      </dgm:t>
    </dgm:pt>
    <dgm:pt modelId="{AE0B700A-A878-3449-A113-5654032CD432}" type="parTrans" cxnId="{275D1CEA-F6BC-224F-A222-5EEABA7043E8}">
      <dgm:prSet/>
      <dgm:spPr/>
      <dgm:t>
        <a:bodyPr/>
        <a:lstStyle/>
        <a:p>
          <a:endParaRPr lang="en-US"/>
        </a:p>
      </dgm:t>
    </dgm:pt>
    <dgm:pt modelId="{91A9F6D1-D645-4C4E-BABE-18A59CBDF2E5}" type="sibTrans" cxnId="{275D1CEA-F6BC-224F-A222-5EEABA7043E8}">
      <dgm:prSet/>
      <dgm:spPr/>
      <dgm:t>
        <a:bodyPr/>
        <a:lstStyle/>
        <a:p>
          <a:endParaRPr lang="en-US"/>
        </a:p>
      </dgm:t>
    </dgm:pt>
    <dgm:pt modelId="{59128EF0-C1D0-D546-ADC8-0D5CDDCC978A}">
      <dgm:prSet phldrT="Write a description of the significance of this event" custT="1"/>
      <dgm:spPr/>
      <dgm:t>
        <a:bodyPr/>
        <a:lstStyle/>
        <a:p>
          <a:r>
            <a:rPr lang="en-US" sz="1800" dirty="0"/>
            <a:t>launch of modeling unit</a:t>
          </a:r>
        </a:p>
      </dgm:t>
    </dgm:pt>
    <dgm:pt modelId="{5187AB6A-9600-7A45-AF34-9F16F0DF4DA9}" type="parTrans" cxnId="{7071A630-15BF-EF45-831D-62A347CC6E82}">
      <dgm:prSet/>
      <dgm:spPr/>
      <dgm:t>
        <a:bodyPr/>
        <a:lstStyle/>
        <a:p>
          <a:endParaRPr lang="en-US"/>
        </a:p>
      </dgm:t>
    </dgm:pt>
    <dgm:pt modelId="{DD12A722-1C51-BC44-91C2-B23CAE38B3CC}" type="sibTrans" cxnId="{7071A630-15BF-EF45-831D-62A347CC6E82}">
      <dgm:prSet/>
      <dgm:spPr/>
      <dgm:t>
        <a:bodyPr/>
        <a:lstStyle/>
        <a:p>
          <a:endParaRPr lang="en-US"/>
        </a:p>
      </dgm:t>
    </dgm:pt>
    <dgm:pt modelId="{F1709DD2-3ED9-7D4B-807E-532936B0D5A6}">
      <dgm:prSet phldrT="Add an event"/>
      <dgm:spPr/>
      <dgm:t>
        <a:bodyPr/>
        <a:lstStyle/>
        <a:p>
          <a:pPr>
            <a:defRPr b="1"/>
          </a:pPr>
          <a:r>
            <a:rPr lang="en-US" dirty="0"/>
            <a:t>January 2027</a:t>
          </a:r>
        </a:p>
      </dgm:t>
    </dgm:pt>
    <dgm:pt modelId="{7E3DE460-1FE8-F44D-8EAC-2E093B12C2EE}" type="parTrans" cxnId="{903AF56B-6E12-204F-8053-62245536E1D9}">
      <dgm:prSet/>
      <dgm:spPr/>
      <dgm:t>
        <a:bodyPr/>
        <a:lstStyle/>
        <a:p>
          <a:endParaRPr lang="en-US"/>
        </a:p>
      </dgm:t>
    </dgm:pt>
    <dgm:pt modelId="{1AC03CBB-48DC-3542-A4E6-4C837CA6903F}" type="sibTrans" cxnId="{903AF56B-6E12-204F-8053-62245536E1D9}">
      <dgm:prSet/>
      <dgm:spPr/>
      <dgm:t>
        <a:bodyPr/>
        <a:lstStyle/>
        <a:p>
          <a:endParaRPr lang="en-US"/>
        </a:p>
      </dgm:t>
    </dgm:pt>
    <dgm:pt modelId="{0208C73C-7537-0046-9DA5-58EF3BFC6D35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1 of 3)</a:t>
          </a:r>
        </a:p>
      </dgm:t>
    </dgm:pt>
    <dgm:pt modelId="{419D65ED-122F-2948-A2A3-8707986D6E70}" type="parTrans" cxnId="{C2DC0755-651F-6548-BC9C-204AE21FEB5D}">
      <dgm:prSet/>
      <dgm:spPr/>
      <dgm:t>
        <a:bodyPr/>
        <a:lstStyle/>
        <a:p>
          <a:endParaRPr lang="en-US"/>
        </a:p>
      </dgm:t>
    </dgm:pt>
    <dgm:pt modelId="{573F4AD7-D4D6-0D40-A6A6-F903AE7D0314}" type="sibTrans" cxnId="{C2DC0755-651F-6548-BC9C-204AE21FEB5D}">
      <dgm:prSet/>
      <dgm:spPr/>
      <dgm:t>
        <a:bodyPr/>
        <a:lstStyle/>
        <a:p>
          <a:endParaRPr lang="en-US"/>
        </a:p>
      </dgm:t>
    </dgm:pt>
    <dgm:pt modelId="{92A3118D-C1F4-E041-9C2B-47C5C2C50652}">
      <dgm:prSet phldrT="Add an event"/>
      <dgm:spPr/>
      <dgm:t>
        <a:bodyPr/>
        <a:lstStyle/>
        <a:p>
          <a:pPr>
            <a:defRPr b="1"/>
          </a:pPr>
          <a:r>
            <a:rPr lang="en-US" dirty="0"/>
            <a:t>February 2027</a:t>
          </a:r>
        </a:p>
      </dgm:t>
    </dgm:pt>
    <dgm:pt modelId="{CB19AB34-8407-FA49-8C44-8D88E1F2C1D9}" type="parTrans" cxnId="{CB0BF6C0-5D14-D944-92B2-5649DE8A8F91}">
      <dgm:prSet/>
      <dgm:spPr/>
      <dgm:t>
        <a:bodyPr/>
        <a:lstStyle/>
        <a:p>
          <a:endParaRPr lang="en-US"/>
        </a:p>
      </dgm:t>
    </dgm:pt>
    <dgm:pt modelId="{F87F3D49-3EDF-DA41-9A31-77B1C748BF07}" type="sibTrans" cxnId="{CB0BF6C0-5D14-D944-92B2-5649DE8A8F91}">
      <dgm:prSet/>
      <dgm:spPr/>
      <dgm:t>
        <a:bodyPr/>
        <a:lstStyle/>
        <a:p>
          <a:endParaRPr lang="en-US"/>
        </a:p>
      </dgm:t>
    </dgm:pt>
    <dgm:pt modelId="{C9990C69-4250-334C-A4C0-66AA5334D15B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2 of 3)</a:t>
          </a:r>
        </a:p>
      </dgm:t>
    </dgm:pt>
    <dgm:pt modelId="{A2726353-E9D6-2542-954D-9329251A1D45}" type="parTrans" cxnId="{A9C31FB7-487C-6D41-AEE8-1A615ECA65FD}">
      <dgm:prSet/>
      <dgm:spPr/>
      <dgm:t>
        <a:bodyPr/>
        <a:lstStyle/>
        <a:p>
          <a:endParaRPr lang="en-US"/>
        </a:p>
      </dgm:t>
    </dgm:pt>
    <dgm:pt modelId="{C3929728-F159-C64D-A4F5-B7C3B2786C65}" type="sibTrans" cxnId="{A9C31FB7-487C-6D41-AEE8-1A615ECA65FD}">
      <dgm:prSet/>
      <dgm:spPr/>
      <dgm:t>
        <a:bodyPr/>
        <a:lstStyle/>
        <a:p>
          <a:endParaRPr lang="en-US"/>
        </a:p>
      </dgm:t>
    </dgm:pt>
    <dgm:pt modelId="{28C75E81-8A14-7C48-B49C-5DECC7B13C09}">
      <dgm:prSet phldrT="Add an event"/>
      <dgm:spPr/>
      <dgm:t>
        <a:bodyPr/>
        <a:lstStyle/>
        <a:p>
          <a:pPr>
            <a:defRPr b="1"/>
          </a:pPr>
          <a:r>
            <a:rPr lang="en-US" dirty="0"/>
            <a:t>March 2027</a:t>
          </a:r>
        </a:p>
      </dgm:t>
    </dgm:pt>
    <dgm:pt modelId="{7B7BE4AC-B7D8-3345-9BD9-B0E46193CC3A}" type="parTrans" cxnId="{7203BCE6-B3CA-134C-83C5-18DB5D6C4218}">
      <dgm:prSet/>
      <dgm:spPr/>
      <dgm:t>
        <a:bodyPr/>
        <a:lstStyle/>
        <a:p>
          <a:endParaRPr lang="en-US"/>
        </a:p>
      </dgm:t>
    </dgm:pt>
    <dgm:pt modelId="{D79AF923-1E9D-C246-8ADB-31CF520B0E4B}" type="sibTrans" cxnId="{7203BCE6-B3CA-134C-83C5-18DB5D6C4218}">
      <dgm:prSet/>
      <dgm:spPr/>
      <dgm:t>
        <a:bodyPr/>
        <a:lstStyle/>
        <a:p>
          <a:endParaRPr lang="en-US"/>
        </a:p>
      </dgm:t>
    </dgm:pt>
    <dgm:pt modelId="{5FFF22AF-B5AA-8F42-BDAF-72C5DCC11B09}">
      <dgm:prSet phldrT="Write a description of the significance of this event" custT="1"/>
      <dgm:spPr/>
      <dgm:t>
        <a:bodyPr/>
        <a:lstStyle/>
        <a:p>
          <a:r>
            <a:rPr lang="en-US" sz="1800" dirty="0"/>
            <a:t>training on CVD model (part 3 of 3)</a:t>
          </a:r>
        </a:p>
      </dgm:t>
    </dgm:pt>
    <dgm:pt modelId="{47678D26-42CA-3D42-B543-0337FF9CD8AB}" type="parTrans" cxnId="{0A3524B2-40C2-3248-85B3-51D95DABD50F}">
      <dgm:prSet/>
      <dgm:spPr/>
      <dgm:t>
        <a:bodyPr/>
        <a:lstStyle/>
        <a:p>
          <a:endParaRPr lang="en-US"/>
        </a:p>
      </dgm:t>
    </dgm:pt>
    <dgm:pt modelId="{062127C2-F78B-1A4B-85F3-4CA1F4B3CEE0}" type="sibTrans" cxnId="{0A3524B2-40C2-3248-85B3-51D95DABD50F}">
      <dgm:prSet/>
      <dgm:spPr/>
      <dgm:t>
        <a:bodyPr/>
        <a:lstStyle/>
        <a:p>
          <a:endParaRPr lang="en-US"/>
        </a:p>
      </dgm:t>
    </dgm:pt>
    <dgm:pt modelId="{F9C17D90-1E89-724C-B26B-31CCE0200E0F}" type="pres">
      <dgm:prSet presAssocID="{F225E5C3-A4FA-8842-B9FD-F862142E29C8}" presName="root" presStyleCnt="0">
        <dgm:presLayoutVars>
          <dgm:dir/>
          <dgm:animLvl val="lvl"/>
        </dgm:presLayoutVars>
      </dgm:prSet>
      <dgm:spPr/>
    </dgm:pt>
    <dgm:pt modelId="{5C8DFF40-3E7F-E444-8EDD-7115D0E48338}" type="pres">
      <dgm:prSet presAssocID="{F225E5C3-A4FA-8842-B9FD-F862142E29C8}" presName="divider" presStyleCnt="0"/>
      <dgm:spPr/>
    </dgm:pt>
    <dgm:pt modelId="{2B0254E2-E36E-FB47-9E5E-A8A9AABD362C}" type="pres">
      <dgm:prSet presAssocID="{F225E5C3-A4FA-8842-B9FD-F862142E29C8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AEAA8E9-1AB0-DE48-94F6-EE9FC56F8B29}" type="pres">
      <dgm:prSet presAssocID="{F225E5C3-A4FA-8842-B9FD-F862142E29C8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4CE9A05-AF04-ED41-B00A-2E1587B52E3B}" type="pres">
      <dgm:prSet presAssocID="{F225E5C3-A4FA-8842-B9FD-F862142E29C8}" presName="nodes" presStyleCnt="0">
        <dgm:presLayoutVars>
          <dgm:chMax/>
          <dgm:chPref/>
          <dgm:animLvl val="lvl"/>
        </dgm:presLayoutVars>
      </dgm:prSet>
      <dgm:spPr/>
    </dgm:pt>
    <dgm:pt modelId="{B10E72E9-1F63-FF44-8C0C-C4201EDE165D}" type="pres">
      <dgm:prSet presAssocID="{94301105-4BCC-A540-A327-C3BBDD8E244F}" presName="composite" presStyleCnt="0"/>
      <dgm:spPr/>
    </dgm:pt>
    <dgm:pt modelId="{6B29A27F-D237-1048-9263-A3AD2120B4E5}" type="pres">
      <dgm:prSet presAssocID="{94301105-4BCC-A540-A327-C3BBDD8E244F}" presName="DropPinPlaceHolder" presStyleCnt="0"/>
      <dgm:spPr/>
    </dgm:pt>
    <dgm:pt modelId="{61D43120-FC2B-7D42-A8A0-8488741A035E}" type="pres">
      <dgm:prSet presAssocID="{94301105-4BCC-A540-A327-C3BBDD8E244F}" presName="DropPin" presStyleLbl="alignNode1" presStyleIdx="0" presStyleCnt="6"/>
      <dgm:spPr/>
    </dgm:pt>
    <dgm:pt modelId="{CC87A6DB-B977-A44C-9E3B-61ED11DEDC8B}" type="pres">
      <dgm:prSet presAssocID="{94301105-4BCC-A540-A327-C3BBDD8E244F}" presName="Ellipse" presStyleLbl="fgAcc1" presStyleIdx="0" presStyleCnt="6"/>
      <dgm:spPr/>
    </dgm:pt>
    <dgm:pt modelId="{9945AEC1-0210-CA41-A585-96B47C7CB759}" type="pres">
      <dgm:prSet presAssocID="{94301105-4BCC-A540-A327-C3BBDD8E244F}" presName="L2TextContainer" presStyleLbl="revTx" presStyleIdx="0" presStyleCnt="12">
        <dgm:presLayoutVars>
          <dgm:bulletEnabled val="1"/>
        </dgm:presLayoutVars>
      </dgm:prSet>
      <dgm:spPr/>
    </dgm:pt>
    <dgm:pt modelId="{7C16918C-8D7C-1741-8517-3C4830D16DCB}" type="pres">
      <dgm:prSet presAssocID="{94301105-4BCC-A540-A327-C3BBDD8E244F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92D95A11-439C-9148-BD6E-7922501B80E8}" type="pres">
      <dgm:prSet presAssocID="{94301105-4BCC-A540-A327-C3BBDD8E244F}" presName="ConnectLine" presStyleLbl="dkBgShp" presStyleIdx="2" presStyleCnt="8"/>
      <dgm:spPr/>
    </dgm:pt>
    <dgm:pt modelId="{E2EFC95A-9FBC-3B45-BCD1-5B01AD432C41}" type="pres">
      <dgm:prSet presAssocID="{94301105-4BCC-A540-A327-C3BBDD8E244F}" presName="ConnectorPoint" presStyleCnt="0"/>
      <dgm:spPr/>
    </dgm:pt>
    <dgm:pt modelId="{CC67D15E-F51B-4446-97A2-105CBEA68BE4}" type="pres">
      <dgm:prSet presAssocID="{94301105-4BCC-A540-A327-C3BBDD8E244F}" presName="Bullet" presStyleLbl="lnNode1" presStyleIdx="0" presStyleCnt="6"/>
      <dgm:spPr/>
    </dgm:pt>
    <dgm:pt modelId="{4C0A2A4C-5CF7-5B46-81EE-38592E80973B}" type="pres">
      <dgm:prSet presAssocID="{94301105-4BCC-A540-A327-C3BBDD8E244F}" presName="EmptyPlaceHolder" presStyleCnt="0"/>
      <dgm:spPr/>
    </dgm:pt>
    <dgm:pt modelId="{BD8F0DA5-248C-7448-9A20-8FECFC401D19}" type="pres">
      <dgm:prSet presAssocID="{990B2901-8E55-944C-A301-2EB6367B7AA7}" presName="spaceBetweenRectangles" presStyleCnt="0"/>
      <dgm:spPr/>
    </dgm:pt>
    <dgm:pt modelId="{363E4110-7C89-3B4F-8236-5B983ECDDF34}" type="pres">
      <dgm:prSet presAssocID="{15DB07C3-0E39-4E44-89F1-02034BC872AE}" presName="composite" presStyleCnt="0"/>
      <dgm:spPr/>
    </dgm:pt>
    <dgm:pt modelId="{A879BAA5-2A5D-6741-9E51-E15779DD25E8}" type="pres">
      <dgm:prSet presAssocID="{15DB07C3-0E39-4E44-89F1-02034BC872AE}" presName="DropPinPlaceHolder" presStyleCnt="0"/>
      <dgm:spPr/>
    </dgm:pt>
    <dgm:pt modelId="{6633D4A2-E438-4143-A043-83A4749133C4}" type="pres">
      <dgm:prSet presAssocID="{15DB07C3-0E39-4E44-89F1-02034BC872AE}" presName="DropPin" presStyleLbl="alignNode1" presStyleIdx="1" presStyleCnt="6"/>
      <dgm:spPr/>
    </dgm:pt>
    <dgm:pt modelId="{2EF158DE-E02C-1E4A-A654-8295AE1466F6}" type="pres">
      <dgm:prSet presAssocID="{15DB07C3-0E39-4E44-89F1-02034BC872AE}" presName="Ellipse" presStyleLbl="fgAcc1" presStyleIdx="1" presStyleCnt="6"/>
      <dgm:spPr/>
    </dgm:pt>
    <dgm:pt modelId="{237505D8-C5B6-3544-9D1C-6226530ADEE9}" type="pres">
      <dgm:prSet presAssocID="{15DB07C3-0E39-4E44-89F1-02034BC872AE}" presName="L2TextContainer" presStyleLbl="revTx" presStyleIdx="2" presStyleCnt="12">
        <dgm:presLayoutVars>
          <dgm:bulletEnabled val="1"/>
        </dgm:presLayoutVars>
      </dgm:prSet>
      <dgm:spPr/>
    </dgm:pt>
    <dgm:pt modelId="{38E98EB4-EAE0-6346-A60D-912E776BF22F}" type="pres">
      <dgm:prSet presAssocID="{15DB07C3-0E39-4E44-89F1-02034BC872AE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F4CB055B-C0CB-3C48-B9C5-51DEF0EA3B15}" type="pres">
      <dgm:prSet presAssocID="{15DB07C3-0E39-4E44-89F1-02034BC872AE}" presName="ConnectLine" presStyleLbl="dkBgShp" presStyleIdx="3" presStyleCnt="8"/>
      <dgm:spPr/>
    </dgm:pt>
    <dgm:pt modelId="{7A3EF554-5287-5140-8686-6556DE6523A5}" type="pres">
      <dgm:prSet presAssocID="{15DB07C3-0E39-4E44-89F1-02034BC872AE}" presName="ConnectorPoint" presStyleCnt="0"/>
      <dgm:spPr/>
    </dgm:pt>
    <dgm:pt modelId="{35E91515-0B18-2F4E-9EB0-83B02142A5E9}" type="pres">
      <dgm:prSet presAssocID="{15DB07C3-0E39-4E44-89F1-02034BC872AE}" presName="Bullet" presStyleLbl="lnNode1" presStyleIdx="1" presStyleCnt="6"/>
      <dgm:spPr/>
    </dgm:pt>
    <dgm:pt modelId="{CB83EEBE-0D8B-CD4B-B2FC-D1FC2A54EF86}" type="pres">
      <dgm:prSet presAssocID="{15DB07C3-0E39-4E44-89F1-02034BC872AE}" presName="EmptyPlaceHolder" presStyleCnt="0"/>
      <dgm:spPr/>
    </dgm:pt>
    <dgm:pt modelId="{C39F97A3-C43B-CE4A-AD44-85A5065BB9E3}" type="pres">
      <dgm:prSet presAssocID="{6E3A21EE-EB18-B647-A1D3-9A1EF61534AE}" presName="spaceBetweenRectangles" presStyleCnt="0"/>
      <dgm:spPr/>
    </dgm:pt>
    <dgm:pt modelId="{8274DF88-42A8-964E-8038-4FCC507325C8}" type="pres">
      <dgm:prSet presAssocID="{63EEEEFF-730B-6446-944E-83EDB5286245}" presName="composite" presStyleCnt="0"/>
      <dgm:spPr/>
    </dgm:pt>
    <dgm:pt modelId="{E390B298-779B-7C45-A22F-F6F7797E8B0A}" type="pres">
      <dgm:prSet presAssocID="{63EEEEFF-730B-6446-944E-83EDB5286245}" presName="DropPinPlaceHolder" presStyleCnt="0"/>
      <dgm:spPr/>
    </dgm:pt>
    <dgm:pt modelId="{BBEF23B8-2E7C-6943-B913-3C17BB959F91}" type="pres">
      <dgm:prSet presAssocID="{63EEEEFF-730B-6446-944E-83EDB5286245}" presName="DropPin" presStyleLbl="alignNode1" presStyleIdx="2" presStyleCnt="6"/>
      <dgm:spPr/>
    </dgm:pt>
    <dgm:pt modelId="{04FC1046-63C6-1E45-9AA7-92581F8B7151}" type="pres">
      <dgm:prSet presAssocID="{63EEEEFF-730B-6446-944E-83EDB5286245}" presName="Ellipse" presStyleLbl="fgAcc1" presStyleIdx="2" presStyleCnt="6"/>
      <dgm:spPr/>
    </dgm:pt>
    <dgm:pt modelId="{C9FC196C-688B-D748-9087-055A2D3F3A88}" type="pres">
      <dgm:prSet presAssocID="{63EEEEFF-730B-6446-944E-83EDB5286245}" presName="L2TextContainer" presStyleLbl="revTx" presStyleIdx="4" presStyleCnt="12">
        <dgm:presLayoutVars>
          <dgm:bulletEnabled val="1"/>
        </dgm:presLayoutVars>
      </dgm:prSet>
      <dgm:spPr/>
    </dgm:pt>
    <dgm:pt modelId="{1E9EAA78-5BAE-7649-8F30-BBFAFB85022C}" type="pres">
      <dgm:prSet presAssocID="{63EEEEFF-730B-6446-944E-83EDB5286245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3763B45-9B10-ED4C-B1CA-622A4D5AA565}" type="pres">
      <dgm:prSet presAssocID="{63EEEEFF-730B-6446-944E-83EDB5286245}" presName="ConnectLine" presStyleLbl="dkBgShp" presStyleIdx="4" presStyleCnt="8"/>
      <dgm:spPr/>
    </dgm:pt>
    <dgm:pt modelId="{8FAD4C13-24C1-E749-9275-AF887733CD48}" type="pres">
      <dgm:prSet presAssocID="{63EEEEFF-730B-6446-944E-83EDB5286245}" presName="ConnectorPoint" presStyleCnt="0"/>
      <dgm:spPr/>
    </dgm:pt>
    <dgm:pt modelId="{AACD17B8-AA7D-D04E-90A7-A453E2CD6BEB}" type="pres">
      <dgm:prSet presAssocID="{63EEEEFF-730B-6446-944E-83EDB5286245}" presName="Bullet" presStyleLbl="lnNode1" presStyleIdx="2" presStyleCnt="6"/>
      <dgm:spPr/>
    </dgm:pt>
    <dgm:pt modelId="{E03B86D2-57D7-E54D-BAD9-EBE4B59F33B4}" type="pres">
      <dgm:prSet presAssocID="{63EEEEFF-730B-6446-944E-83EDB5286245}" presName="EmptyPlaceHolder" presStyleCnt="0"/>
      <dgm:spPr/>
    </dgm:pt>
    <dgm:pt modelId="{E85076B6-6DA6-4140-8F75-F8DB3BC0F759}" type="pres">
      <dgm:prSet presAssocID="{91A9F6D1-D645-4C4E-BABE-18A59CBDF2E5}" presName="spaceBetweenRectangles" presStyleCnt="0"/>
      <dgm:spPr/>
    </dgm:pt>
    <dgm:pt modelId="{C4848F83-3073-2143-AA1F-44A554CA49BB}" type="pres">
      <dgm:prSet presAssocID="{F1709DD2-3ED9-7D4B-807E-532936B0D5A6}" presName="composite" presStyleCnt="0"/>
      <dgm:spPr/>
    </dgm:pt>
    <dgm:pt modelId="{7878192C-792F-0642-9F83-312FF80BF422}" type="pres">
      <dgm:prSet presAssocID="{F1709DD2-3ED9-7D4B-807E-532936B0D5A6}" presName="DropPinPlaceHolder" presStyleCnt="0"/>
      <dgm:spPr/>
    </dgm:pt>
    <dgm:pt modelId="{04E67742-1301-F948-AE7D-0471E51B691D}" type="pres">
      <dgm:prSet presAssocID="{F1709DD2-3ED9-7D4B-807E-532936B0D5A6}" presName="DropPin" presStyleLbl="alignNode1" presStyleIdx="3" presStyleCnt="6"/>
      <dgm:spPr/>
    </dgm:pt>
    <dgm:pt modelId="{DD63C6E9-0080-3141-8CC7-0A4BD5CFF571}" type="pres">
      <dgm:prSet presAssocID="{F1709DD2-3ED9-7D4B-807E-532936B0D5A6}" presName="Ellipse" presStyleLbl="fgAcc1" presStyleIdx="3" presStyleCnt="6"/>
      <dgm:spPr/>
    </dgm:pt>
    <dgm:pt modelId="{51D838DD-967B-C14C-8D68-94EB672CCB55}" type="pres">
      <dgm:prSet presAssocID="{F1709DD2-3ED9-7D4B-807E-532936B0D5A6}" presName="L2TextContainer" presStyleLbl="revTx" presStyleIdx="6" presStyleCnt="12">
        <dgm:presLayoutVars>
          <dgm:bulletEnabled val="1"/>
        </dgm:presLayoutVars>
      </dgm:prSet>
      <dgm:spPr/>
    </dgm:pt>
    <dgm:pt modelId="{4BA03182-A642-8046-97FE-C32CFDC80991}" type="pres">
      <dgm:prSet presAssocID="{F1709DD2-3ED9-7D4B-807E-532936B0D5A6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C5E71C1D-3D22-9149-906E-42E42F1EF377}" type="pres">
      <dgm:prSet presAssocID="{F1709DD2-3ED9-7D4B-807E-532936B0D5A6}" presName="ConnectLine" presStyleLbl="dkBgShp" presStyleIdx="5" presStyleCnt="8"/>
      <dgm:spPr/>
    </dgm:pt>
    <dgm:pt modelId="{42786659-2B9D-544E-8A68-4EC337801FE8}" type="pres">
      <dgm:prSet presAssocID="{F1709DD2-3ED9-7D4B-807E-532936B0D5A6}" presName="ConnectorPoint" presStyleCnt="0"/>
      <dgm:spPr/>
    </dgm:pt>
    <dgm:pt modelId="{6D5EC75E-3DDE-8844-A201-ED13115371E6}" type="pres">
      <dgm:prSet presAssocID="{F1709DD2-3ED9-7D4B-807E-532936B0D5A6}" presName="Bullet" presStyleLbl="lnNode1" presStyleIdx="3" presStyleCnt="6"/>
      <dgm:spPr/>
    </dgm:pt>
    <dgm:pt modelId="{3F7709CA-D7A1-F745-A609-00FFE8A6221A}" type="pres">
      <dgm:prSet presAssocID="{F1709DD2-3ED9-7D4B-807E-532936B0D5A6}" presName="EmptyPlaceHolder" presStyleCnt="0"/>
      <dgm:spPr/>
    </dgm:pt>
    <dgm:pt modelId="{6A4063C5-4A49-B24D-A3E6-95C0904777A6}" type="pres">
      <dgm:prSet presAssocID="{1AC03CBB-48DC-3542-A4E6-4C837CA6903F}" presName="spaceBetweenRectangles" presStyleCnt="0"/>
      <dgm:spPr/>
    </dgm:pt>
    <dgm:pt modelId="{BE3F222A-8F76-504A-B9A2-46D8230CF0B0}" type="pres">
      <dgm:prSet presAssocID="{92A3118D-C1F4-E041-9C2B-47C5C2C50652}" presName="composite" presStyleCnt="0"/>
      <dgm:spPr/>
    </dgm:pt>
    <dgm:pt modelId="{336B5581-0EE9-1840-BA22-434E7FBE2CA3}" type="pres">
      <dgm:prSet presAssocID="{92A3118D-C1F4-E041-9C2B-47C5C2C50652}" presName="DropPinPlaceHolder" presStyleCnt="0"/>
      <dgm:spPr/>
    </dgm:pt>
    <dgm:pt modelId="{0DEC629A-59F7-414F-89C4-03F2D7965DED}" type="pres">
      <dgm:prSet presAssocID="{92A3118D-C1F4-E041-9C2B-47C5C2C50652}" presName="DropPin" presStyleLbl="alignNode1" presStyleIdx="4" presStyleCnt="6"/>
      <dgm:spPr/>
    </dgm:pt>
    <dgm:pt modelId="{5354FFFA-FD07-CE4F-AA59-10FA4B235651}" type="pres">
      <dgm:prSet presAssocID="{92A3118D-C1F4-E041-9C2B-47C5C2C50652}" presName="Ellipse" presStyleLbl="fgAcc1" presStyleIdx="4" presStyleCnt="6"/>
      <dgm:spPr/>
    </dgm:pt>
    <dgm:pt modelId="{90DA75E6-E7E7-8542-8150-01E9FB428412}" type="pres">
      <dgm:prSet presAssocID="{92A3118D-C1F4-E041-9C2B-47C5C2C50652}" presName="L2TextContainer" presStyleLbl="revTx" presStyleIdx="8" presStyleCnt="12">
        <dgm:presLayoutVars>
          <dgm:bulletEnabled val="1"/>
        </dgm:presLayoutVars>
      </dgm:prSet>
      <dgm:spPr/>
    </dgm:pt>
    <dgm:pt modelId="{3211E73E-7B59-134F-8745-A76A9ADD9316}" type="pres">
      <dgm:prSet presAssocID="{92A3118D-C1F4-E041-9C2B-47C5C2C50652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29DD1C4F-0146-274E-B055-9FA4261D8D6E}" type="pres">
      <dgm:prSet presAssocID="{92A3118D-C1F4-E041-9C2B-47C5C2C50652}" presName="ConnectLine" presStyleLbl="dkBgShp" presStyleIdx="6" presStyleCnt="8"/>
      <dgm:spPr/>
    </dgm:pt>
    <dgm:pt modelId="{624CBD09-D26D-0C4F-94E0-260630E70DA5}" type="pres">
      <dgm:prSet presAssocID="{92A3118D-C1F4-E041-9C2B-47C5C2C50652}" presName="ConnectorPoint" presStyleCnt="0"/>
      <dgm:spPr/>
    </dgm:pt>
    <dgm:pt modelId="{0719E342-F5E7-DE43-B9F1-D0C0EDD6D4F2}" type="pres">
      <dgm:prSet presAssocID="{92A3118D-C1F4-E041-9C2B-47C5C2C50652}" presName="Bullet" presStyleLbl="lnNode1" presStyleIdx="4" presStyleCnt="6"/>
      <dgm:spPr/>
    </dgm:pt>
    <dgm:pt modelId="{6A2BE19F-C867-EC49-BD92-F99E3AB92BB2}" type="pres">
      <dgm:prSet presAssocID="{92A3118D-C1F4-E041-9C2B-47C5C2C50652}" presName="EmptyPlaceHolder" presStyleCnt="0"/>
      <dgm:spPr/>
    </dgm:pt>
    <dgm:pt modelId="{359187A3-A098-D945-B36D-8FD38B513DE3}" type="pres">
      <dgm:prSet presAssocID="{F87F3D49-3EDF-DA41-9A31-77B1C748BF07}" presName="spaceBetweenRectangles" presStyleCnt="0"/>
      <dgm:spPr/>
    </dgm:pt>
    <dgm:pt modelId="{88F8F902-C186-0B4A-A3B3-A0F33AF90BCD}" type="pres">
      <dgm:prSet presAssocID="{28C75E81-8A14-7C48-B49C-5DECC7B13C09}" presName="composite" presStyleCnt="0"/>
      <dgm:spPr/>
    </dgm:pt>
    <dgm:pt modelId="{2895E5A4-E365-124A-B631-8C01FE9E7F3D}" type="pres">
      <dgm:prSet presAssocID="{28C75E81-8A14-7C48-B49C-5DECC7B13C09}" presName="DropPinPlaceHolder" presStyleCnt="0"/>
      <dgm:spPr/>
    </dgm:pt>
    <dgm:pt modelId="{D4B41401-B6CD-274E-AD16-8A0F588B7745}" type="pres">
      <dgm:prSet presAssocID="{28C75E81-8A14-7C48-B49C-5DECC7B13C09}" presName="DropPin" presStyleLbl="alignNode1" presStyleIdx="5" presStyleCnt="6"/>
      <dgm:spPr/>
    </dgm:pt>
    <dgm:pt modelId="{A984486F-14FB-2044-A0C4-EC6F1D4F582A}" type="pres">
      <dgm:prSet presAssocID="{28C75E81-8A14-7C48-B49C-5DECC7B13C09}" presName="Ellipse" presStyleLbl="fgAcc1" presStyleIdx="5" presStyleCnt="6"/>
      <dgm:spPr/>
    </dgm:pt>
    <dgm:pt modelId="{42E6C4EB-60B6-2047-8E08-D0AE378B26DE}" type="pres">
      <dgm:prSet presAssocID="{28C75E81-8A14-7C48-B49C-5DECC7B13C09}" presName="L2TextContainer" presStyleLbl="revTx" presStyleIdx="10" presStyleCnt="12">
        <dgm:presLayoutVars>
          <dgm:bulletEnabled val="1"/>
        </dgm:presLayoutVars>
      </dgm:prSet>
      <dgm:spPr/>
    </dgm:pt>
    <dgm:pt modelId="{97956377-FA61-7147-A60E-85DBF42B0B82}" type="pres">
      <dgm:prSet presAssocID="{28C75E81-8A14-7C48-B49C-5DECC7B13C09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2A8A853B-FB7C-CD46-9894-CE193A4E353C}" type="pres">
      <dgm:prSet presAssocID="{28C75E81-8A14-7C48-B49C-5DECC7B13C09}" presName="ConnectLine" presStyleLbl="dkBgShp" presStyleIdx="7" presStyleCnt="8"/>
      <dgm:spPr/>
    </dgm:pt>
    <dgm:pt modelId="{D9A56BA0-5FF7-1048-93DD-A5147C85B1AE}" type="pres">
      <dgm:prSet presAssocID="{28C75E81-8A14-7C48-B49C-5DECC7B13C09}" presName="ConnectorPoint" presStyleCnt="0"/>
      <dgm:spPr/>
    </dgm:pt>
    <dgm:pt modelId="{34C51433-AC32-504F-8256-8B74A8117860}" type="pres">
      <dgm:prSet presAssocID="{28C75E81-8A14-7C48-B49C-5DECC7B13C09}" presName="Bullet" presStyleLbl="lnNode1" presStyleIdx="5" presStyleCnt="6"/>
      <dgm:spPr/>
    </dgm:pt>
    <dgm:pt modelId="{763F343C-BAFF-2A4C-B334-A2DEA9B4AF48}" type="pres">
      <dgm:prSet presAssocID="{28C75E81-8A14-7C48-B49C-5DECC7B13C09}" presName="EmptyPlaceHolder" presStyleCnt="0"/>
      <dgm:spPr/>
    </dgm:pt>
  </dgm:ptLst>
  <dgm:cxnLst>
    <dgm:cxn modelId="{FA204206-964E-814B-8173-300F368C3E4C}" type="presOf" srcId="{28C75E81-8A14-7C48-B49C-5DECC7B13C09}" destId="{97956377-FA61-7147-A60E-85DBF42B0B82}" srcOrd="0" destOrd="0" presId="urn:microsoft.com/office/officeart/2024/layout/BulletTimelineInverted#1"/>
    <dgm:cxn modelId="{F450711C-1864-3946-9EC5-CF72DB18730A}" type="presOf" srcId="{5FFF22AF-B5AA-8F42-BDAF-72C5DCC11B09}" destId="{42E6C4EB-60B6-2047-8E08-D0AE378B26DE}" srcOrd="0" destOrd="0" presId="urn:microsoft.com/office/officeart/2024/layout/BulletTimelineInverted#1"/>
    <dgm:cxn modelId="{B33DBA2E-FF65-404C-B539-E67312A8F3EB}" type="presOf" srcId="{C9990C69-4250-334C-A4C0-66AA5334D15B}" destId="{90DA75E6-E7E7-8542-8150-01E9FB428412}" srcOrd="0" destOrd="0" presId="urn:microsoft.com/office/officeart/2024/layout/BulletTimelineInverted#1"/>
    <dgm:cxn modelId="{7071A630-15BF-EF45-831D-62A347CC6E82}" srcId="{63EEEEFF-730B-6446-944E-83EDB5286245}" destId="{59128EF0-C1D0-D546-ADC8-0D5CDDCC978A}" srcOrd="0" destOrd="0" parTransId="{5187AB6A-9600-7A45-AF34-9F16F0DF4DA9}" sibTransId="{DD12A722-1C51-BC44-91C2-B23CAE38B3CC}"/>
    <dgm:cxn modelId="{23AA6849-7215-684A-AC51-9AB7605DB057}" type="presOf" srcId="{63EEEEFF-730B-6446-944E-83EDB5286245}" destId="{1E9EAA78-5BAE-7649-8F30-BBFAFB85022C}" srcOrd="0" destOrd="0" presId="urn:microsoft.com/office/officeart/2024/layout/BulletTimelineInverted#1"/>
    <dgm:cxn modelId="{708ED74B-2437-FA4C-AF91-BFDBBBDA4B35}" type="presOf" srcId="{0208C73C-7537-0046-9DA5-58EF3BFC6D35}" destId="{51D838DD-967B-C14C-8D68-94EB672CCB55}" srcOrd="0" destOrd="0" presId="urn:microsoft.com/office/officeart/2024/layout/BulletTimelineInverted#1"/>
    <dgm:cxn modelId="{903AF56B-6E12-204F-8053-62245536E1D9}" srcId="{F225E5C3-A4FA-8842-B9FD-F862142E29C8}" destId="{F1709DD2-3ED9-7D4B-807E-532936B0D5A6}" srcOrd="3" destOrd="0" parTransId="{7E3DE460-1FE8-F44D-8EAC-2E093B12C2EE}" sibTransId="{1AC03CBB-48DC-3542-A4E6-4C837CA6903F}"/>
    <dgm:cxn modelId="{C2DC0755-651F-6548-BC9C-204AE21FEB5D}" srcId="{F1709DD2-3ED9-7D4B-807E-532936B0D5A6}" destId="{0208C73C-7537-0046-9DA5-58EF3BFC6D35}" srcOrd="0" destOrd="0" parTransId="{419D65ED-122F-2948-A2A3-8707986D6E70}" sibTransId="{573F4AD7-D4D6-0D40-A6A6-F903AE7D0314}"/>
    <dgm:cxn modelId="{9B99367A-D99E-EE41-8894-706E2637D394}" type="presOf" srcId="{15DB07C3-0E39-4E44-89F1-02034BC872AE}" destId="{38E98EB4-EAE0-6346-A60D-912E776BF22F}" srcOrd="0" destOrd="0" presId="urn:microsoft.com/office/officeart/2024/layout/BulletTimelineInverted#1"/>
    <dgm:cxn modelId="{2C648E7B-3610-1649-9045-303C0AACBF03}" type="presOf" srcId="{F1709DD2-3ED9-7D4B-807E-532936B0D5A6}" destId="{4BA03182-A642-8046-97FE-C32CFDC80991}" srcOrd="0" destOrd="0" presId="urn:microsoft.com/office/officeart/2024/layout/BulletTimelineInverted#1"/>
    <dgm:cxn modelId="{6307127C-7C94-CE40-83A4-549DCF7C9630}" type="presOf" srcId="{94301105-4BCC-A540-A327-C3BBDD8E244F}" destId="{7C16918C-8D7C-1741-8517-3C4830D16DCB}" srcOrd="0" destOrd="0" presId="urn:microsoft.com/office/officeart/2024/layout/BulletTimelineInverted#1"/>
    <dgm:cxn modelId="{3FFAA68A-EE43-8F41-9C9E-3B26FB83D5B4}" srcId="{F225E5C3-A4FA-8842-B9FD-F862142E29C8}" destId="{94301105-4BCC-A540-A327-C3BBDD8E244F}" srcOrd="0" destOrd="0" parTransId="{B58EDCCA-87C3-334E-8B5A-F6B56B2B711E}" sibTransId="{990B2901-8E55-944C-A301-2EB6367B7AA7}"/>
    <dgm:cxn modelId="{3BD5C68E-1E1C-B744-BBC7-1927581B06A8}" type="presOf" srcId="{F225E5C3-A4FA-8842-B9FD-F862142E29C8}" destId="{F9C17D90-1E89-724C-B26B-31CCE0200E0F}" srcOrd="0" destOrd="0" presId="urn:microsoft.com/office/officeart/2024/layout/BulletTimelineInverted#1"/>
    <dgm:cxn modelId="{F011A9A8-FA9A-3544-97B8-C443CD8F527E}" type="presOf" srcId="{59128EF0-C1D0-D546-ADC8-0D5CDDCC978A}" destId="{C9FC196C-688B-D748-9087-055A2D3F3A88}" srcOrd="0" destOrd="0" presId="urn:microsoft.com/office/officeart/2024/layout/BulletTimelineInverted#1"/>
    <dgm:cxn modelId="{0A3524B2-40C2-3248-85B3-51D95DABD50F}" srcId="{28C75E81-8A14-7C48-B49C-5DECC7B13C09}" destId="{5FFF22AF-B5AA-8F42-BDAF-72C5DCC11B09}" srcOrd="0" destOrd="0" parTransId="{47678D26-42CA-3D42-B543-0337FF9CD8AB}" sibTransId="{062127C2-F78B-1A4B-85F3-4CA1F4B3CEE0}"/>
    <dgm:cxn modelId="{A9C31FB7-487C-6D41-AEE8-1A615ECA65FD}" srcId="{92A3118D-C1F4-E041-9C2B-47C5C2C50652}" destId="{C9990C69-4250-334C-A4C0-66AA5334D15B}" srcOrd="0" destOrd="0" parTransId="{A2726353-E9D6-2542-954D-9329251A1D45}" sibTransId="{C3929728-F159-C64D-A4F5-B7C3B2786C65}"/>
    <dgm:cxn modelId="{7B2422BF-0B9F-D84E-98F1-09086011F292}" type="presOf" srcId="{E74F76A8-C5B9-FA43-ACF9-E28323DAFD15}" destId="{237505D8-C5B6-3544-9D1C-6226530ADEE9}" srcOrd="0" destOrd="0" presId="urn:microsoft.com/office/officeart/2024/layout/BulletTimelineInverted#1"/>
    <dgm:cxn modelId="{CB0BF6C0-5D14-D944-92B2-5649DE8A8F91}" srcId="{F225E5C3-A4FA-8842-B9FD-F862142E29C8}" destId="{92A3118D-C1F4-E041-9C2B-47C5C2C50652}" srcOrd="4" destOrd="0" parTransId="{CB19AB34-8407-FA49-8C44-8D88E1F2C1D9}" sibTransId="{F87F3D49-3EDF-DA41-9A31-77B1C748BF07}"/>
    <dgm:cxn modelId="{03A80BC6-AA83-9341-93B9-B39ED90ED933}" type="presOf" srcId="{92A3118D-C1F4-E041-9C2B-47C5C2C50652}" destId="{3211E73E-7B59-134F-8745-A76A9ADD9316}" srcOrd="0" destOrd="0" presId="urn:microsoft.com/office/officeart/2024/layout/BulletTimelineInverted#1"/>
    <dgm:cxn modelId="{ABBEFAD3-609F-C743-9F02-2FFE9140333F}" srcId="{15DB07C3-0E39-4E44-89F1-02034BC872AE}" destId="{E74F76A8-C5B9-FA43-ACF9-E28323DAFD15}" srcOrd="0" destOrd="0" parTransId="{A28B7E31-DB58-FF49-9B7E-D7C1D501E0F6}" sibTransId="{04E6C4DA-BDF3-3344-955D-56A647745E74}"/>
    <dgm:cxn modelId="{449221D5-08FB-8740-B324-8D931841DF17}" srcId="{F225E5C3-A4FA-8842-B9FD-F862142E29C8}" destId="{15DB07C3-0E39-4E44-89F1-02034BC872AE}" srcOrd="1" destOrd="0" parTransId="{D1AA3355-3411-974C-B4A6-9C2D3FAE066A}" sibTransId="{6E3A21EE-EB18-B647-A1D3-9A1EF61534AE}"/>
    <dgm:cxn modelId="{8CA980E4-94EA-D140-93C3-E8A5ED417336}" type="presOf" srcId="{E051AA33-4013-5F45-BACB-173F5D8CBD78}" destId="{9945AEC1-0210-CA41-A585-96B47C7CB759}" srcOrd="0" destOrd="0" presId="urn:microsoft.com/office/officeart/2024/layout/BulletTimelineInverted#1"/>
    <dgm:cxn modelId="{7203BCE6-B3CA-134C-83C5-18DB5D6C4218}" srcId="{F225E5C3-A4FA-8842-B9FD-F862142E29C8}" destId="{28C75E81-8A14-7C48-B49C-5DECC7B13C09}" srcOrd="5" destOrd="0" parTransId="{7B7BE4AC-B7D8-3345-9BD9-B0E46193CC3A}" sibTransId="{D79AF923-1E9D-C246-8ADB-31CF520B0E4B}"/>
    <dgm:cxn modelId="{275D1CEA-F6BC-224F-A222-5EEABA7043E8}" srcId="{F225E5C3-A4FA-8842-B9FD-F862142E29C8}" destId="{63EEEEFF-730B-6446-944E-83EDB5286245}" srcOrd="2" destOrd="0" parTransId="{AE0B700A-A878-3449-A113-5654032CD432}" sibTransId="{91A9F6D1-D645-4C4E-BABE-18A59CBDF2E5}"/>
    <dgm:cxn modelId="{021E5FFF-C400-EB4F-9AF2-214A2093ADB9}" srcId="{94301105-4BCC-A540-A327-C3BBDD8E244F}" destId="{E051AA33-4013-5F45-BACB-173F5D8CBD78}" srcOrd="0" destOrd="0" parTransId="{F7C8BE07-6481-254B-8B53-414CFA60D24D}" sibTransId="{DA733E3A-9C9A-F548-80E2-58C4C48ADF4A}"/>
    <dgm:cxn modelId="{29FD7320-D739-7B41-91D2-05693D3D168C}" type="presParOf" srcId="{F9C17D90-1E89-724C-B26B-31CCE0200E0F}" destId="{5C8DFF40-3E7F-E444-8EDD-7115D0E48338}" srcOrd="0" destOrd="0" presId="urn:microsoft.com/office/officeart/2024/layout/BulletTimelineInverted#1"/>
    <dgm:cxn modelId="{8A1EC492-167B-D740-848B-D021A9BD2E5B}" type="presParOf" srcId="{5C8DFF40-3E7F-E444-8EDD-7115D0E48338}" destId="{2B0254E2-E36E-FB47-9E5E-A8A9AABD362C}" srcOrd="0" destOrd="0" presId="urn:microsoft.com/office/officeart/2024/layout/BulletTimelineInverted#1"/>
    <dgm:cxn modelId="{E33907C9-FF60-6540-9011-2483C8683828}" type="presParOf" srcId="{5C8DFF40-3E7F-E444-8EDD-7115D0E48338}" destId="{2AEAA8E9-1AB0-DE48-94F6-EE9FC56F8B29}" srcOrd="1" destOrd="0" presId="urn:microsoft.com/office/officeart/2024/layout/BulletTimelineInverted#1"/>
    <dgm:cxn modelId="{F8BB4449-3056-9C4D-BB53-1CEE887033EC}" type="presParOf" srcId="{F9C17D90-1E89-724C-B26B-31CCE0200E0F}" destId="{24CE9A05-AF04-ED41-B00A-2E1587B52E3B}" srcOrd="1" destOrd="0" presId="urn:microsoft.com/office/officeart/2024/layout/BulletTimelineInverted#1"/>
    <dgm:cxn modelId="{A25C6F3D-C219-1B46-8EE0-5AFABEDF70CB}" type="presParOf" srcId="{24CE9A05-AF04-ED41-B00A-2E1587B52E3B}" destId="{B10E72E9-1F63-FF44-8C0C-C4201EDE165D}" srcOrd="0" destOrd="0" presId="urn:microsoft.com/office/officeart/2024/layout/BulletTimelineInverted#1"/>
    <dgm:cxn modelId="{07149F68-11F4-C149-86D3-4D63498E3255}" type="presParOf" srcId="{B10E72E9-1F63-FF44-8C0C-C4201EDE165D}" destId="{6B29A27F-D237-1048-9263-A3AD2120B4E5}" srcOrd="0" destOrd="0" presId="urn:microsoft.com/office/officeart/2024/layout/BulletTimelineInverted#1"/>
    <dgm:cxn modelId="{BA026B44-09C8-8B4C-A112-32AA2565EC9C}" type="presParOf" srcId="{6B29A27F-D237-1048-9263-A3AD2120B4E5}" destId="{61D43120-FC2B-7D42-A8A0-8488741A035E}" srcOrd="0" destOrd="0" presId="urn:microsoft.com/office/officeart/2024/layout/BulletTimelineInverted#1"/>
    <dgm:cxn modelId="{F1144767-FD13-F046-ADB3-7238C4E6C9A4}" type="presParOf" srcId="{6B29A27F-D237-1048-9263-A3AD2120B4E5}" destId="{CC87A6DB-B977-A44C-9E3B-61ED11DEDC8B}" srcOrd="1" destOrd="0" presId="urn:microsoft.com/office/officeart/2024/layout/BulletTimelineInverted#1"/>
    <dgm:cxn modelId="{58BB4343-C1B4-6149-8A22-095C0DFCC0D9}" type="presParOf" srcId="{B10E72E9-1F63-FF44-8C0C-C4201EDE165D}" destId="{9945AEC1-0210-CA41-A585-96B47C7CB759}" srcOrd="1" destOrd="0" presId="urn:microsoft.com/office/officeart/2024/layout/BulletTimelineInverted#1"/>
    <dgm:cxn modelId="{51A86CE7-3695-A545-B863-B5F2C36BFF40}" type="presParOf" srcId="{B10E72E9-1F63-FF44-8C0C-C4201EDE165D}" destId="{7C16918C-8D7C-1741-8517-3C4830D16DCB}" srcOrd="2" destOrd="0" presId="urn:microsoft.com/office/officeart/2024/layout/BulletTimelineInverted#1"/>
    <dgm:cxn modelId="{B422B0B4-B2DC-7548-BBCB-B101E9D6D645}" type="presParOf" srcId="{B10E72E9-1F63-FF44-8C0C-C4201EDE165D}" destId="{92D95A11-439C-9148-BD6E-7922501B80E8}" srcOrd="3" destOrd="0" presId="urn:microsoft.com/office/officeart/2024/layout/BulletTimelineInverted#1"/>
    <dgm:cxn modelId="{C6BDDA53-2F47-B14B-997F-790191FA62B3}" type="presParOf" srcId="{B10E72E9-1F63-FF44-8C0C-C4201EDE165D}" destId="{E2EFC95A-9FBC-3B45-BCD1-5B01AD432C41}" srcOrd="4" destOrd="0" presId="urn:microsoft.com/office/officeart/2024/layout/BulletTimelineInverted#1"/>
    <dgm:cxn modelId="{C0F23D10-FB86-854F-A563-FBC2A57DA602}" type="presParOf" srcId="{E2EFC95A-9FBC-3B45-BCD1-5B01AD432C41}" destId="{CC67D15E-F51B-4446-97A2-105CBEA68BE4}" srcOrd="0" destOrd="0" presId="urn:microsoft.com/office/officeart/2024/layout/BulletTimelineInverted#1"/>
    <dgm:cxn modelId="{4DDFC1AB-9A23-0B4E-AF8A-8BEB69FEDADD}" type="presParOf" srcId="{B10E72E9-1F63-FF44-8C0C-C4201EDE165D}" destId="{4C0A2A4C-5CF7-5B46-81EE-38592E80973B}" srcOrd="5" destOrd="0" presId="urn:microsoft.com/office/officeart/2024/layout/BulletTimelineInverted#1"/>
    <dgm:cxn modelId="{709D7541-D88E-5C44-9F59-234E2D5153CF}" type="presParOf" srcId="{24CE9A05-AF04-ED41-B00A-2E1587B52E3B}" destId="{BD8F0DA5-248C-7448-9A20-8FECFC401D19}" srcOrd="1" destOrd="0" presId="urn:microsoft.com/office/officeart/2024/layout/BulletTimelineInverted#1"/>
    <dgm:cxn modelId="{108B769B-7EB4-744E-8E81-9BA33B8E5EC8}" type="presParOf" srcId="{24CE9A05-AF04-ED41-B00A-2E1587B52E3B}" destId="{363E4110-7C89-3B4F-8236-5B983ECDDF34}" srcOrd="2" destOrd="0" presId="urn:microsoft.com/office/officeart/2024/layout/BulletTimelineInverted#1"/>
    <dgm:cxn modelId="{AC4BEE3D-1460-1D4C-B5B0-F429ECE2E07C}" type="presParOf" srcId="{363E4110-7C89-3B4F-8236-5B983ECDDF34}" destId="{A879BAA5-2A5D-6741-9E51-E15779DD25E8}" srcOrd="0" destOrd="0" presId="urn:microsoft.com/office/officeart/2024/layout/BulletTimelineInverted#1"/>
    <dgm:cxn modelId="{9750F6BF-EFD2-B642-9FA4-333BA05E548D}" type="presParOf" srcId="{A879BAA5-2A5D-6741-9E51-E15779DD25E8}" destId="{6633D4A2-E438-4143-A043-83A4749133C4}" srcOrd="0" destOrd="0" presId="urn:microsoft.com/office/officeart/2024/layout/BulletTimelineInverted#1"/>
    <dgm:cxn modelId="{F4167A29-77B6-994A-88B3-AEA876CE9192}" type="presParOf" srcId="{A879BAA5-2A5D-6741-9E51-E15779DD25E8}" destId="{2EF158DE-E02C-1E4A-A654-8295AE1466F6}" srcOrd="1" destOrd="0" presId="urn:microsoft.com/office/officeart/2024/layout/BulletTimelineInverted#1"/>
    <dgm:cxn modelId="{EC17ACB3-7327-EA44-BBE1-425015F8E29E}" type="presParOf" srcId="{363E4110-7C89-3B4F-8236-5B983ECDDF34}" destId="{237505D8-C5B6-3544-9D1C-6226530ADEE9}" srcOrd="1" destOrd="0" presId="urn:microsoft.com/office/officeart/2024/layout/BulletTimelineInverted#1"/>
    <dgm:cxn modelId="{8B33F02B-7CE3-FB4C-B981-754EC9CEB40A}" type="presParOf" srcId="{363E4110-7C89-3B4F-8236-5B983ECDDF34}" destId="{38E98EB4-EAE0-6346-A60D-912E776BF22F}" srcOrd="2" destOrd="0" presId="urn:microsoft.com/office/officeart/2024/layout/BulletTimelineInverted#1"/>
    <dgm:cxn modelId="{861E138A-80CE-7E46-9FA0-0CDED663B398}" type="presParOf" srcId="{363E4110-7C89-3B4F-8236-5B983ECDDF34}" destId="{F4CB055B-C0CB-3C48-B9C5-51DEF0EA3B15}" srcOrd="3" destOrd="0" presId="urn:microsoft.com/office/officeart/2024/layout/BulletTimelineInverted#1"/>
    <dgm:cxn modelId="{603DC40A-B1FA-1044-A824-FF9B0567F8CF}" type="presParOf" srcId="{363E4110-7C89-3B4F-8236-5B983ECDDF34}" destId="{7A3EF554-5287-5140-8686-6556DE6523A5}" srcOrd="4" destOrd="0" presId="urn:microsoft.com/office/officeart/2024/layout/BulletTimelineInverted#1"/>
    <dgm:cxn modelId="{8E5098E5-89F3-6D46-9CE2-88FE75FE6F64}" type="presParOf" srcId="{7A3EF554-5287-5140-8686-6556DE6523A5}" destId="{35E91515-0B18-2F4E-9EB0-83B02142A5E9}" srcOrd="0" destOrd="0" presId="urn:microsoft.com/office/officeart/2024/layout/BulletTimelineInverted#1"/>
    <dgm:cxn modelId="{1A086F67-6036-514D-A0C5-79CFC7234949}" type="presParOf" srcId="{363E4110-7C89-3B4F-8236-5B983ECDDF34}" destId="{CB83EEBE-0D8B-CD4B-B2FC-D1FC2A54EF86}" srcOrd="5" destOrd="0" presId="urn:microsoft.com/office/officeart/2024/layout/BulletTimelineInverted#1"/>
    <dgm:cxn modelId="{9D42DEC7-6727-374B-A41D-C3CFAE2BAEA0}" type="presParOf" srcId="{24CE9A05-AF04-ED41-B00A-2E1587B52E3B}" destId="{C39F97A3-C43B-CE4A-AD44-85A5065BB9E3}" srcOrd="3" destOrd="0" presId="urn:microsoft.com/office/officeart/2024/layout/BulletTimelineInverted#1"/>
    <dgm:cxn modelId="{7B21C0E5-DFA3-604C-ABE5-18E822F46626}" type="presParOf" srcId="{24CE9A05-AF04-ED41-B00A-2E1587B52E3B}" destId="{8274DF88-42A8-964E-8038-4FCC507325C8}" srcOrd="4" destOrd="0" presId="urn:microsoft.com/office/officeart/2024/layout/BulletTimelineInverted#1"/>
    <dgm:cxn modelId="{7B45141B-B465-AB40-A8A2-B65300F19664}" type="presParOf" srcId="{8274DF88-42A8-964E-8038-4FCC507325C8}" destId="{E390B298-779B-7C45-A22F-F6F7797E8B0A}" srcOrd="0" destOrd="0" presId="urn:microsoft.com/office/officeart/2024/layout/BulletTimelineInverted#1"/>
    <dgm:cxn modelId="{77B7EB33-324C-664B-B092-3607B71D7FB5}" type="presParOf" srcId="{E390B298-779B-7C45-A22F-F6F7797E8B0A}" destId="{BBEF23B8-2E7C-6943-B913-3C17BB959F91}" srcOrd="0" destOrd="0" presId="urn:microsoft.com/office/officeart/2024/layout/BulletTimelineInverted#1"/>
    <dgm:cxn modelId="{2147680E-8E1D-BF4E-9652-3FB297CF8460}" type="presParOf" srcId="{E390B298-779B-7C45-A22F-F6F7797E8B0A}" destId="{04FC1046-63C6-1E45-9AA7-92581F8B7151}" srcOrd="1" destOrd="0" presId="urn:microsoft.com/office/officeart/2024/layout/BulletTimelineInverted#1"/>
    <dgm:cxn modelId="{EF45F2C1-F0AD-244C-AAC6-2A38A32E6734}" type="presParOf" srcId="{8274DF88-42A8-964E-8038-4FCC507325C8}" destId="{C9FC196C-688B-D748-9087-055A2D3F3A88}" srcOrd="1" destOrd="0" presId="urn:microsoft.com/office/officeart/2024/layout/BulletTimelineInverted#1"/>
    <dgm:cxn modelId="{DAF4B05C-5C76-064D-B035-1B629F6ED835}" type="presParOf" srcId="{8274DF88-42A8-964E-8038-4FCC507325C8}" destId="{1E9EAA78-5BAE-7649-8F30-BBFAFB85022C}" srcOrd="2" destOrd="0" presId="urn:microsoft.com/office/officeart/2024/layout/BulletTimelineInverted#1"/>
    <dgm:cxn modelId="{9604F324-75C3-4740-9E65-9D0614539EA5}" type="presParOf" srcId="{8274DF88-42A8-964E-8038-4FCC507325C8}" destId="{03763B45-9B10-ED4C-B1CA-622A4D5AA565}" srcOrd="3" destOrd="0" presId="urn:microsoft.com/office/officeart/2024/layout/BulletTimelineInverted#1"/>
    <dgm:cxn modelId="{650D2584-EC01-1E46-A148-B50B1D1DC566}" type="presParOf" srcId="{8274DF88-42A8-964E-8038-4FCC507325C8}" destId="{8FAD4C13-24C1-E749-9275-AF887733CD48}" srcOrd="4" destOrd="0" presId="urn:microsoft.com/office/officeart/2024/layout/BulletTimelineInverted#1"/>
    <dgm:cxn modelId="{08503085-1A78-754A-9E2D-DE8A3C98BDD5}" type="presParOf" srcId="{8FAD4C13-24C1-E749-9275-AF887733CD48}" destId="{AACD17B8-AA7D-D04E-90A7-A453E2CD6BEB}" srcOrd="0" destOrd="0" presId="urn:microsoft.com/office/officeart/2024/layout/BulletTimelineInverted#1"/>
    <dgm:cxn modelId="{25044691-8E00-F040-85CC-FA3435466CE7}" type="presParOf" srcId="{8274DF88-42A8-964E-8038-4FCC507325C8}" destId="{E03B86D2-57D7-E54D-BAD9-EBE4B59F33B4}" srcOrd="5" destOrd="0" presId="urn:microsoft.com/office/officeart/2024/layout/BulletTimelineInverted#1"/>
    <dgm:cxn modelId="{9495CF32-D4FC-DD43-BFE6-6CE1EB944C71}" type="presParOf" srcId="{24CE9A05-AF04-ED41-B00A-2E1587B52E3B}" destId="{E85076B6-6DA6-4140-8F75-F8DB3BC0F759}" srcOrd="5" destOrd="0" presId="urn:microsoft.com/office/officeart/2024/layout/BulletTimelineInverted#1"/>
    <dgm:cxn modelId="{78839EF4-9C93-6948-86D3-A2444B664216}" type="presParOf" srcId="{24CE9A05-AF04-ED41-B00A-2E1587B52E3B}" destId="{C4848F83-3073-2143-AA1F-44A554CA49BB}" srcOrd="6" destOrd="0" presId="urn:microsoft.com/office/officeart/2024/layout/BulletTimelineInverted#1"/>
    <dgm:cxn modelId="{C96D0002-2377-E044-A0E4-0CDD97C41B72}" type="presParOf" srcId="{C4848F83-3073-2143-AA1F-44A554CA49BB}" destId="{7878192C-792F-0642-9F83-312FF80BF422}" srcOrd="0" destOrd="0" presId="urn:microsoft.com/office/officeart/2024/layout/BulletTimelineInverted#1"/>
    <dgm:cxn modelId="{01E31FF0-209C-8E49-B901-B2B854D29A9B}" type="presParOf" srcId="{7878192C-792F-0642-9F83-312FF80BF422}" destId="{04E67742-1301-F948-AE7D-0471E51B691D}" srcOrd="0" destOrd="0" presId="urn:microsoft.com/office/officeart/2024/layout/BulletTimelineInverted#1"/>
    <dgm:cxn modelId="{13C1CD33-CF79-5C42-92CD-88013C9083EA}" type="presParOf" srcId="{7878192C-792F-0642-9F83-312FF80BF422}" destId="{DD63C6E9-0080-3141-8CC7-0A4BD5CFF571}" srcOrd="1" destOrd="0" presId="urn:microsoft.com/office/officeart/2024/layout/BulletTimelineInverted#1"/>
    <dgm:cxn modelId="{0B71E680-A080-9B4A-B625-DC30CAD9885A}" type="presParOf" srcId="{C4848F83-3073-2143-AA1F-44A554CA49BB}" destId="{51D838DD-967B-C14C-8D68-94EB672CCB55}" srcOrd="1" destOrd="0" presId="urn:microsoft.com/office/officeart/2024/layout/BulletTimelineInverted#1"/>
    <dgm:cxn modelId="{58656787-F785-C64B-8F09-830564C99075}" type="presParOf" srcId="{C4848F83-3073-2143-AA1F-44A554CA49BB}" destId="{4BA03182-A642-8046-97FE-C32CFDC80991}" srcOrd="2" destOrd="0" presId="urn:microsoft.com/office/officeart/2024/layout/BulletTimelineInverted#1"/>
    <dgm:cxn modelId="{5CE05508-C0CA-CD4B-B092-9829D750C457}" type="presParOf" srcId="{C4848F83-3073-2143-AA1F-44A554CA49BB}" destId="{C5E71C1D-3D22-9149-906E-42E42F1EF377}" srcOrd="3" destOrd="0" presId="urn:microsoft.com/office/officeart/2024/layout/BulletTimelineInverted#1"/>
    <dgm:cxn modelId="{EF801EB8-0DC0-5C4A-8FAB-2EC3B98A0214}" type="presParOf" srcId="{C4848F83-3073-2143-AA1F-44A554CA49BB}" destId="{42786659-2B9D-544E-8A68-4EC337801FE8}" srcOrd="4" destOrd="0" presId="urn:microsoft.com/office/officeart/2024/layout/BulletTimelineInverted#1"/>
    <dgm:cxn modelId="{ACE0C2A6-896A-8444-A203-6A4D06D904AC}" type="presParOf" srcId="{42786659-2B9D-544E-8A68-4EC337801FE8}" destId="{6D5EC75E-3DDE-8844-A201-ED13115371E6}" srcOrd="0" destOrd="0" presId="urn:microsoft.com/office/officeart/2024/layout/BulletTimelineInverted#1"/>
    <dgm:cxn modelId="{8AF56AC3-5E2C-984B-88A2-B3B4D1E8089A}" type="presParOf" srcId="{C4848F83-3073-2143-AA1F-44A554CA49BB}" destId="{3F7709CA-D7A1-F745-A609-00FFE8A6221A}" srcOrd="5" destOrd="0" presId="urn:microsoft.com/office/officeart/2024/layout/BulletTimelineInverted#1"/>
    <dgm:cxn modelId="{E2E4EE4D-2307-6445-9267-8F029D42FB63}" type="presParOf" srcId="{24CE9A05-AF04-ED41-B00A-2E1587B52E3B}" destId="{6A4063C5-4A49-B24D-A3E6-95C0904777A6}" srcOrd="7" destOrd="0" presId="urn:microsoft.com/office/officeart/2024/layout/BulletTimelineInverted#1"/>
    <dgm:cxn modelId="{0656873B-CC23-3E4C-8B8C-0DE4D898EADC}" type="presParOf" srcId="{24CE9A05-AF04-ED41-B00A-2E1587B52E3B}" destId="{BE3F222A-8F76-504A-B9A2-46D8230CF0B0}" srcOrd="8" destOrd="0" presId="urn:microsoft.com/office/officeart/2024/layout/BulletTimelineInverted#1"/>
    <dgm:cxn modelId="{C2C58D37-A306-E442-ABFB-0B933E2F3234}" type="presParOf" srcId="{BE3F222A-8F76-504A-B9A2-46D8230CF0B0}" destId="{336B5581-0EE9-1840-BA22-434E7FBE2CA3}" srcOrd="0" destOrd="0" presId="urn:microsoft.com/office/officeart/2024/layout/BulletTimelineInverted#1"/>
    <dgm:cxn modelId="{A13465EA-9634-2945-9029-24061C701266}" type="presParOf" srcId="{336B5581-0EE9-1840-BA22-434E7FBE2CA3}" destId="{0DEC629A-59F7-414F-89C4-03F2D7965DED}" srcOrd="0" destOrd="0" presId="urn:microsoft.com/office/officeart/2024/layout/BulletTimelineInverted#1"/>
    <dgm:cxn modelId="{7C2B3BDD-EF4D-9E48-86B2-69EF72312A40}" type="presParOf" srcId="{336B5581-0EE9-1840-BA22-434E7FBE2CA3}" destId="{5354FFFA-FD07-CE4F-AA59-10FA4B235651}" srcOrd="1" destOrd="0" presId="urn:microsoft.com/office/officeart/2024/layout/BulletTimelineInverted#1"/>
    <dgm:cxn modelId="{AD2EB3E1-3EA9-CB41-928A-88A1FB562ACC}" type="presParOf" srcId="{BE3F222A-8F76-504A-B9A2-46D8230CF0B0}" destId="{90DA75E6-E7E7-8542-8150-01E9FB428412}" srcOrd="1" destOrd="0" presId="urn:microsoft.com/office/officeart/2024/layout/BulletTimelineInverted#1"/>
    <dgm:cxn modelId="{5FB3BEC8-65D3-5D43-AD06-684B77A92B8C}" type="presParOf" srcId="{BE3F222A-8F76-504A-B9A2-46D8230CF0B0}" destId="{3211E73E-7B59-134F-8745-A76A9ADD9316}" srcOrd="2" destOrd="0" presId="urn:microsoft.com/office/officeart/2024/layout/BulletTimelineInverted#1"/>
    <dgm:cxn modelId="{16D619AA-EFB2-1C40-B146-D454B83D5200}" type="presParOf" srcId="{BE3F222A-8F76-504A-B9A2-46D8230CF0B0}" destId="{29DD1C4F-0146-274E-B055-9FA4261D8D6E}" srcOrd="3" destOrd="0" presId="urn:microsoft.com/office/officeart/2024/layout/BulletTimelineInverted#1"/>
    <dgm:cxn modelId="{82910C25-1D70-8F45-B8C9-10210F02BA43}" type="presParOf" srcId="{BE3F222A-8F76-504A-B9A2-46D8230CF0B0}" destId="{624CBD09-D26D-0C4F-94E0-260630E70DA5}" srcOrd="4" destOrd="0" presId="urn:microsoft.com/office/officeart/2024/layout/BulletTimelineInverted#1"/>
    <dgm:cxn modelId="{89D80F7A-627E-1E46-8D70-3D81C36947D3}" type="presParOf" srcId="{624CBD09-D26D-0C4F-94E0-260630E70DA5}" destId="{0719E342-F5E7-DE43-B9F1-D0C0EDD6D4F2}" srcOrd="0" destOrd="0" presId="urn:microsoft.com/office/officeart/2024/layout/BulletTimelineInverted#1"/>
    <dgm:cxn modelId="{7AF88511-1C35-7A44-8E9C-0ADA3865C87B}" type="presParOf" srcId="{BE3F222A-8F76-504A-B9A2-46D8230CF0B0}" destId="{6A2BE19F-C867-EC49-BD92-F99E3AB92BB2}" srcOrd="5" destOrd="0" presId="urn:microsoft.com/office/officeart/2024/layout/BulletTimelineInverted#1"/>
    <dgm:cxn modelId="{DD0B4AE8-10F9-3D47-93F8-C79AB2ACDA70}" type="presParOf" srcId="{24CE9A05-AF04-ED41-B00A-2E1587B52E3B}" destId="{359187A3-A098-D945-B36D-8FD38B513DE3}" srcOrd="9" destOrd="0" presId="urn:microsoft.com/office/officeart/2024/layout/BulletTimelineInverted#1"/>
    <dgm:cxn modelId="{3943FC68-EA99-2D42-9C7E-00401AF9C7AA}" type="presParOf" srcId="{24CE9A05-AF04-ED41-B00A-2E1587B52E3B}" destId="{88F8F902-C186-0B4A-A3B3-A0F33AF90BCD}" srcOrd="10" destOrd="0" presId="urn:microsoft.com/office/officeart/2024/layout/BulletTimelineInverted#1"/>
    <dgm:cxn modelId="{59212F13-F25E-EF45-A381-80B362A4C551}" type="presParOf" srcId="{88F8F902-C186-0B4A-A3B3-A0F33AF90BCD}" destId="{2895E5A4-E365-124A-B631-8C01FE9E7F3D}" srcOrd="0" destOrd="0" presId="urn:microsoft.com/office/officeart/2024/layout/BulletTimelineInverted#1"/>
    <dgm:cxn modelId="{CF19EEA8-EE39-6246-B4AF-B3BC78F8BC51}" type="presParOf" srcId="{2895E5A4-E365-124A-B631-8C01FE9E7F3D}" destId="{D4B41401-B6CD-274E-AD16-8A0F588B7745}" srcOrd="0" destOrd="0" presId="urn:microsoft.com/office/officeart/2024/layout/BulletTimelineInverted#1"/>
    <dgm:cxn modelId="{F34C80B2-A1CA-D840-BE38-46C712C87D0C}" type="presParOf" srcId="{2895E5A4-E365-124A-B631-8C01FE9E7F3D}" destId="{A984486F-14FB-2044-A0C4-EC6F1D4F582A}" srcOrd="1" destOrd="0" presId="urn:microsoft.com/office/officeart/2024/layout/BulletTimelineInverted#1"/>
    <dgm:cxn modelId="{7020ADEA-1D52-834B-9363-FA9583AC2FE7}" type="presParOf" srcId="{88F8F902-C186-0B4A-A3B3-A0F33AF90BCD}" destId="{42E6C4EB-60B6-2047-8E08-D0AE378B26DE}" srcOrd="1" destOrd="0" presId="urn:microsoft.com/office/officeart/2024/layout/BulletTimelineInverted#1"/>
    <dgm:cxn modelId="{A6B537EC-CEA5-464B-8803-D1BD24FB6D1B}" type="presParOf" srcId="{88F8F902-C186-0B4A-A3B3-A0F33AF90BCD}" destId="{97956377-FA61-7147-A60E-85DBF42B0B82}" srcOrd="2" destOrd="0" presId="urn:microsoft.com/office/officeart/2024/layout/BulletTimelineInverted#1"/>
    <dgm:cxn modelId="{F71E1714-8C55-2543-A848-6ADE4E56E94F}" type="presParOf" srcId="{88F8F902-C186-0B4A-A3B3-A0F33AF90BCD}" destId="{2A8A853B-FB7C-CD46-9894-CE193A4E353C}" srcOrd="3" destOrd="0" presId="urn:microsoft.com/office/officeart/2024/layout/BulletTimelineInverted#1"/>
    <dgm:cxn modelId="{48227526-B148-B541-ADC8-1F3A0966A3ED}" type="presParOf" srcId="{88F8F902-C186-0B4A-A3B3-A0F33AF90BCD}" destId="{D9A56BA0-5FF7-1048-93DD-A5147C85B1AE}" srcOrd="4" destOrd="0" presId="urn:microsoft.com/office/officeart/2024/layout/BulletTimelineInverted#1"/>
    <dgm:cxn modelId="{90C8F193-B306-4F40-918C-086C78E358B7}" type="presParOf" srcId="{D9A56BA0-5FF7-1048-93DD-A5147C85B1AE}" destId="{34C51433-AC32-504F-8256-8B74A8117860}" srcOrd="0" destOrd="0" presId="urn:microsoft.com/office/officeart/2024/layout/BulletTimelineInverted#1"/>
    <dgm:cxn modelId="{B8B55308-157F-CC45-A21E-236BFDB03AED}" type="presParOf" srcId="{88F8F902-C186-0B4A-A3B3-A0F33AF90BCD}" destId="{763F343C-BAFF-2A4C-B334-A2DEA9B4AF48}" srcOrd="5" destOrd="0" presId="urn:microsoft.com/office/officeart/2024/layout/BulletTimelineInverted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254E2-E36E-FB47-9E5E-A8A9AABD362C}">
      <dsp:nvSpPr>
        <dsp:cNvPr id="0" name=""/>
        <dsp:cNvSpPr/>
      </dsp:nvSpPr>
      <dsp:spPr>
        <a:xfrm>
          <a:off x="0" y="2682240"/>
          <a:ext cx="10778481" cy="5418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AA8E9-1AB0-DE48-94F6-EE9FC56F8B29}">
      <dsp:nvSpPr>
        <dsp:cNvPr id="0" name=""/>
        <dsp:cNvSpPr/>
      </dsp:nvSpPr>
      <dsp:spPr>
        <a:xfrm>
          <a:off x="10496648" y="2492586"/>
          <a:ext cx="325120" cy="43349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45AEC1-0210-CA41-A585-96B47C7CB759}">
      <dsp:nvSpPr>
        <dsp:cNvPr id="0" name=""/>
        <dsp:cNvSpPr/>
      </dsp:nvSpPr>
      <dsp:spPr>
        <a:xfrm>
          <a:off x="659140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foundational lectures (part 1 of 2)</a:t>
          </a:r>
        </a:p>
      </dsp:txBody>
      <dsp:txXfrm>
        <a:off x="659140" y="1362245"/>
        <a:ext cx="2433359" cy="1194574"/>
      </dsp:txXfrm>
    </dsp:sp>
    <dsp:sp modelId="{7C16918C-8D7C-1741-8517-3C4830D16DCB}">
      <dsp:nvSpPr>
        <dsp:cNvPr id="0" name=""/>
        <dsp:cNvSpPr/>
      </dsp:nvSpPr>
      <dsp:spPr>
        <a:xfrm>
          <a:off x="659140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October 2026</a:t>
          </a:r>
        </a:p>
      </dsp:txBody>
      <dsp:txXfrm>
        <a:off x="659140" y="744362"/>
        <a:ext cx="2433359" cy="617883"/>
      </dsp:txXfrm>
    </dsp:sp>
    <dsp:sp modelId="{92D95A11-439C-9148-BD6E-7922501B80E8}">
      <dsp:nvSpPr>
        <dsp:cNvPr id="0" name=""/>
        <dsp:cNvSpPr/>
      </dsp:nvSpPr>
      <dsp:spPr>
        <a:xfrm>
          <a:off x="309673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505D8-C5B6-3544-9D1C-6226530ADEE9}">
      <dsp:nvSpPr>
        <dsp:cNvPr id="0" name=""/>
        <dsp:cNvSpPr/>
      </dsp:nvSpPr>
      <dsp:spPr>
        <a:xfrm>
          <a:off x="2204729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foundational lectures (part 2 of 2)</a:t>
          </a:r>
        </a:p>
      </dsp:txBody>
      <dsp:txXfrm>
        <a:off x="2204729" y="3733281"/>
        <a:ext cx="2433359" cy="992894"/>
      </dsp:txXfrm>
    </dsp:sp>
    <dsp:sp modelId="{38E98EB4-EAE0-6346-A60D-912E776BF22F}">
      <dsp:nvSpPr>
        <dsp:cNvPr id="0" name=""/>
        <dsp:cNvSpPr/>
      </dsp:nvSpPr>
      <dsp:spPr>
        <a:xfrm>
          <a:off x="2204729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November 2026</a:t>
          </a:r>
        </a:p>
      </dsp:txBody>
      <dsp:txXfrm>
        <a:off x="2204729" y="3078393"/>
        <a:ext cx="2433359" cy="654887"/>
      </dsp:txXfrm>
    </dsp:sp>
    <dsp:sp modelId="{F4CB055B-C0CB-3C48-B9C5-51DEF0EA3B15}">
      <dsp:nvSpPr>
        <dsp:cNvPr id="0" name=""/>
        <dsp:cNvSpPr/>
      </dsp:nvSpPr>
      <dsp:spPr>
        <a:xfrm>
          <a:off x="1855263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7D15E-F51B-4446-97A2-105CBEA68BE4}">
      <dsp:nvSpPr>
        <dsp:cNvPr id="0" name=""/>
        <dsp:cNvSpPr/>
      </dsp:nvSpPr>
      <dsp:spPr>
        <a:xfrm>
          <a:off x="223334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E91515-0B18-2F4E-9EB0-83B02142A5E9}">
      <dsp:nvSpPr>
        <dsp:cNvPr id="0" name=""/>
        <dsp:cNvSpPr/>
      </dsp:nvSpPr>
      <dsp:spPr>
        <a:xfrm>
          <a:off x="1768924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C196C-688B-D748-9087-055A2D3F3A88}">
      <dsp:nvSpPr>
        <dsp:cNvPr id="0" name=""/>
        <dsp:cNvSpPr/>
      </dsp:nvSpPr>
      <dsp:spPr>
        <a:xfrm>
          <a:off x="3750319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launch of modeling unit</a:t>
          </a:r>
        </a:p>
      </dsp:txBody>
      <dsp:txXfrm>
        <a:off x="3750319" y="1362245"/>
        <a:ext cx="2433359" cy="1194574"/>
      </dsp:txXfrm>
    </dsp:sp>
    <dsp:sp modelId="{1E9EAA78-5BAE-7649-8F30-BBFAFB85022C}">
      <dsp:nvSpPr>
        <dsp:cNvPr id="0" name=""/>
        <dsp:cNvSpPr/>
      </dsp:nvSpPr>
      <dsp:spPr>
        <a:xfrm>
          <a:off x="3750319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December 2026</a:t>
          </a:r>
        </a:p>
      </dsp:txBody>
      <dsp:txXfrm>
        <a:off x="3750319" y="744362"/>
        <a:ext cx="2433359" cy="617883"/>
      </dsp:txXfrm>
    </dsp:sp>
    <dsp:sp modelId="{03763B45-9B10-ED4C-B1CA-622A4D5AA565}">
      <dsp:nvSpPr>
        <dsp:cNvPr id="0" name=""/>
        <dsp:cNvSpPr/>
      </dsp:nvSpPr>
      <dsp:spPr>
        <a:xfrm>
          <a:off x="3400852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838DD-967B-C14C-8D68-94EB672CCB55}">
      <dsp:nvSpPr>
        <dsp:cNvPr id="0" name=""/>
        <dsp:cNvSpPr/>
      </dsp:nvSpPr>
      <dsp:spPr>
        <a:xfrm>
          <a:off x="5295908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1 of 3)</a:t>
          </a:r>
        </a:p>
      </dsp:txBody>
      <dsp:txXfrm>
        <a:off x="5295908" y="3733281"/>
        <a:ext cx="2433359" cy="992894"/>
      </dsp:txXfrm>
    </dsp:sp>
    <dsp:sp modelId="{4BA03182-A642-8046-97FE-C32CFDC80991}">
      <dsp:nvSpPr>
        <dsp:cNvPr id="0" name=""/>
        <dsp:cNvSpPr/>
      </dsp:nvSpPr>
      <dsp:spPr>
        <a:xfrm>
          <a:off x="5295908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January 2027</a:t>
          </a:r>
        </a:p>
      </dsp:txBody>
      <dsp:txXfrm>
        <a:off x="5295908" y="3078393"/>
        <a:ext cx="2433359" cy="654887"/>
      </dsp:txXfrm>
    </dsp:sp>
    <dsp:sp modelId="{C5E71C1D-3D22-9149-906E-42E42F1EF377}">
      <dsp:nvSpPr>
        <dsp:cNvPr id="0" name=""/>
        <dsp:cNvSpPr/>
      </dsp:nvSpPr>
      <dsp:spPr>
        <a:xfrm>
          <a:off x="4946442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CD17B8-AA7D-D04E-90A7-A453E2CD6BEB}">
      <dsp:nvSpPr>
        <dsp:cNvPr id="0" name=""/>
        <dsp:cNvSpPr/>
      </dsp:nvSpPr>
      <dsp:spPr>
        <a:xfrm>
          <a:off x="3314514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EC75E-3DDE-8844-A201-ED13115371E6}">
      <dsp:nvSpPr>
        <dsp:cNvPr id="0" name=""/>
        <dsp:cNvSpPr/>
      </dsp:nvSpPr>
      <dsp:spPr>
        <a:xfrm>
          <a:off x="4860103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A75E6-E7E7-8542-8150-01E9FB428412}">
      <dsp:nvSpPr>
        <dsp:cNvPr id="0" name=""/>
        <dsp:cNvSpPr/>
      </dsp:nvSpPr>
      <dsp:spPr>
        <a:xfrm>
          <a:off x="6841498" y="1362245"/>
          <a:ext cx="2433359" cy="1194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2 of 3)</a:t>
          </a:r>
        </a:p>
      </dsp:txBody>
      <dsp:txXfrm>
        <a:off x="6841498" y="1362245"/>
        <a:ext cx="2433359" cy="1194574"/>
      </dsp:txXfrm>
    </dsp:sp>
    <dsp:sp modelId="{3211E73E-7B59-134F-8745-A76A9ADD9316}">
      <dsp:nvSpPr>
        <dsp:cNvPr id="0" name=""/>
        <dsp:cNvSpPr/>
      </dsp:nvSpPr>
      <dsp:spPr>
        <a:xfrm>
          <a:off x="6841498" y="744362"/>
          <a:ext cx="2433359" cy="6178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February 2027</a:t>
          </a:r>
        </a:p>
      </dsp:txBody>
      <dsp:txXfrm>
        <a:off x="6841498" y="744362"/>
        <a:ext cx="2433359" cy="617883"/>
      </dsp:txXfrm>
    </dsp:sp>
    <dsp:sp modelId="{29DD1C4F-0146-274E-B055-9FA4261D8D6E}">
      <dsp:nvSpPr>
        <dsp:cNvPr id="0" name=""/>
        <dsp:cNvSpPr/>
      </dsp:nvSpPr>
      <dsp:spPr>
        <a:xfrm>
          <a:off x="6492032" y="703170"/>
          <a:ext cx="41113" cy="2018418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E6C4EB-60B6-2047-8E08-D0AE378B26DE}">
      <dsp:nvSpPr>
        <dsp:cNvPr id="0" name=""/>
        <dsp:cNvSpPr/>
      </dsp:nvSpPr>
      <dsp:spPr>
        <a:xfrm>
          <a:off x="8387088" y="3733281"/>
          <a:ext cx="2433359" cy="992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 on CVD model (part 3 of 3)</a:t>
          </a:r>
        </a:p>
      </dsp:txBody>
      <dsp:txXfrm>
        <a:off x="8387088" y="3733281"/>
        <a:ext cx="2433359" cy="992894"/>
      </dsp:txXfrm>
    </dsp:sp>
    <dsp:sp modelId="{97956377-FA61-7147-A60E-85DBF42B0B82}">
      <dsp:nvSpPr>
        <dsp:cNvPr id="0" name=""/>
        <dsp:cNvSpPr/>
      </dsp:nvSpPr>
      <dsp:spPr>
        <a:xfrm>
          <a:off x="8387088" y="3078393"/>
          <a:ext cx="2433359" cy="6548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March 2027</a:t>
          </a:r>
        </a:p>
      </dsp:txBody>
      <dsp:txXfrm>
        <a:off x="8387088" y="3078393"/>
        <a:ext cx="2433359" cy="654887"/>
      </dsp:txXfrm>
    </dsp:sp>
    <dsp:sp modelId="{2A8A853B-FB7C-CD46-9894-CE193A4E353C}">
      <dsp:nvSpPr>
        <dsp:cNvPr id="0" name=""/>
        <dsp:cNvSpPr/>
      </dsp:nvSpPr>
      <dsp:spPr>
        <a:xfrm>
          <a:off x="8037621" y="2698136"/>
          <a:ext cx="41113" cy="207028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19E342-F5E7-DE43-B9F1-D0C0EDD6D4F2}">
      <dsp:nvSpPr>
        <dsp:cNvPr id="0" name=""/>
        <dsp:cNvSpPr/>
      </dsp:nvSpPr>
      <dsp:spPr>
        <a:xfrm>
          <a:off x="6405693" y="596274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51433-AC32-504F-8256-8B74A8117860}">
      <dsp:nvSpPr>
        <dsp:cNvPr id="0" name=""/>
        <dsp:cNvSpPr/>
      </dsp:nvSpPr>
      <dsp:spPr>
        <a:xfrm>
          <a:off x="7951282" y="4661530"/>
          <a:ext cx="213791" cy="2137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#1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2547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AD98-2BA1-8F83-DDEF-32EC2956B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510D3-F956-2756-814A-AC2F0206F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BC6C36-032A-99C1-8B15-6F4D94B98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•In Indonesia, the economic value of avoidable CVD mortality is 7.5% of national income and is projected to grow to 12.5% in 2050, far exceeding all other conditions and higher than peer countries. </a:t>
            </a:r>
          </a:p>
          <a:p>
            <a:r>
              <a:rPr lang="en-US" dirty="0"/>
              <a:t>•Improving access to a basic package of 7 CVD interventions plus tackling tobacco could reduce Indonesia’s CVD mortality rates to those of peer countries: preliminary estimates indicate that this package would reduce mortality by 25% and cost an additional $30 per person per year in health care costs by 2030. To achieve this, carry out a </a:t>
            </a:r>
            <a:r>
              <a:rPr lang="en-US" dirty="0" err="1"/>
              <a:t>a</a:t>
            </a:r>
            <a:r>
              <a:rPr lang="en-US" dirty="0"/>
              <a:t> gradual increase in access as well as availability and coverage for medicines and policies that reduce prices of medicines. </a:t>
            </a:r>
          </a:p>
          <a:p>
            <a:r>
              <a:rPr lang="en-US"/>
              <a:t>•Achieving WHO recommended levels of tobacco regulation and taxation would save 1.2 million lives and reduce mortality CVD by 7%. Even a 20% increase in tobacco price would reduce CVD deaths by 700,000 by 2050, not to mention benefits after 2050 from preventing other costly diseases such as cancer. </a:t>
            </a:r>
          </a:p>
          <a:p>
            <a:r>
              <a:rPr lang="en-US"/>
              <a:t>•After modeling 3 scenarios – just doing 70-70-70; adding tobacco control; and adding the rest of the CVD package – Indonesia can get close to Malaysia and below ASEAN average CVD mortality rate. However, to get to Singapore, additional intersectoral actions and expanding clinical package would be necessary. </a:t>
            </a:r>
          </a:p>
          <a:p>
            <a:r>
              <a:rPr lang="en-US" dirty="0"/>
              <a:t>•Addressing CVD would disproportionately benefit the poor in terms of financial protection, with 1.7 million people per year with catastrophic health expenditures (more than 10% income) due to CVD disease, of which 60-70% are among the poorest 20%. This large number comes from two areas – one is lack of access to prevention and the other is insurance implementation problems. Majority of financial risk comes from day-to-day expenditures on chronic medications currently paid of out-of-pocket. </a:t>
            </a:r>
          </a:p>
          <a:p>
            <a:r>
              <a:rPr lang="en-US"/>
              <a:t>•As proposed in JKN2 project, reforms in supply chain management and delivery systems of medicines are necessary to increase access and address the needs of the worst off. </a:t>
            </a:r>
          </a:p>
          <a:p>
            <a:r>
              <a:rPr lang="en-US" dirty="0"/>
              <a:t>•In addition the impact of tobacco control is pro-poor in terms of lives saved and financial protection, while also generating additional revenues largely from the rich (richest 60% generate 80% of the revenues).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80B3B-54D3-79F2-8CF1-B711C97DAF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4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2041-8491-C634-B33E-86C4554A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19FF2-3C50-DDA9-5B27-C8BD7A5D9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1A613-A621-61A1-9888-5DBC8FD40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C7C8-F470-E45F-3F77-0AF4EB898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3888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019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64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00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842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674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45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4D408-F7C3-43C6-9E12-CBD333D67CD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6829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362201"/>
            <a:ext cx="103632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(#)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/>
          <a:p>
            <a:fld id="{61E9FB5B-DB08-564E-B0E2-D8890D9FACEC}" type="datetime1">
              <a:rPr lang="en-US" smtClean="0"/>
              <a:t>8/31/2026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127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3288" y="274638"/>
            <a:ext cx="7599112" cy="1143000"/>
          </a:xfrm>
        </p:spPr>
        <p:txBody>
          <a:bodyPr/>
          <a:lstStyle>
            <a:lvl1pPr algn="r"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905000"/>
            <a:ext cx="10972800" cy="4221163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092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9BAE-9C6B-B249-B79F-717E464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359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2">
            <a:extLst>
              <a:ext uri="{FF2B5EF4-FFF2-40B4-BE49-F238E27FC236}">
                <a16:creationId xmlns:a16="http://schemas.microsoft.com/office/drawing/2014/main" id="{99DDC60A-5C4A-5245-8961-D2EE0941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1" y="685800"/>
            <a:ext cx="10518339" cy="914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16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6DCBF5E6-69B1-E146-B6D1-E081E0CF2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4393" y="274320"/>
            <a:ext cx="11158585" cy="228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75" cap="all" spc="225" baseline="0"/>
            </a:lvl1pPr>
          </a:lstStyle>
          <a:p>
            <a:pPr lvl="0"/>
            <a:r>
              <a:rPr lang="en-US" dirty="0"/>
              <a:t>PRE-TITLE i.e. “example” or “case study”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38F1B-D100-D74C-EF6C-0EE7717605D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80"/>
            <a:ext cx="10518339" cy="4160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0670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28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FAD32-CC12-0049-BF75-3DDCA597D08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73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7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/>
          </p:cNvSpPr>
          <p:nvPr/>
        </p:nvSpPr>
        <p:spPr bwMode="auto">
          <a:xfrm>
            <a:off x="1910196" y="2209800"/>
            <a:ext cx="8371609" cy="4495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 fontAlgn="ctr"/>
            <a:r>
              <a:rPr lang="en-US" sz="4000" b="1" dirty="0">
                <a:solidFill>
                  <a:prstClr val="black"/>
                </a:solidFill>
                <a:latin typeface="Aptos" panose="020B0004020202020204" pitchFamily="34" charset="0"/>
              </a:rPr>
              <a:t>Reducing premature mortality from cardiovascular disease in Indonesia</a:t>
            </a:r>
          </a:p>
          <a:p>
            <a:pPr algn="ctr" fontAlgn="ctr"/>
            <a:endParaRPr lang="en-US" sz="2000" b="1" dirty="0">
              <a:solidFill>
                <a:prstClr val="black"/>
              </a:solidFill>
              <a:latin typeface="Aptos" panose="020B0004020202020204" pitchFamily="34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Stéphane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Verguet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 and David Watkins</a:t>
            </a:r>
          </a:p>
          <a:p>
            <a:pPr algn="ctr" font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 fontAlgn="ctr"/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Acknowledgements: William Garcia, Zili Huang, William </a:t>
            </a:r>
            <a:r>
              <a:rPr lang="en-US" sz="2800" dirty="0" err="1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Msemburi</a:t>
            </a:r>
            <a:r>
              <a:rPr lang="en-US" sz="2800" dirty="0">
                <a:solidFill>
                  <a:prstClr val="black"/>
                </a:solidFill>
                <a:latin typeface="Aptos" panose="020B0004020202020204" pitchFamily="34" charset="0"/>
                <a:ea typeface="Helvetica" pitchFamily="-1" charset="0"/>
                <a:cs typeface="Helvetica" pitchFamily="-1" charset="0"/>
                <a:sym typeface="Helvetica" pitchFamily="-1" charset="0"/>
              </a:rPr>
              <a:t>, &amp; Yuchen Liu </a:t>
            </a:r>
          </a:p>
          <a:p>
            <a:pPr algn="ctr"/>
            <a:endParaRPr lang="en-US" sz="2000" dirty="0">
              <a:solidFill>
                <a:prstClr val="black"/>
              </a:solidFill>
              <a:latin typeface="Aptos" panose="020B0004020202020204" pitchFamily="34" charset="0"/>
              <a:ea typeface="Helvetica" pitchFamily="-1" charset="0"/>
              <a:cs typeface="Helvetica" pitchFamily="-1" charset="0"/>
              <a:sym typeface="Helvetica" pitchFamily="-1" charset="0"/>
            </a:endParaRPr>
          </a:p>
          <a:p>
            <a:pPr algn="ctr"/>
            <a:r>
              <a:rPr lang="en-US" dirty="0">
                <a:solidFill>
                  <a:prstClr val="black"/>
                </a:solidFill>
                <a:latin typeface="Aptos" panose="020B0004020202020204" pitchFamily="34" charset="0"/>
              </a:rPr>
              <a:t>August 31, 2026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6AEC541F-5BA3-78CA-C1C9-00C0891726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85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F873C-52D3-FD83-EE86-D7984B65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810DF-2EE2-6E2B-0BB1-C06FFAD1F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364" y="2514601"/>
            <a:ext cx="9525273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Part 1. Summary of DCP-Indonesia preliminary analysis</a:t>
            </a:r>
          </a:p>
        </p:txBody>
      </p:sp>
    </p:spTree>
    <p:extLst>
      <p:ext uri="{BB962C8B-B14F-4D97-AF65-F5344CB8AC3E}">
        <p14:creationId xmlns:p14="http://schemas.microsoft.com/office/powerpoint/2010/main" val="226705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DEFE-39FF-4E55-8EE0-8DEE75C0050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20654E7-7576-4F4C-9BD1-B6A5BC0D9891}"/>
              </a:ext>
            </a:extLst>
          </p:cNvPr>
          <p:cNvSpPr/>
          <p:nvPr/>
        </p:nvSpPr>
        <p:spPr>
          <a:xfrm>
            <a:off x="585216" y="4958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Key Messages from DCP Indonesia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22C86EB-A92E-3F5C-615F-29E26F59050C}"/>
              </a:ext>
            </a:extLst>
          </p:cNvPr>
          <p:cNvSpPr/>
          <p:nvPr/>
        </p:nvSpPr>
        <p:spPr>
          <a:xfrm>
            <a:off x="603504" y="294640"/>
            <a:ext cx="10881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Key messages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26C96E6-B88A-97C2-71AD-133DF6964FEA}"/>
              </a:ext>
            </a:extLst>
          </p:cNvPr>
          <p:cNvSpPr/>
          <p:nvPr/>
        </p:nvSpPr>
        <p:spPr>
          <a:xfrm>
            <a:off x="566928" y="1576832"/>
            <a:ext cx="11045952" cy="4901184"/>
          </a:xfrm>
          <a:prstGeom prst="roundRect">
            <a:avLst>
              <a:gd name="adj" fmla="val 1493"/>
            </a:avLst>
          </a:prstGeom>
          <a:solidFill>
            <a:srgbClr val="F8FBFC">
              <a:alpha val="99000"/>
            </a:srgbClr>
          </a:solidFill>
          <a:ln w="10160">
            <a:solidFill>
              <a:srgbClr val="76BFD0">
                <a:alpha val="50000"/>
              </a:srgbClr>
            </a:solidFill>
            <a:prstDash val="solid"/>
          </a:ln>
          <a:effectLst>
            <a:outerShdw blurRad="19050" dist="635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6451D1-EE77-EC70-962B-9415D474C87A}"/>
              </a:ext>
            </a:extLst>
          </p:cNvPr>
          <p:cNvSpPr/>
          <p:nvPr/>
        </p:nvSpPr>
        <p:spPr>
          <a:xfrm>
            <a:off x="896112" y="1958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" dirty="0">
                <a:solidFill>
                  <a:srgbClr val="BC3B3B"/>
                </a:solidFill>
              </a:rPr>
              <a:t>CVD BURDEN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EA6D30F-FF72-EA9B-68BD-6B3E66A41F90}"/>
              </a:ext>
            </a:extLst>
          </p:cNvPr>
          <p:cNvSpPr/>
          <p:nvPr/>
        </p:nvSpPr>
        <p:spPr>
          <a:xfrm>
            <a:off x="877824" y="2461768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8%</a:t>
            </a:r>
            <a:endParaRPr lang="en-US" sz="2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B7FF053-0F1C-2EF9-77AB-48C7EB4A6872}"/>
              </a:ext>
            </a:extLst>
          </p:cNvPr>
          <p:cNvSpPr/>
          <p:nvPr/>
        </p:nvSpPr>
        <p:spPr>
          <a:xfrm>
            <a:off x="896112" y="31109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03B4D"/>
                </a:solidFill>
              </a:rPr>
              <a:t>of national income today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D8CE055-89EC-262A-3705-771D323D5A8F}"/>
              </a:ext>
            </a:extLst>
          </p:cNvPr>
          <p:cNvSpPr/>
          <p:nvPr/>
        </p:nvSpPr>
        <p:spPr>
          <a:xfrm>
            <a:off x="896112" y="39065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Projected to reach</a:t>
            </a:r>
            <a:endParaRPr lang="en-US" sz="1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0AE4B28-2F92-4C41-6F22-9F1C89427547}"/>
              </a:ext>
            </a:extLst>
          </p:cNvPr>
          <p:cNvSpPr/>
          <p:nvPr/>
        </p:nvSpPr>
        <p:spPr>
          <a:xfrm>
            <a:off x="896112" y="4348350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93434"/>
                </a:solidFill>
              </a:rPr>
              <a:t>13% by 2050</a:t>
            </a:r>
            <a:endParaRPr lang="en-US" sz="25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FD773FC-C062-7280-28EC-BD1042C1A856}"/>
              </a:ext>
            </a:extLst>
          </p:cNvPr>
          <p:cNvSpPr/>
          <p:nvPr/>
        </p:nvSpPr>
        <p:spPr>
          <a:xfrm>
            <a:off x="896112" y="5049520"/>
            <a:ext cx="1938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26A79"/>
                </a:solidFill>
              </a:rPr>
              <a:t>Higher than other conditions and peer countries</a:t>
            </a:r>
            <a:endParaRPr lang="en-US" sz="18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13CAFF1-90BA-E20E-A527-696B441054FD}"/>
              </a:ext>
            </a:extLst>
          </p:cNvPr>
          <p:cNvSpPr/>
          <p:nvPr/>
        </p:nvSpPr>
        <p:spPr>
          <a:xfrm>
            <a:off x="3136392" y="1940560"/>
            <a:ext cx="1" cy="4206240"/>
          </a:xfrm>
          <a:prstGeom prst="line">
            <a:avLst/>
          </a:prstGeom>
          <a:noFill/>
          <a:ln w="15240">
            <a:solidFill>
              <a:srgbClr val="BD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AFAA1F4-28AC-369D-334A-5EA27BD1D887}"/>
              </a:ext>
            </a:extLst>
          </p:cNvPr>
          <p:cNvSpPr/>
          <p:nvPr/>
        </p:nvSpPr>
        <p:spPr>
          <a:xfrm>
            <a:off x="3456432" y="1913128"/>
            <a:ext cx="365760" cy="365760"/>
          </a:xfrm>
          <a:prstGeom prst="ellipse">
            <a:avLst/>
          </a:prstGeom>
          <a:solidFill>
            <a:srgbClr val="137C8D"/>
          </a:solidFill>
          <a:ln w="12700">
            <a:solidFill>
              <a:srgbClr val="137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4927AAD-65D3-6902-26EA-9F7A0443825B}"/>
              </a:ext>
            </a:extLst>
          </p:cNvPr>
          <p:cNvSpPr/>
          <p:nvPr/>
        </p:nvSpPr>
        <p:spPr>
          <a:xfrm>
            <a:off x="3456432" y="198170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3F36525-80B4-0FCB-8FB9-ED8971674AC8}"/>
              </a:ext>
            </a:extLst>
          </p:cNvPr>
          <p:cNvSpPr/>
          <p:nvPr/>
        </p:nvSpPr>
        <p:spPr>
          <a:xfrm>
            <a:off x="4023360" y="1876552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Cut CVD mortality by 25%</a:t>
            </a:r>
            <a:endParaRPr lang="en-US" sz="20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3D8F9EF-38F9-B0D8-1419-3D530734FF07}"/>
              </a:ext>
            </a:extLst>
          </p:cNvPr>
          <p:cNvSpPr/>
          <p:nvPr/>
        </p:nvSpPr>
        <p:spPr>
          <a:xfrm>
            <a:off x="4023360" y="2260600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Scale </a:t>
            </a:r>
            <a:r>
              <a:rPr lang="en-US" dirty="0">
                <a:solidFill>
                  <a:srgbClr val="425D6D"/>
                </a:solidFill>
              </a:rPr>
              <a:t>7</a:t>
            </a:r>
            <a:r>
              <a:rPr lang="en-US" sz="1800" dirty="0">
                <a:solidFill>
                  <a:srgbClr val="425D6D"/>
                </a:solidFill>
              </a:rPr>
              <a:t> basic interventions plus tobacco control for about $30 more per person per year by 2030</a:t>
            </a:r>
            <a:endParaRPr lang="en-US" sz="18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CCF89AF-A257-845C-9710-6866389A7176}"/>
              </a:ext>
            </a:extLst>
          </p:cNvPr>
          <p:cNvSpPr/>
          <p:nvPr/>
        </p:nvSpPr>
        <p:spPr>
          <a:xfrm>
            <a:off x="4023360" y="2882392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EEBC43C-D909-D59D-1466-115E22972D63}"/>
              </a:ext>
            </a:extLst>
          </p:cNvPr>
          <p:cNvSpPr/>
          <p:nvPr/>
        </p:nvSpPr>
        <p:spPr>
          <a:xfrm>
            <a:off x="3456432" y="3037840"/>
            <a:ext cx="365760" cy="365760"/>
          </a:xfrm>
          <a:prstGeom prst="ellipse">
            <a:avLst/>
          </a:prstGeom>
          <a:solidFill>
            <a:srgbClr val="D77A25"/>
          </a:solidFill>
          <a:ln w="12700">
            <a:solidFill>
              <a:srgbClr val="D77A2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6232CC-C750-447E-F985-6FB2228599CA}"/>
              </a:ext>
            </a:extLst>
          </p:cNvPr>
          <p:cNvSpPr/>
          <p:nvPr/>
        </p:nvSpPr>
        <p:spPr>
          <a:xfrm>
            <a:off x="3456432" y="310642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682D1FA-0F53-937A-C196-D4F9E16DF77C}"/>
              </a:ext>
            </a:extLst>
          </p:cNvPr>
          <p:cNvSpPr/>
          <p:nvPr/>
        </p:nvSpPr>
        <p:spPr>
          <a:xfrm>
            <a:off x="4023360" y="3001264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Use tobacco policy for rapid gains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377EDF6-3753-5210-4839-2C8B4A009FE8}"/>
              </a:ext>
            </a:extLst>
          </p:cNvPr>
          <p:cNvSpPr/>
          <p:nvPr/>
        </p:nvSpPr>
        <p:spPr>
          <a:xfrm>
            <a:off x="4023360" y="3385312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WHO-recommended measures could save 1.2 million lives; even a modest 20% tobacco price increase could avert 700,000 CVD deaths by 2050</a:t>
            </a:r>
            <a:endParaRPr lang="en-US" sz="18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22C26500-9123-08C1-61C8-F5B8333E0B2D}"/>
              </a:ext>
            </a:extLst>
          </p:cNvPr>
          <p:cNvSpPr/>
          <p:nvPr/>
        </p:nvSpPr>
        <p:spPr>
          <a:xfrm>
            <a:off x="4023360" y="4007104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4F31FA29-6FF3-6C47-330C-7A3421AE3B81}"/>
              </a:ext>
            </a:extLst>
          </p:cNvPr>
          <p:cNvSpPr/>
          <p:nvPr/>
        </p:nvSpPr>
        <p:spPr>
          <a:xfrm>
            <a:off x="3456432" y="4162552"/>
            <a:ext cx="365760" cy="365760"/>
          </a:xfrm>
          <a:prstGeom prst="ellipse">
            <a:avLst/>
          </a:prstGeom>
          <a:solidFill>
            <a:srgbClr val="2E7A9C"/>
          </a:solidFill>
          <a:ln w="12700">
            <a:solidFill>
              <a:srgbClr val="2E7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805AFE0-0A5A-3DCF-81A9-AEDB9314CD38}"/>
              </a:ext>
            </a:extLst>
          </p:cNvPr>
          <p:cNvSpPr/>
          <p:nvPr/>
        </p:nvSpPr>
        <p:spPr>
          <a:xfrm>
            <a:off x="3456432" y="423113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3A451DC-76CB-21C5-8F09-EC8DCCD4C658}"/>
              </a:ext>
            </a:extLst>
          </p:cNvPr>
          <p:cNvSpPr/>
          <p:nvPr/>
        </p:nvSpPr>
        <p:spPr>
          <a:xfrm>
            <a:off x="4023360" y="4125976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Move Indonesia toward peer-country outcomes</a:t>
            </a:r>
            <a:endParaRPr lang="en-US" sz="20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D76F308-7E1A-00CA-6AE0-2C59EC76C18C}"/>
              </a:ext>
            </a:extLst>
          </p:cNvPr>
          <p:cNvSpPr/>
          <p:nvPr/>
        </p:nvSpPr>
        <p:spPr>
          <a:xfrm>
            <a:off x="4023360" y="4461386"/>
            <a:ext cx="7059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800" dirty="0">
                <a:solidFill>
                  <a:srgbClr val="425D6D"/>
                </a:solidFill>
              </a:rPr>
              <a:t>The modeled package approaches Malaysia and falls below the ASEAN </a:t>
            </a:r>
            <a:r>
              <a:rPr lang="en-US" sz="1800">
                <a:solidFill>
                  <a:srgbClr val="425D6D"/>
                </a:solidFill>
              </a:rPr>
              <a:t>average; reaching Singapore requires broader </a:t>
            </a:r>
            <a:r>
              <a:rPr lang="en-US">
                <a:solidFill>
                  <a:srgbClr val="425D6D"/>
                </a:solidFill>
              </a:rPr>
              <a:t>intersectoral </a:t>
            </a:r>
            <a:r>
              <a:rPr lang="en-US" sz="1800">
                <a:solidFill>
                  <a:srgbClr val="425D6D"/>
                </a:solidFill>
              </a:rPr>
              <a:t>action.</a:t>
            </a:r>
            <a:endParaRPr lang="en-US" sz="1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7A0B2E9F-80B4-EE6E-2224-0807F78F38C1}"/>
              </a:ext>
            </a:extLst>
          </p:cNvPr>
          <p:cNvSpPr/>
          <p:nvPr/>
        </p:nvSpPr>
        <p:spPr>
          <a:xfrm>
            <a:off x="4023360" y="5131816"/>
            <a:ext cx="7022592" cy="1"/>
          </a:xfrm>
          <a:prstGeom prst="line">
            <a:avLst/>
          </a:prstGeom>
          <a:noFill/>
          <a:ln w="10160">
            <a:solidFill>
              <a:srgbClr val="D5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1043E0D-B8C4-A1E6-C37C-2A18E296B005}"/>
              </a:ext>
            </a:extLst>
          </p:cNvPr>
          <p:cNvSpPr/>
          <p:nvPr/>
        </p:nvSpPr>
        <p:spPr>
          <a:xfrm>
            <a:off x="3456432" y="5287264"/>
            <a:ext cx="365760" cy="365760"/>
          </a:xfrm>
          <a:prstGeom prst="ellipse">
            <a:avLst/>
          </a:prstGeom>
          <a:solidFill>
            <a:srgbClr val="7254A0"/>
          </a:solidFill>
          <a:ln w="12700">
            <a:solidFill>
              <a:srgbClr val="7254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5A663E6F-CF2A-4B1C-E15D-578112DABF95}"/>
              </a:ext>
            </a:extLst>
          </p:cNvPr>
          <p:cNvSpPr/>
          <p:nvPr/>
        </p:nvSpPr>
        <p:spPr>
          <a:xfrm>
            <a:off x="3456432" y="53558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F88CD5CF-528B-47F7-E8FE-FBA36303524C}"/>
              </a:ext>
            </a:extLst>
          </p:cNvPr>
          <p:cNvSpPr/>
          <p:nvPr/>
        </p:nvSpPr>
        <p:spPr>
          <a:xfrm>
            <a:off x="4023360" y="5250688"/>
            <a:ext cx="7114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64B"/>
                </a:solidFill>
              </a:rPr>
              <a:t>Make medicine access and financial protection central</a:t>
            </a:r>
            <a:endParaRPr lang="en-US" sz="20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DEF9C1C-816A-3F60-24DC-9DC3C0E9DC47}"/>
              </a:ext>
            </a:extLst>
          </p:cNvPr>
          <p:cNvSpPr/>
          <p:nvPr/>
        </p:nvSpPr>
        <p:spPr>
          <a:xfrm>
            <a:off x="4023360" y="5626992"/>
            <a:ext cx="7059168" cy="64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425D6D"/>
                </a:solidFill>
              </a:rPr>
              <a:t>CVD drives catastrophic spending for 1.7 million people yearly, concentrated among the poorest. Optimizing JKN delivery and supply-chain reforms are essential.</a:t>
            </a:r>
            <a:endParaRPr lang="en-US" sz="18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8EA503C-FBF3-CE89-C87F-156DAB5CB84B}"/>
              </a:ext>
            </a:extLst>
          </p:cNvPr>
          <p:cNvSpPr/>
          <p:nvPr/>
        </p:nvSpPr>
        <p:spPr>
          <a:xfrm>
            <a:off x="998220" y="104675"/>
            <a:ext cx="10195561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PRELIMINARY ESTIMATES – NOT FOR QUOTATION OR CIRCULATION – UPDATED 30 AUG 2026</a:t>
            </a: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43C8894-EFDA-7A92-F8ED-CA27E37A3CAF}"/>
              </a:ext>
            </a:extLst>
          </p:cNvPr>
          <p:cNvSpPr/>
          <p:nvPr/>
        </p:nvSpPr>
        <p:spPr>
          <a:xfrm>
            <a:off x="63500" y="6621018"/>
            <a:ext cx="11944350" cy="1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 Preliminary results from the World Bank Group with University of Washington and Harvard University</a:t>
            </a:r>
          </a:p>
        </p:txBody>
      </p:sp>
    </p:spTree>
    <p:extLst>
      <p:ext uri="{BB962C8B-B14F-4D97-AF65-F5344CB8AC3E}">
        <p14:creationId xmlns:p14="http://schemas.microsoft.com/office/powerpoint/2010/main" val="158038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25146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1. </a:t>
            </a:r>
            <a:r>
              <a:rPr lang="en-US" sz="4000" dirty="0">
                <a:solidFill>
                  <a:srgbClr val="002060"/>
                </a:solidFill>
              </a:rPr>
              <a:t>The economic value of reducing avoidable mortality is very large in Indonesia</a:t>
            </a:r>
          </a:p>
        </p:txBody>
      </p:sp>
    </p:spTree>
    <p:extLst>
      <p:ext uri="{BB962C8B-B14F-4D97-AF65-F5344CB8AC3E}">
        <p14:creationId xmlns:p14="http://schemas.microsoft.com/office/powerpoint/2010/main" val="199960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280AE-72AA-369C-928F-36F4C32C07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6274" y="2010974"/>
            <a:ext cx="10623726" cy="2915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economic value associated with avoidable mortality related to various causes of death, over 2019-2050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assess the monetary value of hypothetical reductions in cause-specific mortality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benchmark these hypothetical reductions against a mortality frontier              (lowest mortality rates achieved) by cause</a:t>
            </a:r>
          </a:p>
          <a:p>
            <a:pPr marL="628222" lvl="1" indent="-278681">
              <a:buFont typeface="+mj-lt"/>
              <a:buAutoNum type="arabicPeriod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We assign a willingness to pay value to these hypothetical reductions in cause-specific mortality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64ACBEED-8A82-E373-7018-4AD493CAFF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42" y="940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economic value of avoidable mortality FROM </a:t>
            </a:r>
            <a:r>
              <a:rPr lang="en-US" sz="3600" dirty="0" err="1">
                <a:solidFill>
                  <a:srgbClr val="002060"/>
                </a:solidFill>
              </a:rPr>
              <a:t>CVd</a:t>
            </a:r>
            <a:r>
              <a:rPr lang="en-US" sz="3600" dirty="0">
                <a:solidFill>
                  <a:srgbClr val="002060"/>
                </a:solidFill>
              </a:rPr>
              <a:t>?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A96E519-97BD-4E05-B5D9-155ED7E84BF9}"/>
              </a:ext>
            </a:extLst>
          </p:cNvPr>
          <p:cNvSpPr txBox="1">
            <a:spLocks/>
          </p:cNvSpPr>
          <p:nvPr/>
        </p:nvSpPr>
        <p:spPr>
          <a:xfrm>
            <a:off x="762000" y="4683270"/>
            <a:ext cx="10668000" cy="1634457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73152" tIns="36576" rIns="73152" bIns="36576" rtlCol="0">
            <a:no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u="sng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numéraire obtained</a:t>
            </a: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% of income an individual is willing to pay to live 1 year under the lowest possible mortality rate for a given cause of death</a:t>
            </a:r>
          </a:p>
          <a:p>
            <a:pPr marL="214370" indent="-2143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Economic metric directly comparable to national annual incomes</a:t>
            </a:r>
            <a:r>
              <a:rPr lang="en-US" sz="2200" dirty="0">
                <a:solidFill>
                  <a:prstClr val="black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(GNI)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79F3F6B-FB7E-0AE0-664D-57A43739CBC7}"/>
              </a:ext>
            </a:extLst>
          </p:cNvPr>
          <p:cNvSpPr txBox="1">
            <a:spLocks/>
          </p:cNvSpPr>
          <p:nvPr/>
        </p:nvSpPr>
        <p:spPr>
          <a:xfrm>
            <a:off x="1015247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6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FBAAA-590A-2856-628F-0F2758B59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6EF88D-8D37-606A-7718-134B42D7C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988" y="2177242"/>
            <a:ext cx="8174024" cy="4337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B29E7B-B1F5-C25B-6397-19C258ECCAD2}"/>
              </a:ext>
            </a:extLst>
          </p:cNvPr>
          <p:cNvSpPr txBox="1"/>
          <p:nvPr/>
        </p:nvSpPr>
        <p:spPr>
          <a:xfrm>
            <a:off x="450000" y="443806"/>
            <a:ext cx="102928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57128" algn="ctr"/>
            <a:r>
              <a:rPr lang="en-US" sz="4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Indonesia’s economic value of avoidable mortality, 2019 &amp; 2050</a:t>
            </a:r>
          </a:p>
        </p:txBody>
      </p:sp>
    </p:spTree>
    <p:extLst>
      <p:ext uri="{BB962C8B-B14F-4D97-AF65-F5344CB8AC3E}">
        <p14:creationId xmlns:p14="http://schemas.microsoft.com/office/powerpoint/2010/main" val="3421421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6C614-4D82-4EBD-FD01-2D16F92DD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977C94-54FC-BB72-F01D-66CFABE738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2558" y="208579"/>
            <a:ext cx="10818081" cy="1437342"/>
          </a:xfrm>
        </p:spPr>
        <p:txBody>
          <a:bodyPr>
            <a:noAutofit/>
          </a:bodyPr>
          <a:lstStyle/>
          <a:p>
            <a:pPr marL="0" indent="-57128" algn="ctr">
              <a:buNone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 value of avoidable mortality by cause,</a:t>
            </a:r>
          </a:p>
          <a:p>
            <a:pPr marL="0" indent="-57128" algn="ctr">
              <a:buNone/>
            </a:pPr>
            <a:r>
              <a:rPr lang="en-US" sz="36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Indonesia vs. selected comparators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4C752C-363D-CB5F-E097-77E227D99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577" r="18528" b="49929"/>
          <a:stretch>
            <a:fillRect/>
          </a:stretch>
        </p:blipFill>
        <p:spPr>
          <a:xfrm>
            <a:off x="4236400" y="1574801"/>
            <a:ext cx="4416238" cy="502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E7DFE9-2646-7FDD-DB0F-8AA3F94EEF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280" b="49929"/>
          <a:stretch>
            <a:fillRect/>
          </a:stretch>
        </p:blipFill>
        <p:spPr>
          <a:xfrm>
            <a:off x="882271" y="1574801"/>
            <a:ext cx="3374449" cy="502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64DA3A-0801-1E67-FEE8-1A67A7A754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93" t="36738" b="35802"/>
          <a:stretch>
            <a:fillRect/>
          </a:stretch>
        </p:blipFill>
        <p:spPr>
          <a:xfrm>
            <a:off x="9091964" y="2616348"/>
            <a:ext cx="27263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5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7E1BC-5548-DDB5-A6D7-03CE0C44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7956-B98B-5186-5E6F-77AAE78D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1981201"/>
            <a:ext cx="10287000" cy="2895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2.</a:t>
            </a:r>
            <a:r>
              <a:rPr lang="en-US" sz="4000" dirty="0">
                <a:solidFill>
                  <a:srgbClr val="002060"/>
                </a:solidFill>
              </a:rPr>
              <a:t> Improving access to a basic package of CVD interventions, and tackling tobacco, could reduce Indonesia’s CVD mortality rates to those of peer countries</a:t>
            </a:r>
          </a:p>
        </p:txBody>
      </p:sp>
    </p:spTree>
    <p:extLst>
      <p:ext uri="{BB962C8B-B14F-4D97-AF65-F5344CB8AC3E}">
        <p14:creationId xmlns:p14="http://schemas.microsoft.com/office/powerpoint/2010/main" val="140956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3BF5C-C4BB-60FB-7BE8-B9181BF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C02F5-3C47-6F6F-A31C-B859D42714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233" y="2867161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mortality impact of 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Expanded access (utilization) of a package of foundational interventions for CVD prevention (CKG) and treatment, including the “70-70-70” target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Comprehensive tobacco control (WHO MPOWER policy package)</a:t>
            </a: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mortality consequences of these interventions, the associated increase in costs to JKN of expanded access, and the </a:t>
            </a:r>
            <a:r>
              <a:rPr lang="en-US" sz="2600" u="sng" dirty="0">
                <a:latin typeface="Calibri" panose="020F0502020204030204" pitchFamily="34" charset="0"/>
                <a:cs typeface="Calibri" panose="020F0502020204030204" pitchFamily="34" charset="0"/>
              </a:rPr>
              <a:t>impact these would have on mortality rates relative to ASEAN comparators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85DDAB29-83D9-C1B8-F5FF-C5AA6CB0F4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is the potential health impact of expanded access to basic CVD prevention and treatment?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52D4452-046A-BA1E-19DF-B36D66ADB81F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0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6171" y="154504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Framework for projecting the mortality impact and cost of achieving a 70-70-70 target for CVD prevention</a:t>
            </a:r>
            <a:endParaRPr sz="3600" b="1" spc="-16" dirty="0"/>
          </a:p>
        </p:txBody>
      </p:sp>
      <p:sp>
        <p:nvSpPr>
          <p:cNvPr id="17" name="object 17"/>
          <p:cNvSpPr/>
          <p:nvPr/>
        </p:nvSpPr>
        <p:spPr>
          <a:xfrm>
            <a:off x="2006351" y="2566835"/>
            <a:ext cx="8639375" cy="0"/>
          </a:xfrm>
          <a:custGeom>
            <a:avLst/>
            <a:gdLst/>
            <a:ahLst/>
            <a:cxnLst/>
            <a:rect l="l" t="t" r="r" b="b"/>
            <a:pathLst>
              <a:path w="4411345">
                <a:moveTo>
                  <a:pt x="0" y="0"/>
                </a:moveTo>
                <a:lnTo>
                  <a:pt x="4411112" y="0"/>
                </a:lnTo>
              </a:path>
            </a:pathLst>
          </a:custGeom>
          <a:ln w="7477">
            <a:solidFill>
              <a:srgbClr val="EBEBEB"/>
            </a:solidFill>
          </a:ln>
        </p:spPr>
        <p:txBody>
          <a:bodyPr wrap="square" lIns="0" tIns="0" rIns="0" bIns="0" rtlCol="0"/>
          <a:lstStyle/>
          <a:p>
            <a:endParaRPr sz="2855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3385" y="5638801"/>
            <a:ext cx="10633300" cy="762171"/>
          </a:xfrm>
          <a:prstGeom prst="rect">
            <a:avLst/>
          </a:prstGeom>
        </p:spPr>
        <p:txBody>
          <a:bodyPr vert="horz" wrap="square" lIns="0" tIns="17120" rIns="0" bIns="0" rtlCol="0">
            <a:spAutoFit/>
          </a:bodyPr>
          <a:lstStyle/>
          <a:p>
            <a:pPr marL="20141" marR="8056" algn="just">
              <a:lnSpc>
                <a:spcPct val="102400"/>
              </a:lnSpc>
              <a:spcBef>
                <a:spcPts val="13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NCD Risk factors Collaborators 2024.</a:t>
            </a:r>
            <a:r>
              <a:rPr lang="en-US" sz="1600" b="1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Method: </a:t>
            </a:r>
            <a:r>
              <a:rPr lang="en-US"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 (2025) shows only measured treated/controlled — diagnosis is not modeled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baseline,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bar.</a:t>
            </a:r>
            <a:r>
              <a:rPr sz="1600" i="1" spc="7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Type-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diabetes</a:t>
            </a:r>
            <a:r>
              <a:rPr lang="en-US" sz="1600" i="1" spc="793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follows the same targets</a:t>
            </a:r>
            <a:r>
              <a:rPr sz="1600" i="1" spc="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(baseline treated</a:t>
            </a:r>
            <a:r>
              <a:rPr sz="1600" i="1" spc="-8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22.0%,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controlled</a:t>
            </a:r>
            <a:r>
              <a:rPr sz="1600" i="1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spc="309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≈</a:t>
            </a:r>
            <a:r>
              <a:rPr sz="1600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i="1" spc="-16" dirty="0">
                <a:solidFill>
                  <a:srgbClr val="5B6B7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7.5%).</a:t>
            </a:r>
            <a:endParaRPr sz="16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DB8FF0A-1E67-55F5-DAAA-613F25CE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458" y="1517684"/>
            <a:ext cx="9615084" cy="388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1090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5085" y="152400"/>
            <a:ext cx="1116182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6" dirty="0"/>
              <a:t>Achieving 70-70-70 </a:t>
            </a:r>
            <a:r>
              <a:rPr sz="3600" b="1" spc="-16" dirty="0"/>
              <a:t>lowers premature </a:t>
            </a:r>
            <a:r>
              <a:rPr lang="en-US" sz="3600" b="1" spc="-16" dirty="0"/>
              <a:t>mortality</a:t>
            </a:r>
            <a:r>
              <a:rPr sz="3600" b="1" spc="-16" dirty="0"/>
              <a:t> at a rising but bounded cost</a:t>
            </a:r>
          </a:p>
        </p:txBody>
      </p:sp>
      <p:sp>
        <p:nvSpPr>
          <p:cNvPr id="57" name="object 57"/>
          <p:cNvSpPr txBox="1"/>
          <p:nvPr/>
        </p:nvSpPr>
        <p:spPr>
          <a:xfrm>
            <a:off x="450000" y="5741896"/>
            <a:ext cx="10727400" cy="777349"/>
          </a:xfrm>
          <a:prstGeom prst="rect">
            <a:avLst/>
          </a:prstGeom>
        </p:spPr>
        <p:txBody>
          <a:bodyPr vert="horz" wrap="square" lIns="0" tIns="1208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Source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s</a:t>
            </a:r>
            <a:r>
              <a:rPr sz="1600" b="1" i="1" dirty="0">
                <a:solidFill>
                  <a:srgbClr val="5B6B7A"/>
                </a:solidFill>
                <a:latin typeface="Calibri"/>
                <a:cs typeface="Calibri"/>
              </a:rPr>
              <a:t>:</a:t>
            </a:r>
            <a:r>
              <a:rPr sz="1600" b="1" i="1" spc="119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See previous slides for details of epidemiological and demographic inputs. Intervention unit costs come from Watkins et al., Lancet Global Health 2020. </a:t>
            </a: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The metric “</a:t>
            </a:r>
            <a:r>
              <a:rPr sz="1600" i="1" spc="-16" dirty="0">
                <a:solidFill>
                  <a:srgbClr val="5B6B7A"/>
                </a:solidFill>
                <a:latin typeface="Calibri"/>
                <a:cs typeface="Calibri"/>
              </a:rPr>
              <a:t>probability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600" i="1" spc="16" dirty="0">
                <a:solidFill>
                  <a:srgbClr val="5B6B7A"/>
                </a:solidFill>
                <a:latin typeface="Calibri"/>
                <a:cs typeface="Calibri"/>
              </a:rPr>
              <a:t>of death from CVD before age 70” is calculated from life tables and is aggregated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over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the</a:t>
            </a:r>
            <a:r>
              <a:rPr sz="1600" i="1" spc="24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CVD</a:t>
            </a:r>
            <a:r>
              <a:rPr sz="1600" i="1" spc="16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B6B7A"/>
                </a:solidFill>
                <a:latin typeface="Calibri"/>
                <a:cs typeface="Calibri"/>
              </a:rPr>
              <a:t>causes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 modeled here.</a:t>
            </a:r>
            <a:endParaRPr sz="16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8" y="1379060"/>
            <a:ext cx="10841801" cy="41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04552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CDB268-5842-44E2-8A1F-E33B4A23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40445"/>
            <a:ext cx="108585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Other interventions can add impact (and cost) to the </a:t>
            </a:r>
            <a:b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b="1" spc="-10" dirty="0">
                <a:solidFill>
                  <a:srgbClr val="17365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70-70-70 agenda</a:t>
            </a:r>
            <a:endParaRPr sz="3600" b="1" spc="-10" dirty="0">
              <a:solidFill>
                <a:srgbClr val="17365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3C17C1-77E3-5A26-D1FC-1F4BB5EB1FBA}"/>
              </a:ext>
            </a:extLst>
          </p:cNvPr>
          <p:cNvSpPr txBox="1"/>
          <p:nvPr/>
        </p:nvSpPr>
        <p:spPr>
          <a:xfrm>
            <a:off x="729292" y="5635672"/>
            <a:ext cx="10572752" cy="777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>
              <a:lnSpc>
                <a:spcPct val="105200"/>
              </a:lnSpc>
              <a:spcBef>
                <a:spcPts val="95"/>
              </a:spcBef>
            </a:pPr>
            <a:r>
              <a:rPr lang="en-US" sz="16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600" i="1" dirty="0">
                <a:solidFill>
                  <a:srgbClr val="5B6B7A"/>
                </a:solidFill>
                <a:latin typeface="Calibri"/>
                <a:cs typeface="Calibri"/>
              </a:rPr>
              <a:t>all interventions included here are based on recommendations from the Disease Control Priorities Project and represent a (high priority) subset of all interventions for CVD covered by JKN. Incremental costs and effects are calculated by assuming a linear scale-up to a target of 80% coverage by 2050. Costs are reported in market USD (2023) from the purchaser perspective.</a:t>
            </a:r>
            <a:endParaRPr sz="1600" i="1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1CD1120-9AC4-0E0A-5BE5-2B0CFC01825F}"/>
              </a:ext>
            </a:extLst>
          </p:cNvPr>
          <p:cNvGraphicFramePr>
            <a:graphicFrameLocks noGrp="1"/>
          </p:cNvGraphicFramePr>
          <p:nvPr/>
        </p:nvGraphicFramePr>
        <p:xfrm>
          <a:off x="612437" y="1576290"/>
          <a:ext cx="10973204" cy="3919840"/>
        </p:xfrm>
        <a:graphic>
          <a:graphicData uri="http://schemas.openxmlformats.org/drawingml/2006/table">
            <a:tbl>
              <a:tblPr/>
              <a:tblGrid>
                <a:gridCol w="3510114">
                  <a:extLst>
                    <a:ext uri="{9D8B030D-6E8A-4147-A177-3AD203B41FA5}">
                      <a16:colId xmlns:a16="http://schemas.microsoft.com/office/drawing/2014/main" val="1800326777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877907302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610294036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191037584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411628580"/>
                    </a:ext>
                  </a:extLst>
                </a:gridCol>
                <a:gridCol w="1492618">
                  <a:extLst>
                    <a:ext uri="{9D8B030D-6E8A-4147-A177-3AD203B41FA5}">
                      <a16:colId xmlns:a16="http://schemas.microsoft.com/office/drawing/2014/main" val="3733723738"/>
                    </a:ext>
                  </a:extLst>
                </a:gridCol>
              </a:tblGrid>
              <a:tr h="819698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Clinical intervention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Average annual additional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2F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Additional cost per capita in 2050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2476357"/>
                  </a:ext>
                </a:extLst>
              </a:tr>
              <a:tr h="55697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cost per capita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41485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Primary CVD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1.964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16.70%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11.50%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US$2.20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US$3.94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907207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1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Type-2 diabetes treatment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0.493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0.60%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2.50%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US$5.35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1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US$10.30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35859"/>
                  </a:ext>
                </a:extLst>
              </a:tr>
              <a:tr h="55697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Treatment of acute coronary syndromes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US$2.88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US$5.48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75183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Heart-attack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0.244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2.40%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1.10%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US$1.14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US$2.21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499332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Chronic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0.105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0.90%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US$0.50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43824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Acute heart-failure care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0.40%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96259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Stroke secondary prevention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0.30%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0.20%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US$0.63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US$1.16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912865"/>
                  </a:ext>
                </a:extLst>
              </a:tr>
              <a:tr h="28374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All clinical (combined)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3.153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23.00%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16.80%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US$11.96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US$22.22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83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99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8ED916-FF80-4D3D-AA83-FAE50547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000" y="0"/>
            <a:ext cx="11292000" cy="1362268"/>
          </a:xfrm>
          <a:prstGeom prst="rect">
            <a:avLst/>
          </a:prstGeom>
        </p:spPr>
        <p:txBody>
          <a:bodyPr vert="horz" wrap="square" lIns="0" tIns="21148" rIns="0" bIns="0" rtlCol="0" anchor="ctr">
            <a:normAutofit/>
          </a:bodyPr>
          <a:lstStyle/>
          <a:p>
            <a:pPr marL="20141" algn="ctr">
              <a:spcBef>
                <a:spcPts val="167"/>
              </a:spcBef>
              <a:defRPr sz="240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lang="en-US" sz="3600" b="1" spc="-10" dirty="0">
                <a:latin typeface="+mn-lt"/>
              </a:rPr>
              <a:t>Tobacco control policies would add significant impact to the clinical intervention packages </a:t>
            </a:r>
            <a:endParaRPr sz="3600" b="1" spc="-10" dirty="0">
              <a:latin typeface="+mn-l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39E784E-3FD8-F3B8-5D86-4EEDC0ACB02D}"/>
              </a:ext>
            </a:extLst>
          </p:cNvPr>
          <p:cNvSpPr txBox="1"/>
          <p:nvPr/>
        </p:nvSpPr>
        <p:spPr>
          <a:xfrm>
            <a:off x="955339" y="5014478"/>
            <a:ext cx="10376514" cy="11340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141" marR="8056" algn="just">
              <a:lnSpc>
                <a:spcPct val="105200"/>
              </a:lnSpc>
              <a:spcBef>
                <a:spcPts val="95"/>
              </a:spcBef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tobacco policies are assumed mostly to have an effect on CVD incidence and case-fatality from cessation among persons without and with CVD, respectively. Impact estimates are based on price-elasticity meta-analyses and relative risks from the GBD study. *The tobacco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regulations are the non-price measures in WHO’s MPOWER package: </a:t>
            </a:r>
            <a:r>
              <a:rPr sz="1400" i="1" dirty="0">
                <a:solidFill>
                  <a:srgbClr val="5B6B7A"/>
                </a:solidFill>
                <a:latin typeface="Calibri"/>
                <a:cs typeface="Calibri"/>
              </a:rPr>
              <a:t>smoke-free policies, health warnings and mass-media campaigns, advertising bans, and cessation support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. Only 6 CVD causes and T2DM are included; results may differ from message 4, which includes 19 CVD + Cancer + EPOC + T2DM causes.</a:t>
            </a:r>
            <a:endParaRPr sz="1400" i="1" u="sng" dirty="0">
              <a:solidFill>
                <a:srgbClr val="5B6B7A"/>
              </a:solidFill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4E6ED3-E955-E2A0-2AE0-1F8815CB540A}"/>
              </a:ext>
            </a:extLst>
          </p:cNvPr>
          <p:cNvSpPr txBox="1"/>
          <p:nvPr/>
        </p:nvSpPr>
        <p:spPr>
          <a:xfrm>
            <a:off x="907739" y="6238586"/>
            <a:ext cx="10471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u="sng" dirty="0">
                <a:solidFill>
                  <a:srgbClr val="C00000"/>
                </a:solidFill>
                <a:latin typeface="Calibri"/>
                <a:cs typeface="Calibri"/>
              </a:rPr>
              <a:t>Impact continues to grow beyond 2050 from reduced smoking prevalence among today’s younger people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92888A-1382-E654-067B-02C5F7324A26}"/>
              </a:ext>
            </a:extLst>
          </p:cNvPr>
          <p:cNvGraphicFramePr>
            <a:graphicFrameLocks noGrp="1"/>
          </p:cNvGraphicFramePr>
          <p:nvPr/>
        </p:nvGraphicFramePr>
        <p:xfrm>
          <a:off x="1012014" y="1362268"/>
          <a:ext cx="10167971" cy="3562195"/>
        </p:xfrm>
        <a:graphic>
          <a:graphicData uri="http://schemas.openxmlformats.org/drawingml/2006/table">
            <a:tbl>
              <a:tblPr/>
              <a:tblGrid>
                <a:gridCol w="2253516">
                  <a:extLst>
                    <a:ext uri="{9D8B030D-6E8A-4147-A177-3AD203B41FA5}">
                      <a16:colId xmlns:a16="http://schemas.microsoft.com/office/drawing/2014/main" val="394598404"/>
                    </a:ext>
                  </a:extLst>
                </a:gridCol>
                <a:gridCol w="2172063">
                  <a:extLst>
                    <a:ext uri="{9D8B030D-6E8A-4147-A177-3AD203B41FA5}">
                      <a16:colId xmlns:a16="http://schemas.microsoft.com/office/drawing/2014/main" val="490603378"/>
                    </a:ext>
                  </a:extLst>
                </a:gridCol>
                <a:gridCol w="2986587">
                  <a:extLst>
                    <a:ext uri="{9D8B030D-6E8A-4147-A177-3AD203B41FA5}">
                      <a16:colId xmlns:a16="http://schemas.microsoft.com/office/drawing/2014/main" val="2465418595"/>
                    </a:ext>
                  </a:extLst>
                </a:gridCol>
                <a:gridCol w="2755805">
                  <a:extLst>
                    <a:ext uri="{9D8B030D-6E8A-4147-A177-3AD203B41FA5}">
                      <a16:colId xmlns:a16="http://schemas.microsoft.com/office/drawing/2014/main" val="302029590"/>
                    </a:ext>
                  </a:extLst>
                </a:gridCol>
              </a:tblGrid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Type of policy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Cumulative deaths averted (millions)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CVD mortality probability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Reduction in number of CVD deaths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786483"/>
                  </a:ext>
                </a:extLst>
              </a:tr>
              <a:tr h="30103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tax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170356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 50%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5.20%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3.30%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51239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    75% increase in retail price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7.90%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7.10%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745038"/>
                  </a:ext>
                </a:extLst>
              </a:tr>
              <a:tr h="5936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Tobacco policy package (MPOWER)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3.60%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</a:rPr>
                        <a:t>2.20%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26198"/>
                  </a:ext>
                </a:extLst>
              </a:tr>
              <a:tr h="8863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17365D"/>
                          </a:solidFill>
                          <a:effectLst/>
                          <a:latin typeface="Calibri" panose="020F0502020204030204" pitchFamily="34" charset="0"/>
                        </a:rPr>
                        <a:t>Combined impact of taxes (75%) and regulations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2.07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11.20%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244062"/>
                          </a:solidFill>
                          <a:effectLst/>
                          <a:latin typeface="Calibri" panose="020F0502020204030204" pitchFamily="34" charset="0"/>
                        </a:rPr>
                        <a:t>4.20%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20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68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0" y="167008"/>
            <a:ext cx="12191999" cy="1129350"/>
          </a:xfrm>
          <a:prstGeom prst="rect">
            <a:avLst/>
          </a:prstGeom>
        </p:spPr>
        <p:txBody>
          <a:bodyPr vert="horz" wrap="square" lIns="0" tIns="21148" rIns="0" bIns="0" rtlCol="0" anchor="ctr">
            <a:spAutoFit/>
          </a:bodyPr>
          <a:lstStyle/>
          <a:p>
            <a:pPr marL="20141" algn="ctr">
              <a:spcBef>
                <a:spcPts val="167"/>
              </a:spcBef>
            </a:pPr>
            <a:r>
              <a:rPr lang="en-US" sz="3600" b="1" spc="-10" dirty="0"/>
              <a:t>Implementation of clinical interventions and tobacco control could get Indonesia close to Malaysia’s CV mortality by 2050</a:t>
            </a:r>
            <a:endParaRPr sz="3600" b="1" spc="-16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75F4D4-BBCE-E436-4D46-E18AAFAC5DD4}"/>
              </a:ext>
            </a:extLst>
          </p:cNvPr>
          <p:cNvSpPr txBox="1"/>
          <p:nvPr/>
        </p:nvSpPr>
        <p:spPr>
          <a:xfrm>
            <a:off x="7267169" y="5257562"/>
            <a:ext cx="469628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">
              <a:spcBef>
                <a:spcPts val="320"/>
              </a:spcBef>
              <a:spcAft>
                <a:spcPts val="800"/>
              </a:spcAft>
            </a:pPr>
            <a:r>
              <a:rPr lang="en-US" sz="1400" b="1" i="1" dirty="0">
                <a:solidFill>
                  <a:srgbClr val="5B6B7A"/>
                </a:solidFill>
                <a:latin typeface="Calibri"/>
                <a:cs typeface="Calibri"/>
              </a:rPr>
              <a:t>Note: </a:t>
            </a:r>
            <a:r>
              <a:rPr lang="en-US" sz="1400" i="1" dirty="0">
                <a:solidFill>
                  <a:srgbClr val="5B6B7A"/>
                </a:solidFill>
                <a:latin typeface="Calibri"/>
                <a:cs typeface="Calibri"/>
              </a:rPr>
              <a:t>Indonesia observed history (solid, to 2023) and ASEAN comparators are WPP-scaled reference series. Modeled Indonesia scenarios (dashed, 2025-2050) use the GBD-calibrated model baseline. ASEAN comparator trends correspond to a linear extrapolation for illustrative reference. Tobacco policy impacts correspond to a 75% retail price increase scenario.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26A705-3710-3015-23A2-010876B58563}"/>
              </a:ext>
            </a:extLst>
          </p:cNvPr>
          <p:cNvSpPr/>
          <p:nvPr/>
        </p:nvSpPr>
        <p:spPr>
          <a:xfrm>
            <a:off x="7460159" y="2394295"/>
            <a:ext cx="4310308" cy="1775217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8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0584" rIns="164592" bIns="36576" rtlCol="0" anchor="t"/>
          <a:lstStyle/>
          <a:p>
            <a:r>
              <a:rPr lang="en-US" sz="2000" b="1" dirty="0">
                <a:solidFill>
                  <a:srgbClr val="002060"/>
                </a:solidFill>
                <a:latin typeface="Calibri"/>
              </a:rPr>
              <a:t>Achieving Singapore-level mortality would require additional action on prevention (e.g., lead abatement, air pollution control) and treatment (novel CVD therapies)</a:t>
            </a:r>
            <a:endParaRPr sz="2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00000-0008-0000-1200-000002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358"/>
            <a:ext cx="7315200" cy="5486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5FD3-EA30-5127-702B-7406DE3B3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6B224-633E-6FCE-2DF9-D87998439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3. </a:t>
            </a:r>
            <a:r>
              <a:rPr lang="en-US" sz="4000" dirty="0">
                <a:solidFill>
                  <a:srgbClr val="002060"/>
                </a:solidFill>
              </a:rPr>
              <a:t>The financial risk protection implications of CVD are considerable</a:t>
            </a:r>
          </a:p>
        </p:txBody>
      </p:sp>
    </p:spTree>
    <p:extLst>
      <p:ext uri="{BB962C8B-B14F-4D97-AF65-F5344CB8AC3E}">
        <p14:creationId xmlns:p14="http://schemas.microsoft.com/office/powerpoint/2010/main" val="3653307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AB003-CFD3-3582-A548-2ABE98C3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C711B-001F-86E1-48DA-0C3E03DC8E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000" y="3028526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lack of financial risk protection associated with chronic care and acute events associated with CVD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number of cases of catastrophic health expenditures associated with out-of-pocket costs related to CVD care under different scenarios under JKN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16287D3-F664-2C6C-9B0A-C62D4C5022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2968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FINANCIAL CONSEQUENCES OF CVD FOR INDONESIAN HOUSEHOLDS?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F5CA97-21F5-EB58-3518-A64D53E1ED0D}"/>
              </a:ext>
            </a:extLst>
          </p:cNvPr>
          <p:cNvSpPr txBox="1">
            <a:spLocks/>
          </p:cNvSpPr>
          <p:nvPr/>
        </p:nvSpPr>
        <p:spPr>
          <a:xfrm>
            <a:off x="970973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439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95350" y="182881"/>
            <a:ext cx="10401300" cy="124957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Key finding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 1: 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C</a:t>
            </a:r>
            <a:r>
              <a:rPr sz="4000" dirty="0">
                <a:solidFill>
                  <a:srgbClr val="002060"/>
                </a:solidFill>
                <a:latin typeface="Calibri"/>
              </a:rPr>
              <a:t>hronic care</a:t>
            </a:r>
            <a:endParaRPr lang="en-US" sz="4000" dirty="0">
              <a:solidFill>
                <a:srgbClr val="002060"/>
              </a:solidFill>
              <a:latin typeface="Calibri"/>
            </a:endParaRP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1.3 million catastrophic cases per year = 8% of 15.6M patients in care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Two thirds of them in Q1 consumption quintile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D0C2C2-9C2E-29B1-DB83-CA246BE99AD7}"/>
              </a:ext>
            </a:extLst>
          </p:cNvPr>
          <p:cNvSpPr txBox="1"/>
          <p:nvPr/>
        </p:nvSpPr>
        <p:spPr>
          <a:xfrm>
            <a:off x="988730" y="1668960"/>
            <a:ext cx="10214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Calibri"/>
              </a:rPr>
              <a:t>Catastrophic health expenditure (CHE) cases</a:t>
            </a:r>
          </a:p>
          <a:p>
            <a:pPr algn="ctr"/>
            <a:r>
              <a:rPr lang="en-US" sz="2200" dirty="0">
                <a:solidFill>
                  <a:prstClr val="black"/>
                </a:solidFill>
                <a:latin typeface="Calibri"/>
              </a:rPr>
              <a:t>(OOP costs &gt; 10% of household expenditure) </a:t>
            </a:r>
            <a:r>
              <a:rPr lang="en-US" sz="2200" b="1" dirty="0">
                <a:solidFill>
                  <a:prstClr val="black"/>
                </a:solidFill>
                <a:latin typeface="Calibri"/>
              </a:rPr>
              <a:t>related to chronic care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A5DCC-9C19-68B2-046C-E00E96683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3"/>
          <a:stretch>
            <a:fillRect/>
          </a:stretch>
        </p:blipFill>
        <p:spPr>
          <a:xfrm>
            <a:off x="450000" y="2674907"/>
            <a:ext cx="7771337" cy="39330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CC56D-DA27-C2C0-1EE3-0710BC6CA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8452" b="75192"/>
          <a:stretch>
            <a:fillRect/>
          </a:stretch>
        </p:blipFill>
        <p:spPr>
          <a:xfrm>
            <a:off x="5441845" y="2637064"/>
            <a:ext cx="6002012" cy="17825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B577F-1D8D-AA6A-99E4-5809A22C40E7}"/>
              </a:ext>
            </a:extLst>
          </p:cNvPr>
          <p:cNvSpPr txBox="1"/>
          <p:nvPr/>
        </p:nvSpPr>
        <p:spPr>
          <a:xfrm>
            <a:off x="895350" y="119052"/>
            <a:ext cx="10401300" cy="155734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Key finding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 </a:t>
            </a:r>
            <a:r>
              <a:rPr lang="en-US" sz="4000" b="1" dirty="0">
                <a:solidFill>
                  <a:srgbClr val="002060"/>
                </a:solidFill>
                <a:latin typeface="Calibri"/>
              </a:rPr>
              <a:t>2</a:t>
            </a:r>
            <a:r>
              <a:rPr sz="4000" b="1" dirty="0">
                <a:solidFill>
                  <a:srgbClr val="002060"/>
                </a:solidFill>
                <a:latin typeface="Calibri"/>
              </a:rPr>
              <a:t>: 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Acute events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401,000 catastrophic admissions a year = 22% of all CVD admissions</a:t>
            </a:r>
          </a:p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62% of those in Q1</a:t>
            </a:r>
          </a:p>
          <a:p>
            <a:pPr algn="ctr"/>
            <a:endParaRPr lang="en-US" sz="200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5BD4E5-EBF3-5C8D-A0AD-AFB7383F0CC8}"/>
              </a:ext>
            </a:extLst>
          </p:cNvPr>
          <p:cNvSpPr txBox="1"/>
          <p:nvPr/>
        </p:nvSpPr>
        <p:spPr>
          <a:xfrm>
            <a:off x="936016" y="1371601"/>
            <a:ext cx="102145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prstClr val="black"/>
                </a:solidFill>
                <a:latin typeface="Calibri"/>
              </a:rPr>
              <a:t>Catastrophic health expenditure (CHE) cases</a:t>
            </a:r>
          </a:p>
          <a:p>
            <a:pPr algn="ctr"/>
            <a:r>
              <a:rPr lang="en-US" sz="2200" dirty="0">
                <a:solidFill>
                  <a:prstClr val="black"/>
                </a:solidFill>
                <a:latin typeface="Calibri"/>
              </a:rPr>
              <a:t>(OOP costs &gt; 10% of household expenditure) </a:t>
            </a:r>
            <a:r>
              <a:rPr lang="en-US" sz="2200" b="1" dirty="0">
                <a:solidFill>
                  <a:prstClr val="black"/>
                </a:solidFill>
                <a:latin typeface="Calibri"/>
              </a:rPr>
              <a:t>related to acute care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54769-6195-A893-0AFE-3089AE817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0" b="4126"/>
          <a:stretch>
            <a:fillRect/>
          </a:stretch>
        </p:blipFill>
        <p:spPr>
          <a:xfrm>
            <a:off x="450000" y="2270345"/>
            <a:ext cx="8529230" cy="4337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58EC36-4592-0782-1328-865EEE1A6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7" t="7961" b="75683"/>
          <a:stretch>
            <a:fillRect/>
          </a:stretch>
        </p:blipFill>
        <p:spPr>
          <a:xfrm>
            <a:off x="5033704" y="2320622"/>
            <a:ext cx="6554726" cy="19466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3950-B30D-D892-8B46-477E43B9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BB5B91-C2E2-2508-C3AC-BDFD5433E03A}"/>
              </a:ext>
            </a:extLst>
          </p:cNvPr>
          <p:cNvSpPr txBox="1"/>
          <p:nvPr/>
        </p:nvSpPr>
        <p:spPr>
          <a:xfrm>
            <a:off x="772086" y="152400"/>
            <a:ext cx="10344685" cy="223445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Calibri"/>
              </a:rPr>
              <a:t>Brief summary</a:t>
            </a:r>
            <a:r>
              <a:rPr lang="en-US" sz="4000" dirty="0">
                <a:solidFill>
                  <a:srgbClr val="002060"/>
                </a:solidFill>
                <a:latin typeface="Calibri"/>
              </a:rPr>
              <a:t>: Four scenarios and corresponding catastrophic health expenditure (CHE)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  <a:latin typeface="Calibri"/>
              </a:rPr>
              <a:t>R</a:t>
            </a:r>
            <a:r>
              <a:rPr sz="2400" dirty="0">
                <a:solidFill>
                  <a:srgbClr val="002060"/>
                </a:solidFill>
                <a:latin typeface="Calibri"/>
              </a:rPr>
              <a:t>ais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ing</a:t>
            </a:r>
            <a:r>
              <a:rPr sz="2400" dirty="0">
                <a:solidFill>
                  <a:srgbClr val="002060"/>
                </a:solidFill>
                <a:latin typeface="Calibri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coverage</a:t>
            </a:r>
            <a:r>
              <a:rPr sz="2400" dirty="0">
                <a:solidFill>
                  <a:srgbClr val="002060"/>
                </a:solidFill>
                <a:latin typeface="Calibri"/>
              </a:rPr>
              <a:t> toward </a:t>
            </a:r>
            <a:r>
              <a:rPr lang="en-US" sz="2400" dirty="0">
                <a:solidFill>
                  <a:srgbClr val="002060"/>
                </a:solidFill>
                <a:latin typeface="Calibri"/>
              </a:rPr>
              <a:t>original policy </a:t>
            </a:r>
            <a:r>
              <a:rPr sz="2400" dirty="0">
                <a:solidFill>
                  <a:srgbClr val="002060"/>
                </a:solidFill>
                <a:latin typeface="Calibri"/>
              </a:rPr>
              <a:t>design</a:t>
            </a:r>
            <a:endParaRPr lang="en-US" sz="2400" dirty="0">
              <a:solidFill>
                <a:srgbClr val="002060"/>
              </a:solidFill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09376-CA8A-B1AB-E96B-70926B71B931}"/>
              </a:ext>
            </a:extLst>
          </p:cNvPr>
          <p:cNvGraphicFramePr>
            <a:graphicFrameLocks noGrp="1"/>
          </p:cNvGraphicFramePr>
          <p:nvPr/>
        </p:nvGraphicFramePr>
        <p:xfrm>
          <a:off x="450000" y="2718816"/>
          <a:ext cx="10988856" cy="287121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020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8636">
                  <a:extLst>
                    <a:ext uri="{9D8B030D-6E8A-4147-A177-3AD203B41FA5}">
                      <a16:colId xmlns:a16="http://schemas.microsoft.com/office/drawing/2014/main" val="295347845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Scenario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National average c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overage
chronic / acute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Chronic CHE
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Acute CHE
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/>
                        </a:rPr>
                        <a:t>Total CHE cases per year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S1.  Current coverage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40%  /  54%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1,316,821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401,099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1,717,920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S2.  One quarter of the gap closed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53%  /  64%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982,559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248,508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1,231,067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tx1"/>
                          </a:solidFill>
                        </a:rPr>
                        <a:t>S3.  Half the gap closed</a:t>
                      </a:r>
                      <a:endParaRPr sz="1800" b="1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67%  /  75%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652,988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133,623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786,611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S4.  Policy design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coverage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</a:rPr>
                        <a:t> fully delivered</a:t>
                      </a:r>
                      <a:endParaRPr sz="18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100%  /  100%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chemeClr val="tx1"/>
                          </a:solidFill>
                        </a:rPr>
                        <a:t>0</a:t>
                      </a:r>
                      <a:endParaRPr sz="1800" b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  <a:endParaRPr sz="18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64008" marR="64008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F86130-7BBF-CF57-6E7F-F729B131EA37}"/>
              </a:ext>
            </a:extLst>
          </p:cNvPr>
          <p:cNvSpPr txBox="1"/>
          <p:nvPr/>
        </p:nvSpPr>
        <p:spPr>
          <a:xfrm>
            <a:off x="1207852" y="6315310"/>
            <a:ext cx="9776296" cy="264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sz="1600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sz="1600" dirty="0">
                <a:solidFill>
                  <a:prstClr val="black"/>
                </a:solidFill>
                <a:latin typeface="Calibri"/>
              </a:rPr>
              <a:t>C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HE c</a:t>
            </a:r>
            <a:r>
              <a:rPr sz="1600" dirty="0">
                <a:solidFill>
                  <a:prstClr val="black"/>
                </a:solidFill>
                <a:latin typeface="Calibri"/>
              </a:rPr>
              <a:t>ases per year at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a</a:t>
            </a:r>
            <a:r>
              <a:rPr sz="1600" dirty="0">
                <a:solidFill>
                  <a:prstClr val="black"/>
                </a:solidFill>
                <a:latin typeface="Calibri"/>
              </a:rPr>
              <a:t> 10% threshold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 of annual consumption expenditures</a:t>
            </a:r>
            <a:endParaRPr sz="16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85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7C00C-B69F-4C00-8EE8-74864503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D423F-4074-A449-296F-6D87592EC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667001"/>
            <a:ext cx="10287000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Message 4</a:t>
            </a:r>
            <a:r>
              <a:rPr lang="en-US" sz="4000" dirty="0">
                <a:solidFill>
                  <a:srgbClr val="002060"/>
                </a:solidFill>
              </a:rPr>
              <a:t>. Tobacco tax hikes have a pro-poor impact &amp; bring large fiscal revenues</a:t>
            </a:r>
          </a:p>
        </p:txBody>
      </p:sp>
    </p:spTree>
    <p:extLst>
      <p:ext uri="{BB962C8B-B14F-4D97-AF65-F5344CB8AC3E}">
        <p14:creationId xmlns:p14="http://schemas.microsoft.com/office/powerpoint/2010/main" val="3670903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5412-1504-A191-41E1-825D8A37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AE6D8-4002-1505-B132-EE6C37AB65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4271" y="3028526"/>
            <a:ext cx="10623726" cy="3372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u="sng" dirty="0">
                <a:latin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: To estimate the health gains, financial risk protection benefits, and fiscal revenues raised with different scenarios of increased tobacco taxes</a:t>
            </a:r>
          </a:p>
          <a:p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We assess the distributional impact on mortality reduction, on reducing the number of cases of catastrophic health expenditures associated with out-of-pocket costs related to treatment of tobacco-related diseases, and the revenues raised</a:t>
            </a:r>
          </a:p>
          <a:p>
            <a:endParaRPr lang="en-US" sz="2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CCC0DA87-578B-F359-CB39-CCE24B3E2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240" y="1321304"/>
            <a:ext cx="10220257" cy="4312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2060"/>
                </a:solidFill>
              </a:rPr>
              <a:t>question: </a:t>
            </a:r>
            <a:r>
              <a:rPr lang="en-US" sz="3600" dirty="0">
                <a:solidFill>
                  <a:srgbClr val="002060"/>
                </a:solidFill>
              </a:rPr>
              <a:t>What are the health and financial consequences of increased tobacco taxes in Indonesia?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6031C42-A509-3706-7F2B-9D201C906E3C}"/>
              </a:ext>
            </a:extLst>
          </p:cNvPr>
          <p:cNvSpPr txBox="1">
            <a:spLocks/>
          </p:cNvSpPr>
          <p:nvPr/>
        </p:nvSpPr>
        <p:spPr>
          <a:xfrm>
            <a:off x="1015245" y="5194642"/>
            <a:ext cx="9691763" cy="595719"/>
          </a:xfrm>
          <a:prstGeom prst="rect">
            <a:avLst/>
          </a:prstGeom>
        </p:spPr>
        <p:txBody>
          <a:bodyPr vert="horz" lIns="34299" tIns="17149" rIns="34299" bIns="17149" rtlCol="0">
            <a:normAutofit/>
          </a:bodyPr>
          <a:lstStyle>
            <a:lvl1pPr marL="0" indent="0" algn="l" defTabSz="1828343" rtl="0" eaLnBrk="1" latinLnBrk="0" hangingPunct="1">
              <a:lnSpc>
                <a:spcPct val="120000"/>
              </a:lnSpc>
              <a:spcBef>
                <a:spcPts val="2000"/>
              </a:spcBef>
              <a:spcAft>
                <a:spcPts val="800"/>
              </a:spcAft>
              <a:buFont typeface="Arial" panose="020B0604020202020204" pitchFamily="34" charset="0"/>
              <a:buNone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1863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•"/>
              <a:tabLst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675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85000"/>
              <a:buFont typeface="System Font Regular"/>
              <a:buChar char="○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57488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Font typeface="System Font Regular"/>
              <a:buChar char="▸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70300" indent="-476250" algn="l" defTabSz="1828343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800"/>
              </a:spcAft>
              <a:buSzPct val="110000"/>
              <a:buFont typeface="System Font Regular"/>
              <a:buChar char="−"/>
              <a:tabLst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7943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114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286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457" indent="-457086" algn="l" defTabSz="182834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>
              <a:solidFill>
                <a:prstClr val="black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189BB-157D-8BC6-3512-E2766A4A6ADD}"/>
              </a:ext>
            </a:extLst>
          </p:cNvPr>
          <p:cNvSpPr txBox="1"/>
          <p:nvPr/>
        </p:nvSpPr>
        <p:spPr>
          <a:xfrm>
            <a:off x="450000" y="6248402"/>
            <a:ext cx="1085849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000000"/>
                </a:solidFill>
                <a:latin typeface="Calibri"/>
              </a:rPr>
              <a:t>Adapted from: </a:t>
            </a:r>
            <a:r>
              <a:rPr lang="en-US" sz="1700" dirty="0" err="1">
                <a:solidFill>
                  <a:srgbClr val="000000"/>
                </a:solidFill>
                <a:latin typeface="Calibri"/>
              </a:rPr>
              <a:t>Lisus</a:t>
            </a:r>
            <a:r>
              <a:rPr lang="en-US" sz="1700" dirty="0">
                <a:solidFill>
                  <a:srgbClr val="000000"/>
                </a:solidFill>
                <a:latin typeface="Calibri"/>
              </a:rPr>
              <a:t>, Roy, et al. Forthcoming; Verguet, Gauvreau et al. </a:t>
            </a:r>
            <a:r>
              <a:rPr lang="en-US" sz="1700" i="1" dirty="0">
                <a:solidFill>
                  <a:srgbClr val="000000"/>
                </a:solidFill>
                <a:latin typeface="Calibri"/>
              </a:rPr>
              <a:t>Lancet Global Health </a:t>
            </a:r>
            <a:r>
              <a:rPr lang="en-US" sz="1700" dirty="0">
                <a:solidFill>
                  <a:srgbClr val="000000"/>
                </a:solidFill>
                <a:latin typeface="Calibri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453036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FC02AF0-CB29-32D4-BE71-93B3B9F09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498141" y="1855948"/>
            <a:ext cx="8115485" cy="38190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507" y="162903"/>
            <a:ext cx="11014986" cy="1150000"/>
          </a:xfrm>
        </p:spPr>
        <p:txBody>
          <a:bodyPr>
            <a:noAutofit/>
          </a:bodyPr>
          <a:lstStyle/>
          <a:p>
            <a:pPr algn="ctr"/>
            <a:r>
              <a:rPr lang="en-US" sz="4200" b="1" dirty="0"/>
              <a:t>Key finding</a:t>
            </a:r>
            <a:r>
              <a:rPr sz="4200" b="1" dirty="0"/>
              <a:t> 1: </a:t>
            </a:r>
            <a:r>
              <a:rPr lang="en-US" sz="4200" dirty="0"/>
              <a:t>H</a:t>
            </a:r>
            <a:r>
              <a:rPr sz="4200" dirty="0"/>
              <a:t>ealth gains</a:t>
            </a:r>
            <a:r>
              <a:rPr lang="en-US" sz="4200" dirty="0"/>
              <a:t> are large &amp; pro-poor </a:t>
            </a:r>
            <a:br>
              <a:rPr lang="en-US" sz="4200" dirty="0"/>
            </a:br>
            <a:r>
              <a:rPr sz="3000" dirty="0"/>
              <a:t>724,000 premature deaths averted</a:t>
            </a:r>
            <a:r>
              <a:rPr lang="en-US" sz="3000" dirty="0"/>
              <a:t>; 60</a:t>
            </a:r>
            <a:r>
              <a:rPr sz="3000" dirty="0"/>
              <a:t>% in</a:t>
            </a:r>
            <a:r>
              <a:rPr lang="en-US" sz="3000" dirty="0"/>
              <a:t> Q1 &amp; Q2</a:t>
            </a:r>
            <a:endParaRPr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450000" y="5715001"/>
            <a:ext cx="107077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alibri"/>
              </a:rPr>
              <a:t>Note: </a:t>
            </a:r>
            <a:r>
              <a:rPr sz="1600" dirty="0">
                <a:solidFill>
                  <a:srgbClr val="000000"/>
                </a:solidFill>
                <a:latin typeface="Calibri"/>
              </a:rPr>
              <a:t>19 tobacco-related conditions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(incl. </a:t>
            </a:r>
            <a:r>
              <a:rPr sz="1600" dirty="0">
                <a:solidFill>
                  <a:srgbClr val="000000"/>
                </a:solidFill>
                <a:latin typeface="Calibri"/>
              </a:rPr>
              <a:t>cardiovascular 58%, COPD 15%, lung cancer 14%, diabetes 5%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)</a:t>
            </a:r>
            <a:r>
              <a:rPr sz="1600" dirty="0">
                <a:solidFill>
                  <a:srgbClr val="000000"/>
                </a:solidFill>
                <a:latin typeface="Calibri"/>
              </a:rPr>
              <a:t> covering 85% of Indonesia's smoking-attributable deaths;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 tuberculosis and respiratory infections not yet included, so this is conservative. 95% uncertainty intervals (n= 2,000 Monte Carlo draws). </a:t>
            </a:r>
            <a:endParaRPr sz="160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6DE0A3-9829-D8B1-A844-E0F888DBF0C7}"/>
              </a:ext>
            </a:extLst>
          </p:cNvPr>
          <p:cNvSpPr txBox="1"/>
          <p:nvPr/>
        </p:nvSpPr>
        <p:spPr>
          <a:xfrm>
            <a:off x="6361783" y="2438401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C1BC2B-FF21-A40D-149E-553C426981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90" b="8152"/>
          <a:stretch>
            <a:fillRect/>
          </a:stretch>
        </p:blipFill>
        <p:spPr>
          <a:xfrm>
            <a:off x="450000" y="1821995"/>
            <a:ext cx="8430021" cy="39670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4515" y="5829065"/>
            <a:ext cx="10287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Calibri"/>
              </a:rPr>
              <a:t>Note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: Catastrophic health expenditure (CHE) cases defined as an out-of-pocket payment above 10% of annual household consumption expenditure.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95% uncertainty intervals (n= 2,000 Monte Carlo draws). 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5FF4CF-68A2-D02D-F7AD-E424C7C63B97}"/>
              </a:ext>
            </a:extLst>
          </p:cNvPr>
          <p:cNvSpPr txBox="1">
            <a:spLocks/>
          </p:cNvSpPr>
          <p:nvPr/>
        </p:nvSpPr>
        <p:spPr>
          <a:xfrm>
            <a:off x="860242" y="415747"/>
            <a:ext cx="10471516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200" b="1" dirty="0">
                <a:latin typeface="Calibri"/>
              </a:rPr>
              <a:t>Key finding 2: </a:t>
            </a:r>
            <a:r>
              <a:rPr lang="en-US" sz="4200" dirty="0">
                <a:latin typeface="Calibri"/>
              </a:rPr>
              <a:t>Financial protection gains are large &amp; pro-poor</a:t>
            </a:r>
            <a:br>
              <a:rPr lang="en-US" dirty="0">
                <a:latin typeface="Calibri"/>
              </a:rPr>
            </a:br>
            <a:r>
              <a:rPr lang="en-US" sz="3000" dirty="0">
                <a:latin typeface="Calibri"/>
              </a:rPr>
              <a:t>577,000 catastrophic cases averted, 82% in Q1 &amp; 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9D066-6307-6CED-F955-B4B052DB90A0}"/>
              </a:ext>
            </a:extLst>
          </p:cNvPr>
          <p:cNvSpPr txBox="1"/>
          <p:nvPr/>
        </p:nvSpPr>
        <p:spPr>
          <a:xfrm>
            <a:off x="6313642" y="2438401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FA83F2B-0FEC-3AA3-8513-74EC79C90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93" b="11847"/>
          <a:stretch>
            <a:fillRect/>
          </a:stretch>
        </p:blipFill>
        <p:spPr>
          <a:xfrm>
            <a:off x="473230" y="2119927"/>
            <a:ext cx="8824367" cy="37860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75" y="426882"/>
            <a:ext cx="10763250" cy="1150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700" b="1" dirty="0"/>
              <a:t>Key finding 3</a:t>
            </a:r>
            <a:r>
              <a:rPr sz="4700" dirty="0"/>
              <a:t>: </a:t>
            </a:r>
            <a:r>
              <a:rPr lang="en-US" sz="4700" dirty="0"/>
              <a:t>F</a:t>
            </a:r>
            <a:r>
              <a:rPr sz="4700" dirty="0"/>
              <a:t>iscal </a:t>
            </a:r>
            <a:r>
              <a:rPr lang="en-US" sz="4700" dirty="0"/>
              <a:t>revenues raised are large &amp; accrue among the rich</a:t>
            </a:r>
            <a:br>
              <a:rPr sz="4700" dirty="0"/>
            </a:br>
            <a:r>
              <a:rPr lang="en-US" sz="3300" dirty="0"/>
              <a:t>R</a:t>
            </a:r>
            <a:r>
              <a:rPr sz="3300" dirty="0"/>
              <a:t>evenue</a:t>
            </a:r>
            <a:r>
              <a:rPr lang="en-US" sz="3300" dirty="0"/>
              <a:t>s</a:t>
            </a:r>
            <a:r>
              <a:rPr sz="3300" dirty="0"/>
              <a:t> rise </a:t>
            </a:r>
            <a:r>
              <a:rPr lang="en-US" sz="3300" dirty="0"/>
              <a:t>by </a:t>
            </a:r>
            <a:r>
              <a:rPr sz="3300" dirty="0"/>
              <a:t>31%</a:t>
            </a:r>
            <a:r>
              <a:rPr lang="en-US" sz="3300" dirty="0"/>
              <a:t>; Q5 pays 27% of it</a:t>
            </a:r>
            <a:endParaRPr sz="33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0E0B7-C270-08DD-31A4-AC67F8524B02}"/>
              </a:ext>
            </a:extLst>
          </p:cNvPr>
          <p:cNvSpPr txBox="1"/>
          <p:nvPr/>
        </p:nvSpPr>
        <p:spPr>
          <a:xfrm>
            <a:off x="2095227" y="2206336"/>
            <a:ext cx="4594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Calibri"/>
              </a:rPr>
              <a:t>50% increase in excise 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A7DF6-1F8C-0D1B-6A7C-ACB6BF785796}"/>
              </a:ext>
            </a:extLst>
          </p:cNvPr>
          <p:cNvSpPr txBox="1"/>
          <p:nvPr/>
        </p:nvSpPr>
        <p:spPr>
          <a:xfrm>
            <a:off x="450000" y="5945974"/>
            <a:ext cx="1108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Calibri"/>
              </a:rPr>
              <a:t>Note: </a:t>
            </a:r>
            <a:r>
              <a:rPr lang="en-US" sz="1600" dirty="0">
                <a:solidFill>
                  <a:prstClr val="black"/>
                </a:solidFill>
                <a:latin typeface="Calibri"/>
              </a:rPr>
              <a:t>National total IDR 72T per year. An annual flow in a single steady-state year, not a lifetime total. In US dollars: Q1 480, Q2 717, Q3 947, Q4 1,169, Q5 1,209 million; total US$4,522 million per year. </a:t>
            </a:r>
            <a:r>
              <a:rPr lang="en-US" sz="1600" dirty="0">
                <a:solidFill>
                  <a:srgbClr val="000000"/>
                </a:solidFill>
                <a:latin typeface="Calibri"/>
              </a:rPr>
              <a:t>95% uncertainty intervals (n= 2,000 Monte Carlo draws). 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D12A-EBC0-AB06-6707-1CDDD9AF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65C4-3362-242E-395B-1590329D8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364" y="2514601"/>
            <a:ext cx="9525273" cy="15239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</a:rPr>
              <a:t>Part 2. Plans for capacity-building for BKPK modeling unit</a:t>
            </a:r>
          </a:p>
        </p:txBody>
      </p:sp>
    </p:spTree>
    <p:extLst>
      <p:ext uri="{BB962C8B-B14F-4D97-AF65-F5344CB8AC3E}">
        <p14:creationId xmlns:p14="http://schemas.microsoft.com/office/powerpoint/2010/main" val="911414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373B-B8C8-07FF-BFB9-AB3D4EE7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0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Overview of training program modules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D13B5-695F-CB63-04E8-BF0F9D2EEF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79"/>
            <a:ext cx="10518339" cy="4659285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Foundational lectures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Introduction to health economics and economic evaluation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Decision analysis and mathematical modeling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Equity and financial protection metrics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Extended cost-effectiveness analysis</a:t>
            </a:r>
          </a:p>
          <a:p>
            <a:r>
              <a:rPr lang="en-US" b="1" dirty="0"/>
              <a:t>Training on Indonesia CVD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Economic value of avoidable mortality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Orientation to demographic-epidemiological model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Clinical intervention modeling (cost-effectiveness)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Tobacco and other risk factor modeling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Financial protection modeling</a:t>
            </a:r>
          </a:p>
        </p:txBody>
      </p:sp>
    </p:spTree>
    <p:extLst>
      <p:ext uri="{BB962C8B-B14F-4D97-AF65-F5344CB8AC3E}">
        <p14:creationId xmlns:p14="http://schemas.microsoft.com/office/powerpoint/2010/main" val="3978226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E6EB1-54A6-4752-A13D-E880CBDEE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8F46-2AFD-B05D-8162-4F333E90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95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Proposed structure of each module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6819E-028E-9E33-5029-DECB9EC19F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6895" y="1783079"/>
            <a:ext cx="10518339" cy="4659285"/>
          </a:xfrm>
        </p:spPr>
        <p:txBody>
          <a:bodyPr>
            <a:normAutofit/>
          </a:bodyPr>
          <a:lstStyle/>
          <a:p>
            <a:r>
              <a:rPr lang="en-US" dirty="0"/>
              <a:t>45-minute lecture</a:t>
            </a:r>
          </a:p>
          <a:p>
            <a:r>
              <a:rPr lang="en-US" dirty="0"/>
              <a:t>15-minute Q&amp;A</a:t>
            </a:r>
          </a:p>
          <a:p>
            <a:r>
              <a:rPr lang="en-US" dirty="0"/>
              <a:t>Break</a:t>
            </a:r>
          </a:p>
          <a:p>
            <a:r>
              <a:rPr lang="en-US" dirty="0"/>
              <a:t>30-min hands-on exercise</a:t>
            </a:r>
          </a:p>
          <a:p>
            <a:r>
              <a:rPr lang="en-US" dirty="0"/>
              <a:t>30-min group discussion and feedback</a:t>
            </a:r>
          </a:p>
        </p:txBody>
      </p:sp>
    </p:spTree>
    <p:extLst>
      <p:ext uri="{BB962C8B-B14F-4D97-AF65-F5344CB8AC3E}">
        <p14:creationId xmlns:p14="http://schemas.microsoft.com/office/powerpoint/2010/main" val="181403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E5CC-5A23-8D40-AE4B-EF5523F5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9220-18BF-444A-8FAC-19BA79BB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958" y="270164"/>
            <a:ext cx="10518339" cy="914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Proposed timeline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5DAB438-7679-0F72-291B-732379FCCD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6222204"/>
              </p:ext>
            </p:extLst>
          </p:nvPr>
        </p:nvGraphicFramePr>
        <p:xfrm>
          <a:off x="685116" y="1241904"/>
          <a:ext cx="1082176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8511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3DB5-5456-121E-33D7-5DC0DE587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3429000"/>
            <a:ext cx="10382250" cy="114300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Thank you</a:t>
            </a:r>
          </a:p>
        </p:txBody>
      </p:sp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C9BAC3AD-9767-334A-FAC4-2407F71CEE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" y="457200"/>
            <a:ext cx="4393042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99322"/>
      </p:ext>
    </p:extLst>
  </p:cSld>
  <p:clrMapOvr>
    <a:masterClrMapping/>
  </p:clrMapOvr>
</p:sld>
</file>

<file path=ppt/theme/theme1.xml><?xml version="1.0" encoding="utf-8"?>
<a:theme xmlns:a="http://schemas.openxmlformats.org/drawingml/2006/main" name="KRP_v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CP3 PPT Template_NEW.pptx" id="{57DC6CDC-E007-4880-AC95-23CAB42ACB6E}" vid="{EF819FD4-7F74-4B6C-80CE-FF69E1896A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2337</Words>
  <Application>Microsoft Office PowerPoint</Application>
  <PresentationFormat>Widescreen</PresentationFormat>
  <Paragraphs>245</Paragraphs>
  <Slides>29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KRP_v2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Framework for projecting the mortality impact and cost of achieving a 70-70-70 target for CVD prevention</vt:lpstr>
      <vt:lpstr>Achieving 70-70-70 lowers premature mortality at a rising but bounded cost</vt:lpstr>
      <vt:lpstr>Other interventions can add impact (and cost) to the  70-70-70 agenda</vt:lpstr>
      <vt:lpstr>Tobacco control policies would add significant impact to the clinical intervention packages </vt:lpstr>
      <vt:lpstr>Implementation of clinical interventions and tobacco control could get Indonesia close to Malaysia’s CV mortality by 2050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 1: Health gains are large &amp; pro-poor  724,000 premature deaths averted; 60% in Q1 &amp; Q2</vt:lpstr>
      <vt:lpstr>PowerPoint Presentation</vt:lpstr>
      <vt:lpstr>Key finding 3: Fiscal revenues raised are large &amp; accrue among the rich Revenues rise by 31%; Q5 pays 27% of it</vt:lpstr>
      <vt:lpstr>PowerPoint Presentation</vt:lpstr>
      <vt:lpstr>Overview of training program modules</vt:lpstr>
      <vt:lpstr>Proposed structure of each module</vt:lpstr>
      <vt:lpstr>Proposed timeline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Key Messages from DCP Indonesia</dc:title>
  <dc:subject>DCP Indonesia key messages, minimum 18-point font</dc:subject>
  <dc:creator>Victoria Fan</dc:creator>
  <cp:lastModifiedBy>William R Garcia</cp:lastModifiedBy>
  <cp:revision>19</cp:revision>
  <dcterms:created xsi:type="dcterms:W3CDTF">2026-08-31T03:17:19Z</dcterms:created>
  <dcterms:modified xsi:type="dcterms:W3CDTF">2026-08-31T23:30:54Z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608d83-f952-409d-b7c5-456515bbbf5a_Enabled">
    <vt:lpwstr>true</vt:lpwstr>
  </property>
  <property fmtid="{D5CDD505-2E9C-101B-9397-08002B2CF9AE}" pid="3" name="MSIP_Label_89608d83-f952-409d-b7c5-456515bbbf5a_SetDate">
    <vt:lpwstr>2026-08-31T03:42:55Z</vt:lpwstr>
  </property>
  <property fmtid="{D5CDD505-2E9C-101B-9397-08002B2CF9AE}" pid="4" name="MSIP_Label_89608d83-f952-409d-b7c5-456515bbbf5a_Method">
    <vt:lpwstr>Privileged</vt:lpwstr>
  </property>
  <property fmtid="{D5CDD505-2E9C-101B-9397-08002B2CF9AE}" pid="5" name="MSIP_Label_89608d83-f952-409d-b7c5-456515bbbf5a_Name">
    <vt:lpwstr>Public</vt:lpwstr>
  </property>
  <property fmtid="{D5CDD505-2E9C-101B-9397-08002B2CF9AE}" pid="6" name="MSIP_Label_89608d83-f952-409d-b7c5-456515bbbf5a_SiteId">
    <vt:lpwstr>31a2fec0-266b-4c67-b56e-2796d8f59c36</vt:lpwstr>
  </property>
  <property fmtid="{D5CDD505-2E9C-101B-9397-08002B2CF9AE}" pid="7" name="MSIP_Label_89608d83-f952-409d-b7c5-456515bbbf5a_ActionId">
    <vt:lpwstr>38855dea-99e9-436e-be37-7ee10e530694</vt:lpwstr>
  </property>
  <property fmtid="{D5CDD505-2E9C-101B-9397-08002B2CF9AE}" pid="8" name="MSIP_Label_89608d83-f952-409d-b7c5-456515bbbf5a_ContentBits">
    <vt:lpwstr>0</vt:lpwstr>
  </property>
  <property fmtid="{D5CDD505-2E9C-101B-9397-08002B2CF9AE}" pid="9" name="MSIP_Label_89608d83-f952-409d-b7c5-456515bbbf5a_Tag">
    <vt:lpwstr>10, 0, 1, 1</vt:lpwstr>
  </property>
</Properties>
</file>