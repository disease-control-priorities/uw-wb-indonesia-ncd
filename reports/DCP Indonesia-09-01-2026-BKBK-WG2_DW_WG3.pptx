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F1C7_5E32C239.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35"/>
  </p:notesMasterIdLst>
  <p:sldIdLst>
    <p:sldId id="2735" r:id="rId2"/>
    <p:sldId id="2147480010" r:id="rId3"/>
    <p:sldId id="2147480007" r:id="rId4"/>
    <p:sldId id="575" r:id="rId5"/>
    <p:sldId id="3456" r:id="rId6"/>
    <p:sldId id="2147480008" r:id="rId7"/>
    <p:sldId id="2147479951" r:id="rId8"/>
    <p:sldId id="2147479948" r:id="rId9"/>
    <p:sldId id="2147480009" r:id="rId10"/>
    <p:sldId id="277" r:id="rId11"/>
    <p:sldId id="278" r:id="rId12"/>
    <p:sldId id="2147479960" r:id="rId13"/>
    <p:sldId id="263" r:id="rId14"/>
    <p:sldId id="275" r:id="rId15"/>
    <p:sldId id="2147479996" r:id="rId16"/>
    <p:sldId id="285" r:id="rId17"/>
    <p:sldId id="2147479995" r:id="rId18"/>
    <p:sldId id="286" r:id="rId19"/>
    <p:sldId id="2147479949" r:id="rId20"/>
    <p:sldId id="2147479990" r:id="rId21"/>
    <p:sldId id="2147479977" r:id="rId22"/>
    <p:sldId id="2147479978" r:id="rId23"/>
    <p:sldId id="2147479991" r:id="rId24"/>
    <p:sldId id="2147479959" r:id="rId25"/>
    <p:sldId id="2147479993" r:id="rId26"/>
    <p:sldId id="2147479999" r:id="rId27"/>
    <p:sldId id="2147480000" r:id="rId28"/>
    <p:sldId id="2147480001" r:id="rId29"/>
    <p:sldId id="2147480011" r:id="rId30"/>
    <p:sldId id="2147480004" r:id="rId31"/>
    <p:sldId id="2147480005" r:id="rId32"/>
    <p:sldId id="2147480006" r:id="rId33"/>
    <p:sldId id="2147479776"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BF10D7-2384-48B1-80F7-59184E0F9E56}">
          <p14:sldIdLst/>
        </p14:section>
        <p14:section name="Default Section" id="{1106B37B-E629-8247-A53F-53A9397BE13B}">
          <p14:sldIdLst>
            <p14:sldId id="2735"/>
            <p14:sldId id="2147480010"/>
            <p14:sldId id="2147480007"/>
          </p14:sldIdLst>
        </p14:section>
        <p14:section name="Default Section" id="{10D93067-51E5-7548-980D-BF589F3DDB4A}">
          <p14:sldIdLst>
            <p14:sldId id="575"/>
            <p14:sldId id="3456"/>
            <p14:sldId id="2147480008"/>
            <p14:sldId id="2147479951"/>
          </p14:sldIdLst>
        </p14:section>
        <p14:section name="Main Slide Layouts" id="{54EEB197-12CA-EF49-B4C4-9F0D1A644478}">
          <p14:sldIdLst>
            <p14:sldId id="2147479948"/>
            <p14:sldId id="2147480009"/>
            <p14:sldId id="277"/>
            <p14:sldId id="278"/>
            <p14:sldId id="2147479960"/>
            <p14:sldId id="263"/>
            <p14:sldId id="275"/>
            <p14:sldId id="2147479996"/>
            <p14:sldId id="285"/>
            <p14:sldId id="2147479995"/>
            <p14:sldId id="286"/>
            <p14:sldId id="2147479949"/>
            <p14:sldId id="2147479990"/>
            <p14:sldId id="2147479977"/>
            <p14:sldId id="2147479978"/>
            <p14:sldId id="2147479991"/>
            <p14:sldId id="2147479959"/>
            <p14:sldId id="2147479993"/>
            <p14:sldId id="2147479999"/>
            <p14:sldId id="2147480000"/>
            <p14:sldId id="2147480001"/>
            <p14:sldId id="2147480011"/>
            <p14:sldId id="2147480004"/>
            <p14:sldId id="2147480005"/>
            <p14:sldId id="2147480006"/>
            <p14:sldId id="2147479776"/>
          </p14:sldIdLst>
        </p14:section>
        <p14:section name="Main Slide Layouts" id="{B5AC7A25-30D3-B746-A28C-D272C5E1855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74E3A4E-7BCE-4BCB-F38E-75B11891CB0F}" name="William R Garcia" initials="WG" userId="S::wrgg@uw.edu::52698913-8803-44d0-b81a-d207944fdb38" providerId="AD"/>
  <p188:author id="{6A50C6EB-9A69-A5A2-AC2E-0E111777E240}" name="Verguet, Stéphane" initials="SV" userId="S::verguet@hsph.harvard.edu::df35d26a-4906-4d1b-8e79-7ecad4eec6b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68ED3-DDA1-47A8-9E5F-C878096AFB52}" v="9" dt="2026-09-01T16:30:59.429"/>
    <p1510:client id="{B5390C65-609F-4140-BBD1-FC14C13842A6}" v="5" dt="2026-09-01T02:11:23.600"/>
    <p1510:client id="{FD4D20A0-4765-4B7E-8FCF-4CAF2000E237}" v="2" dt="2026-08-31T23:30:44.4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27"/>
    <p:restoredTop sz="95033" autoAdjust="0"/>
  </p:normalViewPr>
  <p:slideViewPr>
    <p:cSldViewPr snapToGrid="0" snapToObjects="1">
      <p:cViewPr varScale="1">
        <p:scale>
          <a:sx n="75" d="100"/>
          <a:sy n="75" d="100"/>
        </p:scale>
        <p:origin x="7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 Garcia" userId="52698913-8803-44d0-b81a-d207944fdb38" providerId="ADAL" clId="{2E18606C-B16D-48DE-A10F-40DC70145920}"/>
    <pc:docChg chg="custSel addSld delSld modSld modSection">
      <pc:chgData name="William R Garcia" userId="52698913-8803-44d0-b81a-d207944fdb38" providerId="ADAL" clId="{2E18606C-B16D-48DE-A10F-40DC70145920}" dt="2026-09-01T16:31:14.951" v="128" actId="729"/>
      <pc:docMkLst>
        <pc:docMk/>
      </pc:docMkLst>
      <pc:sldChg chg="add del">
        <pc:chgData name="William R Garcia" userId="52698913-8803-44d0-b81a-d207944fdb38" providerId="ADAL" clId="{2E18606C-B16D-48DE-A10F-40DC70145920}" dt="2026-08-31T20:59:44.663" v="1"/>
        <pc:sldMkLst>
          <pc:docMk/>
          <pc:sldMk cId="876686658" sldId="263"/>
        </pc:sldMkLst>
      </pc:sldChg>
      <pc:sldChg chg="addSp delSp modSp add del mod">
        <pc:chgData name="William R Garcia" userId="52698913-8803-44d0-b81a-d207944fdb38" providerId="ADAL" clId="{2E18606C-B16D-48DE-A10F-40DC70145920}" dt="2026-09-01T16:20:42.312" v="81" actId="14100"/>
        <pc:sldMkLst>
          <pc:docMk/>
          <pc:sldMk cId="0" sldId="275"/>
        </pc:sldMkLst>
        <pc:spChg chg="mod ord">
          <ac:chgData name="William R Garcia" userId="52698913-8803-44d0-b81a-d207944fdb38" providerId="ADAL" clId="{2E18606C-B16D-48DE-A10F-40DC70145920}" dt="2026-09-01T16:19:45.803" v="79" actId="20577"/>
          <ac:spMkLst>
            <pc:docMk/>
            <pc:sldMk cId="0" sldId="275"/>
            <ac:spMk id="3" creationId="{6226A705-3710-3015-23A2-010876B58563}"/>
          </ac:spMkLst>
        </pc:spChg>
        <pc:spChg chg="del mod">
          <ac:chgData name="William R Garcia" userId="52698913-8803-44d0-b81a-d207944fdb38" providerId="ADAL" clId="{2E18606C-B16D-48DE-A10F-40DC70145920}" dt="2026-09-01T16:06:38.981" v="43"/>
          <ac:spMkLst>
            <pc:docMk/>
            <pc:sldMk cId="0" sldId="275"/>
            <ac:spMk id="51" creationId="{AC75F4D4-BBCE-E436-4D46-E18AAFAC5DD4}"/>
          </ac:spMkLst>
        </pc:spChg>
        <pc:picChg chg="add del mod">
          <ac:chgData name="William R Garcia" userId="52698913-8803-44d0-b81a-d207944fdb38" providerId="ADAL" clId="{2E18606C-B16D-48DE-A10F-40DC70145920}" dt="2026-09-01T16:15:28.517" v="50" actId="478"/>
          <ac:picMkLst>
            <pc:docMk/>
            <pc:sldMk cId="0" sldId="275"/>
            <ac:picMk id="4" creationId="{00000000-0008-0000-1200-000002000000}"/>
          </ac:picMkLst>
        </pc:picChg>
        <pc:picChg chg="add del mod">
          <ac:chgData name="William R Garcia" userId="52698913-8803-44d0-b81a-d207944fdb38" providerId="ADAL" clId="{2E18606C-B16D-48DE-A10F-40DC70145920}" dt="2026-09-01T16:06:56.095" v="44" actId="478"/>
          <ac:picMkLst>
            <pc:docMk/>
            <pc:sldMk cId="0" sldId="275"/>
            <ac:picMk id="5" creationId="{00000000-0008-0000-1200-000002000000}"/>
          </ac:picMkLst>
        </pc:picChg>
        <pc:picChg chg="add mod ord">
          <ac:chgData name="William R Garcia" userId="52698913-8803-44d0-b81a-d207944fdb38" providerId="ADAL" clId="{2E18606C-B16D-48DE-A10F-40DC70145920}" dt="2026-09-01T16:17:02.914" v="60" actId="1076"/>
          <ac:picMkLst>
            <pc:docMk/>
            <pc:sldMk cId="0" sldId="275"/>
            <ac:picMk id="7" creationId="{00000000-0008-0000-1200-000002000000}"/>
          </ac:picMkLst>
        </pc:picChg>
        <pc:cxnChg chg="mod">
          <ac:chgData name="William R Garcia" userId="52698913-8803-44d0-b81a-d207944fdb38" providerId="ADAL" clId="{2E18606C-B16D-48DE-A10F-40DC70145920}" dt="2026-09-01T16:20:42.312" v="81" actId="14100"/>
          <ac:cxnSpMkLst>
            <pc:docMk/>
            <pc:sldMk cId="0" sldId="275"/>
            <ac:cxnSpMk id="8" creationId="{52A45AA4-F11F-9E8B-DC4E-F6A0B001FA61}"/>
          </ac:cxnSpMkLst>
        </pc:cxnChg>
      </pc:sldChg>
      <pc:sldChg chg="addSp delSp modSp add del mod">
        <pc:chgData name="William R Garcia" userId="52698913-8803-44d0-b81a-d207944fdb38" providerId="ADAL" clId="{2E18606C-B16D-48DE-A10F-40DC70145920}" dt="2026-09-01T02:10:52.421" v="23" actId="1076"/>
        <pc:sldMkLst>
          <pc:docMk/>
          <pc:sldMk cId="806804552" sldId="278"/>
        </pc:sldMkLst>
        <pc:picChg chg="add mod">
          <ac:chgData name="William R Garcia" userId="52698913-8803-44d0-b81a-d207944fdb38" providerId="ADAL" clId="{2E18606C-B16D-48DE-A10F-40DC70145920}" dt="2026-09-01T02:10:52.421" v="23" actId="1076"/>
          <ac:picMkLst>
            <pc:docMk/>
            <pc:sldMk cId="806804552" sldId="278"/>
            <ac:picMk id="3" creationId="{00000000-0008-0000-0F00-000002000000}"/>
          </ac:picMkLst>
        </pc:picChg>
        <pc:picChg chg="del">
          <ac:chgData name="William R Garcia" userId="52698913-8803-44d0-b81a-d207944fdb38" providerId="ADAL" clId="{2E18606C-B16D-48DE-A10F-40DC70145920}" dt="2026-09-01T02:10:44.895" v="18" actId="478"/>
          <ac:picMkLst>
            <pc:docMk/>
            <pc:sldMk cId="806804552" sldId="278"/>
            <ac:picMk id="5" creationId="{00000000-0008-0000-0F00-000002000000}"/>
          </ac:picMkLst>
        </pc:picChg>
      </pc:sldChg>
      <pc:sldChg chg="addSp delSp modSp add mod modShow">
        <pc:chgData name="William R Garcia" userId="52698913-8803-44d0-b81a-d207944fdb38" providerId="ADAL" clId="{2E18606C-B16D-48DE-A10F-40DC70145920}" dt="2026-09-01T16:31:14.951" v="128" actId="729"/>
        <pc:sldMkLst>
          <pc:docMk/>
          <pc:sldMk cId="3944170993" sldId="285"/>
        </pc:sldMkLst>
        <pc:spChg chg="mod">
          <ac:chgData name="William R Garcia" userId="52698913-8803-44d0-b81a-d207944fdb38" providerId="ADAL" clId="{2E18606C-B16D-48DE-A10F-40DC70145920}" dt="2026-09-01T16:22:22.819" v="90" actId="14100"/>
          <ac:spMkLst>
            <pc:docMk/>
            <pc:sldMk cId="3944170993" sldId="285"/>
            <ac:spMk id="2" creationId="{00000000-0000-0000-0000-000000000000}"/>
          </ac:spMkLst>
        </pc:spChg>
        <pc:spChg chg="mod">
          <ac:chgData name="William R Garcia" userId="52698913-8803-44d0-b81a-d207944fdb38" providerId="ADAL" clId="{2E18606C-B16D-48DE-A10F-40DC70145920}" dt="2026-09-01T16:22:17.762" v="88" actId="14100"/>
          <ac:spMkLst>
            <pc:docMk/>
            <pc:sldMk cId="3944170993" sldId="285"/>
            <ac:spMk id="12" creationId="{00000000-0000-0000-0000-000000000000}"/>
          </ac:spMkLst>
        </pc:spChg>
        <pc:picChg chg="add mod">
          <ac:chgData name="William R Garcia" userId="52698913-8803-44d0-b81a-d207944fdb38" providerId="ADAL" clId="{2E18606C-B16D-48DE-A10F-40DC70145920}" dt="2026-09-01T16:30:39.315" v="121" actId="1076"/>
          <ac:picMkLst>
            <pc:docMk/>
            <pc:sldMk cId="3944170993" sldId="285"/>
            <ac:picMk id="3" creationId="{00000000-0008-0000-1600-000002000000}"/>
          </ac:picMkLst>
        </pc:picChg>
        <pc:picChg chg="del">
          <ac:chgData name="William R Garcia" userId="52698913-8803-44d0-b81a-d207944fdb38" providerId="ADAL" clId="{2E18606C-B16D-48DE-A10F-40DC70145920}" dt="2026-09-01T16:30:29.968" v="117" actId="478"/>
          <ac:picMkLst>
            <pc:docMk/>
            <pc:sldMk cId="3944170993" sldId="285"/>
            <ac:picMk id="14" creationId="{CDBBD860-1267-6C0A-B944-59110F1C2A7D}"/>
          </ac:picMkLst>
        </pc:picChg>
      </pc:sldChg>
      <pc:sldChg chg="addSp delSp modSp add mod modShow">
        <pc:chgData name="William R Garcia" userId="52698913-8803-44d0-b81a-d207944fdb38" providerId="ADAL" clId="{2E18606C-B16D-48DE-A10F-40DC70145920}" dt="2026-09-01T16:31:14.951" v="128" actId="729"/>
        <pc:sldMkLst>
          <pc:docMk/>
          <pc:sldMk cId="2947682284" sldId="286"/>
        </pc:sldMkLst>
        <pc:spChg chg="mod">
          <ac:chgData name="William R Garcia" userId="52698913-8803-44d0-b81a-d207944fdb38" providerId="ADAL" clId="{2E18606C-B16D-48DE-A10F-40DC70145920}" dt="2026-09-01T16:23:23.690" v="102" actId="14100"/>
          <ac:spMkLst>
            <pc:docMk/>
            <pc:sldMk cId="2947682284" sldId="286"/>
            <ac:spMk id="2" creationId="{00000000-0000-0000-0000-000000000000}"/>
          </ac:spMkLst>
        </pc:spChg>
        <pc:spChg chg="mod">
          <ac:chgData name="William R Garcia" userId="52698913-8803-44d0-b81a-d207944fdb38" providerId="ADAL" clId="{2E18606C-B16D-48DE-A10F-40DC70145920}" dt="2026-09-01T16:23:31.826" v="104" actId="14100"/>
          <ac:spMkLst>
            <pc:docMk/>
            <pc:sldMk cId="2947682284" sldId="286"/>
            <ac:spMk id="13" creationId="{00000000-0000-0000-0000-000000000000}"/>
          </ac:spMkLst>
        </pc:spChg>
        <pc:picChg chg="add mod">
          <ac:chgData name="William R Garcia" userId="52698913-8803-44d0-b81a-d207944fdb38" providerId="ADAL" clId="{2E18606C-B16D-48DE-A10F-40DC70145920}" dt="2026-09-01T16:31:06.472" v="127" actId="1076"/>
          <ac:picMkLst>
            <pc:docMk/>
            <pc:sldMk cId="2947682284" sldId="286"/>
            <ac:picMk id="3" creationId="{00000000-0008-0000-1800-000002000000}"/>
          </ac:picMkLst>
        </pc:picChg>
        <pc:picChg chg="del">
          <ac:chgData name="William R Garcia" userId="52698913-8803-44d0-b81a-d207944fdb38" providerId="ADAL" clId="{2E18606C-B16D-48DE-A10F-40DC70145920}" dt="2026-09-01T16:30:58.905" v="122" actId="478"/>
          <ac:picMkLst>
            <pc:docMk/>
            <pc:sldMk cId="2947682284" sldId="286"/>
            <ac:picMk id="4" creationId="{36474A3A-7735-1319-49AF-5E7FAC02A749}"/>
          </ac:picMkLst>
        </pc:picChg>
      </pc:sldChg>
      <pc:sldChg chg="addSp delSp modSp add del mod">
        <pc:chgData name="William R Garcia" userId="52698913-8803-44d0-b81a-d207944fdb38" providerId="ADAL" clId="{2E18606C-B16D-48DE-A10F-40DC70145920}" dt="2026-09-01T02:09:31.636" v="17" actId="14100"/>
        <pc:sldMkLst>
          <pc:docMk/>
          <pc:sldMk cId="71399543" sldId="2147479960"/>
        </pc:sldMkLst>
        <pc:graphicFrameChg chg="add mod">
          <ac:chgData name="William R Garcia" userId="52698913-8803-44d0-b81a-d207944fdb38" providerId="ADAL" clId="{2E18606C-B16D-48DE-A10F-40DC70145920}" dt="2026-09-01T02:09:04.005" v="7"/>
          <ac:graphicFrameMkLst>
            <pc:docMk/>
            <pc:sldMk cId="71399543" sldId="2147479960"/>
            <ac:graphicFrameMk id="3" creationId="{1874B55F-55D0-3B94-BE55-484FFC38CD96}"/>
          </ac:graphicFrameMkLst>
        </pc:graphicFrameChg>
        <pc:graphicFrameChg chg="add mod modGraphic">
          <ac:chgData name="William R Garcia" userId="52698913-8803-44d0-b81a-d207944fdb38" providerId="ADAL" clId="{2E18606C-B16D-48DE-A10F-40DC70145920}" dt="2026-09-01T02:09:31.636" v="17" actId="14100"/>
          <ac:graphicFrameMkLst>
            <pc:docMk/>
            <pc:sldMk cId="71399543" sldId="2147479960"/>
            <ac:graphicFrameMk id="5" creationId="{9FAD43EE-A7D0-8B00-2F8C-8A907635F19A}"/>
          </ac:graphicFrameMkLst>
        </pc:graphicFrameChg>
        <pc:graphicFrameChg chg="del">
          <ac:chgData name="William R Garcia" userId="52698913-8803-44d0-b81a-d207944fdb38" providerId="ADAL" clId="{2E18606C-B16D-48DE-A10F-40DC70145920}" dt="2026-09-01T02:09:03.162" v="6" actId="478"/>
          <ac:graphicFrameMkLst>
            <pc:docMk/>
            <pc:sldMk cId="71399543" sldId="2147479960"/>
            <ac:graphicFrameMk id="6" creationId="{41CD1120-9AC4-0E0A-5BE5-2B0CFC01825F}"/>
          </ac:graphicFrameMkLst>
        </pc:graphicFrameChg>
      </pc:sldChg>
      <pc:sldChg chg="addSp delSp modSp add mod modShow">
        <pc:chgData name="William R Garcia" userId="52698913-8803-44d0-b81a-d207944fdb38" providerId="ADAL" clId="{2E18606C-B16D-48DE-A10F-40DC70145920}" dt="2026-09-01T16:31:14.951" v="128" actId="729"/>
        <pc:sldMkLst>
          <pc:docMk/>
          <pc:sldMk cId="1051472151" sldId="2147479995"/>
        </pc:sldMkLst>
        <pc:spChg chg="mod">
          <ac:chgData name="William R Garcia" userId="52698913-8803-44d0-b81a-d207944fdb38" providerId="ADAL" clId="{2E18606C-B16D-48DE-A10F-40DC70145920}" dt="2026-09-01T16:22:29.866" v="92" actId="14100"/>
          <ac:spMkLst>
            <pc:docMk/>
            <pc:sldMk cId="1051472151" sldId="2147479995"/>
            <ac:spMk id="2" creationId="{00000000-0000-0000-0000-000000000000}"/>
          </ac:spMkLst>
        </pc:spChg>
        <pc:spChg chg="mod">
          <ac:chgData name="William R Garcia" userId="52698913-8803-44d0-b81a-d207944fdb38" providerId="ADAL" clId="{2E18606C-B16D-48DE-A10F-40DC70145920}" dt="2026-09-01T16:23:08.930" v="100" actId="1076"/>
          <ac:spMkLst>
            <pc:docMk/>
            <pc:sldMk cId="1051472151" sldId="2147479995"/>
            <ac:spMk id="137" creationId="{00000000-0000-0000-0000-000000000000}"/>
          </ac:spMkLst>
        </pc:spChg>
        <pc:picChg chg="add del mod">
          <ac:chgData name="William R Garcia" userId="52698913-8803-44d0-b81a-d207944fdb38" providerId="ADAL" clId="{2E18606C-B16D-48DE-A10F-40DC70145920}" dt="2026-09-01T16:27:42.349" v="105" actId="478"/>
          <ac:picMkLst>
            <pc:docMk/>
            <pc:sldMk cId="1051472151" sldId="2147479995"/>
            <ac:picMk id="3" creationId="{00000000-0008-0000-1300-000002000000}"/>
          </ac:picMkLst>
        </pc:picChg>
        <pc:picChg chg="add mod">
          <ac:chgData name="William R Garcia" userId="52698913-8803-44d0-b81a-d207944fdb38" providerId="ADAL" clId="{2E18606C-B16D-48DE-A10F-40DC70145920}" dt="2026-09-01T16:27:54.296" v="109" actId="14100"/>
          <ac:picMkLst>
            <pc:docMk/>
            <pc:sldMk cId="1051472151" sldId="2147479995"/>
            <ac:picMk id="4" creationId="{00000000-0008-0000-1300-000002000000}"/>
          </ac:picMkLst>
        </pc:picChg>
        <pc:picChg chg="del">
          <ac:chgData name="William R Garcia" userId="52698913-8803-44d0-b81a-d207944fdb38" providerId="ADAL" clId="{2E18606C-B16D-48DE-A10F-40DC70145920}" dt="2026-09-01T16:22:46.650" v="95" actId="478"/>
          <ac:picMkLst>
            <pc:docMk/>
            <pc:sldMk cId="1051472151" sldId="2147479995"/>
            <ac:picMk id="142" creationId="{CACE63A1-D707-555C-A48F-174FDE03D8D5}"/>
          </ac:picMkLst>
        </pc:picChg>
      </pc:sldChg>
      <pc:sldChg chg="addSp delSp modSp add mod modShow">
        <pc:chgData name="William R Garcia" userId="52698913-8803-44d0-b81a-d207944fdb38" providerId="ADAL" clId="{2E18606C-B16D-48DE-A10F-40DC70145920}" dt="2026-09-01T16:31:14.951" v="128" actId="729"/>
        <pc:sldMkLst>
          <pc:docMk/>
          <pc:sldMk cId="2870006648" sldId="2147479996"/>
        </pc:sldMkLst>
        <pc:spChg chg="mod">
          <ac:chgData name="William R Garcia" userId="52698913-8803-44d0-b81a-d207944fdb38" providerId="ADAL" clId="{2E18606C-B16D-48DE-A10F-40DC70145920}" dt="2026-09-01T16:22:03.312" v="84" actId="14100"/>
          <ac:spMkLst>
            <pc:docMk/>
            <pc:sldMk cId="2870006648" sldId="2147479996"/>
            <ac:spMk id="2" creationId="{00000000-0000-0000-0000-000000000000}"/>
          </ac:spMkLst>
        </pc:spChg>
        <pc:spChg chg="mod">
          <ac:chgData name="William R Garcia" userId="52698913-8803-44d0-b81a-d207944fdb38" providerId="ADAL" clId="{2E18606C-B16D-48DE-A10F-40DC70145920}" dt="2026-09-01T16:22:09.542" v="86" actId="14100"/>
          <ac:spMkLst>
            <pc:docMk/>
            <pc:sldMk cId="2870006648" sldId="2147479996"/>
            <ac:spMk id="14" creationId="{BAE6FB27-8006-9DA4-40B6-474AADB5F310}"/>
          </ac:spMkLst>
        </pc:spChg>
        <pc:picChg chg="add mod">
          <ac:chgData name="William R Garcia" userId="52698913-8803-44d0-b81a-d207944fdb38" providerId="ADAL" clId="{2E18606C-B16D-48DE-A10F-40DC70145920}" dt="2026-09-01T16:30:13.799" v="116" actId="1076"/>
          <ac:picMkLst>
            <pc:docMk/>
            <pc:sldMk cId="2870006648" sldId="2147479996"/>
            <ac:picMk id="3" creationId="{00000000-0008-0000-1400-000002000000}"/>
          </ac:picMkLst>
        </pc:picChg>
        <pc:picChg chg="del">
          <ac:chgData name="William R Garcia" userId="52698913-8803-44d0-b81a-d207944fdb38" providerId="ADAL" clId="{2E18606C-B16D-48DE-A10F-40DC70145920}" dt="2026-09-01T16:29:58.826" v="110" actId="478"/>
          <ac:picMkLst>
            <pc:docMk/>
            <pc:sldMk cId="2870006648" sldId="2147479996"/>
            <ac:picMk id="12" creationId="{8E9157A3-6400-80F1-71A2-3A750626FDC3}"/>
          </ac:picMkLst>
        </pc:picChg>
      </pc:sldChg>
      <pc:sldChg chg="modSp mod">
        <pc:chgData name="William R Garcia" userId="52698913-8803-44d0-b81a-d207944fdb38" providerId="ADAL" clId="{2E18606C-B16D-48DE-A10F-40DC70145920}" dt="2026-09-01T16:05:44.644" v="40" actId="207"/>
        <pc:sldMkLst>
          <pc:docMk/>
          <pc:sldMk cId="1580384825" sldId="2147480007"/>
        </pc:sldMkLst>
        <pc:spChg chg="mod">
          <ac:chgData name="William R Garcia" userId="52698913-8803-44d0-b81a-d207944fdb38" providerId="ADAL" clId="{2E18606C-B16D-48DE-A10F-40DC70145920}" dt="2026-09-01T16:05:44.644" v="40" actId="207"/>
          <ac:spMkLst>
            <pc:docMk/>
            <pc:sldMk cId="1580384825" sldId="2147480007"/>
            <ac:spMk id="22" creationId="{0377EDF6-3753-5210-4839-2C8B4A009FE8}"/>
          </ac:spMkLst>
        </pc:spChg>
      </pc:sldChg>
    </pc:docChg>
  </pc:docChgLst>
</pc:chgInfo>
</file>

<file path=ppt/comments/modernComment_7FFFF1C7_5E32C239.xml><?xml version="1.0" encoding="utf-8"?>
<p188:cmLst xmlns:a="http://schemas.openxmlformats.org/drawingml/2006/main" xmlns:r="http://schemas.openxmlformats.org/officeDocument/2006/relationships" xmlns:p188="http://schemas.microsoft.com/office/powerpoint/2018/8/main">
  <p188:cm id="{8FE556DA-01A7-4394-B403-B4C054A9F5DF}" authorId="{174E3A4E-7BCE-4BCB-F38E-75B11891CB0F}" created="2026-09-01T16:06:01.565">
    <pc:sldMkLst xmlns:pc="http://schemas.microsoft.com/office/powerpoint/2013/main/command">
      <pc:docMk/>
      <pc:sldMk cId="1580384825" sldId="2147480007"/>
    </pc:sldMkLst>
    <p188:txBody>
      <a:bodyPr/>
      <a:lstStyle/>
      <a:p>
        <a:r>
          <a:rPr lang="en-US"/>
          <a:t>This is not true; this estimate from Zilli also includes other NCD, nor just CVD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25E5C3-A4FA-8842-B9FD-F862142E29C8}" type="doc">
      <dgm:prSet loTypeId="urn:microsoft.com/office/officeart/2024/layout/BulletTimelineInverted#1" loCatId="" qsTypeId="urn:microsoft.com/office/officeart/2005/8/quickstyle/simple1#1" qsCatId="simple" csTypeId="urn:microsoft.com/office/officeart/2005/8/colors/accent1_2#1" csCatId="accent1" phldr="1"/>
      <dgm:spPr/>
      <dgm:t>
        <a:bodyPr/>
        <a:lstStyle/>
        <a:p>
          <a:endParaRPr lang="en-US"/>
        </a:p>
      </dgm:t>
    </dgm:pt>
    <dgm:pt modelId="{94301105-4BCC-A540-A327-C3BBDD8E244F}">
      <dgm:prSet phldrT="Add an event"/>
      <dgm:spPr/>
      <dgm:t>
        <a:bodyPr/>
        <a:lstStyle/>
        <a:p>
          <a:pPr>
            <a:defRPr b="1"/>
          </a:pPr>
          <a:r>
            <a:rPr lang="en-US" dirty="0"/>
            <a:t>October 2026</a:t>
          </a:r>
        </a:p>
      </dgm:t>
    </dgm:pt>
    <dgm:pt modelId="{B58EDCCA-87C3-334E-8B5A-F6B56B2B711E}" type="parTrans" cxnId="{3FFAA68A-EE43-8F41-9C9E-3B26FB83D5B4}">
      <dgm:prSet/>
      <dgm:spPr/>
      <dgm:t>
        <a:bodyPr/>
        <a:lstStyle/>
        <a:p>
          <a:endParaRPr lang="en-US"/>
        </a:p>
      </dgm:t>
    </dgm:pt>
    <dgm:pt modelId="{990B2901-8E55-944C-A301-2EB6367B7AA7}" type="sibTrans" cxnId="{3FFAA68A-EE43-8F41-9C9E-3B26FB83D5B4}">
      <dgm:prSet/>
      <dgm:spPr/>
      <dgm:t>
        <a:bodyPr/>
        <a:lstStyle/>
        <a:p>
          <a:endParaRPr lang="en-US"/>
        </a:p>
      </dgm:t>
    </dgm:pt>
    <dgm:pt modelId="{E051AA33-4013-5F45-BACB-173F5D8CBD78}">
      <dgm:prSet phldrT="Write a description of the significance of this event" custT="1"/>
      <dgm:spPr/>
      <dgm:t>
        <a:bodyPr/>
        <a:lstStyle/>
        <a:p>
          <a:r>
            <a:rPr lang="en-US" sz="1800" dirty="0"/>
            <a:t>foundational lectures (part 1 of 2)</a:t>
          </a:r>
        </a:p>
      </dgm:t>
    </dgm:pt>
    <dgm:pt modelId="{F7C8BE07-6481-254B-8B53-414CFA60D24D}" type="parTrans" cxnId="{021E5FFF-C400-EB4F-9AF2-214A2093ADB9}">
      <dgm:prSet/>
      <dgm:spPr/>
      <dgm:t>
        <a:bodyPr/>
        <a:lstStyle/>
        <a:p>
          <a:endParaRPr lang="en-US"/>
        </a:p>
      </dgm:t>
    </dgm:pt>
    <dgm:pt modelId="{DA733E3A-9C9A-F548-80E2-58C4C48ADF4A}" type="sibTrans" cxnId="{021E5FFF-C400-EB4F-9AF2-214A2093ADB9}">
      <dgm:prSet/>
      <dgm:spPr/>
      <dgm:t>
        <a:bodyPr/>
        <a:lstStyle/>
        <a:p>
          <a:endParaRPr lang="en-US"/>
        </a:p>
      </dgm:t>
    </dgm:pt>
    <dgm:pt modelId="{15DB07C3-0E39-4E44-89F1-02034BC872AE}">
      <dgm:prSet phldrT="Add an event"/>
      <dgm:spPr/>
      <dgm:t>
        <a:bodyPr/>
        <a:lstStyle/>
        <a:p>
          <a:pPr>
            <a:defRPr b="1"/>
          </a:pPr>
          <a:r>
            <a:rPr lang="en-US" dirty="0"/>
            <a:t>November 2026</a:t>
          </a:r>
        </a:p>
      </dgm:t>
    </dgm:pt>
    <dgm:pt modelId="{D1AA3355-3411-974C-B4A6-9C2D3FAE066A}" type="parTrans" cxnId="{449221D5-08FB-8740-B324-8D931841DF17}">
      <dgm:prSet/>
      <dgm:spPr/>
      <dgm:t>
        <a:bodyPr/>
        <a:lstStyle/>
        <a:p>
          <a:endParaRPr lang="en-US"/>
        </a:p>
      </dgm:t>
    </dgm:pt>
    <dgm:pt modelId="{6E3A21EE-EB18-B647-A1D3-9A1EF61534AE}" type="sibTrans" cxnId="{449221D5-08FB-8740-B324-8D931841DF17}">
      <dgm:prSet/>
      <dgm:spPr/>
      <dgm:t>
        <a:bodyPr/>
        <a:lstStyle/>
        <a:p>
          <a:endParaRPr lang="en-US"/>
        </a:p>
      </dgm:t>
    </dgm:pt>
    <dgm:pt modelId="{E74F76A8-C5B9-FA43-ACF9-E28323DAFD15}">
      <dgm:prSet phldrT="Write a description of the significance of this event" custT="1"/>
      <dgm:spPr/>
      <dgm:t>
        <a:bodyPr/>
        <a:lstStyle/>
        <a:p>
          <a:r>
            <a:rPr lang="en-US" sz="1800" dirty="0"/>
            <a:t>foundational lectures (part 2 of 2)</a:t>
          </a:r>
        </a:p>
      </dgm:t>
    </dgm:pt>
    <dgm:pt modelId="{A28B7E31-DB58-FF49-9B7E-D7C1D501E0F6}" type="parTrans" cxnId="{ABBEFAD3-609F-C743-9F02-2FFE9140333F}">
      <dgm:prSet/>
      <dgm:spPr/>
      <dgm:t>
        <a:bodyPr/>
        <a:lstStyle/>
        <a:p>
          <a:endParaRPr lang="en-US"/>
        </a:p>
      </dgm:t>
    </dgm:pt>
    <dgm:pt modelId="{04E6C4DA-BDF3-3344-955D-56A647745E74}" type="sibTrans" cxnId="{ABBEFAD3-609F-C743-9F02-2FFE9140333F}">
      <dgm:prSet/>
      <dgm:spPr/>
      <dgm:t>
        <a:bodyPr/>
        <a:lstStyle/>
        <a:p>
          <a:endParaRPr lang="en-US"/>
        </a:p>
      </dgm:t>
    </dgm:pt>
    <dgm:pt modelId="{63EEEEFF-730B-6446-944E-83EDB5286245}">
      <dgm:prSet phldrT="Add an event"/>
      <dgm:spPr/>
      <dgm:t>
        <a:bodyPr/>
        <a:lstStyle/>
        <a:p>
          <a:pPr>
            <a:defRPr b="1"/>
          </a:pPr>
          <a:r>
            <a:rPr lang="en-US" dirty="0"/>
            <a:t>December 2026</a:t>
          </a:r>
        </a:p>
      </dgm:t>
    </dgm:pt>
    <dgm:pt modelId="{AE0B700A-A878-3449-A113-5654032CD432}" type="parTrans" cxnId="{275D1CEA-F6BC-224F-A222-5EEABA7043E8}">
      <dgm:prSet/>
      <dgm:spPr/>
      <dgm:t>
        <a:bodyPr/>
        <a:lstStyle/>
        <a:p>
          <a:endParaRPr lang="en-US"/>
        </a:p>
      </dgm:t>
    </dgm:pt>
    <dgm:pt modelId="{91A9F6D1-D645-4C4E-BABE-18A59CBDF2E5}" type="sibTrans" cxnId="{275D1CEA-F6BC-224F-A222-5EEABA7043E8}">
      <dgm:prSet/>
      <dgm:spPr/>
      <dgm:t>
        <a:bodyPr/>
        <a:lstStyle/>
        <a:p>
          <a:endParaRPr lang="en-US"/>
        </a:p>
      </dgm:t>
    </dgm:pt>
    <dgm:pt modelId="{59128EF0-C1D0-D546-ADC8-0D5CDDCC978A}">
      <dgm:prSet phldrT="Write a description of the significance of this event" custT="1"/>
      <dgm:spPr/>
      <dgm:t>
        <a:bodyPr/>
        <a:lstStyle/>
        <a:p>
          <a:r>
            <a:rPr lang="en-US" sz="1800" dirty="0"/>
            <a:t>launch of modeling unit</a:t>
          </a:r>
        </a:p>
      </dgm:t>
    </dgm:pt>
    <dgm:pt modelId="{5187AB6A-9600-7A45-AF34-9F16F0DF4DA9}" type="parTrans" cxnId="{7071A630-15BF-EF45-831D-62A347CC6E82}">
      <dgm:prSet/>
      <dgm:spPr/>
      <dgm:t>
        <a:bodyPr/>
        <a:lstStyle/>
        <a:p>
          <a:endParaRPr lang="en-US"/>
        </a:p>
      </dgm:t>
    </dgm:pt>
    <dgm:pt modelId="{DD12A722-1C51-BC44-91C2-B23CAE38B3CC}" type="sibTrans" cxnId="{7071A630-15BF-EF45-831D-62A347CC6E82}">
      <dgm:prSet/>
      <dgm:spPr/>
      <dgm:t>
        <a:bodyPr/>
        <a:lstStyle/>
        <a:p>
          <a:endParaRPr lang="en-US"/>
        </a:p>
      </dgm:t>
    </dgm:pt>
    <dgm:pt modelId="{F1709DD2-3ED9-7D4B-807E-532936B0D5A6}">
      <dgm:prSet phldrT="Add an event"/>
      <dgm:spPr/>
      <dgm:t>
        <a:bodyPr/>
        <a:lstStyle/>
        <a:p>
          <a:pPr>
            <a:defRPr b="1"/>
          </a:pPr>
          <a:r>
            <a:rPr lang="en-US" dirty="0"/>
            <a:t>January 2027</a:t>
          </a:r>
        </a:p>
      </dgm:t>
    </dgm:pt>
    <dgm:pt modelId="{7E3DE460-1FE8-F44D-8EAC-2E093B12C2EE}" type="parTrans" cxnId="{903AF56B-6E12-204F-8053-62245536E1D9}">
      <dgm:prSet/>
      <dgm:spPr/>
      <dgm:t>
        <a:bodyPr/>
        <a:lstStyle/>
        <a:p>
          <a:endParaRPr lang="en-US"/>
        </a:p>
      </dgm:t>
    </dgm:pt>
    <dgm:pt modelId="{1AC03CBB-48DC-3542-A4E6-4C837CA6903F}" type="sibTrans" cxnId="{903AF56B-6E12-204F-8053-62245536E1D9}">
      <dgm:prSet/>
      <dgm:spPr/>
      <dgm:t>
        <a:bodyPr/>
        <a:lstStyle/>
        <a:p>
          <a:endParaRPr lang="en-US"/>
        </a:p>
      </dgm:t>
    </dgm:pt>
    <dgm:pt modelId="{0208C73C-7537-0046-9DA5-58EF3BFC6D35}">
      <dgm:prSet phldrT="Write a description of the significance of this event" custT="1"/>
      <dgm:spPr/>
      <dgm:t>
        <a:bodyPr/>
        <a:lstStyle/>
        <a:p>
          <a:r>
            <a:rPr lang="en-US" sz="1800" dirty="0"/>
            <a:t>training on CVD model (part 1 of 3)</a:t>
          </a:r>
        </a:p>
      </dgm:t>
    </dgm:pt>
    <dgm:pt modelId="{419D65ED-122F-2948-A2A3-8707986D6E70}" type="parTrans" cxnId="{C2DC0755-651F-6548-BC9C-204AE21FEB5D}">
      <dgm:prSet/>
      <dgm:spPr/>
      <dgm:t>
        <a:bodyPr/>
        <a:lstStyle/>
        <a:p>
          <a:endParaRPr lang="en-US"/>
        </a:p>
      </dgm:t>
    </dgm:pt>
    <dgm:pt modelId="{573F4AD7-D4D6-0D40-A6A6-F903AE7D0314}" type="sibTrans" cxnId="{C2DC0755-651F-6548-BC9C-204AE21FEB5D}">
      <dgm:prSet/>
      <dgm:spPr/>
      <dgm:t>
        <a:bodyPr/>
        <a:lstStyle/>
        <a:p>
          <a:endParaRPr lang="en-US"/>
        </a:p>
      </dgm:t>
    </dgm:pt>
    <dgm:pt modelId="{92A3118D-C1F4-E041-9C2B-47C5C2C50652}">
      <dgm:prSet phldrT="Add an event"/>
      <dgm:spPr/>
      <dgm:t>
        <a:bodyPr/>
        <a:lstStyle/>
        <a:p>
          <a:pPr>
            <a:defRPr b="1"/>
          </a:pPr>
          <a:r>
            <a:rPr lang="en-US" dirty="0"/>
            <a:t>February 2027</a:t>
          </a:r>
        </a:p>
      </dgm:t>
    </dgm:pt>
    <dgm:pt modelId="{CB19AB34-8407-FA49-8C44-8D88E1F2C1D9}" type="parTrans" cxnId="{CB0BF6C0-5D14-D944-92B2-5649DE8A8F91}">
      <dgm:prSet/>
      <dgm:spPr/>
      <dgm:t>
        <a:bodyPr/>
        <a:lstStyle/>
        <a:p>
          <a:endParaRPr lang="en-US"/>
        </a:p>
      </dgm:t>
    </dgm:pt>
    <dgm:pt modelId="{F87F3D49-3EDF-DA41-9A31-77B1C748BF07}" type="sibTrans" cxnId="{CB0BF6C0-5D14-D944-92B2-5649DE8A8F91}">
      <dgm:prSet/>
      <dgm:spPr/>
      <dgm:t>
        <a:bodyPr/>
        <a:lstStyle/>
        <a:p>
          <a:endParaRPr lang="en-US"/>
        </a:p>
      </dgm:t>
    </dgm:pt>
    <dgm:pt modelId="{C9990C69-4250-334C-A4C0-66AA5334D15B}">
      <dgm:prSet phldrT="Write a description of the significance of this event" custT="1"/>
      <dgm:spPr/>
      <dgm:t>
        <a:bodyPr/>
        <a:lstStyle/>
        <a:p>
          <a:r>
            <a:rPr lang="en-US" sz="1800" dirty="0"/>
            <a:t>training on CVD model (part 2 of 3)</a:t>
          </a:r>
        </a:p>
      </dgm:t>
    </dgm:pt>
    <dgm:pt modelId="{A2726353-E9D6-2542-954D-9329251A1D45}" type="parTrans" cxnId="{A9C31FB7-487C-6D41-AEE8-1A615ECA65FD}">
      <dgm:prSet/>
      <dgm:spPr/>
      <dgm:t>
        <a:bodyPr/>
        <a:lstStyle/>
        <a:p>
          <a:endParaRPr lang="en-US"/>
        </a:p>
      </dgm:t>
    </dgm:pt>
    <dgm:pt modelId="{C3929728-F159-C64D-A4F5-B7C3B2786C65}" type="sibTrans" cxnId="{A9C31FB7-487C-6D41-AEE8-1A615ECA65FD}">
      <dgm:prSet/>
      <dgm:spPr/>
      <dgm:t>
        <a:bodyPr/>
        <a:lstStyle/>
        <a:p>
          <a:endParaRPr lang="en-US"/>
        </a:p>
      </dgm:t>
    </dgm:pt>
    <dgm:pt modelId="{28C75E81-8A14-7C48-B49C-5DECC7B13C09}">
      <dgm:prSet phldrT="Add an event"/>
      <dgm:spPr/>
      <dgm:t>
        <a:bodyPr/>
        <a:lstStyle/>
        <a:p>
          <a:pPr>
            <a:defRPr b="1"/>
          </a:pPr>
          <a:r>
            <a:rPr lang="en-US" dirty="0"/>
            <a:t>March 2027</a:t>
          </a:r>
        </a:p>
      </dgm:t>
    </dgm:pt>
    <dgm:pt modelId="{7B7BE4AC-B7D8-3345-9BD9-B0E46193CC3A}" type="parTrans" cxnId="{7203BCE6-B3CA-134C-83C5-18DB5D6C4218}">
      <dgm:prSet/>
      <dgm:spPr/>
      <dgm:t>
        <a:bodyPr/>
        <a:lstStyle/>
        <a:p>
          <a:endParaRPr lang="en-US"/>
        </a:p>
      </dgm:t>
    </dgm:pt>
    <dgm:pt modelId="{D79AF923-1E9D-C246-8ADB-31CF520B0E4B}" type="sibTrans" cxnId="{7203BCE6-B3CA-134C-83C5-18DB5D6C4218}">
      <dgm:prSet/>
      <dgm:spPr/>
      <dgm:t>
        <a:bodyPr/>
        <a:lstStyle/>
        <a:p>
          <a:endParaRPr lang="en-US"/>
        </a:p>
      </dgm:t>
    </dgm:pt>
    <dgm:pt modelId="{5FFF22AF-B5AA-8F42-BDAF-72C5DCC11B09}">
      <dgm:prSet phldrT="Write a description of the significance of this event" custT="1"/>
      <dgm:spPr/>
      <dgm:t>
        <a:bodyPr/>
        <a:lstStyle/>
        <a:p>
          <a:r>
            <a:rPr lang="en-US" sz="1800" dirty="0"/>
            <a:t>training on CVD model (part 3 of 3)</a:t>
          </a:r>
        </a:p>
      </dgm:t>
    </dgm:pt>
    <dgm:pt modelId="{47678D26-42CA-3D42-B543-0337FF9CD8AB}" type="parTrans" cxnId="{0A3524B2-40C2-3248-85B3-51D95DABD50F}">
      <dgm:prSet/>
      <dgm:spPr/>
      <dgm:t>
        <a:bodyPr/>
        <a:lstStyle/>
        <a:p>
          <a:endParaRPr lang="en-US"/>
        </a:p>
      </dgm:t>
    </dgm:pt>
    <dgm:pt modelId="{062127C2-F78B-1A4B-85F3-4CA1F4B3CEE0}" type="sibTrans" cxnId="{0A3524B2-40C2-3248-85B3-51D95DABD50F}">
      <dgm:prSet/>
      <dgm:spPr/>
      <dgm:t>
        <a:bodyPr/>
        <a:lstStyle/>
        <a:p>
          <a:endParaRPr lang="en-US"/>
        </a:p>
      </dgm:t>
    </dgm:pt>
    <dgm:pt modelId="{F9C17D90-1E89-724C-B26B-31CCE0200E0F}" type="pres">
      <dgm:prSet presAssocID="{F225E5C3-A4FA-8842-B9FD-F862142E29C8}" presName="root" presStyleCnt="0">
        <dgm:presLayoutVars>
          <dgm:dir/>
          <dgm:animLvl val="lvl"/>
        </dgm:presLayoutVars>
      </dgm:prSet>
      <dgm:spPr/>
    </dgm:pt>
    <dgm:pt modelId="{5C8DFF40-3E7F-E444-8EDD-7115D0E48338}" type="pres">
      <dgm:prSet presAssocID="{F225E5C3-A4FA-8842-B9FD-F862142E29C8}" presName="divider" presStyleCnt="0"/>
      <dgm:spPr/>
    </dgm:pt>
    <dgm:pt modelId="{2B0254E2-E36E-FB47-9E5E-A8A9AABD362C}" type="pres">
      <dgm:prSet presAssocID="{F225E5C3-A4FA-8842-B9FD-F862142E29C8}" presName="rectBar" presStyleLbl="dkBgShp" presStyleIdx="0" presStyleCnt="8"/>
      <dgm:spPr>
        <a:gradFill rotWithShape="0">
          <a:gsLst>
            <a:gs pos="0">
              <a:schemeClr val="accent1">
                <a:tint val="76000"/>
              </a:schemeClr>
            </a:gs>
            <a:gs pos="100000">
              <a:schemeClr val="accent1">
                <a:tint val="76000"/>
              </a:schemeClr>
            </a:gs>
          </a:gsLst>
          <a:lin ang="0" scaled="0"/>
        </a:gradFill>
        <a:ln>
          <a:noFill/>
        </a:ln>
        <a:effectLst/>
      </dgm:spPr>
    </dgm:pt>
    <dgm:pt modelId="{2AEAA8E9-1AB0-DE48-94F6-EE9FC56F8B29}" type="pres">
      <dgm:prSet presAssocID="{F225E5C3-A4FA-8842-B9FD-F862142E29C8}" presName="chevronArrow" presStyleLbl="dkBgShp" presStyleIdx="1" presStyleCnt="8"/>
      <dgm:spPr>
        <a:gradFill rotWithShape="0">
          <a:gsLst>
            <a:gs pos="0">
              <a:schemeClr val="accent1">
                <a:tint val="76000"/>
              </a:schemeClr>
            </a:gs>
            <a:gs pos="100000">
              <a:schemeClr val="accent1">
                <a:tint val="76000"/>
              </a:schemeClr>
            </a:gs>
          </a:gsLst>
          <a:lin ang="0" scaled="0"/>
        </a:gradFill>
        <a:ln>
          <a:noFill/>
        </a:ln>
        <a:effectLst/>
      </dgm:spPr>
    </dgm:pt>
    <dgm:pt modelId="{24CE9A05-AF04-ED41-B00A-2E1587B52E3B}" type="pres">
      <dgm:prSet presAssocID="{F225E5C3-A4FA-8842-B9FD-F862142E29C8}" presName="nodes" presStyleCnt="0">
        <dgm:presLayoutVars>
          <dgm:chMax/>
          <dgm:chPref/>
          <dgm:animLvl val="lvl"/>
        </dgm:presLayoutVars>
      </dgm:prSet>
      <dgm:spPr/>
    </dgm:pt>
    <dgm:pt modelId="{B10E72E9-1F63-FF44-8C0C-C4201EDE165D}" type="pres">
      <dgm:prSet presAssocID="{94301105-4BCC-A540-A327-C3BBDD8E244F}" presName="composite" presStyleCnt="0"/>
      <dgm:spPr/>
    </dgm:pt>
    <dgm:pt modelId="{6B29A27F-D237-1048-9263-A3AD2120B4E5}" type="pres">
      <dgm:prSet presAssocID="{94301105-4BCC-A540-A327-C3BBDD8E244F}" presName="DropPinPlaceHolder" presStyleCnt="0"/>
      <dgm:spPr/>
    </dgm:pt>
    <dgm:pt modelId="{61D43120-FC2B-7D42-A8A0-8488741A035E}" type="pres">
      <dgm:prSet presAssocID="{94301105-4BCC-A540-A327-C3BBDD8E244F}" presName="DropPin" presStyleLbl="alignNode1" presStyleIdx="0" presStyleCnt="6"/>
      <dgm:spPr/>
    </dgm:pt>
    <dgm:pt modelId="{CC87A6DB-B977-A44C-9E3B-61ED11DEDC8B}" type="pres">
      <dgm:prSet presAssocID="{94301105-4BCC-A540-A327-C3BBDD8E244F}" presName="Ellipse" presStyleLbl="fgAcc1" presStyleIdx="0" presStyleCnt="6"/>
      <dgm:spPr/>
    </dgm:pt>
    <dgm:pt modelId="{9945AEC1-0210-CA41-A585-96B47C7CB759}" type="pres">
      <dgm:prSet presAssocID="{94301105-4BCC-A540-A327-C3BBDD8E244F}" presName="L2TextContainer" presStyleLbl="revTx" presStyleIdx="0" presStyleCnt="12">
        <dgm:presLayoutVars>
          <dgm:bulletEnabled val="1"/>
        </dgm:presLayoutVars>
      </dgm:prSet>
      <dgm:spPr/>
    </dgm:pt>
    <dgm:pt modelId="{7C16918C-8D7C-1741-8517-3C4830D16DCB}" type="pres">
      <dgm:prSet presAssocID="{94301105-4BCC-A540-A327-C3BBDD8E244F}" presName="L1TextContainer" presStyleLbl="revTx" presStyleIdx="1" presStyleCnt="12">
        <dgm:presLayoutVars>
          <dgm:chMax val="1"/>
          <dgm:chPref val="1"/>
          <dgm:bulletEnabled val="1"/>
        </dgm:presLayoutVars>
      </dgm:prSet>
      <dgm:spPr/>
    </dgm:pt>
    <dgm:pt modelId="{92D95A11-439C-9148-BD6E-7922501B80E8}" type="pres">
      <dgm:prSet presAssocID="{94301105-4BCC-A540-A327-C3BBDD8E244F}" presName="ConnectLine" presStyleLbl="dkBgShp" presStyleIdx="2" presStyleCnt="8"/>
      <dgm:spPr/>
    </dgm:pt>
    <dgm:pt modelId="{E2EFC95A-9FBC-3B45-BCD1-5B01AD432C41}" type="pres">
      <dgm:prSet presAssocID="{94301105-4BCC-A540-A327-C3BBDD8E244F}" presName="ConnectorPoint" presStyleCnt="0"/>
      <dgm:spPr/>
    </dgm:pt>
    <dgm:pt modelId="{CC67D15E-F51B-4446-97A2-105CBEA68BE4}" type="pres">
      <dgm:prSet presAssocID="{94301105-4BCC-A540-A327-C3BBDD8E244F}" presName="Bullet" presStyleLbl="lnNode1" presStyleIdx="0" presStyleCnt="6"/>
      <dgm:spPr/>
    </dgm:pt>
    <dgm:pt modelId="{4C0A2A4C-5CF7-5B46-81EE-38592E80973B}" type="pres">
      <dgm:prSet presAssocID="{94301105-4BCC-A540-A327-C3BBDD8E244F}" presName="EmptyPlaceHolder" presStyleCnt="0"/>
      <dgm:spPr/>
    </dgm:pt>
    <dgm:pt modelId="{BD8F0DA5-248C-7448-9A20-8FECFC401D19}" type="pres">
      <dgm:prSet presAssocID="{990B2901-8E55-944C-A301-2EB6367B7AA7}" presName="spaceBetweenRectangles" presStyleCnt="0"/>
      <dgm:spPr/>
    </dgm:pt>
    <dgm:pt modelId="{363E4110-7C89-3B4F-8236-5B983ECDDF34}" type="pres">
      <dgm:prSet presAssocID="{15DB07C3-0E39-4E44-89F1-02034BC872AE}" presName="composite" presStyleCnt="0"/>
      <dgm:spPr/>
    </dgm:pt>
    <dgm:pt modelId="{A879BAA5-2A5D-6741-9E51-E15779DD25E8}" type="pres">
      <dgm:prSet presAssocID="{15DB07C3-0E39-4E44-89F1-02034BC872AE}" presName="DropPinPlaceHolder" presStyleCnt="0"/>
      <dgm:spPr/>
    </dgm:pt>
    <dgm:pt modelId="{6633D4A2-E438-4143-A043-83A4749133C4}" type="pres">
      <dgm:prSet presAssocID="{15DB07C3-0E39-4E44-89F1-02034BC872AE}" presName="DropPin" presStyleLbl="alignNode1" presStyleIdx="1" presStyleCnt="6"/>
      <dgm:spPr/>
    </dgm:pt>
    <dgm:pt modelId="{2EF158DE-E02C-1E4A-A654-8295AE1466F6}" type="pres">
      <dgm:prSet presAssocID="{15DB07C3-0E39-4E44-89F1-02034BC872AE}" presName="Ellipse" presStyleLbl="fgAcc1" presStyleIdx="1" presStyleCnt="6"/>
      <dgm:spPr/>
    </dgm:pt>
    <dgm:pt modelId="{237505D8-C5B6-3544-9D1C-6226530ADEE9}" type="pres">
      <dgm:prSet presAssocID="{15DB07C3-0E39-4E44-89F1-02034BC872AE}" presName="L2TextContainer" presStyleLbl="revTx" presStyleIdx="2" presStyleCnt="12">
        <dgm:presLayoutVars>
          <dgm:bulletEnabled val="1"/>
        </dgm:presLayoutVars>
      </dgm:prSet>
      <dgm:spPr/>
    </dgm:pt>
    <dgm:pt modelId="{38E98EB4-EAE0-6346-A60D-912E776BF22F}" type="pres">
      <dgm:prSet presAssocID="{15DB07C3-0E39-4E44-89F1-02034BC872AE}" presName="L1TextContainer" presStyleLbl="revTx" presStyleIdx="3" presStyleCnt="12">
        <dgm:presLayoutVars>
          <dgm:chMax val="1"/>
          <dgm:chPref val="1"/>
          <dgm:bulletEnabled val="1"/>
        </dgm:presLayoutVars>
      </dgm:prSet>
      <dgm:spPr/>
    </dgm:pt>
    <dgm:pt modelId="{F4CB055B-C0CB-3C48-B9C5-51DEF0EA3B15}" type="pres">
      <dgm:prSet presAssocID="{15DB07C3-0E39-4E44-89F1-02034BC872AE}" presName="ConnectLine" presStyleLbl="dkBgShp" presStyleIdx="3" presStyleCnt="8"/>
      <dgm:spPr/>
    </dgm:pt>
    <dgm:pt modelId="{7A3EF554-5287-5140-8686-6556DE6523A5}" type="pres">
      <dgm:prSet presAssocID="{15DB07C3-0E39-4E44-89F1-02034BC872AE}" presName="ConnectorPoint" presStyleCnt="0"/>
      <dgm:spPr/>
    </dgm:pt>
    <dgm:pt modelId="{35E91515-0B18-2F4E-9EB0-83B02142A5E9}" type="pres">
      <dgm:prSet presAssocID="{15DB07C3-0E39-4E44-89F1-02034BC872AE}" presName="Bullet" presStyleLbl="lnNode1" presStyleIdx="1" presStyleCnt="6"/>
      <dgm:spPr/>
    </dgm:pt>
    <dgm:pt modelId="{CB83EEBE-0D8B-CD4B-B2FC-D1FC2A54EF86}" type="pres">
      <dgm:prSet presAssocID="{15DB07C3-0E39-4E44-89F1-02034BC872AE}" presName="EmptyPlaceHolder" presStyleCnt="0"/>
      <dgm:spPr/>
    </dgm:pt>
    <dgm:pt modelId="{C39F97A3-C43B-CE4A-AD44-85A5065BB9E3}" type="pres">
      <dgm:prSet presAssocID="{6E3A21EE-EB18-B647-A1D3-9A1EF61534AE}" presName="spaceBetweenRectangles" presStyleCnt="0"/>
      <dgm:spPr/>
    </dgm:pt>
    <dgm:pt modelId="{8274DF88-42A8-964E-8038-4FCC507325C8}" type="pres">
      <dgm:prSet presAssocID="{63EEEEFF-730B-6446-944E-83EDB5286245}" presName="composite" presStyleCnt="0"/>
      <dgm:spPr/>
    </dgm:pt>
    <dgm:pt modelId="{E390B298-779B-7C45-A22F-F6F7797E8B0A}" type="pres">
      <dgm:prSet presAssocID="{63EEEEFF-730B-6446-944E-83EDB5286245}" presName="DropPinPlaceHolder" presStyleCnt="0"/>
      <dgm:spPr/>
    </dgm:pt>
    <dgm:pt modelId="{BBEF23B8-2E7C-6943-B913-3C17BB959F91}" type="pres">
      <dgm:prSet presAssocID="{63EEEEFF-730B-6446-944E-83EDB5286245}" presName="DropPin" presStyleLbl="alignNode1" presStyleIdx="2" presStyleCnt="6"/>
      <dgm:spPr/>
    </dgm:pt>
    <dgm:pt modelId="{04FC1046-63C6-1E45-9AA7-92581F8B7151}" type="pres">
      <dgm:prSet presAssocID="{63EEEEFF-730B-6446-944E-83EDB5286245}" presName="Ellipse" presStyleLbl="fgAcc1" presStyleIdx="2" presStyleCnt="6"/>
      <dgm:spPr/>
    </dgm:pt>
    <dgm:pt modelId="{C9FC196C-688B-D748-9087-055A2D3F3A88}" type="pres">
      <dgm:prSet presAssocID="{63EEEEFF-730B-6446-944E-83EDB5286245}" presName="L2TextContainer" presStyleLbl="revTx" presStyleIdx="4" presStyleCnt="12">
        <dgm:presLayoutVars>
          <dgm:bulletEnabled val="1"/>
        </dgm:presLayoutVars>
      </dgm:prSet>
      <dgm:spPr/>
    </dgm:pt>
    <dgm:pt modelId="{1E9EAA78-5BAE-7649-8F30-BBFAFB85022C}" type="pres">
      <dgm:prSet presAssocID="{63EEEEFF-730B-6446-944E-83EDB5286245}" presName="L1TextContainer" presStyleLbl="revTx" presStyleIdx="5" presStyleCnt="12">
        <dgm:presLayoutVars>
          <dgm:chMax val="1"/>
          <dgm:chPref val="1"/>
          <dgm:bulletEnabled val="1"/>
        </dgm:presLayoutVars>
      </dgm:prSet>
      <dgm:spPr/>
    </dgm:pt>
    <dgm:pt modelId="{03763B45-9B10-ED4C-B1CA-622A4D5AA565}" type="pres">
      <dgm:prSet presAssocID="{63EEEEFF-730B-6446-944E-83EDB5286245}" presName="ConnectLine" presStyleLbl="dkBgShp" presStyleIdx="4" presStyleCnt="8"/>
      <dgm:spPr/>
    </dgm:pt>
    <dgm:pt modelId="{8FAD4C13-24C1-E749-9275-AF887733CD48}" type="pres">
      <dgm:prSet presAssocID="{63EEEEFF-730B-6446-944E-83EDB5286245}" presName="ConnectorPoint" presStyleCnt="0"/>
      <dgm:spPr/>
    </dgm:pt>
    <dgm:pt modelId="{AACD17B8-AA7D-D04E-90A7-A453E2CD6BEB}" type="pres">
      <dgm:prSet presAssocID="{63EEEEFF-730B-6446-944E-83EDB5286245}" presName="Bullet" presStyleLbl="lnNode1" presStyleIdx="2" presStyleCnt="6"/>
      <dgm:spPr/>
    </dgm:pt>
    <dgm:pt modelId="{E03B86D2-57D7-E54D-BAD9-EBE4B59F33B4}" type="pres">
      <dgm:prSet presAssocID="{63EEEEFF-730B-6446-944E-83EDB5286245}" presName="EmptyPlaceHolder" presStyleCnt="0"/>
      <dgm:spPr/>
    </dgm:pt>
    <dgm:pt modelId="{E85076B6-6DA6-4140-8F75-F8DB3BC0F759}" type="pres">
      <dgm:prSet presAssocID="{91A9F6D1-D645-4C4E-BABE-18A59CBDF2E5}" presName="spaceBetweenRectangles" presStyleCnt="0"/>
      <dgm:spPr/>
    </dgm:pt>
    <dgm:pt modelId="{C4848F83-3073-2143-AA1F-44A554CA49BB}" type="pres">
      <dgm:prSet presAssocID="{F1709DD2-3ED9-7D4B-807E-532936B0D5A6}" presName="composite" presStyleCnt="0"/>
      <dgm:spPr/>
    </dgm:pt>
    <dgm:pt modelId="{7878192C-792F-0642-9F83-312FF80BF422}" type="pres">
      <dgm:prSet presAssocID="{F1709DD2-3ED9-7D4B-807E-532936B0D5A6}" presName="DropPinPlaceHolder" presStyleCnt="0"/>
      <dgm:spPr/>
    </dgm:pt>
    <dgm:pt modelId="{04E67742-1301-F948-AE7D-0471E51B691D}" type="pres">
      <dgm:prSet presAssocID="{F1709DD2-3ED9-7D4B-807E-532936B0D5A6}" presName="DropPin" presStyleLbl="alignNode1" presStyleIdx="3" presStyleCnt="6"/>
      <dgm:spPr/>
    </dgm:pt>
    <dgm:pt modelId="{DD63C6E9-0080-3141-8CC7-0A4BD5CFF571}" type="pres">
      <dgm:prSet presAssocID="{F1709DD2-3ED9-7D4B-807E-532936B0D5A6}" presName="Ellipse" presStyleLbl="fgAcc1" presStyleIdx="3" presStyleCnt="6"/>
      <dgm:spPr/>
    </dgm:pt>
    <dgm:pt modelId="{51D838DD-967B-C14C-8D68-94EB672CCB55}" type="pres">
      <dgm:prSet presAssocID="{F1709DD2-3ED9-7D4B-807E-532936B0D5A6}" presName="L2TextContainer" presStyleLbl="revTx" presStyleIdx="6" presStyleCnt="12">
        <dgm:presLayoutVars>
          <dgm:bulletEnabled val="1"/>
        </dgm:presLayoutVars>
      </dgm:prSet>
      <dgm:spPr/>
    </dgm:pt>
    <dgm:pt modelId="{4BA03182-A642-8046-97FE-C32CFDC80991}" type="pres">
      <dgm:prSet presAssocID="{F1709DD2-3ED9-7D4B-807E-532936B0D5A6}" presName="L1TextContainer" presStyleLbl="revTx" presStyleIdx="7" presStyleCnt="12">
        <dgm:presLayoutVars>
          <dgm:chMax val="1"/>
          <dgm:chPref val="1"/>
          <dgm:bulletEnabled val="1"/>
        </dgm:presLayoutVars>
      </dgm:prSet>
      <dgm:spPr/>
    </dgm:pt>
    <dgm:pt modelId="{C5E71C1D-3D22-9149-906E-42E42F1EF377}" type="pres">
      <dgm:prSet presAssocID="{F1709DD2-3ED9-7D4B-807E-532936B0D5A6}" presName="ConnectLine" presStyleLbl="dkBgShp" presStyleIdx="5" presStyleCnt="8"/>
      <dgm:spPr/>
    </dgm:pt>
    <dgm:pt modelId="{42786659-2B9D-544E-8A68-4EC337801FE8}" type="pres">
      <dgm:prSet presAssocID="{F1709DD2-3ED9-7D4B-807E-532936B0D5A6}" presName="ConnectorPoint" presStyleCnt="0"/>
      <dgm:spPr/>
    </dgm:pt>
    <dgm:pt modelId="{6D5EC75E-3DDE-8844-A201-ED13115371E6}" type="pres">
      <dgm:prSet presAssocID="{F1709DD2-3ED9-7D4B-807E-532936B0D5A6}" presName="Bullet" presStyleLbl="lnNode1" presStyleIdx="3" presStyleCnt="6"/>
      <dgm:spPr/>
    </dgm:pt>
    <dgm:pt modelId="{3F7709CA-D7A1-F745-A609-00FFE8A6221A}" type="pres">
      <dgm:prSet presAssocID="{F1709DD2-3ED9-7D4B-807E-532936B0D5A6}" presName="EmptyPlaceHolder" presStyleCnt="0"/>
      <dgm:spPr/>
    </dgm:pt>
    <dgm:pt modelId="{6A4063C5-4A49-B24D-A3E6-95C0904777A6}" type="pres">
      <dgm:prSet presAssocID="{1AC03CBB-48DC-3542-A4E6-4C837CA6903F}" presName="spaceBetweenRectangles" presStyleCnt="0"/>
      <dgm:spPr/>
    </dgm:pt>
    <dgm:pt modelId="{BE3F222A-8F76-504A-B9A2-46D8230CF0B0}" type="pres">
      <dgm:prSet presAssocID="{92A3118D-C1F4-E041-9C2B-47C5C2C50652}" presName="composite" presStyleCnt="0"/>
      <dgm:spPr/>
    </dgm:pt>
    <dgm:pt modelId="{336B5581-0EE9-1840-BA22-434E7FBE2CA3}" type="pres">
      <dgm:prSet presAssocID="{92A3118D-C1F4-E041-9C2B-47C5C2C50652}" presName="DropPinPlaceHolder" presStyleCnt="0"/>
      <dgm:spPr/>
    </dgm:pt>
    <dgm:pt modelId="{0DEC629A-59F7-414F-89C4-03F2D7965DED}" type="pres">
      <dgm:prSet presAssocID="{92A3118D-C1F4-E041-9C2B-47C5C2C50652}" presName="DropPin" presStyleLbl="alignNode1" presStyleIdx="4" presStyleCnt="6"/>
      <dgm:spPr/>
    </dgm:pt>
    <dgm:pt modelId="{5354FFFA-FD07-CE4F-AA59-10FA4B235651}" type="pres">
      <dgm:prSet presAssocID="{92A3118D-C1F4-E041-9C2B-47C5C2C50652}" presName="Ellipse" presStyleLbl="fgAcc1" presStyleIdx="4" presStyleCnt="6"/>
      <dgm:spPr/>
    </dgm:pt>
    <dgm:pt modelId="{90DA75E6-E7E7-8542-8150-01E9FB428412}" type="pres">
      <dgm:prSet presAssocID="{92A3118D-C1F4-E041-9C2B-47C5C2C50652}" presName="L2TextContainer" presStyleLbl="revTx" presStyleIdx="8" presStyleCnt="12">
        <dgm:presLayoutVars>
          <dgm:bulletEnabled val="1"/>
        </dgm:presLayoutVars>
      </dgm:prSet>
      <dgm:spPr/>
    </dgm:pt>
    <dgm:pt modelId="{3211E73E-7B59-134F-8745-A76A9ADD9316}" type="pres">
      <dgm:prSet presAssocID="{92A3118D-C1F4-E041-9C2B-47C5C2C50652}" presName="L1TextContainer" presStyleLbl="revTx" presStyleIdx="9" presStyleCnt="12">
        <dgm:presLayoutVars>
          <dgm:chMax val="1"/>
          <dgm:chPref val="1"/>
          <dgm:bulletEnabled val="1"/>
        </dgm:presLayoutVars>
      </dgm:prSet>
      <dgm:spPr/>
    </dgm:pt>
    <dgm:pt modelId="{29DD1C4F-0146-274E-B055-9FA4261D8D6E}" type="pres">
      <dgm:prSet presAssocID="{92A3118D-C1F4-E041-9C2B-47C5C2C50652}" presName="ConnectLine" presStyleLbl="dkBgShp" presStyleIdx="6" presStyleCnt="8"/>
      <dgm:spPr/>
    </dgm:pt>
    <dgm:pt modelId="{624CBD09-D26D-0C4F-94E0-260630E70DA5}" type="pres">
      <dgm:prSet presAssocID="{92A3118D-C1F4-E041-9C2B-47C5C2C50652}" presName="ConnectorPoint" presStyleCnt="0"/>
      <dgm:spPr/>
    </dgm:pt>
    <dgm:pt modelId="{0719E342-F5E7-DE43-B9F1-D0C0EDD6D4F2}" type="pres">
      <dgm:prSet presAssocID="{92A3118D-C1F4-E041-9C2B-47C5C2C50652}" presName="Bullet" presStyleLbl="lnNode1" presStyleIdx="4" presStyleCnt="6"/>
      <dgm:spPr/>
    </dgm:pt>
    <dgm:pt modelId="{6A2BE19F-C867-EC49-BD92-F99E3AB92BB2}" type="pres">
      <dgm:prSet presAssocID="{92A3118D-C1F4-E041-9C2B-47C5C2C50652}" presName="EmptyPlaceHolder" presStyleCnt="0"/>
      <dgm:spPr/>
    </dgm:pt>
    <dgm:pt modelId="{359187A3-A098-D945-B36D-8FD38B513DE3}" type="pres">
      <dgm:prSet presAssocID="{F87F3D49-3EDF-DA41-9A31-77B1C748BF07}" presName="spaceBetweenRectangles" presStyleCnt="0"/>
      <dgm:spPr/>
    </dgm:pt>
    <dgm:pt modelId="{88F8F902-C186-0B4A-A3B3-A0F33AF90BCD}" type="pres">
      <dgm:prSet presAssocID="{28C75E81-8A14-7C48-B49C-5DECC7B13C09}" presName="composite" presStyleCnt="0"/>
      <dgm:spPr/>
    </dgm:pt>
    <dgm:pt modelId="{2895E5A4-E365-124A-B631-8C01FE9E7F3D}" type="pres">
      <dgm:prSet presAssocID="{28C75E81-8A14-7C48-B49C-5DECC7B13C09}" presName="DropPinPlaceHolder" presStyleCnt="0"/>
      <dgm:spPr/>
    </dgm:pt>
    <dgm:pt modelId="{D4B41401-B6CD-274E-AD16-8A0F588B7745}" type="pres">
      <dgm:prSet presAssocID="{28C75E81-8A14-7C48-B49C-5DECC7B13C09}" presName="DropPin" presStyleLbl="alignNode1" presStyleIdx="5" presStyleCnt="6"/>
      <dgm:spPr/>
    </dgm:pt>
    <dgm:pt modelId="{A984486F-14FB-2044-A0C4-EC6F1D4F582A}" type="pres">
      <dgm:prSet presAssocID="{28C75E81-8A14-7C48-B49C-5DECC7B13C09}" presName="Ellipse" presStyleLbl="fgAcc1" presStyleIdx="5" presStyleCnt="6"/>
      <dgm:spPr/>
    </dgm:pt>
    <dgm:pt modelId="{42E6C4EB-60B6-2047-8E08-D0AE378B26DE}" type="pres">
      <dgm:prSet presAssocID="{28C75E81-8A14-7C48-B49C-5DECC7B13C09}" presName="L2TextContainer" presStyleLbl="revTx" presStyleIdx="10" presStyleCnt="12">
        <dgm:presLayoutVars>
          <dgm:bulletEnabled val="1"/>
        </dgm:presLayoutVars>
      </dgm:prSet>
      <dgm:spPr/>
    </dgm:pt>
    <dgm:pt modelId="{97956377-FA61-7147-A60E-85DBF42B0B82}" type="pres">
      <dgm:prSet presAssocID="{28C75E81-8A14-7C48-B49C-5DECC7B13C09}" presName="L1TextContainer" presStyleLbl="revTx" presStyleIdx="11" presStyleCnt="12">
        <dgm:presLayoutVars>
          <dgm:chMax val="1"/>
          <dgm:chPref val="1"/>
          <dgm:bulletEnabled val="1"/>
        </dgm:presLayoutVars>
      </dgm:prSet>
      <dgm:spPr/>
    </dgm:pt>
    <dgm:pt modelId="{2A8A853B-FB7C-CD46-9894-CE193A4E353C}" type="pres">
      <dgm:prSet presAssocID="{28C75E81-8A14-7C48-B49C-5DECC7B13C09}" presName="ConnectLine" presStyleLbl="dkBgShp" presStyleIdx="7" presStyleCnt="8"/>
      <dgm:spPr/>
    </dgm:pt>
    <dgm:pt modelId="{D9A56BA0-5FF7-1048-93DD-A5147C85B1AE}" type="pres">
      <dgm:prSet presAssocID="{28C75E81-8A14-7C48-B49C-5DECC7B13C09}" presName="ConnectorPoint" presStyleCnt="0"/>
      <dgm:spPr/>
    </dgm:pt>
    <dgm:pt modelId="{34C51433-AC32-504F-8256-8B74A8117860}" type="pres">
      <dgm:prSet presAssocID="{28C75E81-8A14-7C48-B49C-5DECC7B13C09}" presName="Bullet" presStyleLbl="lnNode1" presStyleIdx="5" presStyleCnt="6"/>
      <dgm:spPr/>
    </dgm:pt>
    <dgm:pt modelId="{763F343C-BAFF-2A4C-B334-A2DEA9B4AF48}" type="pres">
      <dgm:prSet presAssocID="{28C75E81-8A14-7C48-B49C-5DECC7B13C09}" presName="EmptyPlaceHolder" presStyleCnt="0"/>
      <dgm:spPr/>
    </dgm:pt>
  </dgm:ptLst>
  <dgm:cxnLst>
    <dgm:cxn modelId="{FA204206-964E-814B-8173-300F368C3E4C}" type="presOf" srcId="{28C75E81-8A14-7C48-B49C-5DECC7B13C09}" destId="{97956377-FA61-7147-A60E-85DBF42B0B82}" srcOrd="0" destOrd="0" presId="urn:microsoft.com/office/officeart/2024/layout/BulletTimelineInverted#1"/>
    <dgm:cxn modelId="{F450711C-1864-3946-9EC5-CF72DB18730A}" type="presOf" srcId="{5FFF22AF-B5AA-8F42-BDAF-72C5DCC11B09}" destId="{42E6C4EB-60B6-2047-8E08-D0AE378B26DE}" srcOrd="0" destOrd="0" presId="urn:microsoft.com/office/officeart/2024/layout/BulletTimelineInverted#1"/>
    <dgm:cxn modelId="{B33DBA2E-FF65-404C-B539-E67312A8F3EB}" type="presOf" srcId="{C9990C69-4250-334C-A4C0-66AA5334D15B}" destId="{90DA75E6-E7E7-8542-8150-01E9FB428412}" srcOrd="0" destOrd="0" presId="urn:microsoft.com/office/officeart/2024/layout/BulletTimelineInverted#1"/>
    <dgm:cxn modelId="{7071A630-15BF-EF45-831D-62A347CC6E82}" srcId="{63EEEEFF-730B-6446-944E-83EDB5286245}" destId="{59128EF0-C1D0-D546-ADC8-0D5CDDCC978A}" srcOrd="0" destOrd="0" parTransId="{5187AB6A-9600-7A45-AF34-9F16F0DF4DA9}" sibTransId="{DD12A722-1C51-BC44-91C2-B23CAE38B3CC}"/>
    <dgm:cxn modelId="{23AA6849-7215-684A-AC51-9AB7605DB057}" type="presOf" srcId="{63EEEEFF-730B-6446-944E-83EDB5286245}" destId="{1E9EAA78-5BAE-7649-8F30-BBFAFB85022C}" srcOrd="0" destOrd="0" presId="urn:microsoft.com/office/officeart/2024/layout/BulletTimelineInverted#1"/>
    <dgm:cxn modelId="{708ED74B-2437-FA4C-AF91-BFDBBBDA4B35}" type="presOf" srcId="{0208C73C-7537-0046-9DA5-58EF3BFC6D35}" destId="{51D838DD-967B-C14C-8D68-94EB672CCB55}" srcOrd="0" destOrd="0" presId="urn:microsoft.com/office/officeart/2024/layout/BulletTimelineInverted#1"/>
    <dgm:cxn modelId="{903AF56B-6E12-204F-8053-62245536E1D9}" srcId="{F225E5C3-A4FA-8842-B9FD-F862142E29C8}" destId="{F1709DD2-3ED9-7D4B-807E-532936B0D5A6}" srcOrd="3" destOrd="0" parTransId="{7E3DE460-1FE8-F44D-8EAC-2E093B12C2EE}" sibTransId="{1AC03CBB-48DC-3542-A4E6-4C837CA6903F}"/>
    <dgm:cxn modelId="{C2DC0755-651F-6548-BC9C-204AE21FEB5D}" srcId="{F1709DD2-3ED9-7D4B-807E-532936B0D5A6}" destId="{0208C73C-7537-0046-9DA5-58EF3BFC6D35}" srcOrd="0" destOrd="0" parTransId="{419D65ED-122F-2948-A2A3-8707986D6E70}" sibTransId="{573F4AD7-D4D6-0D40-A6A6-F903AE7D0314}"/>
    <dgm:cxn modelId="{9B99367A-D99E-EE41-8894-706E2637D394}" type="presOf" srcId="{15DB07C3-0E39-4E44-89F1-02034BC872AE}" destId="{38E98EB4-EAE0-6346-A60D-912E776BF22F}" srcOrd="0" destOrd="0" presId="urn:microsoft.com/office/officeart/2024/layout/BulletTimelineInverted#1"/>
    <dgm:cxn modelId="{2C648E7B-3610-1649-9045-303C0AACBF03}" type="presOf" srcId="{F1709DD2-3ED9-7D4B-807E-532936B0D5A6}" destId="{4BA03182-A642-8046-97FE-C32CFDC80991}" srcOrd="0" destOrd="0" presId="urn:microsoft.com/office/officeart/2024/layout/BulletTimelineInverted#1"/>
    <dgm:cxn modelId="{6307127C-7C94-CE40-83A4-549DCF7C9630}" type="presOf" srcId="{94301105-4BCC-A540-A327-C3BBDD8E244F}" destId="{7C16918C-8D7C-1741-8517-3C4830D16DCB}" srcOrd="0" destOrd="0" presId="urn:microsoft.com/office/officeart/2024/layout/BulletTimelineInverted#1"/>
    <dgm:cxn modelId="{3FFAA68A-EE43-8F41-9C9E-3B26FB83D5B4}" srcId="{F225E5C3-A4FA-8842-B9FD-F862142E29C8}" destId="{94301105-4BCC-A540-A327-C3BBDD8E244F}" srcOrd="0" destOrd="0" parTransId="{B58EDCCA-87C3-334E-8B5A-F6B56B2B711E}" sibTransId="{990B2901-8E55-944C-A301-2EB6367B7AA7}"/>
    <dgm:cxn modelId="{3BD5C68E-1E1C-B744-BBC7-1927581B06A8}" type="presOf" srcId="{F225E5C3-A4FA-8842-B9FD-F862142E29C8}" destId="{F9C17D90-1E89-724C-B26B-31CCE0200E0F}" srcOrd="0" destOrd="0" presId="urn:microsoft.com/office/officeart/2024/layout/BulletTimelineInverted#1"/>
    <dgm:cxn modelId="{F011A9A8-FA9A-3544-97B8-C443CD8F527E}" type="presOf" srcId="{59128EF0-C1D0-D546-ADC8-0D5CDDCC978A}" destId="{C9FC196C-688B-D748-9087-055A2D3F3A88}" srcOrd="0" destOrd="0" presId="urn:microsoft.com/office/officeart/2024/layout/BulletTimelineInverted#1"/>
    <dgm:cxn modelId="{0A3524B2-40C2-3248-85B3-51D95DABD50F}" srcId="{28C75E81-8A14-7C48-B49C-5DECC7B13C09}" destId="{5FFF22AF-B5AA-8F42-BDAF-72C5DCC11B09}" srcOrd="0" destOrd="0" parTransId="{47678D26-42CA-3D42-B543-0337FF9CD8AB}" sibTransId="{062127C2-F78B-1A4B-85F3-4CA1F4B3CEE0}"/>
    <dgm:cxn modelId="{A9C31FB7-487C-6D41-AEE8-1A615ECA65FD}" srcId="{92A3118D-C1F4-E041-9C2B-47C5C2C50652}" destId="{C9990C69-4250-334C-A4C0-66AA5334D15B}" srcOrd="0" destOrd="0" parTransId="{A2726353-E9D6-2542-954D-9329251A1D45}" sibTransId="{C3929728-F159-C64D-A4F5-B7C3B2786C65}"/>
    <dgm:cxn modelId="{7B2422BF-0B9F-D84E-98F1-09086011F292}" type="presOf" srcId="{E74F76A8-C5B9-FA43-ACF9-E28323DAFD15}" destId="{237505D8-C5B6-3544-9D1C-6226530ADEE9}" srcOrd="0" destOrd="0" presId="urn:microsoft.com/office/officeart/2024/layout/BulletTimelineInverted#1"/>
    <dgm:cxn modelId="{CB0BF6C0-5D14-D944-92B2-5649DE8A8F91}" srcId="{F225E5C3-A4FA-8842-B9FD-F862142E29C8}" destId="{92A3118D-C1F4-E041-9C2B-47C5C2C50652}" srcOrd="4" destOrd="0" parTransId="{CB19AB34-8407-FA49-8C44-8D88E1F2C1D9}" sibTransId="{F87F3D49-3EDF-DA41-9A31-77B1C748BF07}"/>
    <dgm:cxn modelId="{03A80BC6-AA83-9341-93B9-B39ED90ED933}" type="presOf" srcId="{92A3118D-C1F4-E041-9C2B-47C5C2C50652}" destId="{3211E73E-7B59-134F-8745-A76A9ADD9316}" srcOrd="0" destOrd="0" presId="urn:microsoft.com/office/officeart/2024/layout/BulletTimelineInverted#1"/>
    <dgm:cxn modelId="{ABBEFAD3-609F-C743-9F02-2FFE9140333F}" srcId="{15DB07C3-0E39-4E44-89F1-02034BC872AE}" destId="{E74F76A8-C5B9-FA43-ACF9-E28323DAFD15}" srcOrd="0" destOrd="0" parTransId="{A28B7E31-DB58-FF49-9B7E-D7C1D501E0F6}" sibTransId="{04E6C4DA-BDF3-3344-955D-56A647745E74}"/>
    <dgm:cxn modelId="{449221D5-08FB-8740-B324-8D931841DF17}" srcId="{F225E5C3-A4FA-8842-B9FD-F862142E29C8}" destId="{15DB07C3-0E39-4E44-89F1-02034BC872AE}" srcOrd="1" destOrd="0" parTransId="{D1AA3355-3411-974C-B4A6-9C2D3FAE066A}" sibTransId="{6E3A21EE-EB18-B647-A1D3-9A1EF61534AE}"/>
    <dgm:cxn modelId="{8CA980E4-94EA-D140-93C3-E8A5ED417336}" type="presOf" srcId="{E051AA33-4013-5F45-BACB-173F5D8CBD78}" destId="{9945AEC1-0210-CA41-A585-96B47C7CB759}" srcOrd="0" destOrd="0" presId="urn:microsoft.com/office/officeart/2024/layout/BulletTimelineInverted#1"/>
    <dgm:cxn modelId="{7203BCE6-B3CA-134C-83C5-18DB5D6C4218}" srcId="{F225E5C3-A4FA-8842-B9FD-F862142E29C8}" destId="{28C75E81-8A14-7C48-B49C-5DECC7B13C09}" srcOrd="5" destOrd="0" parTransId="{7B7BE4AC-B7D8-3345-9BD9-B0E46193CC3A}" sibTransId="{D79AF923-1E9D-C246-8ADB-31CF520B0E4B}"/>
    <dgm:cxn modelId="{275D1CEA-F6BC-224F-A222-5EEABA7043E8}" srcId="{F225E5C3-A4FA-8842-B9FD-F862142E29C8}" destId="{63EEEEFF-730B-6446-944E-83EDB5286245}" srcOrd="2" destOrd="0" parTransId="{AE0B700A-A878-3449-A113-5654032CD432}" sibTransId="{91A9F6D1-D645-4C4E-BABE-18A59CBDF2E5}"/>
    <dgm:cxn modelId="{021E5FFF-C400-EB4F-9AF2-214A2093ADB9}" srcId="{94301105-4BCC-A540-A327-C3BBDD8E244F}" destId="{E051AA33-4013-5F45-BACB-173F5D8CBD78}" srcOrd="0" destOrd="0" parTransId="{F7C8BE07-6481-254B-8B53-414CFA60D24D}" sibTransId="{DA733E3A-9C9A-F548-80E2-58C4C48ADF4A}"/>
    <dgm:cxn modelId="{29FD7320-D739-7B41-91D2-05693D3D168C}" type="presParOf" srcId="{F9C17D90-1E89-724C-B26B-31CCE0200E0F}" destId="{5C8DFF40-3E7F-E444-8EDD-7115D0E48338}" srcOrd="0" destOrd="0" presId="urn:microsoft.com/office/officeart/2024/layout/BulletTimelineInverted#1"/>
    <dgm:cxn modelId="{8A1EC492-167B-D740-848B-D021A9BD2E5B}" type="presParOf" srcId="{5C8DFF40-3E7F-E444-8EDD-7115D0E48338}" destId="{2B0254E2-E36E-FB47-9E5E-A8A9AABD362C}" srcOrd="0" destOrd="0" presId="urn:microsoft.com/office/officeart/2024/layout/BulletTimelineInverted#1"/>
    <dgm:cxn modelId="{E33907C9-FF60-6540-9011-2483C8683828}" type="presParOf" srcId="{5C8DFF40-3E7F-E444-8EDD-7115D0E48338}" destId="{2AEAA8E9-1AB0-DE48-94F6-EE9FC56F8B29}" srcOrd="1" destOrd="0" presId="urn:microsoft.com/office/officeart/2024/layout/BulletTimelineInverted#1"/>
    <dgm:cxn modelId="{F8BB4449-3056-9C4D-BB53-1CEE887033EC}" type="presParOf" srcId="{F9C17D90-1E89-724C-B26B-31CCE0200E0F}" destId="{24CE9A05-AF04-ED41-B00A-2E1587B52E3B}" srcOrd="1" destOrd="0" presId="urn:microsoft.com/office/officeart/2024/layout/BulletTimelineInverted#1"/>
    <dgm:cxn modelId="{A25C6F3D-C219-1B46-8EE0-5AFABEDF70CB}" type="presParOf" srcId="{24CE9A05-AF04-ED41-B00A-2E1587B52E3B}" destId="{B10E72E9-1F63-FF44-8C0C-C4201EDE165D}" srcOrd="0" destOrd="0" presId="urn:microsoft.com/office/officeart/2024/layout/BulletTimelineInverted#1"/>
    <dgm:cxn modelId="{07149F68-11F4-C149-86D3-4D63498E3255}" type="presParOf" srcId="{B10E72E9-1F63-FF44-8C0C-C4201EDE165D}" destId="{6B29A27F-D237-1048-9263-A3AD2120B4E5}" srcOrd="0" destOrd="0" presId="urn:microsoft.com/office/officeart/2024/layout/BulletTimelineInverted#1"/>
    <dgm:cxn modelId="{BA026B44-09C8-8B4C-A112-32AA2565EC9C}" type="presParOf" srcId="{6B29A27F-D237-1048-9263-A3AD2120B4E5}" destId="{61D43120-FC2B-7D42-A8A0-8488741A035E}" srcOrd="0" destOrd="0" presId="urn:microsoft.com/office/officeart/2024/layout/BulletTimelineInverted#1"/>
    <dgm:cxn modelId="{F1144767-FD13-F046-ADB3-7238C4E6C9A4}" type="presParOf" srcId="{6B29A27F-D237-1048-9263-A3AD2120B4E5}" destId="{CC87A6DB-B977-A44C-9E3B-61ED11DEDC8B}" srcOrd="1" destOrd="0" presId="urn:microsoft.com/office/officeart/2024/layout/BulletTimelineInverted#1"/>
    <dgm:cxn modelId="{58BB4343-C1B4-6149-8A22-095C0DFCC0D9}" type="presParOf" srcId="{B10E72E9-1F63-FF44-8C0C-C4201EDE165D}" destId="{9945AEC1-0210-CA41-A585-96B47C7CB759}" srcOrd="1" destOrd="0" presId="urn:microsoft.com/office/officeart/2024/layout/BulletTimelineInverted#1"/>
    <dgm:cxn modelId="{51A86CE7-3695-A545-B863-B5F2C36BFF40}" type="presParOf" srcId="{B10E72E9-1F63-FF44-8C0C-C4201EDE165D}" destId="{7C16918C-8D7C-1741-8517-3C4830D16DCB}" srcOrd="2" destOrd="0" presId="urn:microsoft.com/office/officeart/2024/layout/BulletTimelineInverted#1"/>
    <dgm:cxn modelId="{B422B0B4-B2DC-7548-BBCB-B101E9D6D645}" type="presParOf" srcId="{B10E72E9-1F63-FF44-8C0C-C4201EDE165D}" destId="{92D95A11-439C-9148-BD6E-7922501B80E8}" srcOrd="3" destOrd="0" presId="urn:microsoft.com/office/officeart/2024/layout/BulletTimelineInverted#1"/>
    <dgm:cxn modelId="{C6BDDA53-2F47-B14B-997F-790191FA62B3}" type="presParOf" srcId="{B10E72E9-1F63-FF44-8C0C-C4201EDE165D}" destId="{E2EFC95A-9FBC-3B45-BCD1-5B01AD432C41}" srcOrd="4" destOrd="0" presId="urn:microsoft.com/office/officeart/2024/layout/BulletTimelineInverted#1"/>
    <dgm:cxn modelId="{C0F23D10-FB86-854F-A563-FBC2A57DA602}" type="presParOf" srcId="{E2EFC95A-9FBC-3B45-BCD1-5B01AD432C41}" destId="{CC67D15E-F51B-4446-97A2-105CBEA68BE4}" srcOrd="0" destOrd="0" presId="urn:microsoft.com/office/officeart/2024/layout/BulletTimelineInverted#1"/>
    <dgm:cxn modelId="{4DDFC1AB-9A23-0B4E-AF8A-8BEB69FEDADD}" type="presParOf" srcId="{B10E72E9-1F63-FF44-8C0C-C4201EDE165D}" destId="{4C0A2A4C-5CF7-5B46-81EE-38592E80973B}" srcOrd="5" destOrd="0" presId="urn:microsoft.com/office/officeart/2024/layout/BulletTimelineInverted#1"/>
    <dgm:cxn modelId="{709D7541-D88E-5C44-9F59-234E2D5153CF}" type="presParOf" srcId="{24CE9A05-AF04-ED41-B00A-2E1587B52E3B}" destId="{BD8F0DA5-248C-7448-9A20-8FECFC401D19}" srcOrd="1" destOrd="0" presId="urn:microsoft.com/office/officeart/2024/layout/BulletTimelineInverted#1"/>
    <dgm:cxn modelId="{108B769B-7EB4-744E-8E81-9BA33B8E5EC8}" type="presParOf" srcId="{24CE9A05-AF04-ED41-B00A-2E1587B52E3B}" destId="{363E4110-7C89-3B4F-8236-5B983ECDDF34}" srcOrd="2" destOrd="0" presId="urn:microsoft.com/office/officeart/2024/layout/BulletTimelineInverted#1"/>
    <dgm:cxn modelId="{AC4BEE3D-1460-1D4C-B5B0-F429ECE2E07C}" type="presParOf" srcId="{363E4110-7C89-3B4F-8236-5B983ECDDF34}" destId="{A879BAA5-2A5D-6741-9E51-E15779DD25E8}" srcOrd="0" destOrd="0" presId="urn:microsoft.com/office/officeart/2024/layout/BulletTimelineInverted#1"/>
    <dgm:cxn modelId="{9750F6BF-EFD2-B642-9FA4-333BA05E548D}" type="presParOf" srcId="{A879BAA5-2A5D-6741-9E51-E15779DD25E8}" destId="{6633D4A2-E438-4143-A043-83A4749133C4}" srcOrd="0" destOrd="0" presId="urn:microsoft.com/office/officeart/2024/layout/BulletTimelineInverted#1"/>
    <dgm:cxn modelId="{F4167A29-77B6-994A-88B3-AEA876CE9192}" type="presParOf" srcId="{A879BAA5-2A5D-6741-9E51-E15779DD25E8}" destId="{2EF158DE-E02C-1E4A-A654-8295AE1466F6}" srcOrd="1" destOrd="0" presId="urn:microsoft.com/office/officeart/2024/layout/BulletTimelineInverted#1"/>
    <dgm:cxn modelId="{EC17ACB3-7327-EA44-BBE1-425015F8E29E}" type="presParOf" srcId="{363E4110-7C89-3B4F-8236-5B983ECDDF34}" destId="{237505D8-C5B6-3544-9D1C-6226530ADEE9}" srcOrd="1" destOrd="0" presId="urn:microsoft.com/office/officeart/2024/layout/BulletTimelineInverted#1"/>
    <dgm:cxn modelId="{8B33F02B-7CE3-FB4C-B981-754EC9CEB40A}" type="presParOf" srcId="{363E4110-7C89-3B4F-8236-5B983ECDDF34}" destId="{38E98EB4-EAE0-6346-A60D-912E776BF22F}" srcOrd="2" destOrd="0" presId="urn:microsoft.com/office/officeart/2024/layout/BulletTimelineInverted#1"/>
    <dgm:cxn modelId="{861E138A-80CE-7E46-9FA0-0CDED663B398}" type="presParOf" srcId="{363E4110-7C89-3B4F-8236-5B983ECDDF34}" destId="{F4CB055B-C0CB-3C48-B9C5-51DEF0EA3B15}" srcOrd="3" destOrd="0" presId="urn:microsoft.com/office/officeart/2024/layout/BulletTimelineInverted#1"/>
    <dgm:cxn modelId="{603DC40A-B1FA-1044-A824-FF9B0567F8CF}" type="presParOf" srcId="{363E4110-7C89-3B4F-8236-5B983ECDDF34}" destId="{7A3EF554-5287-5140-8686-6556DE6523A5}" srcOrd="4" destOrd="0" presId="urn:microsoft.com/office/officeart/2024/layout/BulletTimelineInverted#1"/>
    <dgm:cxn modelId="{8E5098E5-89F3-6D46-9CE2-88FE75FE6F64}" type="presParOf" srcId="{7A3EF554-5287-5140-8686-6556DE6523A5}" destId="{35E91515-0B18-2F4E-9EB0-83B02142A5E9}" srcOrd="0" destOrd="0" presId="urn:microsoft.com/office/officeart/2024/layout/BulletTimelineInverted#1"/>
    <dgm:cxn modelId="{1A086F67-6036-514D-A0C5-79CFC7234949}" type="presParOf" srcId="{363E4110-7C89-3B4F-8236-5B983ECDDF34}" destId="{CB83EEBE-0D8B-CD4B-B2FC-D1FC2A54EF86}" srcOrd="5" destOrd="0" presId="urn:microsoft.com/office/officeart/2024/layout/BulletTimelineInverted#1"/>
    <dgm:cxn modelId="{9D42DEC7-6727-374B-A41D-C3CFAE2BAEA0}" type="presParOf" srcId="{24CE9A05-AF04-ED41-B00A-2E1587B52E3B}" destId="{C39F97A3-C43B-CE4A-AD44-85A5065BB9E3}" srcOrd="3" destOrd="0" presId="urn:microsoft.com/office/officeart/2024/layout/BulletTimelineInverted#1"/>
    <dgm:cxn modelId="{7B21C0E5-DFA3-604C-ABE5-18E822F46626}" type="presParOf" srcId="{24CE9A05-AF04-ED41-B00A-2E1587B52E3B}" destId="{8274DF88-42A8-964E-8038-4FCC507325C8}" srcOrd="4" destOrd="0" presId="urn:microsoft.com/office/officeart/2024/layout/BulletTimelineInverted#1"/>
    <dgm:cxn modelId="{7B45141B-B465-AB40-A8A2-B65300F19664}" type="presParOf" srcId="{8274DF88-42A8-964E-8038-4FCC507325C8}" destId="{E390B298-779B-7C45-A22F-F6F7797E8B0A}" srcOrd="0" destOrd="0" presId="urn:microsoft.com/office/officeart/2024/layout/BulletTimelineInverted#1"/>
    <dgm:cxn modelId="{77B7EB33-324C-664B-B092-3607B71D7FB5}" type="presParOf" srcId="{E390B298-779B-7C45-A22F-F6F7797E8B0A}" destId="{BBEF23B8-2E7C-6943-B913-3C17BB959F91}" srcOrd="0" destOrd="0" presId="urn:microsoft.com/office/officeart/2024/layout/BulletTimelineInverted#1"/>
    <dgm:cxn modelId="{2147680E-8E1D-BF4E-9652-3FB297CF8460}" type="presParOf" srcId="{E390B298-779B-7C45-A22F-F6F7797E8B0A}" destId="{04FC1046-63C6-1E45-9AA7-92581F8B7151}" srcOrd="1" destOrd="0" presId="urn:microsoft.com/office/officeart/2024/layout/BulletTimelineInverted#1"/>
    <dgm:cxn modelId="{EF45F2C1-F0AD-244C-AAC6-2A38A32E6734}" type="presParOf" srcId="{8274DF88-42A8-964E-8038-4FCC507325C8}" destId="{C9FC196C-688B-D748-9087-055A2D3F3A88}" srcOrd="1" destOrd="0" presId="urn:microsoft.com/office/officeart/2024/layout/BulletTimelineInverted#1"/>
    <dgm:cxn modelId="{DAF4B05C-5C76-064D-B035-1B629F6ED835}" type="presParOf" srcId="{8274DF88-42A8-964E-8038-4FCC507325C8}" destId="{1E9EAA78-5BAE-7649-8F30-BBFAFB85022C}" srcOrd="2" destOrd="0" presId="urn:microsoft.com/office/officeart/2024/layout/BulletTimelineInverted#1"/>
    <dgm:cxn modelId="{9604F324-75C3-4740-9E65-9D0614539EA5}" type="presParOf" srcId="{8274DF88-42A8-964E-8038-4FCC507325C8}" destId="{03763B45-9B10-ED4C-B1CA-622A4D5AA565}" srcOrd="3" destOrd="0" presId="urn:microsoft.com/office/officeart/2024/layout/BulletTimelineInverted#1"/>
    <dgm:cxn modelId="{650D2584-EC01-1E46-A148-B50B1D1DC566}" type="presParOf" srcId="{8274DF88-42A8-964E-8038-4FCC507325C8}" destId="{8FAD4C13-24C1-E749-9275-AF887733CD48}" srcOrd="4" destOrd="0" presId="urn:microsoft.com/office/officeart/2024/layout/BulletTimelineInverted#1"/>
    <dgm:cxn modelId="{08503085-1A78-754A-9E2D-DE8A3C98BDD5}" type="presParOf" srcId="{8FAD4C13-24C1-E749-9275-AF887733CD48}" destId="{AACD17B8-AA7D-D04E-90A7-A453E2CD6BEB}" srcOrd="0" destOrd="0" presId="urn:microsoft.com/office/officeart/2024/layout/BulletTimelineInverted#1"/>
    <dgm:cxn modelId="{25044691-8E00-F040-85CC-FA3435466CE7}" type="presParOf" srcId="{8274DF88-42A8-964E-8038-4FCC507325C8}" destId="{E03B86D2-57D7-E54D-BAD9-EBE4B59F33B4}" srcOrd="5" destOrd="0" presId="urn:microsoft.com/office/officeart/2024/layout/BulletTimelineInverted#1"/>
    <dgm:cxn modelId="{9495CF32-D4FC-DD43-BFE6-6CE1EB944C71}" type="presParOf" srcId="{24CE9A05-AF04-ED41-B00A-2E1587B52E3B}" destId="{E85076B6-6DA6-4140-8F75-F8DB3BC0F759}" srcOrd="5" destOrd="0" presId="urn:microsoft.com/office/officeart/2024/layout/BulletTimelineInverted#1"/>
    <dgm:cxn modelId="{78839EF4-9C93-6948-86D3-A2444B664216}" type="presParOf" srcId="{24CE9A05-AF04-ED41-B00A-2E1587B52E3B}" destId="{C4848F83-3073-2143-AA1F-44A554CA49BB}" srcOrd="6" destOrd="0" presId="urn:microsoft.com/office/officeart/2024/layout/BulletTimelineInverted#1"/>
    <dgm:cxn modelId="{C96D0002-2377-E044-A0E4-0CDD97C41B72}" type="presParOf" srcId="{C4848F83-3073-2143-AA1F-44A554CA49BB}" destId="{7878192C-792F-0642-9F83-312FF80BF422}" srcOrd="0" destOrd="0" presId="urn:microsoft.com/office/officeart/2024/layout/BulletTimelineInverted#1"/>
    <dgm:cxn modelId="{01E31FF0-209C-8E49-B901-B2B854D29A9B}" type="presParOf" srcId="{7878192C-792F-0642-9F83-312FF80BF422}" destId="{04E67742-1301-F948-AE7D-0471E51B691D}" srcOrd="0" destOrd="0" presId="urn:microsoft.com/office/officeart/2024/layout/BulletTimelineInverted#1"/>
    <dgm:cxn modelId="{13C1CD33-CF79-5C42-92CD-88013C9083EA}" type="presParOf" srcId="{7878192C-792F-0642-9F83-312FF80BF422}" destId="{DD63C6E9-0080-3141-8CC7-0A4BD5CFF571}" srcOrd="1" destOrd="0" presId="urn:microsoft.com/office/officeart/2024/layout/BulletTimelineInverted#1"/>
    <dgm:cxn modelId="{0B71E680-A080-9B4A-B625-DC30CAD9885A}" type="presParOf" srcId="{C4848F83-3073-2143-AA1F-44A554CA49BB}" destId="{51D838DD-967B-C14C-8D68-94EB672CCB55}" srcOrd="1" destOrd="0" presId="urn:microsoft.com/office/officeart/2024/layout/BulletTimelineInverted#1"/>
    <dgm:cxn modelId="{58656787-F785-C64B-8F09-830564C99075}" type="presParOf" srcId="{C4848F83-3073-2143-AA1F-44A554CA49BB}" destId="{4BA03182-A642-8046-97FE-C32CFDC80991}" srcOrd="2" destOrd="0" presId="urn:microsoft.com/office/officeart/2024/layout/BulletTimelineInverted#1"/>
    <dgm:cxn modelId="{5CE05508-C0CA-CD4B-B092-9829D750C457}" type="presParOf" srcId="{C4848F83-3073-2143-AA1F-44A554CA49BB}" destId="{C5E71C1D-3D22-9149-906E-42E42F1EF377}" srcOrd="3" destOrd="0" presId="urn:microsoft.com/office/officeart/2024/layout/BulletTimelineInverted#1"/>
    <dgm:cxn modelId="{EF801EB8-0DC0-5C4A-8FAB-2EC3B98A0214}" type="presParOf" srcId="{C4848F83-3073-2143-AA1F-44A554CA49BB}" destId="{42786659-2B9D-544E-8A68-4EC337801FE8}" srcOrd="4" destOrd="0" presId="urn:microsoft.com/office/officeart/2024/layout/BulletTimelineInverted#1"/>
    <dgm:cxn modelId="{ACE0C2A6-896A-8444-A203-6A4D06D904AC}" type="presParOf" srcId="{42786659-2B9D-544E-8A68-4EC337801FE8}" destId="{6D5EC75E-3DDE-8844-A201-ED13115371E6}" srcOrd="0" destOrd="0" presId="urn:microsoft.com/office/officeart/2024/layout/BulletTimelineInverted#1"/>
    <dgm:cxn modelId="{8AF56AC3-5E2C-984B-88A2-B3B4D1E8089A}" type="presParOf" srcId="{C4848F83-3073-2143-AA1F-44A554CA49BB}" destId="{3F7709CA-D7A1-F745-A609-00FFE8A6221A}" srcOrd="5" destOrd="0" presId="urn:microsoft.com/office/officeart/2024/layout/BulletTimelineInverted#1"/>
    <dgm:cxn modelId="{E2E4EE4D-2307-6445-9267-8F029D42FB63}" type="presParOf" srcId="{24CE9A05-AF04-ED41-B00A-2E1587B52E3B}" destId="{6A4063C5-4A49-B24D-A3E6-95C0904777A6}" srcOrd="7" destOrd="0" presId="urn:microsoft.com/office/officeart/2024/layout/BulletTimelineInverted#1"/>
    <dgm:cxn modelId="{0656873B-CC23-3E4C-8B8C-0DE4D898EADC}" type="presParOf" srcId="{24CE9A05-AF04-ED41-B00A-2E1587B52E3B}" destId="{BE3F222A-8F76-504A-B9A2-46D8230CF0B0}" srcOrd="8" destOrd="0" presId="urn:microsoft.com/office/officeart/2024/layout/BulletTimelineInverted#1"/>
    <dgm:cxn modelId="{C2C58D37-A306-E442-ABFB-0B933E2F3234}" type="presParOf" srcId="{BE3F222A-8F76-504A-B9A2-46D8230CF0B0}" destId="{336B5581-0EE9-1840-BA22-434E7FBE2CA3}" srcOrd="0" destOrd="0" presId="urn:microsoft.com/office/officeart/2024/layout/BulletTimelineInverted#1"/>
    <dgm:cxn modelId="{A13465EA-9634-2945-9029-24061C701266}" type="presParOf" srcId="{336B5581-0EE9-1840-BA22-434E7FBE2CA3}" destId="{0DEC629A-59F7-414F-89C4-03F2D7965DED}" srcOrd="0" destOrd="0" presId="urn:microsoft.com/office/officeart/2024/layout/BulletTimelineInverted#1"/>
    <dgm:cxn modelId="{7C2B3BDD-EF4D-9E48-86B2-69EF72312A40}" type="presParOf" srcId="{336B5581-0EE9-1840-BA22-434E7FBE2CA3}" destId="{5354FFFA-FD07-CE4F-AA59-10FA4B235651}" srcOrd="1" destOrd="0" presId="urn:microsoft.com/office/officeart/2024/layout/BulletTimelineInverted#1"/>
    <dgm:cxn modelId="{AD2EB3E1-3EA9-CB41-928A-88A1FB562ACC}" type="presParOf" srcId="{BE3F222A-8F76-504A-B9A2-46D8230CF0B0}" destId="{90DA75E6-E7E7-8542-8150-01E9FB428412}" srcOrd="1" destOrd="0" presId="urn:microsoft.com/office/officeart/2024/layout/BulletTimelineInverted#1"/>
    <dgm:cxn modelId="{5FB3BEC8-65D3-5D43-AD06-684B77A92B8C}" type="presParOf" srcId="{BE3F222A-8F76-504A-B9A2-46D8230CF0B0}" destId="{3211E73E-7B59-134F-8745-A76A9ADD9316}" srcOrd="2" destOrd="0" presId="urn:microsoft.com/office/officeart/2024/layout/BulletTimelineInverted#1"/>
    <dgm:cxn modelId="{16D619AA-EFB2-1C40-B146-D454B83D5200}" type="presParOf" srcId="{BE3F222A-8F76-504A-B9A2-46D8230CF0B0}" destId="{29DD1C4F-0146-274E-B055-9FA4261D8D6E}" srcOrd="3" destOrd="0" presId="urn:microsoft.com/office/officeart/2024/layout/BulletTimelineInverted#1"/>
    <dgm:cxn modelId="{82910C25-1D70-8F45-B8C9-10210F02BA43}" type="presParOf" srcId="{BE3F222A-8F76-504A-B9A2-46D8230CF0B0}" destId="{624CBD09-D26D-0C4F-94E0-260630E70DA5}" srcOrd="4" destOrd="0" presId="urn:microsoft.com/office/officeart/2024/layout/BulletTimelineInverted#1"/>
    <dgm:cxn modelId="{89D80F7A-627E-1E46-8D70-3D81C36947D3}" type="presParOf" srcId="{624CBD09-D26D-0C4F-94E0-260630E70DA5}" destId="{0719E342-F5E7-DE43-B9F1-D0C0EDD6D4F2}" srcOrd="0" destOrd="0" presId="urn:microsoft.com/office/officeart/2024/layout/BulletTimelineInverted#1"/>
    <dgm:cxn modelId="{7AF88511-1C35-7A44-8E9C-0ADA3865C87B}" type="presParOf" srcId="{BE3F222A-8F76-504A-B9A2-46D8230CF0B0}" destId="{6A2BE19F-C867-EC49-BD92-F99E3AB92BB2}" srcOrd="5" destOrd="0" presId="urn:microsoft.com/office/officeart/2024/layout/BulletTimelineInverted#1"/>
    <dgm:cxn modelId="{DD0B4AE8-10F9-3D47-93F8-C79AB2ACDA70}" type="presParOf" srcId="{24CE9A05-AF04-ED41-B00A-2E1587B52E3B}" destId="{359187A3-A098-D945-B36D-8FD38B513DE3}" srcOrd="9" destOrd="0" presId="urn:microsoft.com/office/officeart/2024/layout/BulletTimelineInverted#1"/>
    <dgm:cxn modelId="{3943FC68-EA99-2D42-9C7E-00401AF9C7AA}" type="presParOf" srcId="{24CE9A05-AF04-ED41-B00A-2E1587B52E3B}" destId="{88F8F902-C186-0B4A-A3B3-A0F33AF90BCD}" srcOrd="10" destOrd="0" presId="urn:microsoft.com/office/officeart/2024/layout/BulletTimelineInverted#1"/>
    <dgm:cxn modelId="{59212F13-F25E-EF45-A381-80B362A4C551}" type="presParOf" srcId="{88F8F902-C186-0B4A-A3B3-A0F33AF90BCD}" destId="{2895E5A4-E365-124A-B631-8C01FE9E7F3D}" srcOrd="0" destOrd="0" presId="urn:microsoft.com/office/officeart/2024/layout/BulletTimelineInverted#1"/>
    <dgm:cxn modelId="{CF19EEA8-EE39-6246-B4AF-B3BC78F8BC51}" type="presParOf" srcId="{2895E5A4-E365-124A-B631-8C01FE9E7F3D}" destId="{D4B41401-B6CD-274E-AD16-8A0F588B7745}" srcOrd="0" destOrd="0" presId="urn:microsoft.com/office/officeart/2024/layout/BulletTimelineInverted#1"/>
    <dgm:cxn modelId="{F34C80B2-A1CA-D840-BE38-46C712C87D0C}" type="presParOf" srcId="{2895E5A4-E365-124A-B631-8C01FE9E7F3D}" destId="{A984486F-14FB-2044-A0C4-EC6F1D4F582A}" srcOrd="1" destOrd="0" presId="urn:microsoft.com/office/officeart/2024/layout/BulletTimelineInverted#1"/>
    <dgm:cxn modelId="{7020ADEA-1D52-834B-9363-FA9583AC2FE7}" type="presParOf" srcId="{88F8F902-C186-0B4A-A3B3-A0F33AF90BCD}" destId="{42E6C4EB-60B6-2047-8E08-D0AE378B26DE}" srcOrd="1" destOrd="0" presId="urn:microsoft.com/office/officeart/2024/layout/BulletTimelineInverted#1"/>
    <dgm:cxn modelId="{A6B537EC-CEA5-464B-8803-D1BD24FB6D1B}" type="presParOf" srcId="{88F8F902-C186-0B4A-A3B3-A0F33AF90BCD}" destId="{97956377-FA61-7147-A60E-85DBF42B0B82}" srcOrd="2" destOrd="0" presId="urn:microsoft.com/office/officeart/2024/layout/BulletTimelineInverted#1"/>
    <dgm:cxn modelId="{F71E1714-8C55-2543-A848-6ADE4E56E94F}" type="presParOf" srcId="{88F8F902-C186-0B4A-A3B3-A0F33AF90BCD}" destId="{2A8A853B-FB7C-CD46-9894-CE193A4E353C}" srcOrd="3" destOrd="0" presId="urn:microsoft.com/office/officeart/2024/layout/BulletTimelineInverted#1"/>
    <dgm:cxn modelId="{48227526-B148-B541-ADC8-1F3A0966A3ED}" type="presParOf" srcId="{88F8F902-C186-0B4A-A3B3-A0F33AF90BCD}" destId="{D9A56BA0-5FF7-1048-93DD-A5147C85B1AE}" srcOrd="4" destOrd="0" presId="urn:microsoft.com/office/officeart/2024/layout/BulletTimelineInverted#1"/>
    <dgm:cxn modelId="{90C8F193-B306-4F40-918C-086C78E358B7}" type="presParOf" srcId="{D9A56BA0-5FF7-1048-93DD-A5147C85B1AE}" destId="{34C51433-AC32-504F-8256-8B74A8117860}" srcOrd="0" destOrd="0" presId="urn:microsoft.com/office/officeart/2024/layout/BulletTimelineInverted#1"/>
    <dgm:cxn modelId="{B8B55308-157F-CC45-A21E-236BFDB03AED}" type="presParOf" srcId="{88F8F902-C186-0B4A-A3B3-A0F33AF90BCD}" destId="{763F343C-BAFF-2A4C-B334-A2DEA9B4AF48}" srcOrd="5" destOrd="0" presId="urn:microsoft.com/office/officeart/2024/layout/BulletTimelineInverte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0254E2-E36E-FB47-9E5E-A8A9AABD362C}">
      <dsp:nvSpPr>
        <dsp:cNvPr id="0" name=""/>
        <dsp:cNvSpPr/>
      </dsp:nvSpPr>
      <dsp:spPr>
        <a:xfrm>
          <a:off x="0" y="2682240"/>
          <a:ext cx="10778481" cy="54186"/>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2AEAA8E9-1AB0-DE48-94F6-EE9FC56F8B29}">
      <dsp:nvSpPr>
        <dsp:cNvPr id="0" name=""/>
        <dsp:cNvSpPr/>
      </dsp:nvSpPr>
      <dsp:spPr>
        <a:xfrm>
          <a:off x="10496648" y="2492586"/>
          <a:ext cx="325120" cy="433493"/>
        </a:xfrm>
        <a:prstGeom prst="chevron">
          <a:avLst>
            <a:gd name="adj" fmla="val 75000"/>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9945AEC1-0210-CA41-A585-96B47C7CB759}">
      <dsp:nvSpPr>
        <dsp:cNvPr id="0" name=""/>
        <dsp:cNvSpPr/>
      </dsp:nvSpPr>
      <dsp:spPr>
        <a:xfrm>
          <a:off x="659140" y="1362245"/>
          <a:ext cx="2433359" cy="1194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foundational lectures (part 1 of 2)</a:t>
          </a:r>
        </a:p>
      </dsp:txBody>
      <dsp:txXfrm>
        <a:off x="659140" y="1362245"/>
        <a:ext cx="2433359" cy="1194574"/>
      </dsp:txXfrm>
    </dsp:sp>
    <dsp:sp modelId="{7C16918C-8D7C-1741-8517-3C4830D16DCB}">
      <dsp:nvSpPr>
        <dsp:cNvPr id="0" name=""/>
        <dsp:cNvSpPr/>
      </dsp:nvSpPr>
      <dsp:spPr>
        <a:xfrm>
          <a:off x="659140" y="744362"/>
          <a:ext cx="2433359" cy="617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October 2026</a:t>
          </a:r>
        </a:p>
      </dsp:txBody>
      <dsp:txXfrm>
        <a:off x="659140" y="744362"/>
        <a:ext cx="2433359" cy="617883"/>
      </dsp:txXfrm>
    </dsp:sp>
    <dsp:sp modelId="{92D95A11-439C-9148-BD6E-7922501B80E8}">
      <dsp:nvSpPr>
        <dsp:cNvPr id="0" name=""/>
        <dsp:cNvSpPr/>
      </dsp:nvSpPr>
      <dsp:spPr>
        <a:xfrm>
          <a:off x="309673" y="703170"/>
          <a:ext cx="41113" cy="2018418"/>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7505D8-C5B6-3544-9D1C-6226530ADEE9}">
      <dsp:nvSpPr>
        <dsp:cNvPr id="0" name=""/>
        <dsp:cNvSpPr/>
      </dsp:nvSpPr>
      <dsp:spPr>
        <a:xfrm>
          <a:off x="2204729" y="3733281"/>
          <a:ext cx="2433359" cy="992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foundational lectures (part 2 of 2)</a:t>
          </a:r>
        </a:p>
      </dsp:txBody>
      <dsp:txXfrm>
        <a:off x="2204729" y="3733281"/>
        <a:ext cx="2433359" cy="992894"/>
      </dsp:txXfrm>
    </dsp:sp>
    <dsp:sp modelId="{38E98EB4-EAE0-6346-A60D-912E776BF22F}">
      <dsp:nvSpPr>
        <dsp:cNvPr id="0" name=""/>
        <dsp:cNvSpPr/>
      </dsp:nvSpPr>
      <dsp:spPr>
        <a:xfrm>
          <a:off x="2204729" y="3078393"/>
          <a:ext cx="2433359" cy="654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November 2026</a:t>
          </a:r>
        </a:p>
      </dsp:txBody>
      <dsp:txXfrm>
        <a:off x="2204729" y="3078393"/>
        <a:ext cx="2433359" cy="654887"/>
      </dsp:txXfrm>
    </dsp:sp>
    <dsp:sp modelId="{F4CB055B-C0CB-3C48-B9C5-51DEF0EA3B15}">
      <dsp:nvSpPr>
        <dsp:cNvPr id="0" name=""/>
        <dsp:cNvSpPr/>
      </dsp:nvSpPr>
      <dsp:spPr>
        <a:xfrm>
          <a:off x="1855263" y="2698136"/>
          <a:ext cx="41113" cy="2070289"/>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67D15E-F51B-4446-97A2-105CBEA68BE4}">
      <dsp:nvSpPr>
        <dsp:cNvPr id="0" name=""/>
        <dsp:cNvSpPr/>
      </dsp:nvSpPr>
      <dsp:spPr>
        <a:xfrm>
          <a:off x="223334" y="596274"/>
          <a:ext cx="213791" cy="2137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E91515-0B18-2F4E-9EB0-83B02142A5E9}">
      <dsp:nvSpPr>
        <dsp:cNvPr id="0" name=""/>
        <dsp:cNvSpPr/>
      </dsp:nvSpPr>
      <dsp:spPr>
        <a:xfrm>
          <a:off x="1768924" y="4661530"/>
          <a:ext cx="213791" cy="2137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FC196C-688B-D748-9087-055A2D3F3A88}">
      <dsp:nvSpPr>
        <dsp:cNvPr id="0" name=""/>
        <dsp:cNvSpPr/>
      </dsp:nvSpPr>
      <dsp:spPr>
        <a:xfrm>
          <a:off x="3750319" y="1362245"/>
          <a:ext cx="2433359" cy="1194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launch of modeling unit</a:t>
          </a:r>
        </a:p>
      </dsp:txBody>
      <dsp:txXfrm>
        <a:off x="3750319" y="1362245"/>
        <a:ext cx="2433359" cy="1194574"/>
      </dsp:txXfrm>
    </dsp:sp>
    <dsp:sp modelId="{1E9EAA78-5BAE-7649-8F30-BBFAFB85022C}">
      <dsp:nvSpPr>
        <dsp:cNvPr id="0" name=""/>
        <dsp:cNvSpPr/>
      </dsp:nvSpPr>
      <dsp:spPr>
        <a:xfrm>
          <a:off x="3750319" y="744362"/>
          <a:ext cx="2433359" cy="617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December 2026</a:t>
          </a:r>
        </a:p>
      </dsp:txBody>
      <dsp:txXfrm>
        <a:off x="3750319" y="744362"/>
        <a:ext cx="2433359" cy="617883"/>
      </dsp:txXfrm>
    </dsp:sp>
    <dsp:sp modelId="{03763B45-9B10-ED4C-B1CA-622A4D5AA565}">
      <dsp:nvSpPr>
        <dsp:cNvPr id="0" name=""/>
        <dsp:cNvSpPr/>
      </dsp:nvSpPr>
      <dsp:spPr>
        <a:xfrm>
          <a:off x="3400852" y="703170"/>
          <a:ext cx="41113" cy="2018418"/>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D838DD-967B-C14C-8D68-94EB672CCB55}">
      <dsp:nvSpPr>
        <dsp:cNvPr id="0" name=""/>
        <dsp:cNvSpPr/>
      </dsp:nvSpPr>
      <dsp:spPr>
        <a:xfrm>
          <a:off x="5295908" y="3733281"/>
          <a:ext cx="2433359" cy="992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training on CVD model (part 1 of 3)</a:t>
          </a:r>
        </a:p>
      </dsp:txBody>
      <dsp:txXfrm>
        <a:off x="5295908" y="3733281"/>
        <a:ext cx="2433359" cy="992894"/>
      </dsp:txXfrm>
    </dsp:sp>
    <dsp:sp modelId="{4BA03182-A642-8046-97FE-C32CFDC80991}">
      <dsp:nvSpPr>
        <dsp:cNvPr id="0" name=""/>
        <dsp:cNvSpPr/>
      </dsp:nvSpPr>
      <dsp:spPr>
        <a:xfrm>
          <a:off x="5295908" y="3078393"/>
          <a:ext cx="2433359" cy="654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January 2027</a:t>
          </a:r>
        </a:p>
      </dsp:txBody>
      <dsp:txXfrm>
        <a:off x="5295908" y="3078393"/>
        <a:ext cx="2433359" cy="654887"/>
      </dsp:txXfrm>
    </dsp:sp>
    <dsp:sp modelId="{C5E71C1D-3D22-9149-906E-42E42F1EF377}">
      <dsp:nvSpPr>
        <dsp:cNvPr id="0" name=""/>
        <dsp:cNvSpPr/>
      </dsp:nvSpPr>
      <dsp:spPr>
        <a:xfrm>
          <a:off x="4946442" y="2698136"/>
          <a:ext cx="41113" cy="2070289"/>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D17B8-AA7D-D04E-90A7-A453E2CD6BEB}">
      <dsp:nvSpPr>
        <dsp:cNvPr id="0" name=""/>
        <dsp:cNvSpPr/>
      </dsp:nvSpPr>
      <dsp:spPr>
        <a:xfrm>
          <a:off x="3314514" y="596274"/>
          <a:ext cx="213791" cy="2137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5EC75E-3DDE-8844-A201-ED13115371E6}">
      <dsp:nvSpPr>
        <dsp:cNvPr id="0" name=""/>
        <dsp:cNvSpPr/>
      </dsp:nvSpPr>
      <dsp:spPr>
        <a:xfrm>
          <a:off x="4860103" y="4661530"/>
          <a:ext cx="213791" cy="2137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DA75E6-E7E7-8542-8150-01E9FB428412}">
      <dsp:nvSpPr>
        <dsp:cNvPr id="0" name=""/>
        <dsp:cNvSpPr/>
      </dsp:nvSpPr>
      <dsp:spPr>
        <a:xfrm>
          <a:off x="6841498" y="1362245"/>
          <a:ext cx="2433359" cy="1194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training on CVD model (part 2 of 3)</a:t>
          </a:r>
        </a:p>
      </dsp:txBody>
      <dsp:txXfrm>
        <a:off x="6841498" y="1362245"/>
        <a:ext cx="2433359" cy="1194574"/>
      </dsp:txXfrm>
    </dsp:sp>
    <dsp:sp modelId="{3211E73E-7B59-134F-8745-A76A9ADD9316}">
      <dsp:nvSpPr>
        <dsp:cNvPr id="0" name=""/>
        <dsp:cNvSpPr/>
      </dsp:nvSpPr>
      <dsp:spPr>
        <a:xfrm>
          <a:off x="6841498" y="744362"/>
          <a:ext cx="2433359" cy="617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February 2027</a:t>
          </a:r>
        </a:p>
      </dsp:txBody>
      <dsp:txXfrm>
        <a:off x="6841498" y="744362"/>
        <a:ext cx="2433359" cy="617883"/>
      </dsp:txXfrm>
    </dsp:sp>
    <dsp:sp modelId="{29DD1C4F-0146-274E-B055-9FA4261D8D6E}">
      <dsp:nvSpPr>
        <dsp:cNvPr id="0" name=""/>
        <dsp:cNvSpPr/>
      </dsp:nvSpPr>
      <dsp:spPr>
        <a:xfrm>
          <a:off x="6492032" y="703170"/>
          <a:ext cx="41113" cy="2018418"/>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E6C4EB-60B6-2047-8E08-D0AE378B26DE}">
      <dsp:nvSpPr>
        <dsp:cNvPr id="0" name=""/>
        <dsp:cNvSpPr/>
      </dsp:nvSpPr>
      <dsp:spPr>
        <a:xfrm>
          <a:off x="8387088" y="3733281"/>
          <a:ext cx="2433359" cy="992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training on CVD model (part 3 of 3)</a:t>
          </a:r>
        </a:p>
      </dsp:txBody>
      <dsp:txXfrm>
        <a:off x="8387088" y="3733281"/>
        <a:ext cx="2433359" cy="992894"/>
      </dsp:txXfrm>
    </dsp:sp>
    <dsp:sp modelId="{97956377-FA61-7147-A60E-85DBF42B0B82}">
      <dsp:nvSpPr>
        <dsp:cNvPr id="0" name=""/>
        <dsp:cNvSpPr/>
      </dsp:nvSpPr>
      <dsp:spPr>
        <a:xfrm>
          <a:off x="8387088" y="3078393"/>
          <a:ext cx="2433359" cy="654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March 2027</a:t>
          </a:r>
        </a:p>
      </dsp:txBody>
      <dsp:txXfrm>
        <a:off x="8387088" y="3078393"/>
        <a:ext cx="2433359" cy="654887"/>
      </dsp:txXfrm>
    </dsp:sp>
    <dsp:sp modelId="{2A8A853B-FB7C-CD46-9894-CE193A4E353C}">
      <dsp:nvSpPr>
        <dsp:cNvPr id="0" name=""/>
        <dsp:cNvSpPr/>
      </dsp:nvSpPr>
      <dsp:spPr>
        <a:xfrm>
          <a:off x="8037621" y="2698136"/>
          <a:ext cx="41113" cy="2070289"/>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19E342-F5E7-DE43-B9F1-D0C0EDD6D4F2}">
      <dsp:nvSpPr>
        <dsp:cNvPr id="0" name=""/>
        <dsp:cNvSpPr/>
      </dsp:nvSpPr>
      <dsp:spPr>
        <a:xfrm>
          <a:off x="6405693" y="596274"/>
          <a:ext cx="213791" cy="2137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C51433-AC32-504F-8256-8B74A8117860}">
      <dsp:nvSpPr>
        <dsp:cNvPr id="0" name=""/>
        <dsp:cNvSpPr/>
      </dsp:nvSpPr>
      <dsp:spPr>
        <a:xfrm>
          <a:off x="7951282" y="4661530"/>
          <a:ext cx="213791" cy="2137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Inverted#1">
  <dgm:title val=""/>
  <dgm:desc val=""/>
  <dgm:catLst>
    <dgm:cat type="process" pri="7451"/>
    <dgm:cat type="timeline" pri="101"/>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4D408-F7C3-43C6-9E12-CBD333D67C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12547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3AD98-2BA1-8F83-DDEF-32EC2956B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510D3-F956-2756-814A-AC2F0206F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C6C36-032A-99C1-8B15-6F4D94B98F0A}"/>
              </a:ext>
            </a:extLst>
          </p:cNvPr>
          <p:cNvSpPr>
            <a:spLocks noGrp="1"/>
          </p:cNvSpPr>
          <p:nvPr>
            <p:ph type="body" idx="1"/>
          </p:nvPr>
        </p:nvSpPr>
        <p:spPr/>
        <p:txBody>
          <a:bodyPr/>
          <a:lstStyle/>
          <a:p>
            <a:r>
              <a:rPr lang="en-US"/>
              <a:t>•In Indonesia, the economic value of avoidable CVD mortality is 7.5% of national income and is projected to grow to 12.5% in 2050, far exceeding all other conditions and higher than peer countries. </a:t>
            </a:r>
          </a:p>
          <a:p>
            <a:r>
              <a:rPr lang="en-US" dirty="0"/>
              <a:t>•Improving access to a basic package of 7 CVD interventions plus tackling tobacco could reduce Indonesia’s CVD mortality rates to those of peer countries: preliminary estimates indicate that this package would reduce mortality by 25% and cost an additional $30 per person per year in health care costs by 2030. To achieve this, carry out a </a:t>
            </a:r>
            <a:r>
              <a:rPr lang="en-US" dirty="0" err="1"/>
              <a:t>a</a:t>
            </a:r>
            <a:r>
              <a:rPr lang="en-US" dirty="0"/>
              <a:t> gradual increase in access as well as availability and coverage for medicines and policies that reduce prices of medicines. </a:t>
            </a:r>
          </a:p>
          <a:p>
            <a:r>
              <a:rPr lang="en-US"/>
              <a:t>•Achieving WHO recommended levels of tobacco regulation and taxation would save 1.2 million lives and reduce mortality CVD by 7%. Even a 20% increase in tobacco price would reduce CVD deaths by 700,000 by 2050, not to mention benefits after 2050 from preventing other costly diseases such as cancer. </a:t>
            </a:r>
          </a:p>
          <a:p>
            <a:r>
              <a:rPr lang="en-US"/>
              <a:t>•After modeling 3 scenarios – just doing 70-70-70; adding tobacco control; and adding the rest of the CVD package – Indonesia can get close to Malaysia and below ASEAN average CVD mortality rate. However, to get to Singapore, additional intersectoral actions and expanding clinical package would be necessary. </a:t>
            </a:r>
          </a:p>
          <a:p>
            <a:r>
              <a:rPr lang="en-US" dirty="0"/>
              <a:t>•Addressing CVD would disproportionately benefit the poor in terms of financial protection, with 1.7 million people per year with catastrophic health expenditures (more than 10% income) due to CVD disease, of which 60-70% are among the poorest 20%. This large number comes from two areas – one is lack of access to prevention and the other is insurance implementation problems. Majority of financial risk comes from day-to-day expenditures on chronic medications currently paid of out-of-pocket. </a:t>
            </a:r>
          </a:p>
          <a:p>
            <a:r>
              <a:rPr lang="en-US"/>
              <a:t>•As proposed in JKN2 project, reforms in supply chain management and delivery systems of medicines are necessary to increase access and address the needs of the worst off. </a:t>
            </a:r>
          </a:p>
          <a:p>
            <a:r>
              <a:rPr lang="en-US" dirty="0"/>
              <a:t>•In addition the impact of tobacco control is pro-poor in terms of lives saved and financial protection, while also generating additional revenues largely from the rich (richest 60% generate 80% of the revenues). </a:t>
            </a:r>
          </a:p>
          <a:p>
            <a:endParaRPr lang="en-US" dirty="0"/>
          </a:p>
        </p:txBody>
      </p:sp>
      <p:sp>
        <p:nvSpPr>
          <p:cNvPr id="4" name="Slide Number Placeholder 3">
            <a:extLst>
              <a:ext uri="{FF2B5EF4-FFF2-40B4-BE49-F238E27FC236}">
                <a16:creationId xmlns:a16="http://schemas.microsoft.com/office/drawing/2014/main" id="{28080B3B-54D3-79F2-8CF1-B711C97DAF4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808443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22041-8491-C634-B33E-86C4554AF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19FF2-3C50-DDA9-5B27-C8BD7A5D9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1A613-A621-61A1-9888-5DBC8FD400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CAC7C8-F470-E45F-3F77-0AF4EB898C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4D408-F7C3-43C6-9E12-CBD333D67C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32388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1" dirty="0">
                <a:solidFill>
                  <a:srgbClr val="5B6B7A"/>
                </a:solidFill>
                <a:latin typeface="Calibri"/>
                <a:cs typeface="Calibri"/>
              </a:rPr>
              <a:t>Note: </a:t>
            </a:r>
            <a:r>
              <a:rPr lang="en-US" sz="1200" i="1" dirty="0">
                <a:solidFill>
                  <a:srgbClr val="5B6B7A"/>
                </a:solidFill>
                <a:latin typeface="Calibri"/>
                <a:cs typeface="Calibri"/>
              </a:rPr>
              <a:t>Indonesia observed history (solid, to 2023) and ASEAN comparators are WPP-scaled reference series. Modeled Indonesia scenarios (dashed, 2025-2050) use the GBD-calibrated model baseline. ASEAN comparator trends correspond to a linear extrapolation for illustrative reference. Tobacco policy impacts correspond to a 75% retail price increase scenario.</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4D408-F7C3-43C6-9E12-CBD333D67C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2019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4D408-F7C3-43C6-9E12-CBD333D67C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2264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4D408-F7C3-43C6-9E12-CBD333D67C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35003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4D408-F7C3-43C6-9E12-CBD333D67C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92842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893674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4D408-F7C3-43C6-9E12-CBD333D67C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0545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4D408-F7C3-43C6-9E12-CBD333D67C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66829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362201"/>
            <a:ext cx="10363200" cy="1470025"/>
          </a:xfrm>
        </p:spPr>
        <p:txBody>
          <a:bodyPr/>
          <a:lstStyle>
            <a:lvl1pPr>
              <a:defRPr>
                <a:solidFill>
                  <a:srgbClr val="002060"/>
                </a:solidFill>
              </a:defRPr>
            </a:lvl1pPr>
          </a:lstStyle>
          <a:p>
            <a:r>
              <a:rPr lang="en-US" dirty="0"/>
              <a:t>Click to add title</a:t>
            </a:r>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lvl1pPr>
              <a:defRPr/>
            </a:lvl1pPr>
          </a:lstStyle>
          <a:p>
            <a:r>
              <a:rPr lang="en-US" dirty="0"/>
              <a:t>(#)</a:t>
            </a:r>
          </a:p>
        </p:txBody>
      </p:sp>
      <p:sp>
        <p:nvSpPr>
          <p:cNvPr id="11" name="Date Placeholder 3"/>
          <p:cNvSpPr>
            <a:spLocks noGrp="1"/>
          </p:cNvSpPr>
          <p:nvPr>
            <p:ph type="dt" sz="half" idx="10"/>
          </p:nvPr>
        </p:nvSpPr>
        <p:spPr>
          <a:xfrm>
            <a:off x="609600" y="6356351"/>
            <a:ext cx="2844800" cy="365125"/>
          </a:xfrm>
        </p:spPr>
        <p:txBody>
          <a:bodyPr/>
          <a:lstStyle/>
          <a:p>
            <a:fld id="{61E9FB5B-DB08-564E-B0E2-D8890D9FACEC}" type="datetime1">
              <a:rPr lang="en-US" smtClean="0"/>
              <a:t>9/1/2026</a:t>
            </a:fld>
            <a:endParaRPr lang="en-US" dirty="0"/>
          </a:p>
        </p:txBody>
      </p:sp>
    </p:spTree>
    <p:extLst>
      <p:ext uri="{BB962C8B-B14F-4D97-AF65-F5344CB8AC3E}">
        <p14:creationId xmlns:p14="http://schemas.microsoft.com/office/powerpoint/2010/main" val="3761127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83288" y="274638"/>
            <a:ext cx="7599112" cy="1143000"/>
          </a:xfrm>
        </p:spPr>
        <p:txBody>
          <a:bodyPr/>
          <a:lstStyle>
            <a:lvl1pPr algn="r">
              <a:defRPr>
                <a:solidFill>
                  <a:srgbClr val="002060"/>
                </a:solidFill>
              </a:defRPr>
            </a:lvl1pPr>
          </a:lstStyle>
          <a:p>
            <a:r>
              <a:rPr lang="en-US" dirty="0"/>
              <a:t>Click to edit title</a:t>
            </a:r>
          </a:p>
        </p:txBody>
      </p:sp>
      <p:sp>
        <p:nvSpPr>
          <p:cNvPr id="3" name="Content Placeholder 2"/>
          <p:cNvSpPr>
            <a:spLocks noGrp="1"/>
          </p:cNvSpPr>
          <p:nvPr>
            <p:ph idx="1" hasCustomPrompt="1"/>
          </p:nvPr>
        </p:nvSpPr>
        <p:spPr>
          <a:xfrm>
            <a:off x="609600" y="1905000"/>
            <a:ext cx="10972800" cy="4221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0926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9BAE-9C6B-B249-B79F-717E46436F0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3596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Header Content">
    <p:spTree>
      <p:nvGrpSpPr>
        <p:cNvPr id="1" name=""/>
        <p:cNvGrpSpPr/>
        <p:nvPr/>
      </p:nvGrpSpPr>
      <p:grpSpPr>
        <a:xfrm>
          <a:off x="0" y="0"/>
          <a:ext cx="0" cy="0"/>
          <a:chOff x="0" y="0"/>
          <a:chExt cx="0" cy="0"/>
        </a:xfrm>
      </p:grpSpPr>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836831" y="685800"/>
            <a:ext cx="10518339" cy="914400"/>
          </a:xfrm>
          <a:prstGeom prst="rect">
            <a:avLst/>
          </a:prstGeom>
        </p:spPr>
        <p:txBody>
          <a:bodyPr vert="horz" lIns="91440" tIns="45720" rIns="91440" bIns="45720" rtlCol="0" anchor="b">
            <a:normAutofit/>
          </a:bodyPr>
          <a:lstStyle>
            <a:lvl1pPr>
              <a:defRPr sz="1650"/>
            </a:lvl1pPr>
          </a:lstStyle>
          <a:p>
            <a:r>
              <a:rPr lang="en-US" dirty="0"/>
              <a:t>Click to edit Master title style</a:t>
            </a:r>
          </a:p>
        </p:txBody>
      </p:sp>
      <p:sp>
        <p:nvSpPr>
          <p:cNvPr id="4" name="Text Placeholder 15">
            <a:extLst>
              <a:ext uri="{FF2B5EF4-FFF2-40B4-BE49-F238E27FC236}">
                <a16:creationId xmlns:a16="http://schemas.microsoft.com/office/drawing/2014/main" id="{6DCBF5E6-69B1-E146-B6D1-E081E0CF284A}"/>
              </a:ext>
            </a:extLst>
          </p:cNvPr>
          <p:cNvSpPr>
            <a:spLocks noGrp="1"/>
          </p:cNvSpPr>
          <p:nvPr>
            <p:ph type="body" sz="quarter" idx="12" hasCustomPrompt="1"/>
          </p:nvPr>
        </p:nvSpPr>
        <p:spPr>
          <a:xfrm>
            <a:off x="274393" y="274320"/>
            <a:ext cx="11158585" cy="228600"/>
          </a:xfrm>
          <a:prstGeom prst="rect">
            <a:avLst/>
          </a:prstGeom>
        </p:spPr>
        <p:txBody>
          <a:bodyPr anchor="ctr">
            <a:normAutofit/>
          </a:bodyPr>
          <a:lstStyle>
            <a:lvl1pPr>
              <a:defRPr sz="675" cap="all" spc="225" baseline="0"/>
            </a:lvl1pPr>
          </a:lstStyle>
          <a:p>
            <a:pPr lvl="0"/>
            <a:r>
              <a:rPr lang="en-US" dirty="0"/>
              <a:t>PRE-TITLE i.e. “example” or “case study”</a:t>
            </a:r>
          </a:p>
        </p:txBody>
      </p:sp>
      <p:sp>
        <p:nvSpPr>
          <p:cNvPr id="3" name="Content Placeholder 2">
            <a:extLst>
              <a:ext uri="{FF2B5EF4-FFF2-40B4-BE49-F238E27FC236}">
                <a16:creationId xmlns:a16="http://schemas.microsoft.com/office/drawing/2014/main" id="{78538F1B-D100-D74C-EF6C-0EE7717605D5}"/>
              </a:ext>
            </a:extLst>
          </p:cNvPr>
          <p:cNvSpPr>
            <a:spLocks noGrp="1"/>
          </p:cNvSpPr>
          <p:nvPr>
            <p:ph sz="quarter" idx="13"/>
          </p:nvPr>
        </p:nvSpPr>
        <p:spPr>
          <a:xfrm>
            <a:off x="836895" y="1783080"/>
            <a:ext cx="10518339" cy="41605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06709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2802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9FAD32-CC12-0049-BF75-3DDCA597D08B}" type="datetime1">
              <a:rPr lang="en-US" smtClean="0"/>
              <a:t>9/1/2026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4013773055"/>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7"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7FFFF1C7_5E32C239.xm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p:cNvSpPr>
          <p:nvPr/>
        </p:nvSpPr>
        <p:spPr bwMode="auto">
          <a:xfrm>
            <a:off x="1910196" y="2209800"/>
            <a:ext cx="8371609" cy="4495800"/>
          </a:xfrm>
          <a:prstGeom prst="rect">
            <a:avLst/>
          </a:prstGeom>
          <a:noFill/>
          <a:ln w="12700" cap="flat">
            <a:noFill/>
            <a:miter lim="800000"/>
            <a:headEnd type="none" w="med" len="med"/>
            <a:tailEnd type="none" w="med" len="med"/>
          </a:ln>
        </p:spPr>
        <p:txBody>
          <a:bodyPr lIns="0" tIns="0" rIns="0" bIns="0" anchor="ctr">
            <a:prstTxWarp prst="textNoShape">
              <a:avLst/>
            </a:prstTxWarp>
          </a:bodyPr>
          <a:lstStyle/>
          <a:p>
            <a:pPr algn="ctr" fontAlgn="ctr"/>
            <a:r>
              <a:rPr lang="en-US" sz="4000" b="1" dirty="0">
                <a:solidFill>
                  <a:prstClr val="black"/>
                </a:solidFill>
                <a:latin typeface="Aptos" panose="020B0004020202020204" pitchFamily="34" charset="0"/>
              </a:rPr>
              <a:t>Reducing premature mortality from cardiovascular disease in Indonesia</a:t>
            </a:r>
          </a:p>
          <a:p>
            <a:pPr algn="ctr" fontAlgn="ctr"/>
            <a:endParaRPr lang="en-US" sz="2000" b="1" dirty="0">
              <a:solidFill>
                <a:prstClr val="black"/>
              </a:solidFill>
              <a:latin typeface="Aptos" panose="020B0004020202020204" pitchFamily="34" charset="0"/>
            </a:endParaRPr>
          </a:p>
          <a:p>
            <a:pPr algn="ctr" fontAlgn="ctr"/>
            <a:r>
              <a:rPr lang="en-US" sz="2800" dirty="0">
                <a:solidFill>
                  <a:prstClr val="black"/>
                </a:solidFill>
                <a:latin typeface="Aptos" panose="020B0004020202020204" pitchFamily="34" charset="0"/>
                <a:ea typeface="Helvetica" pitchFamily="-1" charset="0"/>
                <a:cs typeface="Helvetica" pitchFamily="-1" charset="0"/>
                <a:sym typeface="Helvetica" pitchFamily="-1" charset="0"/>
              </a:rPr>
              <a:t>Stéphane </a:t>
            </a:r>
            <a:r>
              <a:rPr lang="en-US" sz="2800" dirty="0" err="1">
                <a:solidFill>
                  <a:prstClr val="black"/>
                </a:solidFill>
                <a:latin typeface="Aptos" panose="020B0004020202020204" pitchFamily="34" charset="0"/>
                <a:ea typeface="Helvetica" pitchFamily="-1" charset="0"/>
                <a:cs typeface="Helvetica" pitchFamily="-1" charset="0"/>
                <a:sym typeface="Helvetica" pitchFamily="-1" charset="0"/>
              </a:rPr>
              <a:t>Verguet</a:t>
            </a:r>
            <a:r>
              <a:rPr lang="en-US" sz="2800" dirty="0">
                <a:solidFill>
                  <a:prstClr val="black"/>
                </a:solidFill>
                <a:latin typeface="Aptos" panose="020B0004020202020204" pitchFamily="34" charset="0"/>
                <a:ea typeface="Helvetica" pitchFamily="-1" charset="0"/>
                <a:cs typeface="Helvetica" pitchFamily="-1" charset="0"/>
                <a:sym typeface="Helvetica" pitchFamily="-1" charset="0"/>
              </a:rPr>
              <a:t> and David Watkins</a:t>
            </a:r>
          </a:p>
          <a:p>
            <a:pPr algn="ctr" fontAlgn="ctr"/>
            <a:endParaRPr lang="en-US" sz="2000" dirty="0">
              <a:solidFill>
                <a:prstClr val="black"/>
              </a:solidFill>
              <a:latin typeface="Aptos" panose="020B0004020202020204" pitchFamily="34" charset="0"/>
              <a:ea typeface="Helvetica" pitchFamily="-1" charset="0"/>
              <a:cs typeface="Helvetica" pitchFamily="-1" charset="0"/>
              <a:sym typeface="Helvetica" pitchFamily="-1" charset="0"/>
            </a:endParaRPr>
          </a:p>
          <a:p>
            <a:pPr algn="ctr" fontAlgn="ctr"/>
            <a:r>
              <a:rPr lang="en-US" sz="2800" dirty="0">
                <a:solidFill>
                  <a:prstClr val="black"/>
                </a:solidFill>
                <a:latin typeface="Aptos" panose="020B0004020202020204" pitchFamily="34" charset="0"/>
                <a:ea typeface="Helvetica" pitchFamily="-1" charset="0"/>
                <a:cs typeface="Helvetica" pitchFamily="-1" charset="0"/>
                <a:sym typeface="Helvetica" pitchFamily="-1" charset="0"/>
              </a:rPr>
              <a:t>Acknowledgements: William Garcia, Zili Huang, William </a:t>
            </a:r>
            <a:r>
              <a:rPr lang="en-US" sz="2800" dirty="0" err="1">
                <a:solidFill>
                  <a:prstClr val="black"/>
                </a:solidFill>
                <a:latin typeface="Aptos" panose="020B0004020202020204" pitchFamily="34" charset="0"/>
                <a:ea typeface="Helvetica" pitchFamily="-1" charset="0"/>
                <a:cs typeface="Helvetica" pitchFamily="-1" charset="0"/>
                <a:sym typeface="Helvetica" pitchFamily="-1" charset="0"/>
              </a:rPr>
              <a:t>Msemburi</a:t>
            </a:r>
            <a:r>
              <a:rPr lang="en-US" sz="2800" dirty="0">
                <a:solidFill>
                  <a:prstClr val="black"/>
                </a:solidFill>
                <a:latin typeface="Aptos" panose="020B0004020202020204" pitchFamily="34" charset="0"/>
                <a:ea typeface="Helvetica" pitchFamily="-1" charset="0"/>
                <a:cs typeface="Helvetica" pitchFamily="-1" charset="0"/>
                <a:sym typeface="Helvetica" pitchFamily="-1" charset="0"/>
              </a:rPr>
              <a:t>, &amp; Yuchen Liu </a:t>
            </a:r>
          </a:p>
          <a:p>
            <a:pPr algn="ctr"/>
            <a:endParaRPr lang="en-US" sz="2000" dirty="0">
              <a:solidFill>
                <a:prstClr val="black"/>
              </a:solidFill>
              <a:latin typeface="Aptos" panose="020B0004020202020204" pitchFamily="34" charset="0"/>
              <a:ea typeface="Helvetica" pitchFamily="-1" charset="0"/>
              <a:cs typeface="Helvetica" pitchFamily="-1" charset="0"/>
              <a:sym typeface="Helvetica" pitchFamily="-1" charset="0"/>
            </a:endParaRPr>
          </a:p>
          <a:p>
            <a:pPr algn="ctr"/>
            <a:r>
              <a:rPr lang="en-US" dirty="0">
                <a:solidFill>
                  <a:prstClr val="black"/>
                </a:solidFill>
                <a:latin typeface="Aptos" panose="020B0004020202020204" pitchFamily="34" charset="0"/>
              </a:rPr>
              <a:t>September 1, 2026</a:t>
            </a:r>
          </a:p>
        </p:txBody>
      </p:sp>
      <p:pic>
        <p:nvPicPr>
          <p:cNvPr id="3" name="Picture 2" descr="A close up of a logo&#10;&#10;AI-generated content may be incorrect.">
            <a:extLst>
              <a:ext uri="{FF2B5EF4-FFF2-40B4-BE49-F238E27FC236}">
                <a16:creationId xmlns:a16="http://schemas.microsoft.com/office/drawing/2014/main" id="{6AEC541F-5BA3-78CA-C1C9-00C0891726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250" y="457200"/>
            <a:ext cx="4393042" cy="1600200"/>
          </a:xfrm>
          <a:prstGeom prst="rect">
            <a:avLst/>
          </a:prstGeom>
        </p:spPr>
      </p:pic>
    </p:spTree>
    <p:extLst>
      <p:ext uri="{BB962C8B-B14F-4D97-AF65-F5344CB8AC3E}">
        <p14:creationId xmlns:p14="http://schemas.microsoft.com/office/powerpoint/2010/main" val="4030985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F873C-52D3-FD83-EE86-D7984B65DE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F810DF-2EE2-6E2B-0BB1-C06FFAD1F6FE}"/>
              </a:ext>
            </a:extLst>
          </p:cNvPr>
          <p:cNvSpPr>
            <a:spLocks noGrp="1"/>
          </p:cNvSpPr>
          <p:nvPr>
            <p:ph idx="1"/>
          </p:nvPr>
        </p:nvSpPr>
        <p:spPr>
          <a:xfrm>
            <a:off x="1333364" y="2514601"/>
            <a:ext cx="9525273" cy="1523999"/>
          </a:xfrm>
        </p:spPr>
        <p:txBody>
          <a:bodyPr>
            <a:noAutofit/>
          </a:bodyPr>
          <a:lstStyle/>
          <a:p>
            <a:pPr marL="0" indent="0" algn="ctr">
              <a:buNone/>
            </a:pPr>
            <a:r>
              <a:rPr lang="en-US" sz="4000" b="1" dirty="0">
                <a:solidFill>
                  <a:srgbClr val="002060"/>
                </a:solidFill>
              </a:rPr>
              <a:t>Part 1. Summary of DCP-Indonesia preliminary analysis</a:t>
            </a:r>
          </a:p>
        </p:txBody>
      </p:sp>
    </p:spTree>
    <p:extLst>
      <p:ext uri="{BB962C8B-B14F-4D97-AF65-F5344CB8AC3E}">
        <p14:creationId xmlns:p14="http://schemas.microsoft.com/office/powerpoint/2010/main" val="2267057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DEFE-39FF-4E55-8EE0-8DEE75C0050D}"/>
            </a:ext>
          </a:extLst>
        </p:cNvPr>
        <p:cNvGrpSpPr/>
        <p:nvPr/>
      </p:nvGrpSpPr>
      <p:grpSpPr>
        <a:xfrm>
          <a:off x="0" y="0"/>
          <a:ext cx="1" cy="1"/>
          <a:chOff x="0" y="0"/>
          <a:chExt cx="1" cy="1"/>
        </a:xfrm>
      </p:grpSpPr>
      <p:sp>
        <p:nvSpPr>
          <p:cNvPr id="4" name="Text 1">
            <a:extLst>
              <a:ext uri="{FF2B5EF4-FFF2-40B4-BE49-F238E27FC236}">
                <a16:creationId xmlns:a16="http://schemas.microsoft.com/office/drawing/2014/main" id="{020654E7-7576-4F4C-9BD1-B6A5BC0D9891}"/>
              </a:ext>
            </a:extLst>
          </p:cNvPr>
          <p:cNvSpPr/>
          <p:nvPr/>
        </p:nvSpPr>
        <p:spPr>
          <a:xfrm>
            <a:off x="585216" y="495808"/>
            <a:ext cx="10789920" cy="475488"/>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New Key Messages from DCP Indonesia</a:t>
            </a:r>
            <a:endParaRPr lang="en-US" sz="2800" dirty="0"/>
          </a:p>
        </p:txBody>
      </p:sp>
      <p:sp>
        <p:nvSpPr>
          <p:cNvPr id="5" name="Text 2">
            <a:extLst>
              <a:ext uri="{FF2B5EF4-FFF2-40B4-BE49-F238E27FC236}">
                <a16:creationId xmlns:a16="http://schemas.microsoft.com/office/drawing/2014/main" id="{622C86EB-A92E-3F5C-615F-29E26F59050C}"/>
              </a:ext>
            </a:extLst>
          </p:cNvPr>
          <p:cNvSpPr/>
          <p:nvPr/>
        </p:nvSpPr>
        <p:spPr>
          <a:xfrm>
            <a:off x="603504" y="294640"/>
            <a:ext cx="10881360" cy="1088136"/>
          </a:xfrm>
          <a:prstGeom prst="rect">
            <a:avLst/>
          </a:prstGeom>
          <a:noFill/>
          <a:ln/>
        </p:spPr>
        <p:txBody>
          <a:bodyPr wrap="square" lIns="0" tIns="0" rIns="0" bIns="0" rtlCol="0" anchor="ctr">
            <a:noAutofit/>
          </a:bodyPr>
          <a:lstStyle/>
          <a:p>
            <a:pPr marL="0" indent="0">
              <a:buNone/>
            </a:pPr>
            <a:r>
              <a:rPr lang="en-US" sz="3600" b="1" dirty="0">
                <a:solidFill>
                  <a:schemeClr val="tx2"/>
                </a:solidFill>
              </a:rPr>
              <a:t>Key messages</a:t>
            </a:r>
          </a:p>
        </p:txBody>
      </p:sp>
      <p:sp>
        <p:nvSpPr>
          <p:cNvPr id="6" name="Shape 3">
            <a:extLst>
              <a:ext uri="{FF2B5EF4-FFF2-40B4-BE49-F238E27FC236}">
                <a16:creationId xmlns:a16="http://schemas.microsoft.com/office/drawing/2014/main" id="{126C96E6-B88A-97C2-71AD-133DF6964FEA}"/>
              </a:ext>
            </a:extLst>
          </p:cNvPr>
          <p:cNvSpPr/>
          <p:nvPr/>
        </p:nvSpPr>
        <p:spPr>
          <a:xfrm>
            <a:off x="566928" y="1576832"/>
            <a:ext cx="11045952" cy="4901184"/>
          </a:xfrm>
          <a:prstGeom prst="roundRect">
            <a:avLst>
              <a:gd name="adj" fmla="val 1493"/>
            </a:avLst>
          </a:prstGeom>
          <a:solidFill>
            <a:srgbClr val="F8FBFC">
              <a:alpha val="99000"/>
            </a:srgbClr>
          </a:solidFill>
          <a:ln w="10160">
            <a:solidFill>
              <a:srgbClr val="76BFD0">
                <a:alpha val="50000"/>
              </a:srgbClr>
            </a:solidFill>
            <a:prstDash val="solid"/>
          </a:ln>
          <a:effectLst>
            <a:outerShdw blurRad="19050" dist="6350" dir="2700000" algn="bl" rotWithShape="0">
              <a:srgbClr val="000000">
                <a:alpha val="20000"/>
              </a:srgbClr>
            </a:outerShdw>
          </a:effectLst>
        </p:spPr>
        <p:txBody>
          <a:bodyPr/>
          <a:lstStyle/>
          <a:p>
            <a:endParaRPr lang="en-US"/>
          </a:p>
        </p:txBody>
      </p:sp>
      <p:sp>
        <p:nvSpPr>
          <p:cNvPr id="7" name="Text 4">
            <a:extLst>
              <a:ext uri="{FF2B5EF4-FFF2-40B4-BE49-F238E27FC236}">
                <a16:creationId xmlns:a16="http://schemas.microsoft.com/office/drawing/2014/main" id="{4A6451D1-EE77-EC70-962B-9415D474C87A}"/>
              </a:ext>
            </a:extLst>
          </p:cNvPr>
          <p:cNvSpPr/>
          <p:nvPr/>
        </p:nvSpPr>
        <p:spPr>
          <a:xfrm>
            <a:off x="896112" y="1958848"/>
            <a:ext cx="2057400" cy="274320"/>
          </a:xfrm>
          <a:prstGeom prst="rect">
            <a:avLst/>
          </a:prstGeom>
          <a:noFill/>
          <a:ln/>
        </p:spPr>
        <p:txBody>
          <a:bodyPr wrap="square" lIns="0" tIns="0" rIns="0" bIns="0" rtlCol="0" anchor="ctr"/>
          <a:lstStyle/>
          <a:p>
            <a:pPr marL="0" indent="0">
              <a:buNone/>
            </a:pPr>
            <a:r>
              <a:rPr lang="en-US" sz="1800" b="1" kern="0" spc="80" dirty="0">
                <a:solidFill>
                  <a:srgbClr val="BC3B3B"/>
                </a:solidFill>
              </a:rPr>
              <a:t>CVD BURDEN</a:t>
            </a:r>
            <a:endParaRPr lang="en-US" sz="1800" dirty="0"/>
          </a:p>
        </p:txBody>
      </p:sp>
      <p:sp>
        <p:nvSpPr>
          <p:cNvPr id="8" name="Text 5">
            <a:extLst>
              <a:ext uri="{FF2B5EF4-FFF2-40B4-BE49-F238E27FC236}">
                <a16:creationId xmlns:a16="http://schemas.microsoft.com/office/drawing/2014/main" id="{3EA6D30F-FF72-EA9B-68BD-6B3E66A41F90}"/>
              </a:ext>
            </a:extLst>
          </p:cNvPr>
          <p:cNvSpPr/>
          <p:nvPr/>
        </p:nvSpPr>
        <p:spPr>
          <a:xfrm>
            <a:off x="877824" y="2461768"/>
            <a:ext cx="1874520" cy="621792"/>
          </a:xfrm>
          <a:prstGeom prst="rect">
            <a:avLst/>
          </a:prstGeom>
          <a:noFill/>
          <a:ln/>
        </p:spPr>
        <p:txBody>
          <a:bodyPr wrap="square" lIns="0" tIns="0" rIns="0" bIns="0" rtlCol="0" anchor="ctr"/>
          <a:lstStyle/>
          <a:p>
            <a:pPr marL="0" indent="0">
              <a:buNone/>
            </a:pPr>
            <a:r>
              <a:rPr lang="en-US" sz="2500" b="1" dirty="0">
                <a:solidFill>
                  <a:srgbClr val="C93434"/>
                </a:solidFill>
              </a:rPr>
              <a:t>8%</a:t>
            </a:r>
            <a:endParaRPr lang="en-US" sz="2500" dirty="0"/>
          </a:p>
        </p:txBody>
      </p:sp>
      <p:sp>
        <p:nvSpPr>
          <p:cNvPr id="9" name="Text 6">
            <a:extLst>
              <a:ext uri="{FF2B5EF4-FFF2-40B4-BE49-F238E27FC236}">
                <a16:creationId xmlns:a16="http://schemas.microsoft.com/office/drawing/2014/main" id="{8B7FF053-0F1C-2EF9-77AB-48C7EB4A6872}"/>
              </a:ext>
            </a:extLst>
          </p:cNvPr>
          <p:cNvSpPr/>
          <p:nvPr/>
        </p:nvSpPr>
        <p:spPr>
          <a:xfrm>
            <a:off x="896112" y="3110992"/>
            <a:ext cx="1828800" cy="475488"/>
          </a:xfrm>
          <a:prstGeom prst="rect">
            <a:avLst/>
          </a:prstGeom>
          <a:noFill/>
          <a:ln/>
        </p:spPr>
        <p:txBody>
          <a:bodyPr wrap="square" lIns="0" tIns="0" rIns="0" bIns="0" rtlCol="0" anchor="ctr">
            <a:normAutofit fontScale="92500" lnSpcReduction="10000"/>
          </a:bodyPr>
          <a:lstStyle/>
          <a:p>
            <a:pPr marL="0" indent="0">
              <a:buNone/>
            </a:pPr>
            <a:r>
              <a:rPr lang="en-US" sz="1800" b="1" dirty="0">
                <a:solidFill>
                  <a:srgbClr val="203B4D"/>
                </a:solidFill>
              </a:rPr>
              <a:t>of national income today</a:t>
            </a:r>
            <a:endParaRPr lang="en-US" sz="1800" dirty="0"/>
          </a:p>
        </p:txBody>
      </p:sp>
      <p:sp>
        <p:nvSpPr>
          <p:cNvPr id="10" name="Text 7">
            <a:extLst>
              <a:ext uri="{FF2B5EF4-FFF2-40B4-BE49-F238E27FC236}">
                <a16:creationId xmlns:a16="http://schemas.microsoft.com/office/drawing/2014/main" id="{3D8CE055-89EC-262A-3705-771D323D5A8F}"/>
              </a:ext>
            </a:extLst>
          </p:cNvPr>
          <p:cNvSpPr/>
          <p:nvPr/>
        </p:nvSpPr>
        <p:spPr>
          <a:xfrm>
            <a:off x="896112" y="3906520"/>
            <a:ext cx="1874520" cy="292608"/>
          </a:xfrm>
          <a:prstGeom prst="rect">
            <a:avLst/>
          </a:prstGeom>
          <a:noFill/>
          <a:ln/>
        </p:spPr>
        <p:txBody>
          <a:bodyPr wrap="square" lIns="0" tIns="0" rIns="0" bIns="0" rtlCol="0" anchor="ctr"/>
          <a:lstStyle/>
          <a:p>
            <a:pPr marL="0" indent="0">
              <a:buNone/>
            </a:pPr>
            <a:r>
              <a:rPr lang="en-US" sz="1800" dirty="0">
                <a:solidFill>
                  <a:srgbClr val="526A79"/>
                </a:solidFill>
              </a:rPr>
              <a:t>Projected to reach</a:t>
            </a:r>
            <a:endParaRPr lang="en-US" sz="1800" dirty="0"/>
          </a:p>
        </p:txBody>
      </p:sp>
      <p:sp>
        <p:nvSpPr>
          <p:cNvPr id="11" name="Text 8">
            <a:extLst>
              <a:ext uri="{FF2B5EF4-FFF2-40B4-BE49-F238E27FC236}">
                <a16:creationId xmlns:a16="http://schemas.microsoft.com/office/drawing/2014/main" id="{E0AE4B28-2F92-4C41-6F22-9F1C89427547}"/>
              </a:ext>
            </a:extLst>
          </p:cNvPr>
          <p:cNvSpPr/>
          <p:nvPr/>
        </p:nvSpPr>
        <p:spPr>
          <a:xfrm>
            <a:off x="896112" y="4348350"/>
            <a:ext cx="1938528" cy="420624"/>
          </a:xfrm>
          <a:prstGeom prst="rect">
            <a:avLst/>
          </a:prstGeom>
          <a:noFill/>
          <a:ln/>
        </p:spPr>
        <p:txBody>
          <a:bodyPr wrap="square" lIns="0" tIns="0" rIns="0" bIns="0" rtlCol="0" anchor="ctr"/>
          <a:lstStyle/>
          <a:p>
            <a:pPr marL="0" indent="0">
              <a:buNone/>
            </a:pPr>
            <a:r>
              <a:rPr lang="en-US" sz="2500" b="1" dirty="0">
                <a:solidFill>
                  <a:srgbClr val="C93434"/>
                </a:solidFill>
              </a:rPr>
              <a:t>13% by 2050</a:t>
            </a:r>
            <a:endParaRPr lang="en-US" sz="2500" dirty="0"/>
          </a:p>
        </p:txBody>
      </p:sp>
      <p:sp>
        <p:nvSpPr>
          <p:cNvPr id="12" name="Text 9">
            <a:extLst>
              <a:ext uri="{FF2B5EF4-FFF2-40B4-BE49-F238E27FC236}">
                <a16:creationId xmlns:a16="http://schemas.microsoft.com/office/drawing/2014/main" id="{8FD773FC-C062-7280-28EC-BD1042C1A856}"/>
              </a:ext>
            </a:extLst>
          </p:cNvPr>
          <p:cNvSpPr/>
          <p:nvPr/>
        </p:nvSpPr>
        <p:spPr>
          <a:xfrm>
            <a:off x="896112" y="5049520"/>
            <a:ext cx="1938528" cy="768096"/>
          </a:xfrm>
          <a:prstGeom prst="rect">
            <a:avLst/>
          </a:prstGeom>
          <a:noFill/>
          <a:ln/>
        </p:spPr>
        <p:txBody>
          <a:bodyPr wrap="square" lIns="0" tIns="0" rIns="0" bIns="0" rtlCol="0" anchor="ctr">
            <a:normAutofit lnSpcReduction="10000"/>
          </a:bodyPr>
          <a:lstStyle/>
          <a:p>
            <a:pPr marL="0" indent="0">
              <a:buNone/>
            </a:pPr>
            <a:r>
              <a:rPr lang="en-US" sz="1800" dirty="0">
                <a:solidFill>
                  <a:srgbClr val="526A79"/>
                </a:solidFill>
              </a:rPr>
              <a:t>Higher than other conditions and peer countries</a:t>
            </a:r>
            <a:endParaRPr lang="en-US" sz="1800" dirty="0"/>
          </a:p>
        </p:txBody>
      </p:sp>
      <p:sp>
        <p:nvSpPr>
          <p:cNvPr id="13" name="Shape 10">
            <a:extLst>
              <a:ext uri="{FF2B5EF4-FFF2-40B4-BE49-F238E27FC236}">
                <a16:creationId xmlns:a16="http://schemas.microsoft.com/office/drawing/2014/main" id="{513CAFF1-90BA-E20E-A527-696B441054FD}"/>
              </a:ext>
            </a:extLst>
          </p:cNvPr>
          <p:cNvSpPr/>
          <p:nvPr/>
        </p:nvSpPr>
        <p:spPr>
          <a:xfrm>
            <a:off x="3136392" y="1940560"/>
            <a:ext cx="1" cy="4206240"/>
          </a:xfrm>
          <a:prstGeom prst="line">
            <a:avLst/>
          </a:prstGeom>
          <a:noFill/>
          <a:ln w="15240">
            <a:solidFill>
              <a:srgbClr val="BDD0D8"/>
            </a:solidFill>
            <a:prstDash val="solid"/>
          </a:ln>
        </p:spPr>
        <p:txBody>
          <a:bodyPr/>
          <a:lstStyle/>
          <a:p>
            <a:endParaRPr lang="en-US"/>
          </a:p>
        </p:txBody>
      </p:sp>
      <p:sp>
        <p:nvSpPr>
          <p:cNvPr id="14" name="Shape 11">
            <a:extLst>
              <a:ext uri="{FF2B5EF4-FFF2-40B4-BE49-F238E27FC236}">
                <a16:creationId xmlns:a16="http://schemas.microsoft.com/office/drawing/2014/main" id="{1AFAA1F4-28AC-369D-334A-5EA27BD1D887}"/>
              </a:ext>
            </a:extLst>
          </p:cNvPr>
          <p:cNvSpPr/>
          <p:nvPr/>
        </p:nvSpPr>
        <p:spPr>
          <a:xfrm>
            <a:off x="3456432" y="1913128"/>
            <a:ext cx="365760" cy="365760"/>
          </a:xfrm>
          <a:prstGeom prst="ellipse">
            <a:avLst/>
          </a:prstGeom>
          <a:solidFill>
            <a:srgbClr val="137C8D"/>
          </a:solidFill>
          <a:ln w="12700">
            <a:solidFill>
              <a:srgbClr val="137C8D"/>
            </a:solidFill>
            <a:prstDash val="solid"/>
          </a:ln>
        </p:spPr>
        <p:txBody>
          <a:bodyPr/>
          <a:lstStyle/>
          <a:p>
            <a:endParaRPr lang="en-US"/>
          </a:p>
        </p:txBody>
      </p:sp>
      <p:sp>
        <p:nvSpPr>
          <p:cNvPr id="15" name="Text 12">
            <a:extLst>
              <a:ext uri="{FF2B5EF4-FFF2-40B4-BE49-F238E27FC236}">
                <a16:creationId xmlns:a16="http://schemas.microsoft.com/office/drawing/2014/main" id="{04927AAD-65D3-6902-26EA-9F7A0443825B}"/>
              </a:ext>
            </a:extLst>
          </p:cNvPr>
          <p:cNvSpPr/>
          <p:nvPr/>
        </p:nvSpPr>
        <p:spPr>
          <a:xfrm>
            <a:off x="3456432" y="1981708"/>
            <a:ext cx="365760" cy="146304"/>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6" name="Text 13">
            <a:extLst>
              <a:ext uri="{FF2B5EF4-FFF2-40B4-BE49-F238E27FC236}">
                <a16:creationId xmlns:a16="http://schemas.microsoft.com/office/drawing/2014/main" id="{23F36525-80B4-0FCB-8FB9-ED8971674AC8}"/>
              </a:ext>
            </a:extLst>
          </p:cNvPr>
          <p:cNvSpPr/>
          <p:nvPr/>
        </p:nvSpPr>
        <p:spPr>
          <a:xfrm>
            <a:off x="4023360" y="1876552"/>
            <a:ext cx="7114032"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2364B"/>
                </a:solidFill>
              </a:rPr>
              <a:t>Cut CVD mortality by about one-third by 2050</a:t>
            </a:r>
            <a:endParaRPr lang="en-US" sz="2000" dirty="0"/>
          </a:p>
        </p:txBody>
      </p:sp>
      <p:sp>
        <p:nvSpPr>
          <p:cNvPr id="17" name="Text 14">
            <a:extLst>
              <a:ext uri="{FF2B5EF4-FFF2-40B4-BE49-F238E27FC236}">
                <a16:creationId xmlns:a16="http://schemas.microsoft.com/office/drawing/2014/main" id="{53D8F9EF-38F9-B0D8-1419-3D530734FF07}"/>
              </a:ext>
            </a:extLst>
          </p:cNvPr>
          <p:cNvSpPr/>
          <p:nvPr/>
        </p:nvSpPr>
        <p:spPr>
          <a:xfrm>
            <a:off x="4023360" y="2260600"/>
            <a:ext cx="7059168" cy="502920"/>
          </a:xfrm>
          <a:prstGeom prst="rect">
            <a:avLst/>
          </a:prstGeom>
          <a:noFill/>
          <a:ln/>
        </p:spPr>
        <p:txBody>
          <a:bodyPr wrap="square" lIns="0" tIns="0" rIns="0" bIns="0" rtlCol="0" anchor="ctr">
            <a:normAutofit lnSpcReduction="10000"/>
          </a:bodyPr>
          <a:lstStyle/>
          <a:p>
            <a:pPr marL="0" indent="0">
              <a:buNone/>
            </a:pPr>
            <a:r>
              <a:rPr lang="en-US" sz="1800" dirty="0">
                <a:solidFill>
                  <a:srgbClr val="425D6D"/>
                </a:solidFill>
              </a:rPr>
              <a:t>Scale </a:t>
            </a:r>
            <a:r>
              <a:rPr lang="en-US" dirty="0">
                <a:solidFill>
                  <a:srgbClr val="425D6D"/>
                </a:solidFill>
              </a:rPr>
              <a:t>7</a:t>
            </a:r>
            <a:r>
              <a:rPr lang="en-US" sz="1800" dirty="0">
                <a:solidFill>
                  <a:srgbClr val="425D6D"/>
                </a:solidFill>
              </a:rPr>
              <a:t> basic CVD interventions plus tobacco control for about $9 more per person per year.</a:t>
            </a:r>
            <a:endParaRPr lang="en-US" sz="1800" dirty="0"/>
          </a:p>
        </p:txBody>
      </p:sp>
      <p:sp>
        <p:nvSpPr>
          <p:cNvPr id="18" name="Shape 15">
            <a:extLst>
              <a:ext uri="{FF2B5EF4-FFF2-40B4-BE49-F238E27FC236}">
                <a16:creationId xmlns:a16="http://schemas.microsoft.com/office/drawing/2014/main" id="{7CCF89AF-A257-845C-9710-6866389A7176}"/>
              </a:ext>
            </a:extLst>
          </p:cNvPr>
          <p:cNvSpPr/>
          <p:nvPr/>
        </p:nvSpPr>
        <p:spPr>
          <a:xfrm>
            <a:off x="4023360" y="2882392"/>
            <a:ext cx="7022592" cy="1"/>
          </a:xfrm>
          <a:prstGeom prst="line">
            <a:avLst/>
          </a:prstGeom>
          <a:noFill/>
          <a:ln w="10160">
            <a:solidFill>
              <a:srgbClr val="D5E1E6"/>
            </a:solidFill>
            <a:prstDash val="solid"/>
          </a:ln>
        </p:spPr>
        <p:txBody>
          <a:bodyPr/>
          <a:lstStyle/>
          <a:p>
            <a:endParaRPr lang="en-US"/>
          </a:p>
        </p:txBody>
      </p:sp>
      <p:sp>
        <p:nvSpPr>
          <p:cNvPr id="19" name="Shape 16">
            <a:extLst>
              <a:ext uri="{FF2B5EF4-FFF2-40B4-BE49-F238E27FC236}">
                <a16:creationId xmlns:a16="http://schemas.microsoft.com/office/drawing/2014/main" id="{AEEBC43C-D909-D59D-1466-115E22972D63}"/>
              </a:ext>
            </a:extLst>
          </p:cNvPr>
          <p:cNvSpPr/>
          <p:nvPr/>
        </p:nvSpPr>
        <p:spPr>
          <a:xfrm>
            <a:off x="3456432" y="3037840"/>
            <a:ext cx="365760" cy="365760"/>
          </a:xfrm>
          <a:prstGeom prst="ellipse">
            <a:avLst/>
          </a:prstGeom>
          <a:solidFill>
            <a:srgbClr val="D77A25"/>
          </a:solidFill>
          <a:ln w="12700">
            <a:solidFill>
              <a:srgbClr val="D77A25"/>
            </a:solidFill>
            <a:prstDash val="solid"/>
          </a:ln>
        </p:spPr>
        <p:txBody>
          <a:bodyPr/>
          <a:lstStyle/>
          <a:p>
            <a:endParaRPr lang="en-US"/>
          </a:p>
        </p:txBody>
      </p:sp>
      <p:sp>
        <p:nvSpPr>
          <p:cNvPr id="20" name="Text 17">
            <a:extLst>
              <a:ext uri="{FF2B5EF4-FFF2-40B4-BE49-F238E27FC236}">
                <a16:creationId xmlns:a16="http://schemas.microsoft.com/office/drawing/2014/main" id="{7E6232CC-C750-447E-F985-6FB2228599CA}"/>
              </a:ext>
            </a:extLst>
          </p:cNvPr>
          <p:cNvSpPr/>
          <p:nvPr/>
        </p:nvSpPr>
        <p:spPr>
          <a:xfrm>
            <a:off x="3456432" y="3106420"/>
            <a:ext cx="365760" cy="146304"/>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21" name="Text 18">
            <a:extLst>
              <a:ext uri="{FF2B5EF4-FFF2-40B4-BE49-F238E27FC236}">
                <a16:creationId xmlns:a16="http://schemas.microsoft.com/office/drawing/2014/main" id="{5682D1FA-0F53-937A-C196-D4F9E16DF77C}"/>
              </a:ext>
            </a:extLst>
          </p:cNvPr>
          <p:cNvSpPr/>
          <p:nvPr/>
        </p:nvSpPr>
        <p:spPr>
          <a:xfrm>
            <a:off x="4023360" y="3001264"/>
            <a:ext cx="7114032"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2364B"/>
                </a:solidFill>
              </a:rPr>
              <a:t>Use tobacco policy for rapid gains</a:t>
            </a:r>
            <a:endParaRPr lang="en-US" sz="2000" dirty="0"/>
          </a:p>
        </p:txBody>
      </p:sp>
      <p:sp>
        <p:nvSpPr>
          <p:cNvPr id="22" name="Text 19">
            <a:extLst>
              <a:ext uri="{FF2B5EF4-FFF2-40B4-BE49-F238E27FC236}">
                <a16:creationId xmlns:a16="http://schemas.microsoft.com/office/drawing/2014/main" id="{0377EDF6-3753-5210-4839-2C8B4A009FE8}"/>
              </a:ext>
            </a:extLst>
          </p:cNvPr>
          <p:cNvSpPr/>
          <p:nvPr/>
        </p:nvSpPr>
        <p:spPr>
          <a:xfrm>
            <a:off x="4023360" y="3385312"/>
            <a:ext cx="7059168" cy="502920"/>
          </a:xfrm>
          <a:prstGeom prst="rect">
            <a:avLst/>
          </a:prstGeom>
          <a:noFill/>
          <a:ln/>
        </p:spPr>
        <p:txBody>
          <a:bodyPr wrap="square" lIns="0" tIns="0" rIns="0" bIns="0" rtlCol="0" anchor="ctr">
            <a:normAutofit lnSpcReduction="10000"/>
          </a:bodyPr>
          <a:lstStyle/>
          <a:p>
            <a:pPr marL="0" indent="0">
              <a:buNone/>
            </a:pPr>
            <a:r>
              <a:rPr lang="en-US" sz="1800" dirty="0">
                <a:solidFill>
                  <a:srgbClr val="425D6D"/>
                </a:solidFill>
              </a:rPr>
              <a:t>WHO-recommended measures could save 1.2 million lives; even a modest 20% tobacco price increase could avert 700,000 </a:t>
            </a:r>
            <a:r>
              <a:rPr lang="en-US" sz="1800" dirty="0">
                <a:solidFill>
                  <a:srgbClr val="FF0000"/>
                </a:solidFill>
              </a:rPr>
              <a:t>CVD+NCD </a:t>
            </a:r>
            <a:r>
              <a:rPr lang="en-US" sz="1800" dirty="0">
                <a:solidFill>
                  <a:srgbClr val="425D6D"/>
                </a:solidFill>
              </a:rPr>
              <a:t>deaths by 2050.</a:t>
            </a:r>
            <a:endParaRPr lang="en-US" sz="1800" dirty="0"/>
          </a:p>
        </p:txBody>
      </p:sp>
      <p:sp>
        <p:nvSpPr>
          <p:cNvPr id="23" name="Shape 20">
            <a:extLst>
              <a:ext uri="{FF2B5EF4-FFF2-40B4-BE49-F238E27FC236}">
                <a16:creationId xmlns:a16="http://schemas.microsoft.com/office/drawing/2014/main" id="{22C26500-9123-08C1-61C8-F5B8333E0B2D}"/>
              </a:ext>
            </a:extLst>
          </p:cNvPr>
          <p:cNvSpPr/>
          <p:nvPr/>
        </p:nvSpPr>
        <p:spPr>
          <a:xfrm>
            <a:off x="4023360" y="4007104"/>
            <a:ext cx="7022592" cy="1"/>
          </a:xfrm>
          <a:prstGeom prst="line">
            <a:avLst/>
          </a:prstGeom>
          <a:noFill/>
          <a:ln w="10160">
            <a:solidFill>
              <a:srgbClr val="D5E1E6"/>
            </a:solidFill>
            <a:prstDash val="solid"/>
          </a:ln>
        </p:spPr>
        <p:txBody>
          <a:bodyPr/>
          <a:lstStyle/>
          <a:p>
            <a:endParaRPr lang="en-US"/>
          </a:p>
        </p:txBody>
      </p:sp>
      <p:sp>
        <p:nvSpPr>
          <p:cNvPr id="24" name="Shape 21">
            <a:extLst>
              <a:ext uri="{FF2B5EF4-FFF2-40B4-BE49-F238E27FC236}">
                <a16:creationId xmlns:a16="http://schemas.microsoft.com/office/drawing/2014/main" id="{4F31FA29-6FF3-6C47-330C-7A3421AE3B81}"/>
              </a:ext>
            </a:extLst>
          </p:cNvPr>
          <p:cNvSpPr/>
          <p:nvPr/>
        </p:nvSpPr>
        <p:spPr>
          <a:xfrm>
            <a:off x="3456432" y="4162552"/>
            <a:ext cx="365760" cy="365760"/>
          </a:xfrm>
          <a:prstGeom prst="ellipse">
            <a:avLst/>
          </a:prstGeom>
          <a:solidFill>
            <a:srgbClr val="2E7A9C"/>
          </a:solidFill>
          <a:ln w="12700">
            <a:solidFill>
              <a:srgbClr val="2E7A9C"/>
            </a:solidFill>
            <a:prstDash val="solid"/>
          </a:ln>
        </p:spPr>
        <p:txBody>
          <a:bodyPr/>
          <a:lstStyle/>
          <a:p>
            <a:endParaRPr lang="en-US"/>
          </a:p>
        </p:txBody>
      </p:sp>
      <p:sp>
        <p:nvSpPr>
          <p:cNvPr id="25" name="Text 22">
            <a:extLst>
              <a:ext uri="{FF2B5EF4-FFF2-40B4-BE49-F238E27FC236}">
                <a16:creationId xmlns:a16="http://schemas.microsoft.com/office/drawing/2014/main" id="{0805AFE0-0A5A-3DCF-81A9-AEDB9314CD38}"/>
              </a:ext>
            </a:extLst>
          </p:cNvPr>
          <p:cNvSpPr/>
          <p:nvPr/>
        </p:nvSpPr>
        <p:spPr>
          <a:xfrm>
            <a:off x="3456432" y="4231132"/>
            <a:ext cx="365760" cy="146304"/>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6" name="Text 23">
            <a:extLst>
              <a:ext uri="{FF2B5EF4-FFF2-40B4-BE49-F238E27FC236}">
                <a16:creationId xmlns:a16="http://schemas.microsoft.com/office/drawing/2014/main" id="{F3A451DC-76CB-21C5-8F09-EC8DCCD4C658}"/>
              </a:ext>
            </a:extLst>
          </p:cNvPr>
          <p:cNvSpPr/>
          <p:nvPr/>
        </p:nvSpPr>
        <p:spPr>
          <a:xfrm>
            <a:off x="4023360" y="4125976"/>
            <a:ext cx="7114032"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2364B"/>
                </a:solidFill>
              </a:rPr>
              <a:t>Move Indonesia toward peer-country outcomes</a:t>
            </a:r>
            <a:endParaRPr lang="en-US" sz="2000" dirty="0"/>
          </a:p>
        </p:txBody>
      </p:sp>
      <p:sp>
        <p:nvSpPr>
          <p:cNvPr id="27" name="Text 24">
            <a:extLst>
              <a:ext uri="{FF2B5EF4-FFF2-40B4-BE49-F238E27FC236}">
                <a16:creationId xmlns:a16="http://schemas.microsoft.com/office/drawing/2014/main" id="{AD76F308-7E1A-00CA-6AE0-2C59EC76C18C}"/>
              </a:ext>
            </a:extLst>
          </p:cNvPr>
          <p:cNvSpPr/>
          <p:nvPr/>
        </p:nvSpPr>
        <p:spPr>
          <a:xfrm>
            <a:off x="4023360" y="4461386"/>
            <a:ext cx="7059168" cy="502920"/>
          </a:xfrm>
          <a:prstGeom prst="rect">
            <a:avLst/>
          </a:prstGeom>
          <a:noFill/>
          <a:ln/>
        </p:spPr>
        <p:txBody>
          <a:bodyPr wrap="square" lIns="0" tIns="0" rIns="0" bIns="0" rtlCol="0" anchor="ctr">
            <a:noAutofit/>
          </a:bodyPr>
          <a:lstStyle/>
          <a:p>
            <a:r>
              <a:rPr lang="en-US" dirty="0">
                <a:solidFill>
                  <a:srgbClr val="425D6D"/>
                </a:solidFill>
              </a:rPr>
              <a:t>The package falls below Malaysia’s current rates and the ASEAN average; reaching Singapore would require broader intersectoral action.</a:t>
            </a:r>
            <a:endParaRPr lang="en-US" dirty="0"/>
          </a:p>
        </p:txBody>
      </p:sp>
      <p:sp>
        <p:nvSpPr>
          <p:cNvPr id="28" name="Shape 25">
            <a:extLst>
              <a:ext uri="{FF2B5EF4-FFF2-40B4-BE49-F238E27FC236}">
                <a16:creationId xmlns:a16="http://schemas.microsoft.com/office/drawing/2014/main" id="{7A0B2E9F-80B4-EE6E-2224-0807F78F38C1}"/>
              </a:ext>
            </a:extLst>
          </p:cNvPr>
          <p:cNvSpPr/>
          <p:nvPr/>
        </p:nvSpPr>
        <p:spPr>
          <a:xfrm>
            <a:off x="4023360" y="5131816"/>
            <a:ext cx="7022592" cy="1"/>
          </a:xfrm>
          <a:prstGeom prst="line">
            <a:avLst/>
          </a:prstGeom>
          <a:noFill/>
          <a:ln w="10160">
            <a:solidFill>
              <a:srgbClr val="D5E1E6"/>
            </a:solidFill>
            <a:prstDash val="solid"/>
          </a:ln>
        </p:spPr>
        <p:txBody>
          <a:bodyPr/>
          <a:lstStyle/>
          <a:p>
            <a:endParaRPr lang="en-US"/>
          </a:p>
        </p:txBody>
      </p:sp>
      <p:sp>
        <p:nvSpPr>
          <p:cNvPr id="29" name="Shape 26">
            <a:extLst>
              <a:ext uri="{FF2B5EF4-FFF2-40B4-BE49-F238E27FC236}">
                <a16:creationId xmlns:a16="http://schemas.microsoft.com/office/drawing/2014/main" id="{A1043E0D-B8C4-A1E6-C37C-2A18E296B005}"/>
              </a:ext>
            </a:extLst>
          </p:cNvPr>
          <p:cNvSpPr/>
          <p:nvPr/>
        </p:nvSpPr>
        <p:spPr>
          <a:xfrm>
            <a:off x="3456432" y="5287264"/>
            <a:ext cx="365760" cy="365760"/>
          </a:xfrm>
          <a:prstGeom prst="ellipse">
            <a:avLst/>
          </a:prstGeom>
          <a:solidFill>
            <a:srgbClr val="7254A0"/>
          </a:solidFill>
          <a:ln w="12700">
            <a:solidFill>
              <a:srgbClr val="7254A0"/>
            </a:solidFill>
            <a:prstDash val="solid"/>
          </a:ln>
        </p:spPr>
        <p:txBody>
          <a:bodyPr/>
          <a:lstStyle/>
          <a:p>
            <a:endParaRPr lang="en-US"/>
          </a:p>
        </p:txBody>
      </p:sp>
      <p:sp>
        <p:nvSpPr>
          <p:cNvPr id="30" name="Text 27">
            <a:extLst>
              <a:ext uri="{FF2B5EF4-FFF2-40B4-BE49-F238E27FC236}">
                <a16:creationId xmlns:a16="http://schemas.microsoft.com/office/drawing/2014/main" id="{5A663E6F-CF2A-4B1C-E15D-578112DABF95}"/>
              </a:ext>
            </a:extLst>
          </p:cNvPr>
          <p:cNvSpPr/>
          <p:nvPr/>
        </p:nvSpPr>
        <p:spPr>
          <a:xfrm>
            <a:off x="3456432" y="5355844"/>
            <a:ext cx="365760" cy="146304"/>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31" name="Text 28">
            <a:extLst>
              <a:ext uri="{FF2B5EF4-FFF2-40B4-BE49-F238E27FC236}">
                <a16:creationId xmlns:a16="http://schemas.microsoft.com/office/drawing/2014/main" id="{F88CD5CF-528B-47F7-E8FE-FBA36303524C}"/>
              </a:ext>
            </a:extLst>
          </p:cNvPr>
          <p:cNvSpPr/>
          <p:nvPr/>
        </p:nvSpPr>
        <p:spPr>
          <a:xfrm>
            <a:off x="4023360" y="5250688"/>
            <a:ext cx="7114032"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2364B"/>
                </a:solidFill>
              </a:rPr>
              <a:t>Make medicine access and financial protection central</a:t>
            </a:r>
            <a:endParaRPr lang="en-US" sz="2000" dirty="0"/>
          </a:p>
        </p:txBody>
      </p:sp>
      <p:sp>
        <p:nvSpPr>
          <p:cNvPr id="32" name="Text 29">
            <a:extLst>
              <a:ext uri="{FF2B5EF4-FFF2-40B4-BE49-F238E27FC236}">
                <a16:creationId xmlns:a16="http://schemas.microsoft.com/office/drawing/2014/main" id="{DDEF9C1C-816A-3F60-24DC-9DC3C0E9DC47}"/>
              </a:ext>
            </a:extLst>
          </p:cNvPr>
          <p:cNvSpPr/>
          <p:nvPr/>
        </p:nvSpPr>
        <p:spPr>
          <a:xfrm>
            <a:off x="4023360" y="5626992"/>
            <a:ext cx="7059168" cy="648878"/>
          </a:xfrm>
          <a:prstGeom prst="rect">
            <a:avLst/>
          </a:prstGeom>
          <a:noFill/>
          <a:ln/>
        </p:spPr>
        <p:txBody>
          <a:bodyPr wrap="square" lIns="0" tIns="0" rIns="0" bIns="0" rtlCol="0" anchor="ctr">
            <a:noAutofit/>
          </a:bodyPr>
          <a:lstStyle/>
          <a:p>
            <a:pPr marL="0" indent="0">
              <a:buNone/>
            </a:pPr>
            <a:r>
              <a:rPr lang="en-US" dirty="0">
                <a:solidFill>
                  <a:srgbClr val="425D6D"/>
                </a:solidFill>
              </a:rPr>
              <a:t>CVD drives catastrophic spending for 1.7 million people yearly, concentrated among the poorest. Optimizing JKN delivery and supply-chain reforms are essential.</a:t>
            </a:r>
            <a:endParaRPr lang="en-US" dirty="0"/>
          </a:p>
        </p:txBody>
      </p:sp>
      <p:sp>
        <p:nvSpPr>
          <p:cNvPr id="34" name="Text 29">
            <a:extLst>
              <a:ext uri="{FF2B5EF4-FFF2-40B4-BE49-F238E27FC236}">
                <a16:creationId xmlns:a16="http://schemas.microsoft.com/office/drawing/2014/main" id="{68EA503C-FBF3-CE89-C87F-156DAB5CB84B}"/>
              </a:ext>
            </a:extLst>
          </p:cNvPr>
          <p:cNvSpPr/>
          <p:nvPr/>
        </p:nvSpPr>
        <p:spPr>
          <a:xfrm>
            <a:off x="998220" y="104675"/>
            <a:ext cx="10195561" cy="181075"/>
          </a:xfrm>
          <a:prstGeom prst="rect">
            <a:avLst/>
          </a:prstGeom>
          <a:noFill/>
          <a:ln/>
        </p:spPr>
        <p:txBody>
          <a:bodyPr wrap="square" lIns="0" tIns="0" rIns="0" bIns="0" rtlCol="0" anchor="ctr">
            <a:normAutofit fontScale="77500" lnSpcReduction="20000"/>
          </a:bodyPr>
          <a:lstStyle/>
          <a:p>
            <a:pPr marL="0" indent="0" algn="ctr">
              <a:buNone/>
            </a:pPr>
            <a:r>
              <a:rPr lang="en-US" sz="1800" b="1" dirty="0">
                <a:solidFill>
                  <a:schemeClr val="bg1"/>
                </a:solidFill>
                <a:latin typeface="Arial" panose="020B0604020202020204" pitchFamily="34" charset="0"/>
                <a:cs typeface="Arial" panose="020B0604020202020204" pitchFamily="34" charset="0"/>
              </a:rPr>
              <a:t>PRELIMINARY ESTIMATES – NOT FOR QUOTATION OR CIRCULATION – UPDATED 30 AUG 2026</a:t>
            </a:r>
          </a:p>
        </p:txBody>
      </p:sp>
      <p:sp>
        <p:nvSpPr>
          <p:cNvPr id="36" name="Text 29">
            <a:extLst>
              <a:ext uri="{FF2B5EF4-FFF2-40B4-BE49-F238E27FC236}">
                <a16:creationId xmlns:a16="http://schemas.microsoft.com/office/drawing/2014/main" id="{943C8894-EFDA-7A92-F8ED-CA27E37A3CAF}"/>
              </a:ext>
            </a:extLst>
          </p:cNvPr>
          <p:cNvSpPr/>
          <p:nvPr/>
        </p:nvSpPr>
        <p:spPr>
          <a:xfrm>
            <a:off x="63500" y="6621018"/>
            <a:ext cx="11944350" cy="181075"/>
          </a:xfrm>
          <a:prstGeom prst="rect">
            <a:avLst/>
          </a:prstGeom>
          <a:noFill/>
          <a:ln/>
        </p:spPr>
        <p:txBody>
          <a:bodyPr wrap="square" lIns="0" tIns="0" rIns="0" bIns="0" rtlCol="0" anchor="ctr">
            <a:normAutofit/>
          </a:bodyPr>
          <a:lstStyle/>
          <a:p>
            <a:pPr marL="0" indent="0">
              <a:buNone/>
            </a:pPr>
            <a:r>
              <a:rPr lang="en-US" sz="1100" dirty="0">
                <a:solidFill>
                  <a:schemeClr val="bg1"/>
                </a:solidFill>
                <a:latin typeface="Arial" panose="020B0604020202020204" pitchFamily="34" charset="0"/>
                <a:cs typeface="Arial" panose="020B0604020202020204" pitchFamily="34" charset="0"/>
              </a:rPr>
              <a:t>Source: Preliminary results from the World Bank Group with University of Washington and Harvard University</a:t>
            </a:r>
          </a:p>
        </p:txBody>
      </p:sp>
    </p:spTree>
    <p:extLst>
      <p:ext uri="{BB962C8B-B14F-4D97-AF65-F5344CB8AC3E}">
        <p14:creationId xmlns:p14="http://schemas.microsoft.com/office/powerpoint/2010/main" val="1580384825"/>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2500" y="2514601"/>
            <a:ext cx="10287000" cy="1523999"/>
          </a:xfrm>
        </p:spPr>
        <p:txBody>
          <a:bodyPr>
            <a:noAutofit/>
          </a:bodyPr>
          <a:lstStyle/>
          <a:p>
            <a:pPr marL="0" indent="0" algn="ctr">
              <a:buNone/>
            </a:pPr>
            <a:r>
              <a:rPr lang="en-US" sz="4000" b="1" dirty="0">
                <a:solidFill>
                  <a:srgbClr val="002060"/>
                </a:solidFill>
              </a:rPr>
              <a:t>Message 1. </a:t>
            </a:r>
            <a:r>
              <a:rPr lang="en-US" sz="4000" dirty="0">
                <a:solidFill>
                  <a:srgbClr val="002060"/>
                </a:solidFill>
              </a:rPr>
              <a:t>The economic value of reducing avoidable mortality is very large in Indonesia</a:t>
            </a:r>
          </a:p>
        </p:txBody>
      </p:sp>
    </p:spTree>
    <p:extLst>
      <p:ext uri="{BB962C8B-B14F-4D97-AF65-F5344CB8AC3E}">
        <p14:creationId xmlns:p14="http://schemas.microsoft.com/office/powerpoint/2010/main" val="1999605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67280AE-72AA-369C-928F-36F4C32C07BB}"/>
              </a:ext>
            </a:extLst>
          </p:cNvPr>
          <p:cNvSpPr>
            <a:spLocks noGrp="1"/>
          </p:cNvSpPr>
          <p:nvPr>
            <p:ph sz="quarter" idx="13"/>
          </p:nvPr>
        </p:nvSpPr>
        <p:spPr>
          <a:xfrm>
            <a:off x="806274" y="2010974"/>
            <a:ext cx="10623726" cy="2915075"/>
          </a:xfrm>
        </p:spPr>
        <p:txBody>
          <a:bodyPr>
            <a:noAutofit/>
          </a:bodyPr>
          <a:lstStyle/>
          <a:p>
            <a:pPr marL="0" indent="0">
              <a:buNone/>
            </a:pPr>
            <a:r>
              <a:rPr lang="en-US" sz="2200" b="1" u="sng" dirty="0">
                <a:latin typeface="Calibri" panose="020F0502020204030204" pitchFamily="34" charset="0"/>
                <a:cs typeface="Calibri" panose="020F0502020204030204" pitchFamily="34" charset="0"/>
              </a:rPr>
              <a:t>Objective</a:t>
            </a:r>
            <a:r>
              <a:rPr lang="en-US" sz="2200" b="1" dirty="0">
                <a:latin typeface="Calibri" panose="020F0502020204030204" pitchFamily="34" charset="0"/>
                <a:cs typeface="Calibri" panose="020F0502020204030204" pitchFamily="34" charset="0"/>
              </a:rPr>
              <a:t>: To estimate the economic value associated with avoidable mortality related to various causes of death, over 2019-2050</a:t>
            </a:r>
          </a:p>
          <a:p>
            <a:pPr marL="0" indent="0">
              <a:buNone/>
            </a:pPr>
            <a:r>
              <a:rPr lang="en-US" sz="2200" dirty="0">
                <a:latin typeface="Calibri" panose="020F0502020204030204" pitchFamily="34" charset="0"/>
                <a:cs typeface="Calibri" panose="020F0502020204030204" pitchFamily="34" charset="0"/>
              </a:rPr>
              <a:t>We assess the monetary value of hypothetical reductions in cause-specific mortality</a:t>
            </a:r>
          </a:p>
          <a:p>
            <a:pPr marL="628222" lvl="1" indent="-278681">
              <a:buFont typeface="+mj-lt"/>
              <a:buAutoNum type="arabicPeriod"/>
            </a:pPr>
            <a:r>
              <a:rPr lang="en-US" sz="2200" dirty="0">
                <a:latin typeface="Calibri" panose="020F0502020204030204" pitchFamily="34" charset="0"/>
                <a:cs typeface="Calibri" panose="020F0502020204030204" pitchFamily="34" charset="0"/>
              </a:rPr>
              <a:t>We benchmark these hypothetical reductions against a mortality frontier              (lowest mortality rates achieved) by cause</a:t>
            </a:r>
          </a:p>
          <a:p>
            <a:pPr marL="628222" lvl="1" indent="-278681">
              <a:buFont typeface="+mj-lt"/>
              <a:buAutoNum type="arabicPeriod"/>
            </a:pPr>
            <a:r>
              <a:rPr lang="en-US" sz="2200" dirty="0">
                <a:latin typeface="Calibri" panose="020F0502020204030204" pitchFamily="34" charset="0"/>
                <a:cs typeface="Calibri" panose="020F0502020204030204" pitchFamily="34" charset="0"/>
              </a:rPr>
              <a:t>We assign a willingness to pay value to these hypothetical reductions in cause-specific mortality</a:t>
            </a:r>
          </a:p>
          <a:p>
            <a:endParaRPr lang="en-US" sz="2200" dirty="0">
              <a:solidFill>
                <a:srgbClr val="00206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64ACBEED-8A82-E373-7018-4AD493CAFF61}"/>
              </a:ext>
            </a:extLst>
          </p:cNvPr>
          <p:cNvSpPr>
            <a:spLocks noGrp="1"/>
          </p:cNvSpPr>
          <p:nvPr>
            <p:ph type="body" sz="quarter" idx="12"/>
          </p:nvPr>
        </p:nvSpPr>
        <p:spPr>
          <a:xfrm>
            <a:off x="707242" y="940304"/>
            <a:ext cx="10220257"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is the economic value of avoidable mortality FROM </a:t>
            </a:r>
            <a:r>
              <a:rPr lang="en-US" sz="3600" dirty="0" err="1">
                <a:solidFill>
                  <a:srgbClr val="002060"/>
                </a:solidFill>
              </a:rPr>
              <a:t>CVd</a:t>
            </a:r>
            <a:r>
              <a:rPr lang="en-US" sz="3600" dirty="0">
                <a:solidFill>
                  <a:srgbClr val="002060"/>
                </a:solidFill>
              </a:rPr>
              <a:t>?</a:t>
            </a:r>
          </a:p>
        </p:txBody>
      </p:sp>
      <p:sp>
        <p:nvSpPr>
          <p:cNvPr id="6" name="Content Placeholder 3">
            <a:extLst>
              <a:ext uri="{FF2B5EF4-FFF2-40B4-BE49-F238E27FC236}">
                <a16:creationId xmlns:a16="http://schemas.microsoft.com/office/drawing/2014/main" id="{5A96E519-97BD-4E05-B5D9-155ED7E84BF9}"/>
              </a:ext>
            </a:extLst>
          </p:cNvPr>
          <p:cNvSpPr txBox="1">
            <a:spLocks/>
          </p:cNvSpPr>
          <p:nvPr/>
        </p:nvSpPr>
        <p:spPr>
          <a:xfrm>
            <a:off x="762000" y="4683270"/>
            <a:ext cx="10668000" cy="1634457"/>
          </a:xfrm>
          <a:prstGeom prst="rect">
            <a:avLst/>
          </a:prstGeom>
          <a:ln w="28575">
            <a:solidFill>
              <a:schemeClr val="tx1"/>
            </a:solidFill>
          </a:ln>
        </p:spPr>
        <p:txBody>
          <a:bodyPr vert="horz" lIns="73152" tIns="36576" rIns="73152" bIns="36576" rtlCol="0">
            <a:no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2200" b="1" u="sng" dirty="0">
                <a:solidFill>
                  <a:prstClr val="black"/>
                </a:solidFill>
                <a:latin typeface="Calibri" panose="020F0502020204030204" pitchFamily="34" charset="0"/>
                <a:ea typeface="Times New Roman" panose="02020603050405020304" pitchFamily="18" charset="0"/>
                <a:cs typeface="Calibri" panose="020F0502020204030204" pitchFamily="34" charset="0"/>
              </a:rPr>
              <a:t>Key numéraire obtained</a:t>
            </a:r>
            <a:r>
              <a:rPr lang="en-US" sz="2200" b="1" dirty="0">
                <a:solidFill>
                  <a:prstClr val="black"/>
                </a:solidFill>
                <a:latin typeface="Calibri" panose="020F0502020204030204" pitchFamily="34" charset="0"/>
                <a:ea typeface="Times New Roman" panose="02020603050405020304" pitchFamily="18" charset="0"/>
                <a:cs typeface="Calibri" panose="020F0502020204030204" pitchFamily="34" charset="0"/>
              </a:rPr>
              <a:t>: </a:t>
            </a:r>
          </a:p>
          <a:p>
            <a:pPr marL="214370" indent="-214370">
              <a:lnSpc>
                <a:spcPct val="100000"/>
              </a:lnSpc>
              <a:spcBef>
                <a:spcPts val="0"/>
              </a:spcBef>
              <a:spcAft>
                <a:spcPts val="0"/>
              </a:spcAft>
              <a:buFont typeface="Arial" panose="020B0604020202020204" pitchFamily="34" charset="0"/>
              <a:buChar char="•"/>
            </a:pPr>
            <a:r>
              <a:rPr lang="en-US" sz="2200" dirty="0">
                <a:solidFill>
                  <a:prstClr val="black"/>
                </a:solidFill>
                <a:latin typeface="Calibri" panose="020F0502020204030204" pitchFamily="34" charset="0"/>
                <a:ea typeface="Times New Roman" panose="02020603050405020304" pitchFamily="18" charset="0"/>
                <a:cs typeface="Calibri" panose="020F0502020204030204" pitchFamily="34" charset="0"/>
              </a:rPr>
              <a:t>% of income an individual is willing to pay to live 1 year under the lowest possible mortality rate for a given cause of death</a:t>
            </a:r>
          </a:p>
          <a:p>
            <a:pPr marL="214370" indent="-214370">
              <a:lnSpc>
                <a:spcPct val="100000"/>
              </a:lnSpc>
              <a:spcBef>
                <a:spcPts val="0"/>
              </a:spcBef>
              <a:spcAft>
                <a:spcPts val="0"/>
              </a:spcAft>
              <a:buFont typeface="Arial" panose="020B0604020202020204" pitchFamily="34" charset="0"/>
              <a:buChar char="•"/>
            </a:pPr>
            <a:r>
              <a:rPr lang="en-US" sz="2200" b="1" dirty="0">
                <a:solidFill>
                  <a:prstClr val="black"/>
                </a:solidFill>
                <a:latin typeface="Calibri" panose="020F0502020204030204" pitchFamily="34" charset="0"/>
                <a:ea typeface="Times New Roman" panose="02020603050405020304" pitchFamily="18" charset="0"/>
                <a:cs typeface="Calibri" panose="020F0502020204030204" pitchFamily="34" charset="0"/>
              </a:rPr>
              <a:t>Economic metric directly comparable to national annual incomes</a:t>
            </a:r>
            <a:r>
              <a:rPr lang="en-US" sz="2200" dirty="0">
                <a:solidFill>
                  <a:prstClr val="black"/>
                </a:solidFill>
                <a:latin typeface="Calibri" panose="020F0502020204030204" pitchFamily="34" charset="0"/>
                <a:ea typeface="Times New Roman" panose="02020603050405020304" pitchFamily="18" charset="0"/>
                <a:cs typeface="Calibri" panose="020F0502020204030204" pitchFamily="34" charset="0"/>
              </a:rPr>
              <a:t> (GNI)</a:t>
            </a:r>
          </a:p>
        </p:txBody>
      </p:sp>
      <p:sp>
        <p:nvSpPr>
          <p:cNvPr id="8" name="Content Placeholder 3">
            <a:extLst>
              <a:ext uri="{FF2B5EF4-FFF2-40B4-BE49-F238E27FC236}">
                <a16:creationId xmlns:a16="http://schemas.microsoft.com/office/drawing/2014/main" id="{279F3F6B-FB7E-0AE0-664D-57A43739CBC7}"/>
              </a:ext>
            </a:extLst>
          </p:cNvPr>
          <p:cNvSpPr txBox="1">
            <a:spLocks/>
          </p:cNvSpPr>
          <p:nvPr/>
        </p:nvSpPr>
        <p:spPr>
          <a:xfrm>
            <a:off x="1015247" y="5194642"/>
            <a:ext cx="9691763"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2000" b="1"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859669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FBAAA-590A-2856-628F-0F2758B59CF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56EF88D-8D37-606A-7718-134B42D7C30D}"/>
              </a:ext>
            </a:extLst>
          </p:cNvPr>
          <p:cNvPicPr>
            <a:picLocks noChangeAspect="1"/>
          </p:cNvPicPr>
          <p:nvPr/>
        </p:nvPicPr>
        <p:blipFill>
          <a:blip r:embed="rId2"/>
          <a:stretch>
            <a:fillRect/>
          </a:stretch>
        </p:blipFill>
        <p:spPr>
          <a:xfrm>
            <a:off x="2008988" y="2177242"/>
            <a:ext cx="8174024" cy="4337240"/>
          </a:xfrm>
          <a:prstGeom prst="rect">
            <a:avLst/>
          </a:prstGeom>
        </p:spPr>
      </p:pic>
      <p:sp>
        <p:nvSpPr>
          <p:cNvPr id="8" name="TextBox 7">
            <a:extLst>
              <a:ext uri="{FF2B5EF4-FFF2-40B4-BE49-F238E27FC236}">
                <a16:creationId xmlns:a16="http://schemas.microsoft.com/office/drawing/2014/main" id="{AAB29E7B-B1F5-C25B-6397-19C258ECCAD2}"/>
              </a:ext>
            </a:extLst>
          </p:cNvPr>
          <p:cNvSpPr txBox="1"/>
          <p:nvPr/>
        </p:nvSpPr>
        <p:spPr>
          <a:xfrm>
            <a:off x="450000" y="443806"/>
            <a:ext cx="10292850" cy="1384995"/>
          </a:xfrm>
          <a:prstGeom prst="rect">
            <a:avLst/>
          </a:prstGeom>
          <a:noFill/>
        </p:spPr>
        <p:txBody>
          <a:bodyPr wrap="square">
            <a:spAutoFit/>
          </a:bodyPr>
          <a:lstStyle/>
          <a:p>
            <a:pPr indent="-57128" algn="ctr"/>
            <a:r>
              <a:rPr lang="en-US" sz="4200" b="1" dirty="0">
                <a:solidFill>
                  <a:srgbClr val="002060"/>
                </a:solidFill>
                <a:latin typeface="Calibri" panose="020F0502020204030204" pitchFamily="34" charset="0"/>
                <a:cs typeface="Calibri" panose="020F0502020204030204" pitchFamily="34" charset="0"/>
              </a:rPr>
              <a:t>Indonesia’s economic value of avoidable mortality, 2019 &amp; 2050</a:t>
            </a:r>
          </a:p>
        </p:txBody>
      </p:sp>
    </p:spTree>
    <p:extLst>
      <p:ext uri="{BB962C8B-B14F-4D97-AF65-F5344CB8AC3E}">
        <p14:creationId xmlns:p14="http://schemas.microsoft.com/office/powerpoint/2010/main" val="3421421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6C614-4D82-4EBD-FD01-2D16F92DD4F2}"/>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00977C94-54FC-BB72-F01D-66CFABE73810}"/>
              </a:ext>
            </a:extLst>
          </p:cNvPr>
          <p:cNvSpPr>
            <a:spLocks noGrp="1"/>
          </p:cNvSpPr>
          <p:nvPr>
            <p:ph sz="quarter" idx="13"/>
          </p:nvPr>
        </p:nvSpPr>
        <p:spPr>
          <a:xfrm>
            <a:off x="652558" y="208579"/>
            <a:ext cx="10818081" cy="1437342"/>
          </a:xfrm>
        </p:spPr>
        <p:txBody>
          <a:bodyPr>
            <a:noAutofit/>
          </a:bodyPr>
          <a:lstStyle/>
          <a:p>
            <a:pPr marL="0" indent="-57128" algn="ctr">
              <a:buNone/>
            </a:pPr>
            <a:r>
              <a:rPr lang="en-US" sz="3600" b="1" dirty="0">
                <a:solidFill>
                  <a:srgbClr val="002060"/>
                </a:solidFill>
                <a:latin typeface="Calibri" panose="020F0502020204030204" pitchFamily="34" charset="0"/>
                <a:cs typeface="Calibri" panose="020F0502020204030204" pitchFamily="34" charset="0"/>
              </a:rPr>
              <a:t>Economic value of avoidable mortality by cause,</a:t>
            </a:r>
          </a:p>
          <a:p>
            <a:pPr marL="0" indent="-57128" algn="ctr">
              <a:buNone/>
            </a:pPr>
            <a:r>
              <a:rPr lang="en-US" sz="3600" b="1" dirty="0">
                <a:solidFill>
                  <a:srgbClr val="002060"/>
                </a:solidFill>
                <a:latin typeface="Calibri" panose="020F0502020204030204" pitchFamily="34" charset="0"/>
                <a:cs typeface="Calibri" panose="020F0502020204030204" pitchFamily="34" charset="0"/>
              </a:rPr>
              <a:t>Indonesia vs. selected comparators</a:t>
            </a:r>
          </a:p>
        </p:txBody>
      </p:sp>
      <p:pic>
        <p:nvPicPr>
          <p:cNvPr id="2" name="Picture 1">
            <a:extLst>
              <a:ext uri="{FF2B5EF4-FFF2-40B4-BE49-F238E27FC236}">
                <a16:creationId xmlns:a16="http://schemas.microsoft.com/office/drawing/2014/main" id="{474C752C-363D-CB5F-E097-77E227D99135}"/>
              </a:ext>
            </a:extLst>
          </p:cNvPr>
          <p:cNvPicPr>
            <a:picLocks noChangeAspect="1"/>
          </p:cNvPicPr>
          <p:nvPr/>
        </p:nvPicPr>
        <p:blipFill>
          <a:blip r:embed="rId3"/>
          <a:srcRect l="42577" r="18528" b="49929"/>
          <a:stretch>
            <a:fillRect/>
          </a:stretch>
        </p:blipFill>
        <p:spPr>
          <a:xfrm>
            <a:off x="4236400" y="1574801"/>
            <a:ext cx="4416238" cy="5029200"/>
          </a:xfrm>
          <a:prstGeom prst="rect">
            <a:avLst/>
          </a:prstGeom>
        </p:spPr>
      </p:pic>
      <p:pic>
        <p:nvPicPr>
          <p:cNvPr id="4" name="Picture 3">
            <a:extLst>
              <a:ext uri="{FF2B5EF4-FFF2-40B4-BE49-F238E27FC236}">
                <a16:creationId xmlns:a16="http://schemas.microsoft.com/office/drawing/2014/main" id="{9BE7DFE9-2646-7FDD-DB0F-8AA3F94EEFED}"/>
              </a:ext>
            </a:extLst>
          </p:cNvPr>
          <p:cNvPicPr>
            <a:picLocks noChangeAspect="1"/>
          </p:cNvPicPr>
          <p:nvPr/>
        </p:nvPicPr>
        <p:blipFill>
          <a:blip r:embed="rId3"/>
          <a:srcRect r="70280" b="49929"/>
          <a:stretch>
            <a:fillRect/>
          </a:stretch>
        </p:blipFill>
        <p:spPr>
          <a:xfrm>
            <a:off x="882271" y="1574801"/>
            <a:ext cx="3374449" cy="5029200"/>
          </a:xfrm>
          <a:prstGeom prst="rect">
            <a:avLst/>
          </a:prstGeom>
        </p:spPr>
      </p:pic>
      <p:pic>
        <p:nvPicPr>
          <p:cNvPr id="5" name="Picture 4">
            <a:extLst>
              <a:ext uri="{FF2B5EF4-FFF2-40B4-BE49-F238E27FC236}">
                <a16:creationId xmlns:a16="http://schemas.microsoft.com/office/drawing/2014/main" id="{1264DA3A-0801-1E67-FEE8-1A67A7A7549F}"/>
              </a:ext>
            </a:extLst>
          </p:cNvPr>
          <p:cNvPicPr>
            <a:picLocks noChangeAspect="1"/>
          </p:cNvPicPr>
          <p:nvPr/>
        </p:nvPicPr>
        <p:blipFill>
          <a:blip r:embed="rId3"/>
          <a:srcRect l="81893" t="36738" b="35802"/>
          <a:stretch>
            <a:fillRect/>
          </a:stretch>
        </p:blipFill>
        <p:spPr>
          <a:xfrm>
            <a:off x="9091964" y="2616348"/>
            <a:ext cx="2726350" cy="3657600"/>
          </a:xfrm>
          <a:prstGeom prst="rect">
            <a:avLst/>
          </a:prstGeom>
        </p:spPr>
      </p:pic>
    </p:spTree>
    <p:extLst>
      <p:ext uri="{BB962C8B-B14F-4D97-AF65-F5344CB8AC3E}">
        <p14:creationId xmlns:p14="http://schemas.microsoft.com/office/powerpoint/2010/main" val="3317852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7E1BC-5548-DDB5-A6D7-03CE0C44C1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CE7956-B98B-5186-5E6F-77AAE78DE411}"/>
              </a:ext>
            </a:extLst>
          </p:cNvPr>
          <p:cNvSpPr>
            <a:spLocks noGrp="1"/>
          </p:cNvSpPr>
          <p:nvPr>
            <p:ph idx="1"/>
          </p:nvPr>
        </p:nvSpPr>
        <p:spPr>
          <a:xfrm>
            <a:off x="952500" y="1981201"/>
            <a:ext cx="10287000" cy="2895599"/>
          </a:xfrm>
        </p:spPr>
        <p:txBody>
          <a:bodyPr>
            <a:normAutofit/>
          </a:bodyPr>
          <a:lstStyle/>
          <a:p>
            <a:pPr marL="0" indent="0" algn="ctr">
              <a:buNone/>
            </a:pPr>
            <a:r>
              <a:rPr lang="en-US" sz="4000" b="1" dirty="0">
                <a:solidFill>
                  <a:srgbClr val="002060"/>
                </a:solidFill>
              </a:rPr>
              <a:t>Message 2.</a:t>
            </a:r>
            <a:r>
              <a:rPr lang="en-US" sz="4000" dirty="0">
                <a:solidFill>
                  <a:srgbClr val="002060"/>
                </a:solidFill>
              </a:rPr>
              <a:t> Improving access to a basic package of CVD interventions, and tackling tobacco, could reduce Indonesia’s CVD mortality rates to those of peer countries</a:t>
            </a:r>
          </a:p>
        </p:txBody>
      </p:sp>
    </p:spTree>
    <p:extLst>
      <p:ext uri="{BB962C8B-B14F-4D97-AF65-F5344CB8AC3E}">
        <p14:creationId xmlns:p14="http://schemas.microsoft.com/office/powerpoint/2010/main" val="1409562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3BF5C-C4BB-60FB-7BE8-B9181BFDAB5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EFC02F5-3C47-6F6F-A31C-B859D427140D}"/>
              </a:ext>
            </a:extLst>
          </p:cNvPr>
          <p:cNvSpPr>
            <a:spLocks noGrp="1"/>
          </p:cNvSpPr>
          <p:nvPr>
            <p:ph sz="quarter" idx="13"/>
          </p:nvPr>
        </p:nvSpPr>
        <p:spPr>
          <a:xfrm>
            <a:off x="461233" y="2867161"/>
            <a:ext cx="10623726" cy="3372275"/>
          </a:xfrm>
        </p:spPr>
        <p:txBody>
          <a:bodyPr>
            <a:noAutofit/>
          </a:bodyPr>
          <a:lstStyle/>
          <a:p>
            <a:pPr marL="0" indent="0">
              <a:buNone/>
            </a:pPr>
            <a:r>
              <a:rPr lang="en-US" sz="2600" b="1" u="sng" dirty="0">
                <a:latin typeface="Calibri" panose="020F0502020204030204" pitchFamily="34" charset="0"/>
                <a:cs typeface="Calibri" panose="020F0502020204030204" pitchFamily="34" charset="0"/>
              </a:rPr>
              <a:t>Objective</a:t>
            </a:r>
            <a:r>
              <a:rPr lang="en-US" sz="2600" b="1" dirty="0">
                <a:latin typeface="Calibri" panose="020F0502020204030204" pitchFamily="34" charset="0"/>
                <a:cs typeface="Calibri" panose="020F0502020204030204" pitchFamily="34" charset="0"/>
              </a:rPr>
              <a:t>: To estimate the mortality impact of </a:t>
            </a:r>
          </a:p>
          <a:p>
            <a:pPr marL="914400" lvl="1" indent="-514350">
              <a:buFont typeface="+mj-lt"/>
              <a:buAutoNum type="arabicPeriod"/>
            </a:pPr>
            <a:r>
              <a:rPr lang="en-US" sz="2200" b="1" dirty="0">
                <a:latin typeface="Calibri" panose="020F0502020204030204" pitchFamily="34" charset="0"/>
                <a:cs typeface="Calibri" panose="020F0502020204030204" pitchFamily="34" charset="0"/>
              </a:rPr>
              <a:t>Expanded access (utilization) of a package of foundational interventions for CVD prevention (CKG) and treatment, including the “70-70-70” target</a:t>
            </a:r>
          </a:p>
          <a:p>
            <a:pPr marL="914400" lvl="1" indent="-514350">
              <a:buFont typeface="+mj-lt"/>
              <a:buAutoNum type="arabicPeriod"/>
            </a:pPr>
            <a:r>
              <a:rPr lang="en-US" sz="2200" b="1" dirty="0">
                <a:latin typeface="Calibri" panose="020F0502020204030204" pitchFamily="34" charset="0"/>
                <a:cs typeface="Calibri" panose="020F0502020204030204" pitchFamily="34" charset="0"/>
              </a:rPr>
              <a:t>Comprehensive tobacco control (WHO MPOWER policy package)</a:t>
            </a:r>
          </a:p>
          <a:p>
            <a:pPr marL="0" indent="0">
              <a:buNone/>
            </a:pPr>
            <a:endParaRPr lang="en-US" sz="1200" dirty="0">
              <a:latin typeface="Calibri" panose="020F0502020204030204" pitchFamily="34" charset="0"/>
              <a:cs typeface="Calibri" panose="020F0502020204030204" pitchFamily="34" charset="0"/>
            </a:endParaRPr>
          </a:p>
          <a:p>
            <a:pPr marL="0" indent="0">
              <a:buNone/>
            </a:pPr>
            <a:r>
              <a:rPr lang="en-US" sz="2600" dirty="0">
                <a:latin typeface="Calibri" panose="020F0502020204030204" pitchFamily="34" charset="0"/>
                <a:cs typeface="Calibri" panose="020F0502020204030204" pitchFamily="34" charset="0"/>
              </a:rPr>
              <a:t>We assess the mortality consequences of these interventions, the associated increase in costs to JKN of expanded access, and the </a:t>
            </a:r>
            <a:r>
              <a:rPr lang="en-US" sz="2600" u="sng" dirty="0">
                <a:latin typeface="Calibri" panose="020F0502020204030204" pitchFamily="34" charset="0"/>
                <a:cs typeface="Calibri" panose="020F0502020204030204" pitchFamily="34" charset="0"/>
              </a:rPr>
              <a:t>impact these would have on mortality rates relative to ASEAN comparators</a:t>
            </a:r>
          </a:p>
        </p:txBody>
      </p:sp>
      <p:sp>
        <p:nvSpPr>
          <p:cNvPr id="5" name="Text Placeholder 1">
            <a:extLst>
              <a:ext uri="{FF2B5EF4-FFF2-40B4-BE49-F238E27FC236}">
                <a16:creationId xmlns:a16="http://schemas.microsoft.com/office/drawing/2014/main" id="{85DDAB29-83D9-C1B8-F5FF-C5AA6CB0F4BF}"/>
              </a:ext>
            </a:extLst>
          </p:cNvPr>
          <p:cNvSpPr>
            <a:spLocks noGrp="1"/>
          </p:cNvSpPr>
          <p:nvPr>
            <p:ph type="body" sz="quarter" idx="12"/>
          </p:nvPr>
        </p:nvSpPr>
        <p:spPr>
          <a:xfrm>
            <a:off x="662968" y="1321304"/>
            <a:ext cx="10220257"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is the potential health impact of expanded access to basic CVD prevention and treatment?</a:t>
            </a:r>
          </a:p>
        </p:txBody>
      </p:sp>
      <p:sp>
        <p:nvSpPr>
          <p:cNvPr id="8" name="Content Placeholder 3">
            <a:extLst>
              <a:ext uri="{FF2B5EF4-FFF2-40B4-BE49-F238E27FC236}">
                <a16:creationId xmlns:a16="http://schemas.microsoft.com/office/drawing/2014/main" id="{F52D4452-046A-BA1E-19DF-B36D66ADB81F}"/>
              </a:ext>
            </a:extLst>
          </p:cNvPr>
          <p:cNvSpPr txBox="1">
            <a:spLocks/>
          </p:cNvSpPr>
          <p:nvPr/>
        </p:nvSpPr>
        <p:spPr>
          <a:xfrm>
            <a:off x="970973" y="5194642"/>
            <a:ext cx="9691763"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2000" b="1"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63502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06171" y="154504"/>
            <a:ext cx="11161829" cy="1129350"/>
          </a:xfrm>
          <a:prstGeom prst="rect">
            <a:avLst/>
          </a:prstGeom>
        </p:spPr>
        <p:txBody>
          <a:bodyPr vert="horz" wrap="square" lIns="0" tIns="21148" rIns="0" bIns="0" rtlCol="0" anchor="ctr">
            <a:spAutoFit/>
          </a:bodyPr>
          <a:lstStyle/>
          <a:p>
            <a:pPr marL="20141" algn="ctr">
              <a:spcBef>
                <a:spcPts val="167"/>
              </a:spcBef>
            </a:pPr>
            <a:r>
              <a:rPr lang="en-US" sz="3600" b="1" spc="-16" dirty="0"/>
              <a:t>Framework for projecting the mortality impact and cost of achieving a 70-70-70 target for CVD prevention</a:t>
            </a:r>
            <a:endParaRPr sz="3600" b="1" spc="-16" dirty="0"/>
          </a:p>
        </p:txBody>
      </p:sp>
      <p:sp>
        <p:nvSpPr>
          <p:cNvPr id="17" name="object 17"/>
          <p:cNvSpPr/>
          <p:nvPr/>
        </p:nvSpPr>
        <p:spPr>
          <a:xfrm>
            <a:off x="2006351" y="2566835"/>
            <a:ext cx="8639375" cy="0"/>
          </a:xfrm>
          <a:custGeom>
            <a:avLst/>
            <a:gdLst/>
            <a:ahLst/>
            <a:cxnLst/>
            <a:rect l="l" t="t" r="r" b="b"/>
            <a:pathLst>
              <a:path w="4411345">
                <a:moveTo>
                  <a:pt x="0" y="0"/>
                </a:moveTo>
                <a:lnTo>
                  <a:pt x="4411112" y="0"/>
                </a:lnTo>
              </a:path>
            </a:pathLst>
          </a:custGeom>
          <a:ln w="7477">
            <a:solidFill>
              <a:srgbClr val="EBEBEB"/>
            </a:solidFill>
          </a:ln>
        </p:spPr>
        <p:txBody>
          <a:bodyPr wrap="square" lIns="0" tIns="0" rIns="0" bIns="0" rtlCol="0"/>
          <a:lstStyle/>
          <a:p>
            <a:endParaRPr sz="2855">
              <a:solidFill>
                <a:prstClr val="black"/>
              </a:solidFill>
              <a:latin typeface="Calibri"/>
            </a:endParaRPr>
          </a:p>
        </p:txBody>
      </p:sp>
      <p:sp>
        <p:nvSpPr>
          <p:cNvPr id="38" name="object 38"/>
          <p:cNvSpPr txBox="1"/>
          <p:nvPr/>
        </p:nvSpPr>
        <p:spPr>
          <a:xfrm>
            <a:off x="723385" y="5638801"/>
            <a:ext cx="10633300" cy="762171"/>
          </a:xfrm>
          <a:prstGeom prst="rect">
            <a:avLst/>
          </a:prstGeom>
        </p:spPr>
        <p:txBody>
          <a:bodyPr vert="horz" wrap="square" lIns="0" tIns="17120" rIns="0" bIns="0" rtlCol="0">
            <a:spAutoFit/>
          </a:bodyPr>
          <a:lstStyle/>
          <a:p>
            <a:pPr marL="20141" marR="8056" algn="just">
              <a:lnSpc>
                <a:spcPct val="102400"/>
              </a:lnSpc>
              <a:spcBef>
                <a:spcPts val="135"/>
              </a:spcBef>
            </a:pPr>
            <a:r>
              <a:rPr lang="en-US" sz="1600" b="1" i="1" dirty="0">
                <a:solidFill>
                  <a:srgbClr val="5B6B7A"/>
                </a:solidFill>
                <a:latin typeface="Calibri" panose="020F0502020204030204" pitchFamily="34" charset="0"/>
                <a:cs typeface="Calibri" panose="020F0502020204030204" pitchFamily="34" charset="0"/>
              </a:rPr>
              <a:t>Source: </a:t>
            </a:r>
            <a:r>
              <a:rPr lang="en-US" sz="1600" i="1" dirty="0">
                <a:solidFill>
                  <a:srgbClr val="5B6B7A"/>
                </a:solidFill>
                <a:latin typeface="Calibri" panose="020F0502020204030204" pitchFamily="34" charset="0"/>
                <a:cs typeface="Calibri" panose="020F0502020204030204" pitchFamily="34" charset="0"/>
              </a:rPr>
              <a:t>NCD Risk factors Collaborators 2024.</a:t>
            </a:r>
            <a:r>
              <a:rPr lang="en-US" sz="1600" b="1" i="1" dirty="0">
                <a:solidFill>
                  <a:srgbClr val="5B6B7A"/>
                </a:solidFill>
                <a:latin typeface="Calibri" panose="020F0502020204030204" pitchFamily="34" charset="0"/>
                <a:cs typeface="Calibri" panose="020F0502020204030204" pitchFamily="34" charset="0"/>
              </a:rPr>
              <a:t> Method: </a:t>
            </a:r>
            <a:r>
              <a:rPr lang="en-US" sz="1600" i="1" dirty="0">
                <a:solidFill>
                  <a:srgbClr val="5B6B7A"/>
                </a:solidFill>
                <a:latin typeface="Calibri" panose="020F0502020204030204" pitchFamily="34" charset="0"/>
                <a:cs typeface="Calibri" panose="020F0502020204030204" pitchFamily="34" charset="0"/>
              </a:rPr>
              <a:t>baseline (2025) shows only measured treated/controlled — diagnosis is not modeled</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at</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baseline,</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so</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no</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diagnosed</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bar.</a:t>
            </a:r>
            <a:r>
              <a:rPr sz="1600" i="1" spc="79" dirty="0">
                <a:solidFill>
                  <a:srgbClr val="5B6B7A"/>
                </a:solidFill>
                <a:latin typeface="Calibri" panose="020F0502020204030204" pitchFamily="34" charset="0"/>
                <a:cs typeface="Calibri" panose="020F0502020204030204" pitchFamily="34" charset="0"/>
              </a:rPr>
              <a:t> </a:t>
            </a:r>
            <a:r>
              <a:rPr sz="1600" i="1" spc="-16" dirty="0">
                <a:solidFill>
                  <a:srgbClr val="5B6B7A"/>
                </a:solidFill>
                <a:latin typeface="Calibri" panose="020F0502020204030204" pitchFamily="34" charset="0"/>
                <a:cs typeface="Calibri" panose="020F0502020204030204" pitchFamily="34" charset="0"/>
              </a:rPr>
              <a:t>Type-</a:t>
            </a:r>
            <a:r>
              <a:rPr sz="1600" i="1" dirty="0">
                <a:solidFill>
                  <a:srgbClr val="5B6B7A"/>
                </a:solidFill>
                <a:latin typeface="Calibri" panose="020F0502020204030204" pitchFamily="34" charset="0"/>
                <a:cs typeface="Calibri" panose="020F0502020204030204" pitchFamily="34" charset="0"/>
              </a:rPr>
              <a:t>2</a:t>
            </a:r>
            <a:r>
              <a:rPr sz="1600" i="1" spc="-8" dirty="0">
                <a:solidFill>
                  <a:srgbClr val="5B6B7A"/>
                </a:solidFill>
                <a:latin typeface="Calibri" panose="020F0502020204030204" pitchFamily="34" charset="0"/>
                <a:cs typeface="Calibri" panose="020F0502020204030204" pitchFamily="34" charset="0"/>
              </a:rPr>
              <a:t> </a:t>
            </a:r>
            <a:r>
              <a:rPr sz="1600" i="1" spc="-16" dirty="0">
                <a:solidFill>
                  <a:srgbClr val="5B6B7A"/>
                </a:solidFill>
                <a:latin typeface="Calibri" panose="020F0502020204030204" pitchFamily="34" charset="0"/>
                <a:cs typeface="Calibri" panose="020F0502020204030204" pitchFamily="34" charset="0"/>
              </a:rPr>
              <a:t>diabetes</a:t>
            </a:r>
            <a:r>
              <a:rPr lang="en-US" sz="1600" i="1" spc="793"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follows the same targets</a:t>
            </a:r>
            <a:r>
              <a:rPr sz="1600" i="1" spc="8"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(baseline treated</a:t>
            </a:r>
            <a:r>
              <a:rPr sz="1600" i="1" spc="-8" dirty="0">
                <a:solidFill>
                  <a:srgbClr val="5B6B7A"/>
                </a:solidFill>
                <a:latin typeface="Calibri" panose="020F0502020204030204" pitchFamily="34" charset="0"/>
                <a:cs typeface="Calibri" panose="020F0502020204030204" pitchFamily="34" charset="0"/>
              </a:rPr>
              <a:t> </a:t>
            </a:r>
            <a:r>
              <a:rPr sz="1600" spc="309" dirty="0">
                <a:solidFill>
                  <a:srgbClr val="5B6B7A"/>
                </a:solidFill>
                <a:latin typeface="Calibri" panose="020F0502020204030204" pitchFamily="34" charset="0"/>
                <a:cs typeface="Calibri" panose="020F0502020204030204" pitchFamily="34" charset="0"/>
              </a:rPr>
              <a:t>≈</a:t>
            </a:r>
            <a:r>
              <a:rPr sz="1600" dirty="0">
                <a:solidFill>
                  <a:srgbClr val="5B6B7A"/>
                </a:solidFill>
                <a:latin typeface="Calibri" panose="020F0502020204030204" pitchFamily="34" charset="0"/>
                <a:cs typeface="Calibri" panose="020F0502020204030204" pitchFamily="34" charset="0"/>
              </a:rPr>
              <a:t> </a:t>
            </a:r>
            <a:r>
              <a:rPr sz="1600" i="1" dirty="0">
                <a:solidFill>
                  <a:srgbClr val="5B6B7A"/>
                </a:solidFill>
                <a:latin typeface="Calibri" panose="020F0502020204030204" pitchFamily="34" charset="0"/>
                <a:cs typeface="Calibri" panose="020F0502020204030204" pitchFamily="34" charset="0"/>
              </a:rPr>
              <a:t>22.0%, </a:t>
            </a:r>
            <a:r>
              <a:rPr sz="1600" i="1" spc="-16" dirty="0">
                <a:solidFill>
                  <a:srgbClr val="5B6B7A"/>
                </a:solidFill>
                <a:latin typeface="Calibri" panose="020F0502020204030204" pitchFamily="34" charset="0"/>
                <a:cs typeface="Calibri" panose="020F0502020204030204" pitchFamily="34" charset="0"/>
              </a:rPr>
              <a:t>controlled</a:t>
            </a:r>
            <a:r>
              <a:rPr sz="1600" i="1" dirty="0">
                <a:solidFill>
                  <a:srgbClr val="5B6B7A"/>
                </a:solidFill>
                <a:latin typeface="Calibri" panose="020F0502020204030204" pitchFamily="34" charset="0"/>
                <a:cs typeface="Calibri" panose="020F0502020204030204" pitchFamily="34" charset="0"/>
              </a:rPr>
              <a:t> </a:t>
            </a:r>
            <a:r>
              <a:rPr sz="1600" spc="309" dirty="0">
                <a:solidFill>
                  <a:srgbClr val="5B6B7A"/>
                </a:solidFill>
                <a:latin typeface="Calibri" panose="020F0502020204030204" pitchFamily="34" charset="0"/>
                <a:cs typeface="Calibri" panose="020F0502020204030204" pitchFamily="34" charset="0"/>
              </a:rPr>
              <a:t>≈</a:t>
            </a:r>
            <a:r>
              <a:rPr sz="1600" dirty="0">
                <a:solidFill>
                  <a:srgbClr val="5B6B7A"/>
                </a:solidFill>
                <a:latin typeface="Calibri" panose="020F0502020204030204" pitchFamily="34" charset="0"/>
                <a:cs typeface="Calibri" panose="020F0502020204030204" pitchFamily="34" charset="0"/>
              </a:rPr>
              <a:t> </a:t>
            </a:r>
            <a:r>
              <a:rPr sz="1600" i="1" spc="-16" dirty="0">
                <a:solidFill>
                  <a:srgbClr val="5B6B7A"/>
                </a:solidFill>
                <a:latin typeface="Calibri" panose="020F0502020204030204" pitchFamily="34" charset="0"/>
                <a:cs typeface="Calibri" panose="020F0502020204030204" pitchFamily="34" charset="0"/>
              </a:rPr>
              <a:t>7.5%).</a:t>
            </a:r>
            <a:endParaRPr sz="1600" dirty="0">
              <a:solidFill>
                <a:prstClr val="black"/>
              </a:solidFill>
              <a:latin typeface="Calibri" panose="020F0502020204030204" pitchFamily="34" charset="0"/>
              <a:cs typeface="Calibri" panose="020F0502020204030204" pitchFamily="34" charset="0"/>
            </a:endParaRPr>
          </a:p>
        </p:txBody>
      </p:sp>
      <p:pic>
        <p:nvPicPr>
          <p:cNvPr id="43" name="Picture 42">
            <a:extLst>
              <a:ext uri="{FF2B5EF4-FFF2-40B4-BE49-F238E27FC236}">
                <a16:creationId xmlns:a16="http://schemas.microsoft.com/office/drawing/2014/main" id="{ADB8FF0A-1E67-55F5-DAAA-613F25CEF013}"/>
              </a:ext>
            </a:extLst>
          </p:cNvPr>
          <p:cNvPicPr>
            <a:picLocks noChangeAspect="1"/>
          </p:cNvPicPr>
          <p:nvPr/>
        </p:nvPicPr>
        <p:blipFill>
          <a:blip r:embed="rId2"/>
          <a:stretch>
            <a:fillRect/>
          </a:stretch>
        </p:blipFill>
        <p:spPr>
          <a:xfrm>
            <a:off x="1288458" y="1517684"/>
            <a:ext cx="9615084" cy="3887287"/>
          </a:xfrm>
          <a:prstGeom prst="rect">
            <a:avLst/>
          </a:prstGeom>
        </p:spPr>
      </p:pic>
    </p:spTree>
    <p:extLst>
      <p:ext uri="{BB962C8B-B14F-4D97-AF65-F5344CB8AC3E}">
        <p14:creationId xmlns:p14="http://schemas.microsoft.com/office/powerpoint/2010/main" val="3431510909"/>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15085" y="152400"/>
            <a:ext cx="11161829" cy="1129350"/>
          </a:xfrm>
          <a:prstGeom prst="rect">
            <a:avLst/>
          </a:prstGeom>
        </p:spPr>
        <p:txBody>
          <a:bodyPr vert="horz" wrap="square" lIns="0" tIns="21148" rIns="0" bIns="0" rtlCol="0" anchor="ctr">
            <a:spAutoFit/>
          </a:bodyPr>
          <a:lstStyle/>
          <a:p>
            <a:pPr marL="20141" algn="ctr">
              <a:spcBef>
                <a:spcPts val="167"/>
              </a:spcBef>
            </a:pPr>
            <a:r>
              <a:rPr lang="en-US" sz="3600" b="1" spc="-16" dirty="0"/>
              <a:t>Achieving 70-70-70 </a:t>
            </a:r>
            <a:r>
              <a:rPr sz="3600" b="1" spc="-16" dirty="0"/>
              <a:t>lowers premature </a:t>
            </a:r>
            <a:r>
              <a:rPr lang="en-US" sz="3600" b="1" spc="-16" dirty="0"/>
              <a:t>mortality</a:t>
            </a:r>
            <a:r>
              <a:rPr sz="3600" b="1" spc="-16" dirty="0"/>
              <a:t> at a rising but bounded cost</a:t>
            </a:r>
          </a:p>
        </p:txBody>
      </p:sp>
      <p:sp>
        <p:nvSpPr>
          <p:cNvPr id="57" name="object 57"/>
          <p:cNvSpPr txBox="1"/>
          <p:nvPr/>
        </p:nvSpPr>
        <p:spPr>
          <a:xfrm>
            <a:off x="450000" y="5741896"/>
            <a:ext cx="10727400" cy="777349"/>
          </a:xfrm>
          <a:prstGeom prst="rect">
            <a:avLst/>
          </a:prstGeom>
        </p:spPr>
        <p:txBody>
          <a:bodyPr vert="horz" wrap="square" lIns="0" tIns="12085" rIns="0" bIns="0" rtlCol="0">
            <a:spAutoFit/>
          </a:bodyPr>
          <a:lstStyle/>
          <a:p>
            <a:pPr marL="20141" marR="8056">
              <a:lnSpc>
                <a:spcPct val="105200"/>
              </a:lnSpc>
              <a:spcBef>
                <a:spcPts val="95"/>
              </a:spcBef>
            </a:pPr>
            <a:r>
              <a:rPr sz="1600" b="1" i="1" dirty="0">
                <a:solidFill>
                  <a:srgbClr val="5B6B7A"/>
                </a:solidFill>
                <a:latin typeface="Calibri"/>
                <a:cs typeface="Calibri"/>
              </a:rPr>
              <a:t>Source</a:t>
            </a:r>
            <a:r>
              <a:rPr lang="en-US" sz="1600" b="1" i="1" dirty="0">
                <a:solidFill>
                  <a:srgbClr val="5B6B7A"/>
                </a:solidFill>
                <a:latin typeface="Calibri"/>
                <a:cs typeface="Calibri"/>
              </a:rPr>
              <a:t>s</a:t>
            </a:r>
            <a:r>
              <a:rPr sz="1600" b="1" i="1" dirty="0">
                <a:solidFill>
                  <a:srgbClr val="5B6B7A"/>
                </a:solidFill>
                <a:latin typeface="Calibri"/>
                <a:cs typeface="Calibri"/>
              </a:rPr>
              <a:t>:</a:t>
            </a:r>
            <a:r>
              <a:rPr sz="1600" b="1" i="1" spc="119" dirty="0">
                <a:solidFill>
                  <a:srgbClr val="5B6B7A"/>
                </a:solidFill>
                <a:latin typeface="Calibri"/>
                <a:cs typeface="Calibri"/>
              </a:rPr>
              <a:t> </a:t>
            </a:r>
            <a:r>
              <a:rPr lang="en-US" sz="1600" i="1" dirty="0">
                <a:solidFill>
                  <a:srgbClr val="5B6B7A"/>
                </a:solidFill>
                <a:latin typeface="Calibri"/>
                <a:cs typeface="Calibri"/>
              </a:rPr>
              <a:t>See previous slides for details of epidemiological and demographic inputs. Intervention unit costs come from Watkins et al., Lancet Global Health 2020. </a:t>
            </a:r>
            <a:r>
              <a:rPr lang="en-US" sz="1600" b="1" i="1" dirty="0">
                <a:solidFill>
                  <a:srgbClr val="5B6B7A"/>
                </a:solidFill>
                <a:latin typeface="Calibri"/>
                <a:cs typeface="Calibri"/>
              </a:rPr>
              <a:t>Note: </a:t>
            </a:r>
            <a:r>
              <a:rPr lang="en-US" sz="1600" i="1" dirty="0">
                <a:solidFill>
                  <a:srgbClr val="5B6B7A"/>
                </a:solidFill>
                <a:latin typeface="Calibri"/>
                <a:cs typeface="Calibri"/>
              </a:rPr>
              <a:t>The metric “</a:t>
            </a:r>
            <a:r>
              <a:rPr sz="1600" i="1" spc="-16" dirty="0">
                <a:solidFill>
                  <a:srgbClr val="5B6B7A"/>
                </a:solidFill>
                <a:latin typeface="Calibri"/>
                <a:cs typeface="Calibri"/>
              </a:rPr>
              <a:t>probability</a:t>
            </a:r>
            <a:r>
              <a:rPr sz="1600" i="1" spc="16" dirty="0">
                <a:solidFill>
                  <a:srgbClr val="5B6B7A"/>
                </a:solidFill>
                <a:latin typeface="Calibri"/>
                <a:cs typeface="Calibri"/>
              </a:rPr>
              <a:t> </a:t>
            </a:r>
            <a:r>
              <a:rPr lang="en-US" sz="1600" i="1" spc="16" dirty="0">
                <a:solidFill>
                  <a:srgbClr val="5B6B7A"/>
                </a:solidFill>
                <a:latin typeface="Calibri"/>
                <a:cs typeface="Calibri"/>
              </a:rPr>
              <a:t>of death from CVD before age 70” is calculated from life tables and is aggregated </a:t>
            </a:r>
            <a:r>
              <a:rPr sz="1600" i="1" dirty="0">
                <a:solidFill>
                  <a:srgbClr val="5B6B7A"/>
                </a:solidFill>
                <a:latin typeface="Calibri"/>
                <a:cs typeface="Calibri"/>
              </a:rPr>
              <a:t>over</a:t>
            </a:r>
            <a:r>
              <a:rPr sz="1600" i="1" spc="16" dirty="0">
                <a:solidFill>
                  <a:srgbClr val="5B6B7A"/>
                </a:solidFill>
                <a:latin typeface="Calibri"/>
                <a:cs typeface="Calibri"/>
              </a:rPr>
              <a:t> </a:t>
            </a:r>
            <a:r>
              <a:rPr sz="1600" i="1" dirty="0">
                <a:solidFill>
                  <a:srgbClr val="5B6B7A"/>
                </a:solidFill>
                <a:latin typeface="Calibri"/>
                <a:cs typeface="Calibri"/>
              </a:rPr>
              <a:t>the</a:t>
            </a:r>
            <a:r>
              <a:rPr sz="1600" i="1" spc="24" dirty="0">
                <a:solidFill>
                  <a:srgbClr val="5B6B7A"/>
                </a:solidFill>
                <a:latin typeface="Calibri"/>
                <a:cs typeface="Calibri"/>
              </a:rPr>
              <a:t> </a:t>
            </a:r>
            <a:r>
              <a:rPr sz="1600" i="1" dirty="0">
                <a:solidFill>
                  <a:srgbClr val="5B6B7A"/>
                </a:solidFill>
                <a:latin typeface="Calibri"/>
                <a:cs typeface="Calibri"/>
              </a:rPr>
              <a:t>CVD</a:t>
            </a:r>
            <a:r>
              <a:rPr sz="1600" i="1" spc="16" dirty="0">
                <a:solidFill>
                  <a:srgbClr val="5B6B7A"/>
                </a:solidFill>
                <a:latin typeface="Calibri"/>
                <a:cs typeface="Calibri"/>
              </a:rPr>
              <a:t> </a:t>
            </a:r>
            <a:r>
              <a:rPr sz="1600" i="1" dirty="0">
                <a:solidFill>
                  <a:srgbClr val="5B6B7A"/>
                </a:solidFill>
                <a:latin typeface="Calibri"/>
                <a:cs typeface="Calibri"/>
              </a:rPr>
              <a:t>causes</a:t>
            </a:r>
            <a:r>
              <a:rPr lang="en-US" sz="1600" i="1" dirty="0">
                <a:solidFill>
                  <a:srgbClr val="5B6B7A"/>
                </a:solidFill>
                <a:latin typeface="Calibri"/>
                <a:cs typeface="Calibri"/>
              </a:rPr>
              <a:t> modeled here.</a:t>
            </a:r>
            <a:endParaRPr sz="1600" dirty="0">
              <a:solidFill>
                <a:prstClr val="black"/>
              </a:solidFill>
              <a:latin typeface="Calibri"/>
              <a:cs typeface="Calibri"/>
            </a:endParaRPr>
          </a:p>
        </p:txBody>
      </p:sp>
      <p:pic>
        <p:nvPicPr>
          <p:cNvPr id="3" name="Picture 2">
            <a:extLst>
              <a:ext uri="{FF2B5EF4-FFF2-40B4-BE49-F238E27FC236}">
                <a16:creationId xmlns:a16="http://schemas.microsoft.com/office/drawing/2014/main" id="{00000000-0008-0000-0F00-000002000000}"/>
              </a:ext>
            </a:extLst>
          </p:cNvPr>
          <p:cNvPicPr>
            <a:picLocks noChangeAspect="1"/>
          </p:cNvPicPr>
          <p:nvPr/>
        </p:nvPicPr>
        <p:blipFill>
          <a:blip r:embed="rId2"/>
          <a:stretch>
            <a:fillRect/>
          </a:stretch>
        </p:blipFill>
        <p:spPr>
          <a:xfrm>
            <a:off x="682587" y="1281750"/>
            <a:ext cx="10494813" cy="4044876"/>
          </a:xfrm>
          <a:prstGeom prst="rect">
            <a:avLst/>
          </a:prstGeom>
        </p:spPr>
      </p:pic>
    </p:spTree>
    <p:extLst>
      <p:ext uri="{BB962C8B-B14F-4D97-AF65-F5344CB8AC3E}">
        <p14:creationId xmlns:p14="http://schemas.microsoft.com/office/powerpoint/2010/main" val="806804552"/>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6CDB268-5842-44E2-8A1F-E33B4A234CF4}"/>
              </a:ext>
            </a:extLst>
          </p:cNvPr>
          <p:cNvSpPr>
            <a:spLocks noGrp="1"/>
          </p:cNvSpPr>
          <p:nvPr>
            <p:ph type="title"/>
          </p:nvPr>
        </p:nvSpPr>
        <p:spPr>
          <a:xfrm>
            <a:off x="450000" y="40445"/>
            <a:ext cx="10858500" cy="1362268"/>
          </a:xfrm>
          <a:prstGeom prst="rect">
            <a:avLst/>
          </a:prstGeom>
        </p:spPr>
        <p:txBody>
          <a:bodyPr vert="horz" wrap="square" lIns="0" tIns="21148" rIns="0" bIns="0" rtlCol="0" anchor="ctr">
            <a:normAutofit/>
          </a:bodyPr>
          <a:lstStyle/>
          <a:p>
            <a:pPr marL="20141" algn="ctr">
              <a:spcBef>
                <a:spcPts val="167"/>
              </a:spcBef>
              <a:defRPr sz="2400">
                <a:solidFill>
                  <a:srgbClr val="17365D"/>
                </a:solidFill>
                <a:latin typeface="Arial"/>
                <a:ea typeface="Arial"/>
                <a:cs typeface="Arial"/>
              </a:defRPr>
            </a:pPr>
            <a:r>
              <a:rPr lang="en-US" sz="3600" b="1" spc="-10" dirty="0">
                <a:solidFill>
                  <a:srgbClr val="17365D"/>
                </a:solidFill>
                <a:latin typeface="Calibri" panose="020F0502020204030204" pitchFamily="34" charset="0"/>
                <a:cs typeface="Calibri" panose="020F0502020204030204" pitchFamily="34" charset="0"/>
              </a:rPr>
              <a:t>Other interventions can add impact (and cost) to the </a:t>
            </a:r>
            <a:br>
              <a:rPr lang="en-US" sz="3600" b="1" spc="-10" dirty="0">
                <a:solidFill>
                  <a:srgbClr val="17365D"/>
                </a:solidFill>
                <a:latin typeface="Calibri" panose="020F0502020204030204" pitchFamily="34" charset="0"/>
                <a:cs typeface="Calibri" panose="020F0502020204030204" pitchFamily="34" charset="0"/>
              </a:rPr>
            </a:br>
            <a:r>
              <a:rPr lang="en-US" sz="3600" b="1" spc="-10" dirty="0">
                <a:solidFill>
                  <a:srgbClr val="17365D"/>
                </a:solidFill>
                <a:latin typeface="Calibri" panose="020F0502020204030204" pitchFamily="34" charset="0"/>
                <a:cs typeface="Calibri" panose="020F0502020204030204" pitchFamily="34" charset="0"/>
              </a:rPr>
              <a:t>70-70-70 agenda</a:t>
            </a:r>
            <a:endParaRPr sz="3600" b="1" spc="-10" dirty="0">
              <a:solidFill>
                <a:srgbClr val="17365D"/>
              </a:solidFill>
              <a:latin typeface="Calibri" panose="020F0502020204030204" pitchFamily="34" charset="0"/>
              <a:cs typeface="Calibri" panose="020F0502020204030204" pitchFamily="34" charset="0"/>
            </a:endParaRPr>
          </a:p>
        </p:txBody>
      </p:sp>
      <p:sp>
        <p:nvSpPr>
          <p:cNvPr id="4" name="object 4">
            <a:extLst>
              <a:ext uri="{FF2B5EF4-FFF2-40B4-BE49-F238E27FC236}">
                <a16:creationId xmlns:a16="http://schemas.microsoft.com/office/drawing/2014/main" id="{213C17C1-77E3-5A26-D1FC-1F4BB5EB1FBA}"/>
              </a:ext>
            </a:extLst>
          </p:cNvPr>
          <p:cNvSpPr txBox="1"/>
          <p:nvPr/>
        </p:nvSpPr>
        <p:spPr>
          <a:xfrm>
            <a:off x="555811" y="5635672"/>
            <a:ext cx="11080375" cy="777329"/>
          </a:xfrm>
          <a:prstGeom prst="rect">
            <a:avLst/>
          </a:prstGeom>
        </p:spPr>
        <p:txBody>
          <a:bodyPr vert="horz" wrap="square" lIns="0" tIns="12065" rIns="0" bIns="0" rtlCol="0">
            <a:spAutoFit/>
          </a:bodyPr>
          <a:lstStyle/>
          <a:p>
            <a:pPr marL="20141" marR="8056">
              <a:lnSpc>
                <a:spcPct val="105200"/>
              </a:lnSpc>
              <a:spcBef>
                <a:spcPts val="95"/>
              </a:spcBef>
            </a:pPr>
            <a:r>
              <a:rPr lang="en-US" sz="1600" b="1" i="1" dirty="0">
                <a:solidFill>
                  <a:srgbClr val="5B6B7A"/>
                </a:solidFill>
                <a:latin typeface="Calibri"/>
                <a:cs typeface="Calibri"/>
              </a:rPr>
              <a:t>Note: </a:t>
            </a:r>
            <a:r>
              <a:rPr lang="en-US" sz="1600" i="1" dirty="0">
                <a:solidFill>
                  <a:srgbClr val="5B6B7A"/>
                </a:solidFill>
                <a:latin typeface="Calibri"/>
                <a:cs typeface="Calibri"/>
              </a:rPr>
              <a:t>all interventions included here are based on recommendations from the Disease Control Priorities Project and represent a (high priority) subset of all interventions for CVD covered by JKN. Incremental costs and effects are calculated by assuming a linear scale-up to a target of 80% coverage by 2050. Costs are reported in market USD (2023) from the purchaser perspective.</a:t>
            </a:r>
            <a:endParaRPr sz="1600" i="1" dirty="0">
              <a:solidFill>
                <a:srgbClr val="5B6B7A"/>
              </a:solidFill>
              <a:latin typeface="Calibri"/>
              <a:cs typeface="Calibri"/>
            </a:endParaRPr>
          </a:p>
        </p:txBody>
      </p:sp>
      <p:graphicFrame>
        <p:nvGraphicFramePr>
          <p:cNvPr id="5" name="Table 4">
            <a:extLst>
              <a:ext uri="{FF2B5EF4-FFF2-40B4-BE49-F238E27FC236}">
                <a16:creationId xmlns:a16="http://schemas.microsoft.com/office/drawing/2014/main" id="{9FAD43EE-A7D0-8B00-2F8C-8A907635F19A}"/>
              </a:ext>
            </a:extLst>
          </p:cNvPr>
          <p:cNvGraphicFramePr>
            <a:graphicFrameLocks noGrp="1"/>
          </p:cNvGraphicFramePr>
          <p:nvPr>
            <p:extLst>
              <p:ext uri="{D42A27DB-BD31-4B8C-83A1-F6EECF244321}">
                <p14:modId xmlns:p14="http://schemas.microsoft.com/office/powerpoint/2010/main" val="1931305915"/>
              </p:ext>
            </p:extLst>
          </p:nvPr>
        </p:nvGraphicFramePr>
        <p:xfrm>
          <a:off x="555812" y="1549761"/>
          <a:ext cx="11080376" cy="3758478"/>
        </p:xfrm>
        <a:graphic>
          <a:graphicData uri="http://schemas.openxmlformats.org/drawingml/2006/table">
            <a:tbl>
              <a:tblPr/>
              <a:tblGrid>
                <a:gridCol w="3544396">
                  <a:extLst>
                    <a:ext uri="{9D8B030D-6E8A-4147-A177-3AD203B41FA5}">
                      <a16:colId xmlns:a16="http://schemas.microsoft.com/office/drawing/2014/main" val="1483126607"/>
                    </a:ext>
                  </a:extLst>
                </a:gridCol>
                <a:gridCol w="1507196">
                  <a:extLst>
                    <a:ext uri="{9D8B030D-6E8A-4147-A177-3AD203B41FA5}">
                      <a16:colId xmlns:a16="http://schemas.microsoft.com/office/drawing/2014/main" val="1624415312"/>
                    </a:ext>
                  </a:extLst>
                </a:gridCol>
                <a:gridCol w="1507196">
                  <a:extLst>
                    <a:ext uri="{9D8B030D-6E8A-4147-A177-3AD203B41FA5}">
                      <a16:colId xmlns:a16="http://schemas.microsoft.com/office/drawing/2014/main" val="1743822645"/>
                    </a:ext>
                  </a:extLst>
                </a:gridCol>
                <a:gridCol w="1507196">
                  <a:extLst>
                    <a:ext uri="{9D8B030D-6E8A-4147-A177-3AD203B41FA5}">
                      <a16:colId xmlns:a16="http://schemas.microsoft.com/office/drawing/2014/main" val="4117749587"/>
                    </a:ext>
                  </a:extLst>
                </a:gridCol>
                <a:gridCol w="1507196">
                  <a:extLst>
                    <a:ext uri="{9D8B030D-6E8A-4147-A177-3AD203B41FA5}">
                      <a16:colId xmlns:a16="http://schemas.microsoft.com/office/drawing/2014/main" val="1306949615"/>
                    </a:ext>
                  </a:extLst>
                </a:gridCol>
                <a:gridCol w="1507196">
                  <a:extLst>
                    <a:ext uri="{9D8B030D-6E8A-4147-A177-3AD203B41FA5}">
                      <a16:colId xmlns:a16="http://schemas.microsoft.com/office/drawing/2014/main" val="1819930876"/>
                    </a:ext>
                  </a:extLst>
                </a:gridCol>
              </a:tblGrid>
              <a:tr h="498123">
                <a:tc rowSpan="2">
                  <a:txBody>
                    <a:bodyPr/>
                    <a:lstStyle/>
                    <a:p>
                      <a:pPr algn="l" rtl="0" fontAlgn="ctr">
                        <a:buNone/>
                      </a:pPr>
                      <a:r>
                        <a:rPr lang="en-US" sz="1800" b="1" i="0" u="none" strike="noStrike" dirty="0">
                          <a:solidFill>
                            <a:srgbClr val="17365D"/>
                          </a:solidFill>
                          <a:effectLst/>
                          <a:latin typeface="Calibri" panose="020F0502020204030204" pitchFamily="34" charset="0"/>
                        </a:rPr>
                        <a:t>Clinical intervention</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rowSpan="2">
                  <a:txBody>
                    <a:bodyPr/>
                    <a:lstStyle/>
                    <a:p>
                      <a:pPr algn="ctr" rtl="0" fontAlgn="b">
                        <a:buNone/>
                      </a:pPr>
                      <a:r>
                        <a:rPr lang="en-US" sz="1800" b="1" i="0" u="none" strike="noStrike">
                          <a:solidFill>
                            <a:srgbClr val="17365D"/>
                          </a:solidFill>
                          <a:effectLst/>
                          <a:latin typeface="Calibri" panose="020F0502020204030204" pitchFamily="34" charset="0"/>
                        </a:rPr>
                        <a:t>Cumulative deaths averted (millions)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rowSpan="2">
                  <a:txBody>
                    <a:bodyPr/>
                    <a:lstStyle/>
                    <a:p>
                      <a:pPr algn="ctr" rtl="0" fontAlgn="b">
                        <a:buNone/>
                      </a:pPr>
                      <a:r>
                        <a:rPr lang="en-US" sz="1800" b="1" i="0" u="none" strike="noStrike">
                          <a:solidFill>
                            <a:srgbClr val="17365D"/>
                          </a:solidFill>
                          <a:effectLst/>
                          <a:latin typeface="Calibri" panose="020F0502020204030204" pitchFamily="34" charset="0"/>
                        </a:rPr>
                        <a:t>Reduction in CVD mortality probability</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rowSpan="2">
                  <a:txBody>
                    <a:bodyPr/>
                    <a:lstStyle/>
                    <a:p>
                      <a:pPr algn="ctr" rtl="0" fontAlgn="b">
                        <a:buNone/>
                      </a:pPr>
                      <a:r>
                        <a:rPr lang="en-US" sz="1800" b="1" i="0" u="none" strike="noStrike">
                          <a:solidFill>
                            <a:srgbClr val="17365D"/>
                          </a:solidFill>
                          <a:effectLst/>
                          <a:latin typeface="Calibri" panose="020F0502020204030204" pitchFamily="34" charset="0"/>
                        </a:rPr>
                        <a:t>Reduction in number of CVD deaths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rtl="0" fontAlgn="b">
                        <a:buNone/>
                      </a:pPr>
                      <a:r>
                        <a:rPr lang="en-US" sz="1800" b="1" i="0" u="none" strike="noStrike">
                          <a:solidFill>
                            <a:srgbClr val="17365D"/>
                          </a:solidFill>
                          <a:effectLst/>
                          <a:latin typeface="Calibri" panose="020F0502020204030204" pitchFamily="34" charset="0"/>
                        </a:rPr>
                        <a:t>Average annual additional</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E2F3"/>
                    </a:solidFill>
                  </a:tcPr>
                </a:tc>
                <a:tc rowSpan="2">
                  <a:txBody>
                    <a:bodyPr/>
                    <a:lstStyle/>
                    <a:p>
                      <a:pPr algn="ctr" rtl="0" fontAlgn="b">
                        <a:buNone/>
                      </a:pPr>
                      <a:r>
                        <a:rPr lang="en-US" sz="1800" b="1" i="0" u="none" strike="noStrike">
                          <a:solidFill>
                            <a:srgbClr val="17365D"/>
                          </a:solidFill>
                          <a:effectLst/>
                          <a:latin typeface="Calibri" panose="020F0502020204030204" pitchFamily="34" charset="0"/>
                        </a:rPr>
                        <a:t>Additional cost per capita in 2050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742118936"/>
                  </a:ext>
                </a:extLst>
              </a:tr>
              <a:tr h="35580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b">
                        <a:buNone/>
                      </a:pPr>
                      <a:r>
                        <a:rPr lang="en-US" sz="1800" b="1" i="0" u="none" strike="noStrike">
                          <a:solidFill>
                            <a:srgbClr val="17365D"/>
                          </a:solidFill>
                          <a:effectLst/>
                          <a:latin typeface="Calibri" panose="020F0502020204030204" pitchFamily="34" charset="0"/>
                        </a:rPr>
                        <a:t>cost per capita</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E2F3"/>
                    </a:solidFill>
                  </a:tcPr>
                </a:tc>
                <a:tc vMerge="1">
                  <a:txBody>
                    <a:bodyPr/>
                    <a:lstStyle/>
                    <a:p>
                      <a:endParaRPr lang="en-US"/>
                    </a:p>
                  </a:txBody>
                  <a:tcPr/>
                </a:tc>
                <a:extLst>
                  <a:ext uri="{0D108BD9-81ED-4DB2-BD59-A6C34878D82A}">
                    <a16:rowId xmlns:a16="http://schemas.microsoft.com/office/drawing/2014/main" val="2403532620"/>
                  </a:ext>
                </a:extLst>
              </a:tr>
              <a:tr h="355802">
                <a:tc>
                  <a:txBody>
                    <a:bodyPr/>
                    <a:lstStyle/>
                    <a:p>
                      <a:pPr algn="l" rtl="0" fontAlgn="ctr">
                        <a:buNone/>
                      </a:pPr>
                      <a:r>
                        <a:rPr lang="en-US" sz="1800" b="1" i="1" u="none" strike="noStrike">
                          <a:solidFill>
                            <a:srgbClr val="C00000"/>
                          </a:solidFill>
                          <a:effectLst/>
                          <a:latin typeface="Calibri" panose="020F0502020204030204" pitchFamily="34" charset="0"/>
                        </a:rPr>
                        <a:t>Primary CVD prevention</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dirty="0">
                          <a:solidFill>
                            <a:srgbClr val="C00000"/>
                          </a:solidFill>
                          <a:effectLst/>
                          <a:latin typeface="Calibri" panose="020F0502020204030204" pitchFamily="34" charset="0"/>
                        </a:rPr>
                        <a:t>2.13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a:solidFill>
                            <a:srgbClr val="C00000"/>
                          </a:solidFill>
                          <a:effectLst/>
                          <a:latin typeface="Calibri" panose="020F0502020204030204" pitchFamily="34" charset="0"/>
                        </a:rPr>
                        <a:t>18.1%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a:solidFill>
                            <a:srgbClr val="C00000"/>
                          </a:solidFill>
                          <a:effectLst/>
                          <a:latin typeface="Calibri" panose="020F0502020204030204" pitchFamily="34" charset="0"/>
                        </a:rPr>
                        <a:t>12.5%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dirty="0">
                          <a:solidFill>
                            <a:srgbClr val="C00000"/>
                          </a:solidFill>
                          <a:effectLst/>
                          <a:latin typeface="Calibri" panose="020F0502020204030204" pitchFamily="34" charset="0"/>
                        </a:rPr>
                        <a:t>US$4.1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dirty="0">
                          <a:solidFill>
                            <a:srgbClr val="C00000"/>
                          </a:solidFill>
                          <a:effectLst/>
                          <a:latin typeface="Calibri" panose="020F0502020204030204" pitchFamily="34" charset="0"/>
                        </a:rPr>
                        <a:t>US$7.4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5715808"/>
                  </a:ext>
                </a:extLst>
              </a:tr>
              <a:tr h="355802">
                <a:tc>
                  <a:txBody>
                    <a:bodyPr/>
                    <a:lstStyle/>
                    <a:p>
                      <a:pPr algn="l" rtl="0" fontAlgn="ctr">
                        <a:buNone/>
                      </a:pPr>
                      <a:r>
                        <a:rPr lang="en-US" sz="1800" b="1" i="1" u="none" strike="noStrike" dirty="0">
                          <a:solidFill>
                            <a:srgbClr val="C00000"/>
                          </a:solidFill>
                          <a:effectLst/>
                          <a:latin typeface="Calibri" panose="020F0502020204030204" pitchFamily="34" charset="0"/>
                        </a:rPr>
                        <a:t>Type 2 diabetes care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dirty="0">
                          <a:solidFill>
                            <a:srgbClr val="C00000"/>
                          </a:solidFill>
                          <a:effectLst/>
                          <a:latin typeface="Calibri" panose="020F0502020204030204" pitchFamily="34" charset="0"/>
                        </a:rPr>
                        <a:t>0.46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a:solidFill>
                            <a:srgbClr val="C00000"/>
                          </a:solidFill>
                          <a:effectLst/>
                          <a:latin typeface="Calibri" panose="020F0502020204030204" pitchFamily="34" charset="0"/>
                        </a:rPr>
                        <a:t>0.5%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a:solidFill>
                            <a:srgbClr val="C00000"/>
                          </a:solidFill>
                          <a:effectLst/>
                          <a:latin typeface="Calibri" panose="020F0502020204030204" pitchFamily="34" charset="0"/>
                        </a:rPr>
                        <a:t>2.4%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dirty="0">
                          <a:solidFill>
                            <a:srgbClr val="C00000"/>
                          </a:solidFill>
                          <a:effectLst/>
                          <a:latin typeface="Calibri" panose="020F0502020204030204" pitchFamily="34" charset="0"/>
                        </a:rPr>
                        <a:t>US$1.6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1" u="none" strike="noStrike" dirty="0">
                          <a:solidFill>
                            <a:srgbClr val="C00000"/>
                          </a:solidFill>
                          <a:effectLst/>
                          <a:latin typeface="Calibri" panose="020F0502020204030204" pitchFamily="34" charset="0"/>
                        </a:rPr>
                        <a:t>US$3.1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7995912"/>
                  </a:ext>
                </a:extLst>
              </a:tr>
              <a:tr h="355802">
                <a:tc>
                  <a:txBody>
                    <a:bodyPr/>
                    <a:lstStyle/>
                    <a:p>
                      <a:pPr algn="l" rtl="0" fontAlgn="ctr">
                        <a:buNone/>
                      </a:pPr>
                      <a:r>
                        <a:rPr lang="en-US" sz="1800" b="1" i="0" u="none" strike="noStrike" dirty="0">
                          <a:solidFill>
                            <a:srgbClr val="222222"/>
                          </a:solidFill>
                          <a:effectLst/>
                          <a:latin typeface="Calibri" panose="020F0502020204030204" pitchFamily="34" charset="0"/>
                        </a:rPr>
                        <a:t>Treatment of acute heart attacks</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0.32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dirty="0">
                          <a:solidFill>
                            <a:srgbClr val="000000"/>
                          </a:solidFill>
                          <a:effectLst/>
                          <a:latin typeface="Calibri" panose="020F0502020204030204" pitchFamily="34" charset="0"/>
                        </a:rPr>
                        <a:t>3.1%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Calibri" panose="020F0502020204030204" pitchFamily="34" charset="0"/>
                        </a:rPr>
                        <a:t>1.4%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dirty="0">
                          <a:solidFill>
                            <a:srgbClr val="000000"/>
                          </a:solidFill>
                          <a:effectLst/>
                          <a:latin typeface="Calibri" panose="020F0502020204030204" pitchFamily="34" charset="0"/>
                        </a:rPr>
                        <a:t>US$1.7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dirty="0">
                          <a:solidFill>
                            <a:srgbClr val="000000"/>
                          </a:solidFill>
                          <a:effectLst/>
                          <a:latin typeface="Calibri" panose="020F0502020204030204" pitchFamily="34" charset="0"/>
                        </a:rPr>
                        <a:t>US$3.1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1289362"/>
                  </a:ext>
                </a:extLst>
              </a:tr>
              <a:tr h="355802">
                <a:tc>
                  <a:txBody>
                    <a:bodyPr/>
                    <a:lstStyle/>
                    <a:p>
                      <a:pPr algn="l" rtl="0" fontAlgn="ctr">
                        <a:buNone/>
                      </a:pPr>
                      <a:r>
                        <a:rPr lang="en-US" sz="1800" b="1" i="0" u="none" strike="noStrike" dirty="0">
                          <a:solidFill>
                            <a:srgbClr val="222222"/>
                          </a:solidFill>
                          <a:effectLst/>
                          <a:latin typeface="Calibri" panose="020F0502020204030204" pitchFamily="34" charset="0"/>
                        </a:rPr>
                        <a:t>Heart attack secondary prevention</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0.16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222222"/>
                          </a:solidFill>
                          <a:effectLst/>
                          <a:latin typeface="Calibri" panose="020F0502020204030204" pitchFamily="34" charset="0"/>
                        </a:rPr>
                        <a:t>1.6%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222222"/>
                          </a:solidFill>
                          <a:effectLst/>
                          <a:latin typeface="Calibri" panose="020F0502020204030204" pitchFamily="34" charset="0"/>
                        </a:rPr>
                        <a:t>0.7%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US$1.2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US$2.2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0106989"/>
                  </a:ext>
                </a:extLst>
              </a:tr>
              <a:tr h="355802">
                <a:tc>
                  <a:txBody>
                    <a:bodyPr/>
                    <a:lstStyle/>
                    <a:p>
                      <a:pPr algn="l" rtl="0" fontAlgn="ctr">
                        <a:buNone/>
                      </a:pPr>
                      <a:r>
                        <a:rPr lang="en-US" sz="1800" b="1" i="0" u="none" strike="noStrike" dirty="0">
                          <a:solidFill>
                            <a:srgbClr val="222222"/>
                          </a:solidFill>
                          <a:effectLst/>
                          <a:latin typeface="Calibri" panose="020F0502020204030204" pitchFamily="34" charset="0"/>
                        </a:rPr>
                        <a:t>Chronic heart failure care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0.10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222222"/>
                          </a:solidFill>
                          <a:effectLst/>
                          <a:latin typeface="Calibri" panose="020F0502020204030204" pitchFamily="34" charset="0"/>
                        </a:rPr>
                        <a:t>0.6%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0.5%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US$0.7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US$1.4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511864"/>
                  </a:ext>
                </a:extLst>
              </a:tr>
              <a:tr h="355802">
                <a:tc>
                  <a:txBody>
                    <a:bodyPr/>
                    <a:lstStyle/>
                    <a:p>
                      <a:pPr algn="l" rtl="0" fontAlgn="ctr">
                        <a:buNone/>
                      </a:pPr>
                      <a:r>
                        <a:rPr lang="en-US" sz="1800" b="1" i="0" u="none" strike="noStrike" dirty="0">
                          <a:solidFill>
                            <a:srgbClr val="222222"/>
                          </a:solidFill>
                          <a:effectLst/>
                          <a:latin typeface="Calibri" panose="020F0502020204030204" pitchFamily="34" charset="0"/>
                        </a:rPr>
                        <a:t>Treatment of acute heart failure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0.07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222222"/>
                          </a:solidFill>
                          <a:effectLst/>
                          <a:latin typeface="Calibri" panose="020F0502020204030204" pitchFamily="34" charset="0"/>
                        </a:rPr>
                        <a:t>0.6%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222222"/>
                          </a:solidFill>
                          <a:effectLst/>
                          <a:latin typeface="Calibri" panose="020F0502020204030204" pitchFamily="34" charset="0"/>
                        </a:rPr>
                        <a:t>0.3%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US$0.3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US$0.6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8556267"/>
                  </a:ext>
                </a:extLst>
              </a:tr>
              <a:tr h="355802">
                <a:tc>
                  <a:txBody>
                    <a:bodyPr/>
                    <a:lstStyle/>
                    <a:p>
                      <a:pPr algn="l" rtl="0" fontAlgn="ctr">
                        <a:buNone/>
                      </a:pPr>
                      <a:r>
                        <a:rPr lang="en-US" sz="1800" b="1" i="0" u="none" strike="noStrike" dirty="0">
                          <a:solidFill>
                            <a:srgbClr val="222222"/>
                          </a:solidFill>
                          <a:effectLst/>
                          <a:latin typeface="Calibri" panose="020F0502020204030204" pitchFamily="34" charset="0"/>
                        </a:rPr>
                        <a:t>Stroke secondary prevention</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0.04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222222"/>
                          </a:solidFill>
                          <a:effectLst/>
                          <a:latin typeface="Calibri" panose="020F0502020204030204" pitchFamily="34" charset="0"/>
                        </a:rPr>
                        <a:t>0.3%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a:solidFill>
                            <a:srgbClr val="222222"/>
                          </a:solidFill>
                          <a:effectLst/>
                          <a:latin typeface="Calibri" panose="020F0502020204030204" pitchFamily="34" charset="0"/>
                        </a:rPr>
                        <a:t>0.1%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US$0.9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buNone/>
                      </a:pPr>
                      <a:r>
                        <a:rPr lang="en-US" sz="1800" b="0" i="0" u="none" strike="noStrike" dirty="0">
                          <a:solidFill>
                            <a:srgbClr val="222222"/>
                          </a:solidFill>
                          <a:effectLst/>
                          <a:latin typeface="Calibri" panose="020F0502020204030204" pitchFamily="34" charset="0"/>
                        </a:rPr>
                        <a:t>US$1.6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421672"/>
                  </a:ext>
                </a:extLst>
              </a:tr>
              <a:tr h="355802">
                <a:tc>
                  <a:txBody>
                    <a:bodyPr/>
                    <a:lstStyle/>
                    <a:p>
                      <a:pPr algn="l" rtl="0" fontAlgn="ctr">
                        <a:buNone/>
                      </a:pPr>
                      <a:r>
                        <a:rPr lang="en-US" sz="1800" b="1" i="0" u="none" strike="noStrike" dirty="0">
                          <a:solidFill>
                            <a:srgbClr val="17365D"/>
                          </a:solidFill>
                          <a:effectLst/>
                          <a:latin typeface="Calibri" panose="020F0502020204030204" pitchFamily="34" charset="0"/>
                        </a:rPr>
                        <a:t>All clinical (combined)</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800" b="1" i="0" u="none" strike="noStrike" dirty="0">
                          <a:solidFill>
                            <a:srgbClr val="17365D"/>
                          </a:solidFill>
                          <a:effectLst/>
                          <a:latin typeface="Calibri" panose="020F0502020204030204" pitchFamily="34" charset="0"/>
                        </a:rPr>
                        <a:t>3.18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800" b="1" i="0" u="none" strike="noStrike">
                          <a:solidFill>
                            <a:srgbClr val="244062"/>
                          </a:solidFill>
                          <a:effectLst/>
                          <a:latin typeface="Calibri" panose="020F0502020204030204" pitchFamily="34" charset="0"/>
                        </a:rPr>
                        <a:t>23.4%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800" b="1" i="0" u="none" strike="noStrike">
                          <a:solidFill>
                            <a:srgbClr val="244062"/>
                          </a:solidFill>
                          <a:effectLst/>
                          <a:latin typeface="Calibri" panose="020F0502020204030204" pitchFamily="34" charset="0"/>
                        </a:rPr>
                        <a:t>17.1%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800" b="1" i="0" u="none" strike="noStrike" dirty="0">
                          <a:solidFill>
                            <a:srgbClr val="244062"/>
                          </a:solidFill>
                          <a:effectLst/>
                          <a:latin typeface="Calibri" panose="020F0502020204030204" pitchFamily="34" charset="0"/>
                        </a:rPr>
                        <a:t>US$9.3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b">
                        <a:buNone/>
                      </a:pPr>
                      <a:r>
                        <a:rPr lang="en-US" sz="1800" b="1" i="0" u="none" strike="noStrike" dirty="0">
                          <a:solidFill>
                            <a:srgbClr val="244062"/>
                          </a:solidFill>
                          <a:effectLst/>
                          <a:latin typeface="Calibri" panose="020F0502020204030204" pitchFamily="34" charset="0"/>
                        </a:rPr>
                        <a:t>US$16.7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extLst>
                  <a:ext uri="{0D108BD9-81ED-4DB2-BD59-A6C34878D82A}">
                    <a16:rowId xmlns:a16="http://schemas.microsoft.com/office/drawing/2014/main" val="3376157926"/>
                  </a:ext>
                </a:extLst>
              </a:tr>
            </a:tbl>
          </a:graphicData>
        </a:graphic>
      </p:graphicFrame>
    </p:spTree>
    <p:extLst>
      <p:ext uri="{BB962C8B-B14F-4D97-AF65-F5344CB8AC3E}">
        <p14:creationId xmlns:p14="http://schemas.microsoft.com/office/powerpoint/2010/main" val="71399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78ED916-FF80-4D3D-AA83-FAE5054762F3}"/>
              </a:ext>
            </a:extLst>
          </p:cNvPr>
          <p:cNvSpPr>
            <a:spLocks noGrp="1"/>
          </p:cNvSpPr>
          <p:nvPr>
            <p:ph type="title"/>
          </p:nvPr>
        </p:nvSpPr>
        <p:spPr>
          <a:xfrm>
            <a:off x="450000" y="0"/>
            <a:ext cx="11292000" cy="1362268"/>
          </a:xfrm>
          <a:prstGeom prst="rect">
            <a:avLst/>
          </a:prstGeom>
        </p:spPr>
        <p:txBody>
          <a:bodyPr vert="horz" wrap="square" lIns="0" tIns="21148" rIns="0" bIns="0" rtlCol="0" anchor="ctr">
            <a:normAutofit/>
          </a:bodyPr>
          <a:lstStyle/>
          <a:p>
            <a:pPr marL="20141" algn="ctr">
              <a:spcBef>
                <a:spcPts val="167"/>
              </a:spcBef>
              <a:defRPr sz="2400">
                <a:solidFill>
                  <a:srgbClr val="17365D"/>
                </a:solidFill>
                <a:latin typeface="Arial"/>
                <a:ea typeface="Arial"/>
                <a:cs typeface="Arial"/>
              </a:defRPr>
            </a:pPr>
            <a:r>
              <a:rPr lang="en-US" sz="3600" b="1" spc="-10" dirty="0">
                <a:latin typeface="+mn-lt"/>
              </a:rPr>
              <a:t>Tobacco control policies would add significant impact to the clinical intervention packages </a:t>
            </a:r>
            <a:endParaRPr sz="3600" b="1" spc="-10" dirty="0">
              <a:latin typeface="+mn-lt"/>
            </a:endParaRPr>
          </a:p>
        </p:txBody>
      </p:sp>
      <p:sp>
        <p:nvSpPr>
          <p:cNvPr id="4" name="object 4">
            <a:extLst>
              <a:ext uri="{FF2B5EF4-FFF2-40B4-BE49-F238E27FC236}">
                <a16:creationId xmlns:a16="http://schemas.microsoft.com/office/drawing/2014/main" id="{E39E784E-3FD8-F3B8-5D86-4EEDC0ACB02D}"/>
              </a:ext>
            </a:extLst>
          </p:cNvPr>
          <p:cNvSpPr txBox="1"/>
          <p:nvPr/>
        </p:nvSpPr>
        <p:spPr>
          <a:xfrm>
            <a:off x="955339" y="5014478"/>
            <a:ext cx="10376514" cy="1134093"/>
          </a:xfrm>
          <a:prstGeom prst="rect">
            <a:avLst/>
          </a:prstGeom>
        </p:spPr>
        <p:txBody>
          <a:bodyPr vert="horz" wrap="square" lIns="0" tIns="12065" rIns="0" bIns="0" rtlCol="0">
            <a:spAutoFit/>
          </a:bodyPr>
          <a:lstStyle/>
          <a:p>
            <a:pPr marL="20141" marR="8056" algn="just">
              <a:lnSpc>
                <a:spcPct val="105200"/>
              </a:lnSpc>
              <a:spcBef>
                <a:spcPts val="95"/>
              </a:spcBef>
            </a:pPr>
            <a:r>
              <a:rPr lang="en-US" sz="1400" b="1" i="1" dirty="0">
                <a:solidFill>
                  <a:srgbClr val="5B6B7A"/>
                </a:solidFill>
                <a:latin typeface="Calibri"/>
                <a:cs typeface="Calibri"/>
              </a:rPr>
              <a:t>Note: </a:t>
            </a:r>
            <a:r>
              <a:rPr lang="en-US" sz="1400" i="1" dirty="0">
                <a:solidFill>
                  <a:srgbClr val="5B6B7A"/>
                </a:solidFill>
                <a:latin typeface="Calibri"/>
                <a:cs typeface="Calibri"/>
              </a:rPr>
              <a:t>tobacco policies are assumed mostly to have an effect on CVD incidence and case-fatality from cessation among persons without and with CVD, respectively. Impact estimates are based on price-elasticity meta-analyses and relative risks from the GBD study. *The tobacco</a:t>
            </a:r>
            <a:r>
              <a:rPr sz="1400" i="1" dirty="0">
                <a:solidFill>
                  <a:srgbClr val="5B6B7A"/>
                </a:solidFill>
                <a:latin typeface="Calibri"/>
                <a:cs typeface="Calibri"/>
              </a:rPr>
              <a:t> </a:t>
            </a:r>
            <a:r>
              <a:rPr lang="en-US" sz="1400" i="1" dirty="0">
                <a:solidFill>
                  <a:srgbClr val="5B6B7A"/>
                </a:solidFill>
                <a:latin typeface="Calibri"/>
                <a:cs typeface="Calibri"/>
              </a:rPr>
              <a:t>regulations are the non-price measures in WHO’s MPOWER package: </a:t>
            </a:r>
            <a:r>
              <a:rPr sz="1400" i="1" dirty="0">
                <a:solidFill>
                  <a:srgbClr val="5B6B7A"/>
                </a:solidFill>
                <a:latin typeface="Calibri"/>
                <a:cs typeface="Calibri"/>
              </a:rPr>
              <a:t>smoke-free policies, health warnings and mass-media campaigns, advertising bans, and cessation support</a:t>
            </a:r>
            <a:r>
              <a:rPr lang="en-US" sz="1400" i="1" dirty="0">
                <a:solidFill>
                  <a:srgbClr val="5B6B7A"/>
                </a:solidFill>
                <a:latin typeface="Calibri"/>
                <a:cs typeface="Calibri"/>
              </a:rPr>
              <a:t>. Only 6 CVD causes and T2DM are included; results may differ from message 4, which includes 19 CVD + Cancer + EPOC + T2DM causes.</a:t>
            </a:r>
            <a:endParaRPr sz="1400" i="1" u="sng" dirty="0">
              <a:solidFill>
                <a:srgbClr val="5B6B7A"/>
              </a:solidFill>
              <a:latin typeface="Calibri"/>
              <a:cs typeface="Calibri"/>
            </a:endParaRPr>
          </a:p>
        </p:txBody>
      </p:sp>
      <p:sp>
        <p:nvSpPr>
          <p:cNvPr id="5" name="TextBox 4">
            <a:extLst>
              <a:ext uri="{FF2B5EF4-FFF2-40B4-BE49-F238E27FC236}">
                <a16:creationId xmlns:a16="http://schemas.microsoft.com/office/drawing/2014/main" id="{874E6ED3-E955-E2A0-2AE0-1F8815CB540A}"/>
              </a:ext>
            </a:extLst>
          </p:cNvPr>
          <p:cNvSpPr txBox="1"/>
          <p:nvPr/>
        </p:nvSpPr>
        <p:spPr>
          <a:xfrm>
            <a:off x="907739" y="6238586"/>
            <a:ext cx="10471714" cy="369332"/>
          </a:xfrm>
          <a:prstGeom prst="rect">
            <a:avLst/>
          </a:prstGeom>
          <a:noFill/>
        </p:spPr>
        <p:txBody>
          <a:bodyPr wrap="square">
            <a:spAutoFit/>
          </a:bodyPr>
          <a:lstStyle/>
          <a:p>
            <a:pPr algn="ctr"/>
            <a:r>
              <a:rPr lang="en-US" b="1" i="1" u="sng" dirty="0">
                <a:solidFill>
                  <a:srgbClr val="C00000"/>
                </a:solidFill>
                <a:latin typeface="Calibri"/>
                <a:cs typeface="Calibri"/>
              </a:rPr>
              <a:t>Impact continues to grow beyond 2050 from reduced smoking prevalence among today’s younger people</a:t>
            </a:r>
            <a:endParaRPr lang="en-US" sz="2400" b="1" dirty="0">
              <a:solidFill>
                <a:srgbClr val="C00000"/>
              </a:solidFill>
            </a:endParaRPr>
          </a:p>
        </p:txBody>
      </p:sp>
      <p:graphicFrame>
        <p:nvGraphicFramePr>
          <p:cNvPr id="7" name="Table 6">
            <a:extLst>
              <a:ext uri="{FF2B5EF4-FFF2-40B4-BE49-F238E27FC236}">
                <a16:creationId xmlns:a16="http://schemas.microsoft.com/office/drawing/2014/main" id="{7092888A-1382-E654-067B-02C5F7324A26}"/>
              </a:ext>
            </a:extLst>
          </p:cNvPr>
          <p:cNvGraphicFramePr>
            <a:graphicFrameLocks noGrp="1"/>
          </p:cNvGraphicFramePr>
          <p:nvPr>
            <p:extLst>
              <p:ext uri="{D42A27DB-BD31-4B8C-83A1-F6EECF244321}">
                <p14:modId xmlns:p14="http://schemas.microsoft.com/office/powerpoint/2010/main" val="1755197059"/>
              </p:ext>
            </p:extLst>
          </p:nvPr>
        </p:nvGraphicFramePr>
        <p:xfrm>
          <a:off x="1012014" y="1362268"/>
          <a:ext cx="10167970" cy="3562195"/>
        </p:xfrm>
        <a:graphic>
          <a:graphicData uri="http://schemas.openxmlformats.org/drawingml/2006/table">
            <a:tbl>
              <a:tblPr/>
              <a:tblGrid>
                <a:gridCol w="3475903">
                  <a:extLst>
                    <a:ext uri="{9D8B030D-6E8A-4147-A177-3AD203B41FA5}">
                      <a16:colId xmlns:a16="http://schemas.microsoft.com/office/drawing/2014/main" val="394598404"/>
                    </a:ext>
                  </a:extLst>
                </a:gridCol>
                <a:gridCol w="2230689">
                  <a:extLst>
                    <a:ext uri="{9D8B030D-6E8A-4147-A177-3AD203B41FA5}">
                      <a16:colId xmlns:a16="http://schemas.microsoft.com/office/drawing/2014/main" val="490603378"/>
                    </a:ext>
                  </a:extLst>
                </a:gridCol>
                <a:gridCol w="2230689">
                  <a:extLst>
                    <a:ext uri="{9D8B030D-6E8A-4147-A177-3AD203B41FA5}">
                      <a16:colId xmlns:a16="http://schemas.microsoft.com/office/drawing/2014/main" val="2465418595"/>
                    </a:ext>
                  </a:extLst>
                </a:gridCol>
                <a:gridCol w="2230689">
                  <a:extLst>
                    <a:ext uri="{9D8B030D-6E8A-4147-A177-3AD203B41FA5}">
                      <a16:colId xmlns:a16="http://schemas.microsoft.com/office/drawing/2014/main" val="302029590"/>
                    </a:ext>
                  </a:extLst>
                </a:gridCol>
              </a:tblGrid>
              <a:tr h="593699">
                <a:tc>
                  <a:txBody>
                    <a:bodyPr/>
                    <a:lstStyle/>
                    <a:p>
                      <a:pPr algn="l" rtl="0" fontAlgn="ctr">
                        <a:buNone/>
                      </a:pPr>
                      <a:r>
                        <a:rPr lang="en-US" sz="1800" b="1" i="0" u="none" strike="noStrike">
                          <a:solidFill>
                            <a:srgbClr val="17365D"/>
                          </a:solidFill>
                          <a:effectLst/>
                          <a:latin typeface="Calibri" panose="020F0502020204030204" pitchFamily="34" charset="0"/>
                        </a:rPr>
                        <a:t>Type of policy</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rtl="0" fontAlgn="ctr">
                        <a:buNone/>
                      </a:pPr>
                      <a:r>
                        <a:rPr lang="en-US" sz="1800" b="1" i="0" u="none" strike="noStrike" dirty="0">
                          <a:solidFill>
                            <a:srgbClr val="17365D"/>
                          </a:solidFill>
                          <a:effectLst/>
                          <a:latin typeface="Calibri" panose="020F0502020204030204" pitchFamily="34" charset="0"/>
                        </a:rPr>
                        <a:t>Cumulative deaths averted (millions)</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rtl="0" fontAlgn="ctr">
                        <a:buNone/>
                      </a:pPr>
                      <a:r>
                        <a:rPr lang="en-US" sz="1800" b="1" i="0" u="none" strike="noStrike" dirty="0">
                          <a:solidFill>
                            <a:srgbClr val="17365D"/>
                          </a:solidFill>
                          <a:effectLst/>
                          <a:latin typeface="Calibri" panose="020F0502020204030204" pitchFamily="34" charset="0"/>
                        </a:rPr>
                        <a:t>Reduction in CVD mortality probability</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rtl="0" fontAlgn="ctr">
                        <a:buNone/>
                      </a:pPr>
                      <a:r>
                        <a:rPr lang="en-US" sz="1800" b="1" i="0" u="none" strike="noStrike">
                          <a:solidFill>
                            <a:srgbClr val="17365D"/>
                          </a:solidFill>
                          <a:effectLst/>
                          <a:latin typeface="Calibri" panose="020F0502020204030204" pitchFamily="34" charset="0"/>
                        </a:rPr>
                        <a:t>Reduction in number of CVD deaths</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917786483"/>
                  </a:ext>
                </a:extLst>
              </a:tr>
              <a:tr h="301031">
                <a:tc>
                  <a:txBody>
                    <a:bodyPr/>
                    <a:lstStyle/>
                    <a:p>
                      <a:pPr algn="l" rtl="0" fontAlgn="ctr">
                        <a:buNone/>
                      </a:pPr>
                      <a:r>
                        <a:rPr lang="en-US" sz="1800" b="1" i="0" u="none" strike="noStrike">
                          <a:solidFill>
                            <a:srgbClr val="222222"/>
                          </a:solidFill>
                          <a:effectLst/>
                          <a:latin typeface="Calibri" panose="020F0502020204030204" pitchFamily="34" charset="0"/>
                        </a:rPr>
                        <a:t>Tobacco tax</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Calibri" panose="020F0502020204030204" pitchFamily="34" charset="0"/>
                        </a:rPr>
                        <a:t> </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Calibri" panose="020F0502020204030204" pitchFamily="34" charset="0"/>
                        </a:rPr>
                        <a:t> </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Calibri" panose="020F0502020204030204" pitchFamily="34" charset="0"/>
                        </a:rPr>
                        <a:t> </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1170356"/>
                  </a:ext>
                </a:extLst>
              </a:tr>
              <a:tr h="593699">
                <a:tc>
                  <a:txBody>
                    <a:bodyPr/>
                    <a:lstStyle/>
                    <a:p>
                      <a:pPr algn="l" rtl="0" fontAlgn="ctr">
                        <a:buNone/>
                      </a:pPr>
                      <a:r>
                        <a:rPr lang="en-US" sz="1800" b="0" i="0" u="none" strike="noStrike" dirty="0">
                          <a:solidFill>
                            <a:srgbClr val="222222"/>
                          </a:solidFill>
                          <a:effectLst/>
                          <a:latin typeface="Calibri" panose="020F0502020204030204" pitchFamily="34" charset="0"/>
                        </a:rPr>
                        <a:t>     50% increase in retail price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222222"/>
                          </a:solidFill>
                          <a:effectLst/>
                          <a:latin typeface="Calibri" panose="020F0502020204030204" pitchFamily="34" charset="0"/>
                        </a:rPr>
                        <a:t>0.95</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222222"/>
                          </a:solidFill>
                          <a:effectLst/>
                          <a:latin typeface="Calibri" panose="020F0502020204030204" pitchFamily="34" charset="0"/>
                        </a:rPr>
                        <a:t>5.2%</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222222"/>
                          </a:solidFill>
                          <a:effectLst/>
                          <a:latin typeface="Calibri" panose="020F0502020204030204" pitchFamily="34" charset="0"/>
                        </a:rPr>
                        <a:t>3.3%</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5751239"/>
                  </a:ext>
                </a:extLst>
              </a:tr>
              <a:tr h="593699">
                <a:tc>
                  <a:txBody>
                    <a:bodyPr/>
                    <a:lstStyle/>
                    <a:p>
                      <a:pPr algn="l" rtl="0" fontAlgn="ctr">
                        <a:buNone/>
                      </a:pPr>
                      <a:r>
                        <a:rPr lang="en-US" sz="1800" b="0" i="0" u="none" strike="noStrike" dirty="0">
                          <a:solidFill>
                            <a:srgbClr val="222222"/>
                          </a:solidFill>
                          <a:effectLst/>
                          <a:latin typeface="Calibri" panose="020F0502020204030204" pitchFamily="34" charset="0"/>
                        </a:rPr>
                        <a:t>     75% increase in retail price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222222"/>
                          </a:solidFill>
                          <a:effectLst/>
                          <a:latin typeface="Calibri" panose="020F0502020204030204" pitchFamily="34" charset="0"/>
                        </a:rPr>
                        <a:t>1.45</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222222"/>
                          </a:solidFill>
                          <a:effectLst/>
                          <a:latin typeface="Calibri" panose="020F0502020204030204" pitchFamily="34" charset="0"/>
                        </a:rPr>
                        <a:t>7.9%</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222222"/>
                          </a:solidFill>
                          <a:effectLst/>
                          <a:latin typeface="Calibri" panose="020F0502020204030204" pitchFamily="34" charset="0"/>
                        </a:rPr>
                        <a:t>7.1%</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0745038"/>
                  </a:ext>
                </a:extLst>
              </a:tr>
              <a:tr h="593699">
                <a:tc>
                  <a:txBody>
                    <a:bodyPr/>
                    <a:lstStyle/>
                    <a:p>
                      <a:pPr algn="l" rtl="0" fontAlgn="ctr">
                        <a:buNone/>
                      </a:pPr>
                      <a:r>
                        <a:rPr lang="en-US" sz="1800" b="1" i="0" u="none" strike="noStrike">
                          <a:solidFill>
                            <a:srgbClr val="222222"/>
                          </a:solidFill>
                          <a:effectLst/>
                          <a:latin typeface="Calibri" panose="020F0502020204030204" pitchFamily="34" charset="0"/>
                        </a:rPr>
                        <a:t>Tobacco policy package (MPOWER)</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a:solidFill>
                            <a:srgbClr val="222222"/>
                          </a:solidFill>
                          <a:effectLst/>
                          <a:latin typeface="Calibri" panose="020F0502020204030204" pitchFamily="34" charset="0"/>
                        </a:rPr>
                        <a:t>0.65</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222222"/>
                          </a:solidFill>
                          <a:effectLst/>
                          <a:latin typeface="Calibri" panose="020F0502020204030204" pitchFamily="34" charset="0"/>
                        </a:rPr>
                        <a:t>3.6%</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800" b="0" i="0" u="none" strike="noStrike" dirty="0">
                          <a:solidFill>
                            <a:srgbClr val="222222"/>
                          </a:solidFill>
                          <a:effectLst/>
                          <a:latin typeface="Calibri" panose="020F0502020204030204" pitchFamily="34" charset="0"/>
                        </a:rPr>
                        <a:t>2.2%</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526198"/>
                  </a:ext>
                </a:extLst>
              </a:tr>
              <a:tr h="886368">
                <a:tc>
                  <a:txBody>
                    <a:bodyPr/>
                    <a:lstStyle/>
                    <a:p>
                      <a:pPr algn="l" rtl="0" fontAlgn="ctr">
                        <a:buNone/>
                      </a:pPr>
                      <a:r>
                        <a:rPr lang="en-US" sz="1800" b="1" i="0" u="none" strike="noStrike">
                          <a:solidFill>
                            <a:srgbClr val="17365D"/>
                          </a:solidFill>
                          <a:effectLst/>
                          <a:latin typeface="Calibri" panose="020F0502020204030204" pitchFamily="34" charset="0"/>
                        </a:rPr>
                        <a:t>Combined impact of taxes (75%) and regulations</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ctr">
                        <a:buNone/>
                      </a:pPr>
                      <a:r>
                        <a:rPr lang="en-US" sz="1800" b="1" i="0" u="none" strike="noStrike" dirty="0">
                          <a:solidFill>
                            <a:srgbClr val="244062"/>
                          </a:solidFill>
                          <a:effectLst/>
                          <a:latin typeface="Calibri" panose="020F0502020204030204" pitchFamily="34" charset="0"/>
                        </a:rPr>
                        <a:t>2.07</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ctr">
                        <a:buNone/>
                      </a:pPr>
                      <a:r>
                        <a:rPr lang="en-US" sz="1800" b="1" i="0" u="none" strike="noStrike" dirty="0">
                          <a:solidFill>
                            <a:srgbClr val="244062"/>
                          </a:solidFill>
                          <a:effectLst/>
                          <a:latin typeface="Calibri" panose="020F0502020204030204" pitchFamily="34" charset="0"/>
                        </a:rPr>
                        <a:t>11.2%</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tc>
                  <a:txBody>
                    <a:bodyPr/>
                    <a:lstStyle/>
                    <a:p>
                      <a:pPr algn="ctr" rtl="0" fontAlgn="ctr">
                        <a:buNone/>
                      </a:pPr>
                      <a:r>
                        <a:rPr lang="en-US" sz="1800" b="1" i="0" u="none" strike="noStrike" dirty="0">
                          <a:solidFill>
                            <a:srgbClr val="244062"/>
                          </a:solidFill>
                          <a:effectLst/>
                          <a:latin typeface="Calibri" panose="020F0502020204030204" pitchFamily="34" charset="0"/>
                        </a:rPr>
                        <a:t>4.2%</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0F6"/>
                    </a:solidFill>
                  </a:tcPr>
                </a:tc>
                <a:extLst>
                  <a:ext uri="{0D108BD9-81ED-4DB2-BD59-A6C34878D82A}">
                    <a16:rowId xmlns:a16="http://schemas.microsoft.com/office/drawing/2014/main" val="2150520458"/>
                  </a:ext>
                </a:extLst>
              </a:tr>
            </a:tbl>
          </a:graphicData>
        </a:graphic>
      </p:graphicFrame>
    </p:spTree>
    <p:extLst>
      <p:ext uri="{BB962C8B-B14F-4D97-AF65-F5344CB8AC3E}">
        <p14:creationId xmlns:p14="http://schemas.microsoft.com/office/powerpoint/2010/main" val="876686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0" y="167008"/>
            <a:ext cx="12191999" cy="1129350"/>
          </a:xfrm>
          <a:prstGeom prst="rect">
            <a:avLst/>
          </a:prstGeom>
        </p:spPr>
        <p:txBody>
          <a:bodyPr vert="horz" wrap="square" lIns="0" tIns="21148" rIns="0" bIns="0" rtlCol="0" anchor="ctr">
            <a:spAutoFit/>
          </a:bodyPr>
          <a:lstStyle/>
          <a:p>
            <a:pPr marL="20141" algn="ctr">
              <a:spcBef>
                <a:spcPts val="167"/>
              </a:spcBef>
            </a:pPr>
            <a:r>
              <a:rPr lang="en-US" sz="3600" b="1" spc="-10" dirty="0"/>
              <a:t>Implementation of clinical interventions and tobacco control could get Indonesia close to Malaysia’s CV mortality by 2050</a:t>
            </a:r>
            <a:endParaRPr sz="3600" b="1" spc="-16" dirty="0"/>
          </a:p>
        </p:txBody>
      </p:sp>
      <p:cxnSp>
        <p:nvCxnSpPr>
          <p:cNvPr id="6" name="Straight Connector 5">
            <a:extLst>
              <a:ext uri="{FF2B5EF4-FFF2-40B4-BE49-F238E27FC236}">
                <a16:creationId xmlns:a16="http://schemas.microsoft.com/office/drawing/2014/main" id="{C82819FD-A62A-E2EE-25E0-3ED12E58E959}"/>
              </a:ext>
            </a:extLst>
          </p:cNvPr>
          <p:cNvCxnSpPr>
            <a:cxnSpLocks/>
          </p:cNvCxnSpPr>
          <p:nvPr/>
        </p:nvCxnSpPr>
        <p:spPr>
          <a:xfrm flipH="1">
            <a:off x="3720662" y="4698124"/>
            <a:ext cx="2469931" cy="0"/>
          </a:xfrm>
          <a:prstGeom prst="line">
            <a:avLst/>
          </a:prstGeom>
          <a:ln>
            <a:solidFill>
              <a:schemeClr val="accent3">
                <a:lumMod val="75000"/>
              </a:schemeClr>
            </a:solidFill>
            <a:prstDash val="lgDash"/>
          </a:ln>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00000000-0008-0000-1200-000002000000}"/>
              </a:ext>
            </a:extLst>
          </p:cNvPr>
          <p:cNvPicPr>
            <a:picLocks noChangeAspect="1"/>
          </p:cNvPicPr>
          <p:nvPr/>
        </p:nvPicPr>
        <p:blipFill>
          <a:blip r:embed="rId3"/>
          <a:stretch>
            <a:fillRect/>
          </a:stretch>
        </p:blipFill>
        <p:spPr>
          <a:xfrm>
            <a:off x="60959" y="1304392"/>
            <a:ext cx="12070080" cy="5486400"/>
          </a:xfrm>
          <a:prstGeom prst="rect">
            <a:avLst/>
          </a:prstGeom>
        </p:spPr>
      </p:pic>
      <p:sp>
        <p:nvSpPr>
          <p:cNvPr id="3" name="Rounded Rectangle 2">
            <a:extLst>
              <a:ext uri="{FF2B5EF4-FFF2-40B4-BE49-F238E27FC236}">
                <a16:creationId xmlns:a16="http://schemas.microsoft.com/office/drawing/2014/main" id="{6226A705-3710-3015-23A2-010876B58563}"/>
              </a:ext>
            </a:extLst>
          </p:cNvPr>
          <p:cNvSpPr/>
          <p:nvPr/>
        </p:nvSpPr>
        <p:spPr>
          <a:xfrm>
            <a:off x="6611597" y="1815708"/>
            <a:ext cx="5294653" cy="1470417"/>
          </a:xfrm>
          <a:prstGeom prst="roundRect">
            <a:avLst>
              <a:gd name="adj" fmla="val 6000"/>
            </a:avLst>
          </a:prstGeom>
          <a:solidFill>
            <a:srgbClr val="F7F9FC"/>
          </a:solidFill>
          <a:ln w="12700">
            <a:solidFill>
              <a:srgbClr val="B8C6DC"/>
            </a:solidFill>
          </a:ln>
          <a:effectLst/>
        </p:spPr>
        <p:style>
          <a:lnRef idx="1">
            <a:schemeClr val="accent1"/>
          </a:lnRef>
          <a:fillRef idx="3">
            <a:schemeClr val="accent1"/>
          </a:fillRef>
          <a:effectRef idx="2">
            <a:schemeClr val="accent1"/>
          </a:effectRef>
          <a:fontRef idx="minor">
            <a:schemeClr val="lt1"/>
          </a:fontRef>
        </p:style>
        <p:txBody>
          <a:bodyPr wrap="square" lIns="164592" tIns="100584" rIns="164592" bIns="36576" rtlCol="0" anchor="t"/>
          <a:lstStyle/>
          <a:p>
            <a:r>
              <a:rPr lang="en-US" sz="2000" b="1" dirty="0">
                <a:solidFill>
                  <a:srgbClr val="002060"/>
                </a:solidFill>
                <a:latin typeface="Calibri"/>
              </a:rPr>
              <a:t>But achieving Singapore-level mortality would require more actions on prevention (e.g., lead abatement, air pollution control) and treatment (novel CVD therapies)</a:t>
            </a:r>
            <a:endParaRPr sz="2000" dirty="0">
              <a:solidFill>
                <a:prstClr val="black"/>
              </a:solidFill>
              <a:latin typeface="Calibri"/>
            </a:endParaRPr>
          </a:p>
        </p:txBody>
      </p:sp>
      <p:cxnSp>
        <p:nvCxnSpPr>
          <p:cNvPr id="8" name="Straight Connector 7">
            <a:extLst>
              <a:ext uri="{FF2B5EF4-FFF2-40B4-BE49-F238E27FC236}">
                <a16:creationId xmlns:a16="http://schemas.microsoft.com/office/drawing/2014/main" id="{52A45AA4-F11F-9E8B-DC4E-F6A0B001FA61}"/>
              </a:ext>
            </a:extLst>
          </p:cNvPr>
          <p:cNvCxnSpPr>
            <a:cxnSpLocks/>
          </p:cNvCxnSpPr>
          <p:nvPr/>
        </p:nvCxnSpPr>
        <p:spPr>
          <a:xfrm flipH="1">
            <a:off x="5475166" y="4798432"/>
            <a:ext cx="3211634" cy="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19125" y="159212"/>
            <a:ext cx="10991849" cy="1217278"/>
          </a:xfrm>
          <a:prstGeom prst="rect">
            <a:avLst/>
          </a:prstGeom>
        </p:spPr>
        <p:txBody>
          <a:bodyPr vert="horz" wrap="square" lIns="0" tIns="19134" rIns="0" bIns="0" rtlCol="0" anchor="ctr">
            <a:spAutoFit/>
          </a:bodyPr>
          <a:lstStyle/>
          <a:p>
            <a:pPr marL="20141" marR="8056" algn="ctr">
              <a:lnSpc>
                <a:spcPct val="110700"/>
              </a:lnSpc>
              <a:spcBef>
                <a:spcPts val="167"/>
              </a:spcBef>
            </a:pPr>
            <a:r>
              <a:rPr lang="en-US" sz="3600" b="1" spc="-16" dirty="0"/>
              <a:t>Achieving 70-70-70 would require differential action at the provincial level to close gaps</a:t>
            </a:r>
            <a:endParaRPr sz="3600" b="1" spc="-16" dirty="0"/>
          </a:p>
        </p:txBody>
      </p:sp>
      <p:sp>
        <p:nvSpPr>
          <p:cNvPr id="14" name="object 12">
            <a:extLst>
              <a:ext uri="{FF2B5EF4-FFF2-40B4-BE49-F238E27FC236}">
                <a16:creationId xmlns:a16="http://schemas.microsoft.com/office/drawing/2014/main" id="{BAE6FB27-8006-9DA4-40B6-474AADB5F310}"/>
              </a:ext>
            </a:extLst>
          </p:cNvPr>
          <p:cNvSpPr txBox="1"/>
          <p:nvPr/>
        </p:nvSpPr>
        <p:spPr>
          <a:xfrm>
            <a:off x="619126" y="4953001"/>
            <a:ext cx="10991848" cy="1258678"/>
          </a:xfrm>
          <a:prstGeom prst="rect">
            <a:avLst/>
          </a:prstGeom>
        </p:spPr>
        <p:txBody>
          <a:bodyPr vert="horz" wrap="square" lIns="0" tIns="11430" rIns="0" bIns="0" rtlCol="0">
            <a:spAutoFit/>
          </a:bodyPr>
          <a:lstStyle/>
          <a:p>
            <a:pPr marL="12700" marR="31750" algn="just">
              <a:lnSpc>
                <a:spcPct val="101699"/>
              </a:lnSpc>
              <a:spcBef>
                <a:spcPts val="90"/>
              </a:spcBef>
            </a:pPr>
            <a:r>
              <a:rPr lang="en-US" sz="1600" b="1" i="1" dirty="0">
                <a:solidFill>
                  <a:srgbClr val="5B6B7A"/>
                </a:solidFill>
                <a:latin typeface="Calibri"/>
                <a:cs typeface="Calibri"/>
              </a:rPr>
              <a:t>Method and data:</a:t>
            </a:r>
            <a:r>
              <a:rPr lang="en-US" sz="1600" i="1" dirty="0">
                <a:solidFill>
                  <a:srgbClr val="5B6B7A"/>
                </a:solidFill>
                <a:latin typeface="Calibri"/>
                <a:cs typeface="Calibri"/>
              </a:rPr>
              <a:t> See previous slides for basics of modeling. The Indonesia national-level disease and demographic models are re-parameterized with provincial-level all-cause and CVD-specific mortality (from GBD and UNPD) to create unique models for each province that are re-calibrated. </a:t>
            </a:r>
            <a:r>
              <a:rPr lang="en-US" sz="1600" b="1" i="1" dirty="0">
                <a:solidFill>
                  <a:srgbClr val="5B6B7A"/>
                </a:solidFill>
                <a:latin typeface="Calibri"/>
                <a:cs typeface="Calibri"/>
              </a:rPr>
              <a:t>Note: </a:t>
            </a:r>
            <a:r>
              <a:rPr sz="1600" i="1" spc="-10" dirty="0">
                <a:solidFill>
                  <a:srgbClr val="5B6B7A"/>
                </a:solidFill>
                <a:latin typeface="Calibri"/>
                <a:cs typeface="Calibri"/>
              </a:rPr>
              <a:t>Provincial</a:t>
            </a:r>
            <a:r>
              <a:rPr lang="en-US" sz="1600" i="1" spc="-10" dirty="0">
                <a:solidFill>
                  <a:srgbClr val="5B6B7A"/>
                </a:solidFill>
                <a:latin typeface="Calibri"/>
                <a:cs typeface="Calibri"/>
              </a:rPr>
              <a:t> </a:t>
            </a:r>
            <a:r>
              <a:rPr sz="1600" i="1" dirty="0">
                <a:solidFill>
                  <a:srgbClr val="5B6B7A"/>
                </a:solidFill>
                <a:latin typeface="Calibri"/>
                <a:cs typeface="Calibri"/>
              </a:rPr>
              <a:t>CVD</a:t>
            </a:r>
            <a:r>
              <a:rPr sz="1600" i="1" spc="-5" dirty="0">
                <a:solidFill>
                  <a:srgbClr val="5B6B7A"/>
                </a:solidFill>
                <a:latin typeface="Calibri"/>
                <a:cs typeface="Calibri"/>
              </a:rPr>
              <a:t> </a:t>
            </a:r>
            <a:r>
              <a:rPr sz="1600" i="1" dirty="0">
                <a:solidFill>
                  <a:srgbClr val="5B6B7A"/>
                </a:solidFill>
                <a:latin typeface="Calibri"/>
                <a:cs typeface="Calibri"/>
              </a:rPr>
              <a:t>treatment coverage</a:t>
            </a:r>
            <a:r>
              <a:rPr sz="1600" i="1" spc="-5" dirty="0">
                <a:solidFill>
                  <a:srgbClr val="5B6B7A"/>
                </a:solidFill>
                <a:latin typeface="Calibri"/>
                <a:cs typeface="Calibri"/>
              </a:rPr>
              <a:t> </a:t>
            </a:r>
            <a:r>
              <a:rPr sz="1600" i="1" dirty="0">
                <a:solidFill>
                  <a:srgbClr val="5B6B7A"/>
                </a:solidFill>
                <a:latin typeface="Calibri"/>
                <a:cs typeface="Calibri"/>
              </a:rPr>
              <a:t>is a</a:t>
            </a:r>
            <a:r>
              <a:rPr sz="1600" i="1" spc="-5" dirty="0">
                <a:solidFill>
                  <a:srgbClr val="5B6B7A"/>
                </a:solidFill>
                <a:latin typeface="Calibri"/>
                <a:cs typeface="Calibri"/>
              </a:rPr>
              <a:t> </a:t>
            </a:r>
            <a:r>
              <a:rPr sz="1600" i="1" dirty="0">
                <a:solidFill>
                  <a:srgbClr val="5B6B7A"/>
                </a:solidFill>
                <a:latin typeface="Calibri"/>
                <a:cs typeface="Calibri"/>
              </a:rPr>
              <a:t>crude anchor</a:t>
            </a:r>
            <a:r>
              <a:rPr sz="1600" i="1" spc="-5" dirty="0">
                <a:solidFill>
                  <a:srgbClr val="5B6B7A"/>
                </a:solidFill>
                <a:latin typeface="Calibri"/>
                <a:cs typeface="Calibri"/>
              </a:rPr>
              <a:t> </a:t>
            </a:r>
            <a:r>
              <a:rPr lang="en-US" sz="1600" i="1" dirty="0">
                <a:solidFill>
                  <a:srgbClr val="5B6B7A"/>
                </a:solidFill>
                <a:cs typeface="Calibri"/>
              </a:rPr>
              <a:t>based on observed CVD mortality and the modeled coverage-effect relationship (extreme values capped); provincial diabetes coverage is scaled proportionally</a:t>
            </a:r>
            <a:r>
              <a:rPr sz="1600" i="1" spc="-10" dirty="0">
                <a:solidFill>
                  <a:srgbClr val="5B6B7A"/>
                </a:solidFill>
                <a:latin typeface="Calibri"/>
                <a:cs typeface="Calibri"/>
              </a:rPr>
              <a:t>.</a:t>
            </a:r>
            <a:r>
              <a:rPr lang="en-US" sz="1600" i="1" spc="-10" dirty="0">
                <a:solidFill>
                  <a:srgbClr val="5B6B7A"/>
                </a:solidFill>
                <a:latin typeface="Calibri"/>
                <a:cs typeface="Calibri"/>
              </a:rPr>
              <a:t> These values must be validated with BPJS before policy use.</a:t>
            </a:r>
            <a:endParaRPr sz="1600" dirty="0">
              <a:latin typeface="Calibri"/>
              <a:cs typeface="Calibri"/>
            </a:endParaRPr>
          </a:p>
        </p:txBody>
      </p:sp>
      <p:pic>
        <p:nvPicPr>
          <p:cNvPr id="3" name="Picture 2">
            <a:extLst>
              <a:ext uri="{FF2B5EF4-FFF2-40B4-BE49-F238E27FC236}">
                <a16:creationId xmlns:a16="http://schemas.microsoft.com/office/drawing/2014/main" id="{00000000-0008-0000-1400-000002000000}"/>
              </a:ext>
            </a:extLst>
          </p:cNvPr>
          <p:cNvPicPr>
            <a:picLocks noChangeAspect="1"/>
          </p:cNvPicPr>
          <p:nvPr/>
        </p:nvPicPr>
        <p:blipFill>
          <a:blip r:embed="rId2"/>
          <a:stretch>
            <a:fillRect/>
          </a:stretch>
        </p:blipFill>
        <p:spPr>
          <a:xfrm>
            <a:off x="784288" y="1562547"/>
            <a:ext cx="10623424" cy="3390454"/>
          </a:xfrm>
          <a:prstGeom prst="rect">
            <a:avLst/>
          </a:prstGeom>
        </p:spPr>
      </p:pic>
    </p:spTree>
    <p:extLst>
      <p:ext uri="{BB962C8B-B14F-4D97-AF65-F5344CB8AC3E}">
        <p14:creationId xmlns:p14="http://schemas.microsoft.com/office/powerpoint/2010/main" val="2870006648"/>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0076" y="158969"/>
            <a:ext cx="10972798" cy="1219311"/>
          </a:xfrm>
          <a:prstGeom prst="rect">
            <a:avLst/>
          </a:prstGeom>
        </p:spPr>
        <p:txBody>
          <a:bodyPr vert="horz" wrap="square" lIns="0" tIns="21148" rIns="0" bIns="0" rtlCol="0" anchor="ctr">
            <a:spAutoFit/>
          </a:bodyPr>
          <a:lstStyle/>
          <a:p>
            <a:pPr marL="20141" marR="8056" algn="ctr">
              <a:lnSpc>
                <a:spcPct val="110700"/>
              </a:lnSpc>
              <a:spcBef>
                <a:spcPts val="167"/>
              </a:spcBef>
            </a:pPr>
            <a:r>
              <a:rPr lang="en-US" sz="3600" b="1" spc="-16" dirty="0"/>
              <a:t>Achieving 70-70-70 would cause p</a:t>
            </a:r>
            <a:r>
              <a:rPr sz="3600" b="1" spc="-16" dirty="0"/>
              <a:t>remature </a:t>
            </a:r>
            <a:r>
              <a:rPr lang="en-US" sz="3600" b="1" spc="-16" dirty="0"/>
              <a:t>CVD</a:t>
            </a:r>
            <a:r>
              <a:rPr sz="3600" b="1" spc="-16" dirty="0"/>
              <a:t> mortality</a:t>
            </a:r>
            <a:r>
              <a:rPr lang="en-US" sz="3600" b="1" spc="-16" dirty="0"/>
              <a:t> to</a:t>
            </a:r>
            <a:r>
              <a:rPr sz="3600" b="1" spc="-16" dirty="0"/>
              <a:t> fall in every province by 2040</a:t>
            </a:r>
          </a:p>
        </p:txBody>
      </p:sp>
      <p:sp>
        <p:nvSpPr>
          <p:cNvPr id="12" name="object 12"/>
          <p:cNvSpPr txBox="1"/>
          <p:nvPr/>
        </p:nvSpPr>
        <p:spPr>
          <a:xfrm>
            <a:off x="600075" y="6096001"/>
            <a:ext cx="10972799" cy="260871"/>
          </a:xfrm>
          <a:prstGeom prst="rect">
            <a:avLst/>
          </a:prstGeom>
        </p:spPr>
        <p:txBody>
          <a:bodyPr vert="horz" wrap="square" lIns="0" tIns="18127" rIns="0" bIns="0" rtlCol="0">
            <a:spAutoFit/>
          </a:bodyPr>
          <a:lstStyle/>
          <a:p>
            <a:pPr marL="20141" marR="50352">
              <a:lnSpc>
                <a:spcPct val="101699"/>
              </a:lnSpc>
              <a:spcBef>
                <a:spcPts val="143"/>
              </a:spcBef>
            </a:pPr>
            <a:r>
              <a:rPr lang="en-US" sz="1600" b="1" i="1" spc="-16" dirty="0">
                <a:solidFill>
                  <a:srgbClr val="5B6B7A"/>
                </a:solidFill>
                <a:latin typeface="Calibri" panose="020F0502020204030204" pitchFamily="34" charset="0"/>
                <a:cs typeface="Calibri" panose="020F0502020204030204" pitchFamily="34" charset="0"/>
              </a:rPr>
              <a:t>See previous slides for relevant methods and data</a:t>
            </a:r>
            <a:endParaRPr sz="16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00000000-0008-0000-1600-000002000000}"/>
              </a:ext>
            </a:extLst>
          </p:cNvPr>
          <p:cNvPicPr>
            <a:picLocks noChangeAspect="1"/>
          </p:cNvPicPr>
          <p:nvPr/>
        </p:nvPicPr>
        <p:blipFill>
          <a:blip r:embed="rId2"/>
          <a:stretch>
            <a:fillRect/>
          </a:stretch>
        </p:blipFill>
        <p:spPr>
          <a:xfrm>
            <a:off x="723901" y="1616336"/>
            <a:ext cx="10744197" cy="3428999"/>
          </a:xfrm>
          <a:prstGeom prst="rect">
            <a:avLst/>
          </a:prstGeom>
        </p:spPr>
      </p:pic>
    </p:spTree>
    <p:extLst>
      <p:ext uri="{BB962C8B-B14F-4D97-AF65-F5344CB8AC3E}">
        <p14:creationId xmlns:p14="http://schemas.microsoft.com/office/powerpoint/2010/main" val="3944170993"/>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28651" y="157247"/>
            <a:ext cx="10925174" cy="1129350"/>
          </a:xfrm>
          <a:prstGeom prst="rect">
            <a:avLst/>
          </a:prstGeom>
        </p:spPr>
        <p:txBody>
          <a:bodyPr vert="horz" wrap="square" lIns="0" tIns="21148" rIns="0" bIns="0" rtlCol="0" anchor="ctr">
            <a:spAutoFit/>
          </a:bodyPr>
          <a:lstStyle/>
          <a:p>
            <a:pPr marL="20141" algn="ctr">
              <a:spcBef>
                <a:spcPts val="167"/>
              </a:spcBef>
            </a:pPr>
            <a:r>
              <a:rPr sz="3600" b="1" spc="-16" dirty="0"/>
              <a:t>About half of averted </a:t>
            </a:r>
            <a:r>
              <a:rPr lang="en-US" sz="3600" b="1" spc="-16" dirty="0"/>
              <a:t>CVD </a:t>
            </a:r>
            <a:r>
              <a:rPr sz="3600" b="1" spc="-16" dirty="0"/>
              <a:t>deaths come from </a:t>
            </a:r>
            <a:r>
              <a:rPr lang="en-US" sz="3600" b="1" spc="-16" dirty="0"/>
              <a:t>the three most populous provinces</a:t>
            </a:r>
            <a:endParaRPr sz="3600" b="1" spc="-16" dirty="0"/>
          </a:p>
        </p:txBody>
      </p:sp>
      <p:sp>
        <p:nvSpPr>
          <p:cNvPr id="137" name="object 137"/>
          <p:cNvSpPr txBox="1"/>
          <p:nvPr/>
        </p:nvSpPr>
        <p:spPr>
          <a:xfrm>
            <a:off x="628651" y="5722524"/>
            <a:ext cx="10925174" cy="763188"/>
          </a:xfrm>
          <a:prstGeom prst="rect">
            <a:avLst/>
          </a:prstGeom>
        </p:spPr>
        <p:txBody>
          <a:bodyPr vert="horz" wrap="square" lIns="0" tIns="18127" rIns="0" bIns="0" rtlCol="0">
            <a:spAutoFit/>
          </a:bodyPr>
          <a:lstStyle/>
          <a:p>
            <a:pPr marL="20141" marR="42296">
              <a:lnSpc>
                <a:spcPct val="101699"/>
              </a:lnSpc>
              <a:spcBef>
                <a:spcPts val="143"/>
              </a:spcBef>
            </a:pPr>
            <a:r>
              <a:rPr lang="en-US" sz="1600" b="1" i="1" dirty="0">
                <a:solidFill>
                  <a:srgbClr val="5B6B7A"/>
                </a:solidFill>
                <a:latin typeface="Calibri" panose="020F0502020204030204" pitchFamily="34" charset="0"/>
                <a:cs typeface="Calibri" panose="020F0502020204030204" pitchFamily="34" charset="0"/>
              </a:rPr>
              <a:t>Note</a:t>
            </a:r>
            <a:r>
              <a:rPr sz="1600" b="1" i="1" dirty="0">
                <a:solidFill>
                  <a:srgbClr val="5B6B7A"/>
                </a:solidFill>
                <a:latin typeface="Calibri" panose="020F0502020204030204" pitchFamily="34" charset="0"/>
                <a:cs typeface="Calibri" panose="020F0502020204030204" pitchFamily="34" charset="0"/>
              </a:rPr>
              <a:t>:</a:t>
            </a:r>
            <a:r>
              <a:rPr lang="en-US" sz="1600" b="1" i="1" spc="-32" dirty="0">
                <a:solidFill>
                  <a:srgbClr val="5B6B7A"/>
                </a:solidFill>
                <a:latin typeface="Calibri" panose="020F0502020204030204" pitchFamily="34" charset="0"/>
                <a:cs typeface="Calibri" panose="020F0502020204030204" pitchFamily="34" charset="0"/>
              </a:rPr>
              <a:t> </a:t>
            </a:r>
            <a:r>
              <a:rPr lang="en-US" sz="1600" i="1" spc="-32" dirty="0">
                <a:solidFill>
                  <a:srgbClr val="5B6B7A"/>
                </a:solidFill>
                <a:latin typeface="Calibri" panose="020F0502020204030204" pitchFamily="34" charset="0"/>
                <a:cs typeface="Calibri" panose="020F0502020204030204" pitchFamily="34" charset="0"/>
              </a:rPr>
              <a:t>This Pareto chart contains bars that represent</a:t>
            </a:r>
            <a:r>
              <a:rPr sz="1600" i="1" dirty="0">
                <a:solidFill>
                  <a:srgbClr val="5B6B7A"/>
                </a:solidFill>
                <a:latin typeface="Calibri" panose="020F0502020204030204" pitchFamily="34" charset="0"/>
                <a:cs typeface="Calibri" panose="020F0502020204030204" pitchFamily="34" charset="0"/>
              </a:rPr>
              <a:t> cumulative deaths averted 2025–2050 </a:t>
            </a:r>
            <a:r>
              <a:rPr lang="en-US" sz="1600" i="1" dirty="0">
                <a:solidFill>
                  <a:srgbClr val="5B6B7A"/>
                </a:solidFill>
                <a:latin typeface="Calibri" panose="020F0502020204030204" pitchFamily="34" charset="0"/>
                <a:cs typeface="Calibri" panose="020F0502020204030204" pitchFamily="34" charset="0"/>
              </a:rPr>
              <a:t>by</a:t>
            </a:r>
            <a:r>
              <a:rPr sz="1600" i="1" dirty="0">
                <a:solidFill>
                  <a:srgbClr val="5B6B7A"/>
                </a:solidFill>
                <a:latin typeface="Calibri" panose="020F0502020204030204" pitchFamily="34" charset="0"/>
                <a:cs typeface="Calibri" panose="020F0502020204030204" pitchFamily="34" charset="0"/>
              </a:rPr>
              <a:t> province </a:t>
            </a:r>
            <a:r>
              <a:rPr lang="en-US" sz="1600" i="1" spc="-16" dirty="0">
                <a:solidFill>
                  <a:srgbClr val="5B6B7A"/>
                </a:solidFill>
                <a:latin typeface="Calibri" panose="020F0502020204030204" pitchFamily="34" charset="0"/>
                <a:cs typeface="Calibri" panose="020F0502020204030204" pitchFamily="34" charset="0"/>
              </a:rPr>
              <a:t>as per the analysis presented in the previous slides. The red curve is the running cumulative proportion of total deaths averted at the national level. See notes on previous slides for other methods and data.</a:t>
            </a:r>
            <a:endParaRPr sz="16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00000000-0008-0000-1300-000002000000}"/>
              </a:ext>
            </a:extLst>
          </p:cNvPr>
          <p:cNvPicPr>
            <a:picLocks noChangeAspect="1"/>
          </p:cNvPicPr>
          <p:nvPr/>
        </p:nvPicPr>
        <p:blipFill>
          <a:blip r:embed="rId2"/>
          <a:stretch>
            <a:fillRect/>
          </a:stretch>
        </p:blipFill>
        <p:spPr>
          <a:xfrm>
            <a:off x="628651" y="1506070"/>
            <a:ext cx="10925174" cy="4109422"/>
          </a:xfrm>
          <a:prstGeom prst="rect">
            <a:avLst/>
          </a:prstGeom>
        </p:spPr>
      </p:pic>
    </p:spTree>
    <p:extLst>
      <p:ext uri="{BB962C8B-B14F-4D97-AF65-F5344CB8AC3E}">
        <p14:creationId xmlns:p14="http://schemas.microsoft.com/office/powerpoint/2010/main" val="1051472151"/>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9600" y="158949"/>
            <a:ext cx="11003280" cy="1219311"/>
          </a:xfrm>
          <a:prstGeom prst="rect">
            <a:avLst/>
          </a:prstGeom>
        </p:spPr>
        <p:txBody>
          <a:bodyPr vert="horz" wrap="square" lIns="0" tIns="21148" rIns="0" bIns="0" rtlCol="0" anchor="ctr">
            <a:spAutoFit/>
          </a:bodyPr>
          <a:lstStyle/>
          <a:p>
            <a:pPr marL="20141" marR="8056" algn="ctr">
              <a:lnSpc>
                <a:spcPct val="110700"/>
              </a:lnSpc>
              <a:spcBef>
                <a:spcPts val="167"/>
              </a:spcBef>
            </a:pPr>
            <a:r>
              <a:rPr lang="en-US" sz="3600" b="1" spc="-16" dirty="0"/>
              <a:t>70-70-70 has a different financing requirement according to provincial burden and access gap</a:t>
            </a:r>
            <a:endParaRPr sz="3600" b="1" spc="-16" dirty="0"/>
          </a:p>
        </p:txBody>
      </p:sp>
      <p:sp>
        <p:nvSpPr>
          <p:cNvPr id="13" name="object 13"/>
          <p:cNvSpPr txBox="1"/>
          <p:nvPr/>
        </p:nvSpPr>
        <p:spPr>
          <a:xfrm>
            <a:off x="609600" y="5334001"/>
            <a:ext cx="10932160" cy="1035881"/>
          </a:xfrm>
          <a:prstGeom prst="rect">
            <a:avLst/>
          </a:prstGeom>
        </p:spPr>
        <p:txBody>
          <a:bodyPr vert="horz" wrap="square" lIns="0" tIns="12085" rIns="0" bIns="0" rtlCol="0">
            <a:spAutoFit/>
          </a:bodyPr>
          <a:lstStyle/>
          <a:p>
            <a:pPr marL="20141" marR="8056">
              <a:lnSpc>
                <a:spcPct val="105200"/>
              </a:lnSpc>
              <a:spcBef>
                <a:spcPts val="95"/>
              </a:spcBef>
            </a:pPr>
            <a:r>
              <a:rPr lang="en-US" sz="1600" b="1" i="1" dirty="0">
                <a:solidFill>
                  <a:srgbClr val="5B6B7A"/>
                </a:solidFill>
                <a:latin typeface="Calibri"/>
                <a:cs typeface="Calibri"/>
              </a:rPr>
              <a:t>Note</a:t>
            </a:r>
            <a:r>
              <a:rPr sz="1600" b="1" i="1" dirty="0">
                <a:solidFill>
                  <a:srgbClr val="5B6B7A"/>
                </a:solidFill>
                <a:latin typeface="Calibri"/>
                <a:cs typeface="Calibri"/>
              </a:rPr>
              <a:t>:</a:t>
            </a:r>
            <a:r>
              <a:rPr lang="en-US" sz="1600" b="1" i="1" dirty="0">
                <a:solidFill>
                  <a:srgbClr val="5B6B7A"/>
                </a:solidFill>
                <a:latin typeface="Calibri"/>
                <a:cs typeface="Calibri"/>
              </a:rPr>
              <a:t> </a:t>
            </a:r>
            <a:r>
              <a:rPr lang="en-US" sz="1600" i="1" dirty="0">
                <a:solidFill>
                  <a:srgbClr val="5B6B7A"/>
                </a:solidFill>
                <a:latin typeface="Calibri"/>
                <a:cs typeface="Calibri"/>
              </a:rPr>
              <a:t>The map above shows the average annual additional cost per capita required over the 2025-2050 period to reach the 70-70-70 target in each province. The costs vary depending on the current utilization (effective coverage) of CVD preventive interventions and magnitude of CVD burden in each province. Unit costs are assumed to be the same across provinces; this requires validation with BPJS.</a:t>
            </a:r>
            <a:endParaRPr sz="1600" dirty="0">
              <a:latin typeface="Calibri"/>
              <a:cs typeface="Calibri"/>
            </a:endParaRPr>
          </a:p>
        </p:txBody>
      </p:sp>
      <p:pic>
        <p:nvPicPr>
          <p:cNvPr id="3" name="Picture 2">
            <a:extLst>
              <a:ext uri="{FF2B5EF4-FFF2-40B4-BE49-F238E27FC236}">
                <a16:creationId xmlns:a16="http://schemas.microsoft.com/office/drawing/2014/main" id="{00000000-0008-0000-1800-000002000000}"/>
              </a:ext>
            </a:extLst>
          </p:cNvPr>
          <p:cNvPicPr>
            <a:picLocks noChangeAspect="1"/>
          </p:cNvPicPr>
          <p:nvPr/>
        </p:nvPicPr>
        <p:blipFill>
          <a:blip r:embed="rId2"/>
          <a:stretch>
            <a:fillRect/>
          </a:stretch>
        </p:blipFill>
        <p:spPr>
          <a:xfrm>
            <a:off x="656485" y="1594820"/>
            <a:ext cx="10879030" cy="3472031"/>
          </a:xfrm>
          <a:prstGeom prst="rect">
            <a:avLst/>
          </a:prstGeom>
        </p:spPr>
      </p:pic>
    </p:spTree>
    <p:extLst>
      <p:ext uri="{BB962C8B-B14F-4D97-AF65-F5344CB8AC3E}">
        <p14:creationId xmlns:p14="http://schemas.microsoft.com/office/powerpoint/2010/main" val="2947682284"/>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5FD3-EA30-5127-702B-7406DE3B3D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6B224-633E-6FCE-2DF9-D8799843951D}"/>
              </a:ext>
            </a:extLst>
          </p:cNvPr>
          <p:cNvSpPr>
            <a:spLocks noGrp="1"/>
          </p:cNvSpPr>
          <p:nvPr>
            <p:ph idx="1"/>
          </p:nvPr>
        </p:nvSpPr>
        <p:spPr>
          <a:xfrm>
            <a:off x="952500" y="2667001"/>
            <a:ext cx="10287000" cy="1523999"/>
          </a:xfrm>
        </p:spPr>
        <p:txBody>
          <a:bodyPr>
            <a:noAutofit/>
          </a:bodyPr>
          <a:lstStyle/>
          <a:p>
            <a:pPr marL="0" indent="0" algn="ctr">
              <a:buNone/>
            </a:pPr>
            <a:r>
              <a:rPr lang="en-US" sz="4000" b="1" dirty="0">
                <a:solidFill>
                  <a:srgbClr val="002060"/>
                </a:solidFill>
              </a:rPr>
              <a:t>Message 3. </a:t>
            </a:r>
            <a:r>
              <a:rPr lang="en-US" sz="4000" dirty="0">
                <a:solidFill>
                  <a:srgbClr val="002060"/>
                </a:solidFill>
              </a:rPr>
              <a:t>The financial risk protection implications of CVD are considerable</a:t>
            </a:r>
          </a:p>
        </p:txBody>
      </p:sp>
    </p:spTree>
    <p:extLst>
      <p:ext uri="{BB962C8B-B14F-4D97-AF65-F5344CB8AC3E}">
        <p14:creationId xmlns:p14="http://schemas.microsoft.com/office/powerpoint/2010/main" val="3653307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AB003-CFD3-3582-A548-2ABE98C3096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35C711B-001F-86E1-48DA-0C3E03DC8E5F}"/>
              </a:ext>
            </a:extLst>
          </p:cNvPr>
          <p:cNvSpPr>
            <a:spLocks noGrp="1"/>
          </p:cNvSpPr>
          <p:nvPr>
            <p:ph sz="quarter" idx="13"/>
          </p:nvPr>
        </p:nvSpPr>
        <p:spPr>
          <a:xfrm>
            <a:off x="450000" y="3028526"/>
            <a:ext cx="10623726" cy="3372275"/>
          </a:xfrm>
        </p:spPr>
        <p:txBody>
          <a:bodyPr>
            <a:noAutofit/>
          </a:bodyPr>
          <a:lstStyle/>
          <a:p>
            <a:pPr marL="0" indent="0">
              <a:buNone/>
            </a:pPr>
            <a:r>
              <a:rPr lang="en-US" sz="2600" b="1" u="sng" dirty="0">
                <a:latin typeface="Calibri" panose="020F0502020204030204" pitchFamily="34" charset="0"/>
                <a:cs typeface="Calibri" panose="020F0502020204030204" pitchFamily="34" charset="0"/>
              </a:rPr>
              <a:t>Objective</a:t>
            </a:r>
            <a:r>
              <a:rPr lang="en-US" sz="2600" b="1" dirty="0">
                <a:latin typeface="Calibri" panose="020F0502020204030204" pitchFamily="34" charset="0"/>
                <a:cs typeface="Calibri" panose="020F0502020204030204" pitchFamily="34" charset="0"/>
              </a:rPr>
              <a:t>: To estimate the lack of financial risk protection associated with chronic care and acute events associated with CVD</a:t>
            </a:r>
          </a:p>
          <a:p>
            <a:r>
              <a:rPr lang="en-US" sz="2600" dirty="0">
                <a:latin typeface="Calibri" panose="020F0502020204030204" pitchFamily="34" charset="0"/>
                <a:cs typeface="Calibri" panose="020F0502020204030204" pitchFamily="34" charset="0"/>
              </a:rPr>
              <a:t>We assess the number of cases of catastrophic health expenditures associated with out-of-pocket costs related to CVD care under different scenarios under JKN</a:t>
            </a:r>
          </a:p>
          <a:p>
            <a:endParaRPr lang="en-US" sz="2200" dirty="0">
              <a:solidFill>
                <a:srgbClr val="00206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916287D3-F664-2C6C-9B0A-C62D4C5022D5}"/>
              </a:ext>
            </a:extLst>
          </p:cNvPr>
          <p:cNvSpPr>
            <a:spLocks noGrp="1"/>
          </p:cNvSpPr>
          <p:nvPr>
            <p:ph type="body" sz="quarter" idx="12"/>
          </p:nvPr>
        </p:nvSpPr>
        <p:spPr>
          <a:xfrm>
            <a:off x="662968" y="1321304"/>
            <a:ext cx="10220257"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are the FINANCIAL CONSEQUENCES OF CVD FOR INDONESIAN HOUSEHOLDS?</a:t>
            </a:r>
          </a:p>
        </p:txBody>
      </p:sp>
      <p:sp>
        <p:nvSpPr>
          <p:cNvPr id="8" name="Content Placeholder 3">
            <a:extLst>
              <a:ext uri="{FF2B5EF4-FFF2-40B4-BE49-F238E27FC236}">
                <a16:creationId xmlns:a16="http://schemas.microsoft.com/office/drawing/2014/main" id="{8AF5CA97-21F5-EB58-3518-A64D53E1ED0D}"/>
              </a:ext>
            </a:extLst>
          </p:cNvPr>
          <p:cNvSpPr txBox="1">
            <a:spLocks/>
          </p:cNvSpPr>
          <p:nvPr/>
        </p:nvSpPr>
        <p:spPr>
          <a:xfrm>
            <a:off x="970973" y="5194642"/>
            <a:ext cx="9691763"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2000" b="1"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044439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5350" y="182881"/>
            <a:ext cx="10401300" cy="1249573"/>
          </a:xfrm>
          <a:prstGeom prst="rect">
            <a:avLst/>
          </a:prstGeom>
          <a:noFill/>
        </p:spPr>
        <p:txBody>
          <a:bodyPr wrap="square" lIns="18288" tIns="9144" rIns="18288" bIns="9144" anchor="t">
            <a:spAutoFit/>
          </a:bodyPr>
          <a:lstStyle/>
          <a:p>
            <a:pPr algn="ctr"/>
            <a:r>
              <a:rPr lang="en-US" sz="4000" b="1" dirty="0">
                <a:solidFill>
                  <a:srgbClr val="002060"/>
                </a:solidFill>
                <a:latin typeface="Calibri"/>
              </a:rPr>
              <a:t>Key finding</a:t>
            </a:r>
            <a:r>
              <a:rPr sz="4000" b="1" dirty="0">
                <a:solidFill>
                  <a:srgbClr val="002060"/>
                </a:solidFill>
                <a:latin typeface="Calibri"/>
              </a:rPr>
              <a:t> 1: </a:t>
            </a:r>
            <a:r>
              <a:rPr lang="en-US" sz="4000" dirty="0">
                <a:solidFill>
                  <a:srgbClr val="002060"/>
                </a:solidFill>
                <a:latin typeface="Calibri"/>
              </a:rPr>
              <a:t>C</a:t>
            </a:r>
            <a:r>
              <a:rPr sz="4000" dirty="0">
                <a:solidFill>
                  <a:srgbClr val="002060"/>
                </a:solidFill>
                <a:latin typeface="Calibri"/>
              </a:rPr>
              <a:t>hronic care</a:t>
            </a:r>
            <a:endParaRPr lang="en-US" sz="4000" dirty="0">
              <a:solidFill>
                <a:srgbClr val="002060"/>
              </a:solidFill>
              <a:latin typeface="Calibri"/>
            </a:endParaRPr>
          </a:p>
          <a:p>
            <a:pPr algn="ctr"/>
            <a:r>
              <a:rPr lang="en-US" sz="2000" dirty="0">
                <a:solidFill>
                  <a:srgbClr val="002060"/>
                </a:solidFill>
                <a:latin typeface="Calibri"/>
              </a:rPr>
              <a:t>1.3 million catastrophic cases per year = 8% of 15.6M patients in care</a:t>
            </a:r>
          </a:p>
          <a:p>
            <a:pPr algn="ctr"/>
            <a:r>
              <a:rPr lang="en-US" sz="2000" dirty="0">
                <a:solidFill>
                  <a:srgbClr val="002060"/>
                </a:solidFill>
                <a:latin typeface="Calibri"/>
              </a:rPr>
              <a:t>Two thirds of them in Q1 consumption quintile</a:t>
            </a:r>
          </a:p>
        </p:txBody>
      </p:sp>
      <p:sp>
        <p:nvSpPr>
          <p:cNvPr id="8" name="TextBox 7">
            <a:extLst>
              <a:ext uri="{FF2B5EF4-FFF2-40B4-BE49-F238E27FC236}">
                <a16:creationId xmlns:a16="http://schemas.microsoft.com/office/drawing/2014/main" id="{12D0C2C2-9C2E-29B1-DB83-CA246BE99AD7}"/>
              </a:ext>
            </a:extLst>
          </p:cNvPr>
          <p:cNvSpPr txBox="1"/>
          <p:nvPr/>
        </p:nvSpPr>
        <p:spPr>
          <a:xfrm>
            <a:off x="988730" y="1668960"/>
            <a:ext cx="10214541" cy="769441"/>
          </a:xfrm>
          <a:prstGeom prst="rect">
            <a:avLst/>
          </a:prstGeom>
          <a:noFill/>
        </p:spPr>
        <p:txBody>
          <a:bodyPr wrap="square" rtlCol="0">
            <a:spAutoFit/>
          </a:bodyPr>
          <a:lstStyle/>
          <a:p>
            <a:pPr algn="ctr"/>
            <a:r>
              <a:rPr lang="en-US" sz="2200" b="1" dirty="0">
                <a:solidFill>
                  <a:prstClr val="black"/>
                </a:solidFill>
                <a:latin typeface="Calibri"/>
              </a:rPr>
              <a:t>Catastrophic health expenditure (CHE) cases</a:t>
            </a:r>
          </a:p>
          <a:p>
            <a:pPr algn="ctr"/>
            <a:r>
              <a:rPr lang="en-US" sz="2200" dirty="0">
                <a:solidFill>
                  <a:prstClr val="black"/>
                </a:solidFill>
                <a:latin typeface="Calibri"/>
              </a:rPr>
              <a:t>(OOP costs &gt; 10% of household expenditure) </a:t>
            </a:r>
            <a:r>
              <a:rPr lang="en-US" sz="2200" b="1" dirty="0">
                <a:solidFill>
                  <a:prstClr val="black"/>
                </a:solidFill>
                <a:latin typeface="Calibri"/>
              </a:rPr>
              <a:t>related to chronic care</a:t>
            </a:r>
          </a:p>
        </p:txBody>
      </p:sp>
      <p:pic>
        <p:nvPicPr>
          <p:cNvPr id="4" name="Picture 3">
            <a:extLst>
              <a:ext uri="{FF2B5EF4-FFF2-40B4-BE49-F238E27FC236}">
                <a16:creationId xmlns:a16="http://schemas.microsoft.com/office/drawing/2014/main" id="{5D7A5DCC-9C19-68B2-046C-E00E96683AA7}"/>
              </a:ext>
            </a:extLst>
          </p:cNvPr>
          <p:cNvPicPr>
            <a:picLocks noChangeAspect="1"/>
          </p:cNvPicPr>
          <p:nvPr/>
        </p:nvPicPr>
        <p:blipFill>
          <a:blip r:embed="rId3">
            <a:extLst>
              <a:ext uri="{28A0092B-C50C-407E-A947-70E740481C1C}">
                <a14:useLocalDpi xmlns:a14="http://schemas.microsoft.com/office/drawing/2010/main" val="0"/>
              </a:ext>
            </a:extLst>
          </a:blip>
          <a:srcRect t="16383"/>
          <a:stretch>
            <a:fillRect/>
          </a:stretch>
        </p:blipFill>
        <p:spPr>
          <a:xfrm>
            <a:off x="450000" y="2674907"/>
            <a:ext cx="7771337" cy="3933093"/>
          </a:xfrm>
          <a:prstGeom prst="rect">
            <a:avLst/>
          </a:prstGeom>
        </p:spPr>
      </p:pic>
      <p:pic>
        <p:nvPicPr>
          <p:cNvPr id="9" name="Picture 8">
            <a:extLst>
              <a:ext uri="{FF2B5EF4-FFF2-40B4-BE49-F238E27FC236}">
                <a16:creationId xmlns:a16="http://schemas.microsoft.com/office/drawing/2014/main" id="{3FACC56D-DA27-C2C0-1EE3-0710BC6CA13A}"/>
              </a:ext>
            </a:extLst>
          </p:cNvPr>
          <p:cNvPicPr>
            <a:picLocks noChangeAspect="1"/>
          </p:cNvPicPr>
          <p:nvPr/>
        </p:nvPicPr>
        <p:blipFill>
          <a:blip r:embed="rId3">
            <a:extLst>
              <a:ext uri="{28A0092B-C50C-407E-A947-70E740481C1C}">
                <a14:useLocalDpi xmlns:a14="http://schemas.microsoft.com/office/drawing/2010/main" val="0"/>
              </a:ext>
            </a:extLst>
          </a:blip>
          <a:srcRect l="66667" t="8452" b="75192"/>
          <a:stretch>
            <a:fillRect/>
          </a:stretch>
        </p:blipFill>
        <p:spPr>
          <a:xfrm>
            <a:off x="5441845" y="2637064"/>
            <a:ext cx="6002012" cy="1782536"/>
          </a:xfrm>
          <a:prstGeom prst="rect">
            <a:avLst/>
          </a:prstGeom>
          <a:ln>
            <a:solidFill>
              <a:schemeClr val="tx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AB577F-1D8D-AA6A-99E4-5809A22C40E7}"/>
              </a:ext>
            </a:extLst>
          </p:cNvPr>
          <p:cNvSpPr txBox="1"/>
          <p:nvPr/>
        </p:nvSpPr>
        <p:spPr>
          <a:xfrm>
            <a:off x="895350" y="119052"/>
            <a:ext cx="10401300" cy="1557349"/>
          </a:xfrm>
          <a:prstGeom prst="rect">
            <a:avLst/>
          </a:prstGeom>
          <a:noFill/>
        </p:spPr>
        <p:txBody>
          <a:bodyPr wrap="square" lIns="18288" tIns="9144" rIns="18288" bIns="9144" anchor="t">
            <a:spAutoFit/>
          </a:bodyPr>
          <a:lstStyle/>
          <a:p>
            <a:pPr algn="ctr"/>
            <a:r>
              <a:rPr lang="en-US" sz="4000" b="1" dirty="0">
                <a:solidFill>
                  <a:srgbClr val="002060"/>
                </a:solidFill>
                <a:latin typeface="Calibri"/>
              </a:rPr>
              <a:t>Key finding</a:t>
            </a:r>
            <a:r>
              <a:rPr sz="4000" b="1" dirty="0">
                <a:solidFill>
                  <a:srgbClr val="002060"/>
                </a:solidFill>
                <a:latin typeface="Calibri"/>
              </a:rPr>
              <a:t> </a:t>
            </a:r>
            <a:r>
              <a:rPr lang="en-US" sz="4000" b="1" dirty="0">
                <a:solidFill>
                  <a:srgbClr val="002060"/>
                </a:solidFill>
                <a:latin typeface="Calibri"/>
              </a:rPr>
              <a:t>2</a:t>
            </a:r>
            <a:r>
              <a:rPr sz="4000" b="1" dirty="0">
                <a:solidFill>
                  <a:srgbClr val="002060"/>
                </a:solidFill>
                <a:latin typeface="Calibri"/>
              </a:rPr>
              <a:t>: </a:t>
            </a:r>
            <a:r>
              <a:rPr lang="en-US" sz="4000" dirty="0">
                <a:solidFill>
                  <a:srgbClr val="002060"/>
                </a:solidFill>
                <a:latin typeface="Calibri"/>
              </a:rPr>
              <a:t>Acute events</a:t>
            </a:r>
          </a:p>
          <a:p>
            <a:pPr algn="ctr"/>
            <a:r>
              <a:rPr lang="en-US" sz="2000" dirty="0">
                <a:solidFill>
                  <a:srgbClr val="002060"/>
                </a:solidFill>
                <a:latin typeface="Calibri"/>
              </a:rPr>
              <a:t>401,000 catastrophic admissions a year = 22% of all CVD admissions</a:t>
            </a:r>
          </a:p>
          <a:p>
            <a:pPr algn="ctr"/>
            <a:r>
              <a:rPr lang="en-US" sz="2000" dirty="0">
                <a:solidFill>
                  <a:srgbClr val="002060"/>
                </a:solidFill>
                <a:latin typeface="Calibri"/>
              </a:rPr>
              <a:t>62% of those in Q1</a:t>
            </a:r>
          </a:p>
          <a:p>
            <a:pPr algn="ctr"/>
            <a:endParaRPr lang="en-US" sz="2000" dirty="0">
              <a:solidFill>
                <a:srgbClr val="002060"/>
              </a:solidFill>
              <a:latin typeface="Calibri"/>
            </a:endParaRPr>
          </a:p>
        </p:txBody>
      </p:sp>
      <p:sp>
        <p:nvSpPr>
          <p:cNvPr id="4" name="TextBox 3">
            <a:extLst>
              <a:ext uri="{FF2B5EF4-FFF2-40B4-BE49-F238E27FC236}">
                <a16:creationId xmlns:a16="http://schemas.microsoft.com/office/drawing/2014/main" id="{155BD4E5-EBF3-5C8D-A0AD-AFB7383F0CC8}"/>
              </a:ext>
            </a:extLst>
          </p:cNvPr>
          <p:cNvSpPr txBox="1"/>
          <p:nvPr/>
        </p:nvSpPr>
        <p:spPr>
          <a:xfrm>
            <a:off x="936016" y="1371601"/>
            <a:ext cx="10214541" cy="769441"/>
          </a:xfrm>
          <a:prstGeom prst="rect">
            <a:avLst/>
          </a:prstGeom>
          <a:noFill/>
        </p:spPr>
        <p:txBody>
          <a:bodyPr wrap="square" rtlCol="0">
            <a:spAutoFit/>
          </a:bodyPr>
          <a:lstStyle/>
          <a:p>
            <a:pPr algn="ctr"/>
            <a:r>
              <a:rPr lang="en-US" sz="2200" b="1" dirty="0">
                <a:solidFill>
                  <a:prstClr val="black"/>
                </a:solidFill>
                <a:latin typeface="Calibri"/>
              </a:rPr>
              <a:t>Catastrophic health expenditure (CHE) cases</a:t>
            </a:r>
          </a:p>
          <a:p>
            <a:pPr algn="ctr"/>
            <a:r>
              <a:rPr lang="en-US" sz="2200" dirty="0">
                <a:solidFill>
                  <a:prstClr val="black"/>
                </a:solidFill>
                <a:latin typeface="Calibri"/>
              </a:rPr>
              <a:t>(OOP costs &gt; 10% of household expenditure) </a:t>
            </a:r>
            <a:r>
              <a:rPr lang="en-US" sz="2200" b="1" dirty="0">
                <a:solidFill>
                  <a:prstClr val="black"/>
                </a:solidFill>
                <a:latin typeface="Calibri"/>
              </a:rPr>
              <a:t>related to acute care</a:t>
            </a:r>
          </a:p>
        </p:txBody>
      </p:sp>
      <p:pic>
        <p:nvPicPr>
          <p:cNvPr id="6" name="Picture 5">
            <a:extLst>
              <a:ext uri="{FF2B5EF4-FFF2-40B4-BE49-F238E27FC236}">
                <a16:creationId xmlns:a16="http://schemas.microsoft.com/office/drawing/2014/main" id="{21D54769-6195-A893-0AFE-3089AE8175BF}"/>
              </a:ext>
            </a:extLst>
          </p:cNvPr>
          <p:cNvPicPr>
            <a:picLocks noChangeAspect="1"/>
          </p:cNvPicPr>
          <p:nvPr/>
        </p:nvPicPr>
        <p:blipFill>
          <a:blip r:embed="rId3">
            <a:extLst>
              <a:ext uri="{28A0092B-C50C-407E-A947-70E740481C1C}">
                <a14:useLocalDpi xmlns:a14="http://schemas.microsoft.com/office/drawing/2010/main" val="0"/>
              </a:ext>
            </a:extLst>
          </a:blip>
          <a:srcRect t="11850" b="4126"/>
          <a:stretch>
            <a:fillRect/>
          </a:stretch>
        </p:blipFill>
        <p:spPr>
          <a:xfrm>
            <a:off x="450000" y="2270345"/>
            <a:ext cx="8529230" cy="4337655"/>
          </a:xfrm>
          <a:prstGeom prst="rect">
            <a:avLst/>
          </a:prstGeom>
        </p:spPr>
      </p:pic>
      <p:pic>
        <p:nvPicPr>
          <p:cNvPr id="9" name="Picture 8">
            <a:extLst>
              <a:ext uri="{FF2B5EF4-FFF2-40B4-BE49-F238E27FC236}">
                <a16:creationId xmlns:a16="http://schemas.microsoft.com/office/drawing/2014/main" id="{7158EC36-4592-0782-1328-865EEE1A61E9}"/>
              </a:ext>
            </a:extLst>
          </p:cNvPr>
          <p:cNvPicPr>
            <a:picLocks noChangeAspect="1"/>
          </p:cNvPicPr>
          <p:nvPr/>
        </p:nvPicPr>
        <p:blipFill>
          <a:blip r:embed="rId3">
            <a:extLst>
              <a:ext uri="{28A0092B-C50C-407E-A947-70E740481C1C}">
                <a14:useLocalDpi xmlns:a14="http://schemas.microsoft.com/office/drawing/2010/main" val="0"/>
              </a:ext>
            </a:extLst>
          </a:blip>
          <a:srcRect l="66667" t="7961" b="75683"/>
          <a:stretch>
            <a:fillRect/>
          </a:stretch>
        </p:blipFill>
        <p:spPr>
          <a:xfrm>
            <a:off x="5033704" y="2320622"/>
            <a:ext cx="6554726" cy="1946686"/>
          </a:xfrm>
          <a:prstGeom prst="rect">
            <a:avLst/>
          </a:prstGeom>
          <a:ln>
            <a:solidFill>
              <a:schemeClr val="tx1"/>
            </a:solid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13950-B30D-D892-8B46-477E43B988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BB5B91-C2E2-2508-C3AC-BDFD5433E03A}"/>
              </a:ext>
            </a:extLst>
          </p:cNvPr>
          <p:cNvSpPr txBox="1"/>
          <p:nvPr/>
        </p:nvSpPr>
        <p:spPr>
          <a:xfrm>
            <a:off x="772086" y="152400"/>
            <a:ext cx="10344685" cy="2234458"/>
          </a:xfrm>
          <a:prstGeom prst="rect">
            <a:avLst/>
          </a:prstGeom>
          <a:noFill/>
        </p:spPr>
        <p:txBody>
          <a:bodyPr wrap="square" lIns="18288" tIns="9144" rIns="18288" bIns="9144" anchor="t">
            <a:spAutoFit/>
          </a:bodyPr>
          <a:lstStyle/>
          <a:p>
            <a:pPr algn="ctr"/>
            <a:r>
              <a:rPr lang="en-US" sz="4000" b="1" dirty="0">
                <a:solidFill>
                  <a:srgbClr val="002060"/>
                </a:solidFill>
                <a:latin typeface="Calibri"/>
              </a:rPr>
              <a:t>Brief summary</a:t>
            </a:r>
            <a:r>
              <a:rPr lang="en-US" sz="4000" dirty="0">
                <a:solidFill>
                  <a:srgbClr val="002060"/>
                </a:solidFill>
                <a:latin typeface="Calibri"/>
              </a:rPr>
              <a:t>: Four scenarios and corresponding catastrophic health expenditure (CHE)</a:t>
            </a:r>
          </a:p>
          <a:p>
            <a:pPr algn="ctr"/>
            <a:r>
              <a:rPr lang="en-US" sz="2400" dirty="0">
                <a:solidFill>
                  <a:srgbClr val="002060"/>
                </a:solidFill>
                <a:latin typeface="Calibri"/>
              </a:rPr>
              <a:t>R</a:t>
            </a:r>
            <a:r>
              <a:rPr sz="2400" dirty="0">
                <a:solidFill>
                  <a:srgbClr val="002060"/>
                </a:solidFill>
                <a:latin typeface="Calibri"/>
              </a:rPr>
              <a:t>ais</a:t>
            </a:r>
            <a:r>
              <a:rPr lang="en-US" sz="2400" dirty="0">
                <a:solidFill>
                  <a:srgbClr val="002060"/>
                </a:solidFill>
                <a:latin typeface="Calibri"/>
              </a:rPr>
              <a:t>ing</a:t>
            </a:r>
            <a:r>
              <a:rPr sz="2400" dirty="0">
                <a:solidFill>
                  <a:srgbClr val="002060"/>
                </a:solidFill>
                <a:latin typeface="Calibri"/>
              </a:rPr>
              <a:t> </a:t>
            </a:r>
            <a:r>
              <a:rPr lang="en-US" sz="2400" dirty="0">
                <a:solidFill>
                  <a:srgbClr val="002060"/>
                </a:solidFill>
                <a:latin typeface="Calibri"/>
              </a:rPr>
              <a:t>coverage</a:t>
            </a:r>
            <a:r>
              <a:rPr sz="2400" dirty="0">
                <a:solidFill>
                  <a:srgbClr val="002060"/>
                </a:solidFill>
                <a:latin typeface="Calibri"/>
              </a:rPr>
              <a:t> toward </a:t>
            </a:r>
            <a:r>
              <a:rPr lang="en-US" sz="2400" dirty="0">
                <a:solidFill>
                  <a:srgbClr val="002060"/>
                </a:solidFill>
                <a:latin typeface="Calibri"/>
              </a:rPr>
              <a:t>original policy </a:t>
            </a:r>
            <a:r>
              <a:rPr sz="2400" dirty="0">
                <a:solidFill>
                  <a:srgbClr val="002060"/>
                </a:solidFill>
                <a:latin typeface="Calibri"/>
              </a:rPr>
              <a:t>design</a:t>
            </a:r>
            <a:endParaRPr lang="en-US" sz="2400" dirty="0">
              <a:solidFill>
                <a:srgbClr val="002060"/>
              </a:solidFill>
              <a:latin typeface="Calibri"/>
            </a:endParaRPr>
          </a:p>
        </p:txBody>
      </p:sp>
      <p:graphicFrame>
        <p:nvGraphicFramePr>
          <p:cNvPr id="4" name="Table 3">
            <a:extLst>
              <a:ext uri="{FF2B5EF4-FFF2-40B4-BE49-F238E27FC236}">
                <a16:creationId xmlns:a16="http://schemas.microsoft.com/office/drawing/2014/main" id="{AB009376-CA8A-B1AB-E96B-70926B71B931}"/>
              </a:ext>
            </a:extLst>
          </p:cNvPr>
          <p:cNvGraphicFramePr>
            <a:graphicFrameLocks noGrp="1"/>
          </p:cNvGraphicFramePr>
          <p:nvPr/>
        </p:nvGraphicFramePr>
        <p:xfrm>
          <a:off x="450000" y="2718816"/>
          <a:ext cx="10988856" cy="2871216"/>
        </p:xfrm>
        <a:graphic>
          <a:graphicData uri="http://schemas.openxmlformats.org/drawingml/2006/table">
            <a:tbl>
              <a:tblPr firstRow="1">
                <a:tableStyleId>{5940675A-B579-460E-94D1-54222C63F5DA}</a:tableStyleId>
              </a:tblPr>
              <a:tblGrid>
                <a:gridCol w="4020567">
                  <a:extLst>
                    <a:ext uri="{9D8B030D-6E8A-4147-A177-3AD203B41FA5}">
                      <a16:colId xmlns:a16="http://schemas.microsoft.com/office/drawing/2014/main" val="20000"/>
                    </a:ext>
                  </a:extLst>
                </a:gridCol>
                <a:gridCol w="1812381">
                  <a:extLst>
                    <a:ext uri="{9D8B030D-6E8A-4147-A177-3AD203B41FA5}">
                      <a16:colId xmlns:a16="http://schemas.microsoft.com/office/drawing/2014/main" val="20001"/>
                    </a:ext>
                  </a:extLst>
                </a:gridCol>
                <a:gridCol w="1718636">
                  <a:extLst>
                    <a:ext uri="{9D8B030D-6E8A-4147-A177-3AD203B41FA5}">
                      <a16:colId xmlns:a16="http://schemas.microsoft.com/office/drawing/2014/main" val="20002"/>
                    </a:ext>
                  </a:extLst>
                </a:gridCol>
                <a:gridCol w="1718636">
                  <a:extLst>
                    <a:ext uri="{9D8B030D-6E8A-4147-A177-3AD203B41FA5}">
                      <a16:colId xmlns:a16="http://schemas.microsoft.com/office/drawing/2014/main" val="20003"/>
                    </a:ext>
                  </a:extLst>
                </a:gridCol>
                <a:gridCol w="1718636">
                  <a:extLst>
                    <a:ext uri="{9D8B030D-6E8A-4147-A177-3AD203B41FA5}">
                      <a16:colId xmlns:a16="http://schemas.microsoft.com/office/drawing/2014/main" val="2953478452"/>
                    </a:ext>
                  </a:extLst>
                </a:gridCol>
              </a:tblGrid>
              <a:tr h="475488">
                <a:tc>
                  <a:txBody>
                    <a:bodyPr/>
                    <a:lstStyle/>
                    <a:p>
                      <a:r>
                        <a:rPr sz="1800" b="1" dirty="0">
                          <a:solidFill>
                            <a:schemeClr val="tx1"/>
                          </a:solidFill>
                        </a:rPr>
                        <a:t>Scenario</a:t>
                      </a:r>
                      <a:endParaRPr sz="1800" b="1" dirty="0">
                        <a:solidFill>
                          <a:schemeClr val="tx1"/>
                        </a:solidFill>
                        <a:latin typeface="Calibri"/>
                      </a:endParaRPr>
                    </a:p>
                  </a:txBody>
                  <a:tcPr marL="64008" marR="64008" marT="18288" marB="18288" anchor="ctr"/>
                </a:tc>
                <a:tc>
                  <a:txBody>
                    <a:bodyPr/>
                    <a:lstStyle/>
                    <a:p>
                      <a:pPr algn="ctr"/>
                      <a:r>
                        <a:rPr lang="en-US" sz="1800" b="1" dirty="0">
                          <a:solidFill>
                            <a:schemeClr val="tx1"/>
                          </a:solidFill>
                        </a:rPr>
                        <a:t>National average c</a:t>
                      </a:r>
                      <a:r>
                        <a:rPr sz="1800" b="1" dirty="0">
                          <a:solidFill>
                            <a:schemeClr val="tx1"/>
                          </a:solidFill>
                        </a:rPr>
                        <a:t>overage
chronic / acute</a:t>
                      </a:r>
                      <a:endParaRPr sz="1800" b="1" dirty="0">
                        <a:solidFill>
                          <a:schemeClr val="tx1"/>
                        </a:solidFill>
                        <a:latin typeface="Calibri"/>
                      </a:endParaRPr>
                    </a:p>
                  </a:txBody>
                  <a:tcPr marL="64008" marR="64008" marT="18288" marB="18288" anchor="ctr"/>
                </a:tc>
                <a:tc>
                  <a:txBody>
                    <a:bodyPr/>
                    <a:lstStyle/>
                    <a:p>
                      <a:pPr algn="ctr"/>
                      <a:r>
                        <a:rPr sz="1800" b="1" dirty="0">
                          <a:solidFill>
                            <a:schemeClr val="tx1"/>
                          </a:solidFill>
                        </a:rPr>
                        <a:t>Chronic CHE
cases per year</a:t>
                      </a:r>
                      <a:endParaRPr sz="1800" b="1" dirty="0">
                        <a:solidFill>
                          <a:schemeClr val="tx1"/>
                        </a:solidFill>
                        <a:latin typeface="Calibri"/>
                      </a:endParaRPr>
                    </a:p>
                  </a:txBody>
                  <a:tcPr marL="64008" marR="64008" marT="18288" marB="18288" anchor="ctr"/>
                </a:tc>
                <a:tc>
                  <a:txBody>
                    <a:bodyPr/>
                    <a:lstStyle/>
                    <a:p>
                      <a:pPr algn="ctr"/>
                      <a:r>
                        <a:rPr sz="1800" b="1" dirty="0">
                          <a:solidFill>
                            <a:schemeClr val="tx1"/>
                          </a:solidFill>
                        </a:rPr>
                        <a:t>Acute CHE
cases per year</a:t>
                      </a:r>
                      <a:endParaRPr sz="1800" b="1" dirty="0">
                        <a:solidFill>
                          <a:schemeClr val="tx1"/>
                        </a:solidFill>
                        <a:latin typeface="Calibri"/>
                      </a:endParaRPr>
                    </a:p>
                  </a:txBody>
                  <a:tcPr marL="64008" marR="64008" marT="18288" marB="18288" anchor="ctr"/>
                </a:tc>
                <a:tc>
                  <a:txBody>
                    <a:bodyPr/>
                    <a:lstStyle/>
                    <a:p>
                      <a:pPr algn="ctr"/>
                      <a:r>
                        <a:rPr lang="en-US" sz="1800" b="1" dirty="0">
                          <a:solidFill>
                            <a:schemeClr val="tx1"/>
                          </a:solidFill>
                          <a:latin typeface="Calibri"/>
                        </a:rPr>
                        <a:t>Total CHE cases per year</a:t>
                      </a:r>
                      <a:endParaRPr sz="1800" b="1" dirty="0">
                        <a:solidFill>
                          <a:schemeClr val="tx1"/>
                        </a:solidFill>
                        <a:latin typeface="Calibri"/>
                      </a:endParaRPr>
                    </a:p>
                  </a:txBody>
                  <a:tcPr marL="64008" marR="64008" marT="18288" marB="18288" anchor="ctr"/>
                </a:tc>
                <a:extLst>
                  <a:ext uri="{0D108BD9-81ED-4DB2-BD59-A6C34878D82A}">
                    <a16:rowId xmlns:a16="http://schemas.microsoft.com/office/drawing/2014/main" val="10000"/>
                  </a:ext>
                </a:extLst>
              </a:tr>
              <a:tr h="475488">
                <a:tc>
                  <a:txBody>
                    <a:bodyPr/>
                    <a:lstStyle/>
                    <a:p>
                      <a:r>
                        <a:rPr sz="1800" b="1" dirty="0">
                          <a:solidFill>
                            <a:schemeClr val="tx1"/>
                          </a:solidFill>
                        </a:rPr>
                        <a:t>S1.  Current coverage</a:t>
                      </a:r>
                      <a:endParaRPr sz="1800" b="1" dirty="0">
                        <a:solidFill>
                          <a:schemeClr val="tx1"/>
                        </a:solidFill>
                        <a:latin typeface="Calibri"/>
                      </a:endParaRPr>
                    </a:p>
                  </a:txBody>
                  <a:tcPr marL="64008" marR="64008" marT="18288" marB="18288" anchor="ctr"/>
                </a:tc>
                <a:tc>
                  <a:txBody>
                    <a:bodyPr/>
                    <a:lstStyle/>
                    <a:p>
                      <a:pPr algn="ctr"/>
                      <a:r>
                        <a:rPr sz="1800" b="0">
                          <a:solidFill>
                            <a:schemeClr val="tx1"/>
                          </a:solidFill>
                        </a:rPr>
                        <a:t>40%  /  54%</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1,316,821</a:t>
                      </a:r>
                      <a:endParaRPr sz="1800" b="0">
                        <a:solidFill>
                          <a:schemeClr val="tx1"/>
                        </a:solidFill>
                        <a:latin typeface="Calibri"/>
                      </a:endParaRPr>
                    </a:p>
                  </a:txBody>
                  <a:tcPr marL="64008" marR="64008" marT="18288" marB="18288" anchor="ctr"/>
                </a:tc>
                <a:tc>
                  <a:txBody>
                    <a:bodyPr/>
                    <a:lstStyle/>
                    <a:p>
                      <a:pPr algn="ctr"/>
                      <a:r>
                        <a:rPr sz="1800" b="0" dirty="0">
                          <a:solidFill>
                            <a:schemeClr val="tx1"/>
                          </a:solidFill>
                        </a:rPr>
                        <a:t>401,099</a:t>
                      </a:r>
                      <a:endParaRPr sz="1800" b="0" dirty="0">
                        <a:solidFill>
                          <a:schemeClr val="tx1"/>
                        </a:solidFill>
                        <a:latin typeface="Calibri"/>
                      </a:endParaRPr>
                    </a:p>
                  </a:txBody>
                  <a:tcPr marL="64008" marR="64008" marT="18288" marB="18288" anchor="ctr"/>
                </a:tc>
                <a:tc>
                  <a:txBody>
                    <a:bodyPr/>
                    <a:lstStyle/>
                    <a:p>
                      <a:pPr algn="ctr"/>
                      <a:r>
                        <a:rPr lang="en-US" sz="1800" b="0" dirty="0">
                          <a:solidFill>
                            <a:schemeClr val="tx1"/>
                          </a:solidFill>
                          <a:latin typeface="Calibri"/>
                        </a:rPr>
                        <a:t>1,717,920</a:t>
                      </a:r>
                      <a:endParaRPr sz="1800" b="0" dirty="0">
                        <a:solidFill>
                          <a:schemeClr val="tx1"/>
                        </a:solidFill>
                        <a:latin typeface="Calibri"/>
                      </a:endParaRPr>
                    </a:p>
                  </a:txBody>
                  <a:tcPr marL="64008" marR="64008" marT="18288" marB="18288" anchor="ctr"/>
                </a:tc>
                <a:extLst>
                  <a:ext uri="{0D108BD9-81ED-4DB2-BD59-A6C34878D82A}">
                    <a16:rowId xmlns:a16="http://schemas.microsoft.com/office/drawing/2014/main" val="10001"/>
                  </a:ext>
                </a:extLst>
              </a:tr>
              <a:tr h="475488">
                <a:tc>
                  <a:txBody>
                    <a:bodyPr/>
                    <a:lstStyle/>
                    <a:p>
                      <a:r>
                        <a:rPr sz="1800" b="1" dirty="0">
                          <a:solidFill>
                            <a:schemeClr val="tx1"/>
                          </a:solidFill>
                        </a:rPr>
                        <a:t>S2.  One quarter of the gap closed</a:t>
                      </a:r>
                      <a:endParaRPr sz="1800" b="1" dirty="0">
                        <a:solidFill>
                          <a:schemeClr val="tx1"/>
                        </a:solidFill>
                        <a:latin typeface="Calibri"/>
                      </a:endParaRPr>
                    </a:p>
                  </a:txBody>
                  <a:tcPr marL="64008" marR="64008" marT="18288" marB="18288" anchor="ctr"/>
                </a:tc>
                <a:tc>
                  <a:txBody>
                    <a:bodyPr/>
                    <a:lstStyle/>
                    <a:p>
                      <a:pPr algn="ctr"/>
                      <a:r>
                        <a:rPr sz="1800" b="0">
                          <a:solidFill>
                            <a:schemeClr val="tx1"/>
                          </a:solidFill>
                        </a:rPr>
                        <a:t>53%  /  64%</a:t>
                      </a:r>
                      <a:endParaRPr sz="1800" b="0">
                        <a:solidFill>
                          <a:schemeClr val="tx1"/>
                        </a:solidFill>
                        <a:latin typeface="Calibri"/>
                      </a:endParaRPr>
                    </a:p>
                  </a:txBody>
                  <a:tcPr marL="64008" marR="64008" marT="18288" marB="18288" anchor="ctr"/>
                </a:tc>
                <a:tc>
                  <a:txBody>
                    <a:bodyPr/>
                    <a:lstStyle/>
                    <a:p>
                      <a:pPr algn="ctr"/>
                      <a:r>
                        <a:rPr sz="1800" b="0">
                          <a:solidFill>
                            <a:schemeClr val="tx1"/>
                          </a:solidFill>
                        </a:rPr>
                        <a:t>982,559</a:t>
                      </a:r>
                      <a:endParaRPr sz="1800" b="0">
                        <a:solidFill>
                          <a:schemeClr val="tx1"/>
                        </a:solidFill>
                        <a:latin typeface="Calibri"/>
                      </a:endParaRPr>
                    </a:p>
                  </a:txBody>
                  <a:tcPr marL="64008" marR="64008" marT="18288" marB="18288" anchor="ctr"/>
                </a:tc>
                <a:tc>
                  <a:txBody>
                    <a:bodyPr/>
                    <a:lstStyle/>
                    <a:p>
                      <a:pPr algn="ctr"/>
                      <a:r>
                        <a:rPr sz="1800" b="0" dirty="0">
                          <a:solidFill>
                            <a:schemeClr val="tx1"/>
                          </a:solidFill>
                        </a:rPr>
                        <a:t>248,508</a:t>
                      </a:r>
                      <a:endParaRPr sz="1800" b="0" dirty="0">
                        <a:solidFill>
                          <a:schemeClr val="tx1"/>
                        </a:solidFill>
                        <a:latin typeface="Calibri"/>
                      </a:endParaRPr>
                    </a:p>
                  </a:txBody>
                  <a:tcPr marL="64008" marR="64008" marT="18288" marB="18288" anchor="ctr"/>
                </a:tc>
                <a:tc>
                  <a:txBody>
                    <a:bodyPr/>
                    <a:lstStyle/>
                    <a:p>
                      <a:pPr algn="ctr"/>
                      <a:r>
                        <a:rPr lang="en-US" sz="1800" b="0" dirty="0">
                          <a:solidFill>
                            <a:schemeClr val="tx1"/>
                          </a:solidFill>
                          <a:latin typeface="Calibri"/>
                        </a:rPr>
                        <a:t>1,231,067</a:t>
                      </a:r>
                      <a:endParaRPr sz="1800" b="0" dirty="0">
                        <a:solidFill>
                          <a:schemeClr val="tx1"/>
                        </a:solidFill>
                        <a:latin typeface="Calibri"/>
                      </a:endParaRPr>
                    </a:p>
                  </a:txBody>
                  <a:tcPr marL="64008" marR="64008" marT="18288" marB="18288" anchor="ctr"/>
                </a:tc>
                <a:extLst>
                  <a:ext uri="{0D108BD9-81ED-4DB2-BD59-A6C34878D82A}">
                    <a16:rowId xmlns:a16="http://schemas.microsoft.com/office/drawing/2014/main" val="10002"/>
                  </a:ext>
                </a:extLst>
              </a:tr>
              <a:tr h="475488">
                <a:tc>
                  <a:txBody>
                    <a:bodyPr/>
                    <a:lstStyle/>
                    <a:p>
                      <a:r>
                        <a:rPr sz="1800" b="1">
                          <a:solidFill>
                            <a:schemeClr val="tx1"/>
                          </a:solidFill>
                        </a:rPr>
                        <a:t>S3.  Half the gap closed</a:t>
                      </a:r>
                      <a:endParaRPr sz="1800" b="1">
                        <a:solidFill>
                          <a:schemeClr val="tx1"/>
                        </a:solidFill>
                        <a:latin typeface="Calibri"/>
                      </a:endParaRPr>
                    </a:p>
                  </a:txBody>
                  <a:tcPr marL="64008" marR="64008" marT="18288" marB="18288" anchor="ctr"/>
                </a:tc>
                <a:tc>
                  <a:txBody>
                    <a:bodyPr/>
                    <a:lstStyle/>
                    <a:p>
                      <a:pPr algn="ctr"/>
                      <a:r>
                        <a:rPr sz="1800" b="0">
                          <a:solidFill>
                            <a:schemeClr val="tx1"/>
                          </a:solidFill>
                        </a:rPr>
                        <a:t>67%  /  75%</a:t>
                      </a:r>
                      <a:endParaRPr sz="1800" b="0">
                        <a:solidFill>
                          <a:schemeClr val="tx1"/>
                        </a:solidFill>
                        <a:latin typeface="Calibri"/>
                      </a:endParaRPr>
                    </a:p>
                  </a:txBody>
                  <a:tcPr marL="64008" marR="64008" marT="18288" marB="18288" anchor="ctr"/>
                </a:tc>
                <a:tc>
                  <a:txBody>
                    <a:bodyPr/>
                    <a:lstStyle/>
                    <a:p>
                      <a:pPr algn="ctr"/>
                      <a:r>
                        <a:rPr sz="1800" b="0" dirty="0">
                          <a:solidFill>
                            <a:schemeClr val="tx1"/>
                          </a:solidFill>
                        </a:rPr>
                        <a:t>652,988</a:t>
                      </a:r>
                      <a:endParaRPr sz="1800" b="0" dirty="0">
                        <a:solidFill>
                          <a:schemeClr val="tx1"/>
                        </a:solidFill>
                        <a:latin typeface="Calibri"/>
                      </a:endParaRPr>
                    </a:p>
                  </a:txBody>
                  <a:tcPr marL="64008" marR="64008" marT="18288" marB="18288" anchor="ctr"/>
                </a:tc>
                <a:tc>
                  <a:txBody>
                    <a:bodyPr/>
                    <a:lstStyle/>
                    <a:p>
                      <a:pPr algn="ctr"/>
                      <a:r>
                        <a:rPr sz="1800" b="0" dirty="0">
                          <a:solidFill>
                            <a:schemeClr val="tx1"/>
                          </a:solidFill>
                        </a:rPr>
                        <a:t>133,623</a:t>
                      </a:r>
                      <a:endParaRPr sz="1800" b="0" dirty="0">
                        <a:solidFill>
                          <a:schemeClr val="tx1"/>
                        </a:solidFill>
                        <a:latin typeface="Calibri"/>
                      </a:endParaRPr>
                    </a:p>
                  </a:txBody>
                  <a:tcPr marL="64008" marR="64008" marT="18288" marB="18288" anchor="ctr"/>
                </a:tc>
                <a:tc>
                  <a:txBody>
                    <a:bodyPr/>
                    <a:lstStyle/>
                    <a:p>
                      <a:pPr algn="ctr"/>
                      <a:r>
                        <a:rPr lang="en-US" sz="1800" b="0" dirty="0">
                          <a:solidFill>
                            <a:schemeClr val="tx1"/>
                          </a:solidFill>
                          <a:latin typeface="Calibri"/>
                        </a:rPr>
                        <a:t>786,611</a:t>
                      </a:r>
                      <a:endParaRPr sz="1800" b="0" dirty="0">
                        <a:solidFill>
                          <a:schemeClr val="tx1"/>
                        </a:solidFill>
                        <a:latin typeface="Calibri"/>
                      </a:endParaRPr>
                    </a:p>
                  </a:txBody>
                  <a:tcPr marL="64008" marR="64008" marT="18288" marB="18288" anchor="ctr"/>
                </a:tc>
                <a:extLst>
                  <a:ext uri="{0D108BD9-81ED-4DB2-BD59-A6C34878D82A}">
                    <a16:rowId xmlns:a16="http://schemas.microsoft.com/office/drawing/2014/main" val="10003"/>
                  </a:ext>
                </a:extLst>
              </a:tr>
              <a:tr h="475488">
                <a:tc>
                  <a:txBody>
                    <a:bodyPr/>
                    <a:lstStyle/>
                    <a:p>
                      <a:r>
                        <a:rPr sz="1800" b="1" dirty="0">
                          <a:solidFill>
                            <a:schemeClr val="tx1"/>
                          </a:solidFill>
                        </a:rPr>
                        <a:t>S4.  Policy design</a:t>
                      </a:r>
                      <a:r>
                        <a:rPr lang="en-US" sz="1800" b="1" dirty="0">
                          <a:solidFill>
                            <a:schemeClr val="tx1"/>
                          </a:solidFill>
                        </a:rPr>
                        <a:t>:</a:t>
                      </a:r>
                      <a:r>
                        <a:rPr sz="1800" b="1" dirty="0">
                          <a:solidFill>
                            <a:schemeClr val="tx1"/>
                          </a:solidFill>
                        </a:rPr>
                        <a:t> </a:t>
                      </a:r>
                      <a:r>
                        <a:rPr lang="en-US" sz="1800" b="1" dirty="0">
                          <a:solidFill>
                            <a:schemeClr val="tx1"/>
                          </a:solidFill>
                        </a:rPr>
                        <a:t>coverage</a:t>
                      </a:r>
                      <a:r>
                        <a:rPr sz="1800" b="1" dirty="0">
                          <a:solidFill>
                            <a:schemeClr val="tx1"/>
                          </a:solidFill>
                        </a:rPr>
                        <a:t> fully delivered</a:t>
                      </a:r>
                      <a:endParaRPr sz="1800" b="1" dirty="0">
                        <a:solidFill>
                          <a:schemeClr val="tx1"/>
                        </a:solidFill>
                        <a:latin typeface="Calibri"/>
                      </a:endParaRPr>
                    </a:p>
                  </a:txBody>
                  <a:tcPr marL="64008" marR="64008" marT="18288" marB="18288" anchor="ctr"/>
                </a:tc>
                <a:tc>
                  <a:txBody>
                    <a:bodyPr/>
                    <a:lstStyle/>
                    <a:p>
                      <a:pPr algn="ctr"/>
                      <a:r>
                        <a:rPr sz="1800" b="0" dirty="0">
                          <a:solidFill>
                            <a:schemeClr val="tx1"/>
                          </a:solidFill>
                        </a:rPr>
                        <a:t>100%  /  100%</a:t>
                      </a:r>
                      <a:endParaRPr sz="1800" b="0" dirty="0">
                        <a:solidFill>
                          <a:schemeClr val="tx1"/>
                        </a:solidFill>
                        <a:latin typeface="Calibri"/>
                      </a:endParaRPr>
                    </a:p>
                  </a:txBody>
                  <a:tcPr marL="64008" marR="64008" marT="18288" marB="18288" anchor="ctr"/>
                </a:tc>
                <a:tc>
                  <a:txBody>
                    <a:bodyPr/>
                    <a:lstStyle/>
                    <a:p>
                      <a:pPr algn="ctr"/>
                      <a:r>
                        <a:rPr sz="1800" b="0">
                          <a:solidFill>
                            <a:schemeClr val="tx1"/>
                          </a:solidFill>
                        </a:rPr>
                        <a:t>0</a:t>
                      </a:r>
                      <a:endParaRPr sz="1800" b="0">
                        <a:solidFill>
                          <a:schemeClr val="tx1"/>
                        </a:solidFill>
                        <a:latin typeface="Calibri"/>
                      </a:endParaRPr>
                    </a:p>
                  </a:txBody>
                  <a:tcPr marL="64008" marR="64008" marT="18288" marB="18288" anchor="ctr"/>
                </a:tc>
                <a:tc>
                  <a:txBody>
                    <a:bodyPr/>
                    <a:lstStyle/>
                    <a:p>
                      <a:pPr algn="ctr"/>
                      <a:r>
                        <a:rPr sz="1800" b="0" dirty="0">
                          <a:solidFill>
                            <a:schemeClr val="tx1"/>
                          </a:solidFill>
                        </a:rPr>
                        <a:t>0</a:t>
                      </a:r>
                      <a:endParaRPr sz="1800" b="0" dirty="0">
                        <a:solidFill>
                          <a:schemeClr val="tx1"/>
                        </a:solidFill>
                        <a:latin typeface="Calibri"/>
                      </a:endParaRPr>
                    </a:p>
                  </a:txBody>
                  <a:tcPr marL="64008" marR="64008" marT="18288" marB="18288" anchor="ctr"/>
                </a:tc>
                <a:tc>
                  <a:txBody>
                    <a:bodyPr/>
                    <a:lstStyle/>
                    <a:p>
                      <a:pPr algn="ctr"/>
                      <a:r>
                        <a:rPr lang="en-US" sz="1800" b="0" dirty="0">
                          <a:solidFill>
                            <a:schemeClr val="tx1"/>
                          </a:solidFill>
                          <a:latin typeface="Calibri"/>
                        </a:rPr>
                        <a:t>0</a:t>
                      </a:r>
                      <a:endParaRPr sz="1800" b="0" dirty="0">
                        <a:solidFill>
                          <a:schemeClr val="tx1"/>
                        </a:solidFill>
                        <a:latin typeface="Calibri"/>
                      </a:endParaRPr>
                    </a:p>
                  </a:txBody>
                  <a:tcPr marL="64008" marR="64008" marT="18288" marB="18288" anchor="ctr"/>
                </a:tc>
                <a:extLst>
                  <a:ext uri="{0D108BD9-81ED-4DB2-BD59-A6C34878D82A}">
                    <a16:rowId xmlns:a16="http://schemas.microsoft.com/office/drawing/2014/main" val="10004"/>
                  </a:ext>
                </a:extLst>
              </a:tr>
            </a:tbl>
          </a:graphicData>
        </a:graphic>
      </p:graphicFrame>
      <p:sp>
        <p:nvSpPr>
          <p:cNvPr id="6" name="TextBox 5">
            <a:extLst>
              <a:ext uri="{FF2B5EF4-FFF2-40B4-BE49-F238E27FC236}">
                <a16:creationId xmlns:a16="http://schemas.microsoft.com/office/drawing/2014/main" id="{CBF86130-7BBF-CF57-6E7F-F729B131EA37}"/>
              </a:ext>
            </a:extLst>
          </p:cNvPr>
          <p:cNvSpPr txBox="1"/>
          <p:nvPr/>
        </p:nvSpPr>
        <p:spPr>
          <a:xfrm>
            <a:off x="1207852" y="6315310"/>
            <a:ext cx="9776296" cy="264688"/>
          </a:xfrm>
          <a:prstGeom prst="rect">
            <a:avLst/>
          </a:prstGeom>
          <a:noFill/>
        </p:spPr>
        <p:txBody>
          <a:bodyPr wrap="square" lIns="18288" tIns="9144" rIns="18288" bIns="9144" anchor="t">
            <a:spAutoFit/>
          </a:bodyPr>
          <a:lstStyle/>
          <a:p>
            <a:pPr algn="ctr">
              <a:spcBef>
                <a:spcPts val="300"/>
              </a:spcBef>
            </a:pPr>
            <a:r>
              <a:rPr lang="en-US" sz="1600" b="1" dirty="0">
                <a:solidFill>
                  <a:prstClr val="black"/>
                </a:solidFill>
                <a:latin typeface="Calibri"/>
              </a:rPr>
              <a:t>Note: </a:t>
            </a:r>
            <a:r>
              <a:rPr sz="1600" dirty="0">
                <a:solidFill>
                  <a:prstClr val="black"/>
                </a:solidFill>
                <a:latin typeface="Calibri"/>
              </a:rPr>
              <a:t>C</a:t>
            </a:r>
            <a:r>
              <a:rPr lang="en-US" sz="1600" dirty="0">
                <a:solidFill>
                  <a:prstClr val="black"/>
                </a:solidFill>
                <a:latin typeface="Calibri"/>
              </a:rPr>
              <a:t>HE c</a:t>
            </a:r>
            <a:r>
              <a:rPr sz="1600" dirty="0">
                <a:solidFill>
                  <a:prstClr val="black"/>
                </a:solidFill>
                <a:latin typeface="Calibri"/>
              </a:rPr>
              <a:t>ases per year at </a:t>
            </a:r>
            <a:r>
              <a:rPr lang="en-US" sz="1600" dirty="0">
                <a:solidFill>
                  <a:prstClr val="black"/>
                </a:solidFill>
                <a:latin typeface="Calibri"/>
              </a:rPr>
              <a:t>a</a:t>
            </a:r>
            <a:r>
              <a:rPr sz="1600" dirty="0">
                <a:solidFill>
                  <a:prstClr val="black"/>
                </a:solidFill>
                <a:latin typeface="Calibri"/>
              </a:rPr>
              <a:t> 10% threshold</a:t>
            </a:r>
            <a:r>
              <a:rPr lang="en-US" sz="1600" dirty="0">
                <a:solidFill>
                  <a:prstClr val="black"/>
                </a:solidFill>
                <a:latin typeface="Calibri"/>
              </a:rPr>
              <a:t> of annual consumption expenditures</a:t>
            </a:r>
            <a:endParaRPr sz="1600" dirty="0">
              <a:solidFill>
                <a:prstClr val="black"/>
              </a:solidFill>
              <a:latin typeface="Calibri"/>
            </a:endParaRPr>
          </a:p>
        </p:txBody>
      </p:sp>
    </p:spTree>
    <p:extLst>
      <p:ext uri="{BB962C8B-B14F-4D97-AF65-F5344CB8AC3E}">
        <p14:creationId xmlns:p14="http://schemas.microsoft.com/office/powerpoint/2010/main" val="153985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7C00C-B69F-4C00-8EE8-74864503FD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CD423F-4074-A449-296F-6D87592EC85B}"/>
              </a:ext>
            </a:extLst>
          </p:cNvPr>
          <p:cNvSpPr>
            <a:spLocks noGrp="1"/>
          </p:cNvSpPr>
          <p:nvPr>
            <p:ph idx="1"/>
          </p:nvPr>
        </p:nvSpPr>
        <p:spPr>
          <a:xfrm>
            <a:off x="952500" y="2667001"/>
            <a:ext cx="10287000" cy="1523999"/>
          </a:xfrm>
        </p:spPr>
        <p:txBody>
          <a:bodyPr>
            <a:noAutofit/>
          </a:bodyPr>
          <a:lstStyle/>
          <a:p>
            <a:pPr marL="0" indent="0" algn="ctr">
              <a:buNone/>
            </a:pPr>
            <a:r>
              <a:rPr lang="en-US" sz="4000" b="1" dirty="0">
                <a:solidFill>
                  <a:srgbClr val="002060"/>
                </a:solidFill>
              </a:rPr>
              <a:t>Message 4</a:t>
            </a:r>
            <a:r>
              <a:rPr lang="en-US" sz="4000" dirty="0">
                <a:solidFill>
                  <a:srgbClr val="002060"/>
                </a:solidFill>
              </a:rPr>
              <a:t>. Tobacco tax hikes have a pro-poor impact &amp; bring large fiscal revenues</a:t>
            </a:r>
          </a:p>
        </p:txBody>
      </p:sp>
    </p:spTree>
    <p:extLst>
      <p:ext uri="{BB962C8B-B14F-4D97-AF65-F5344CB8AC3E}">
        <p14:creationId xmlns:p14="http://schemas.microsoft.com/office/powerpoint/2010/main" val="3670903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A5412-1504-A191-41E1-825D8A378CC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1DAE6D8-4002-1505-B132-EE6C37AB651C}"/>
              </a:ext>
            </a:extLst>
          </p:cNvPr>
          <p:cNvSpPr>
            <a:spLocks noGrp="1"/>
          </p:cNvSpPr>
          <p:nvPr>
            <p:ph sz="quarter" idx="13"/>
          </p:nvPr>
        </p:nvSpPr>
        <p:spPr>
          <a:xfrm>
            <a:off x="494271" y="3028526"/>
            <a:ext cx="10623726" cy="3372275"/>
          </a:xfrm>
        </p:spPr>
        <p:txBody>
          <a:bodyPr>
            <a:noAutofit/>
          </a:bodyPr>
          <a:lstStyle/>
          <a:p>
            <a:pPr marL="0" indent="0">
              <a:buNone/>
            </a:pPr>
            <a:r>
              <a:rPr lang="en-US" sz="2600" b="1" u="sng" dirty="0">
                <a:latin typeface="Calibri" panose="020F0502020204030204" pitchFamily="34" charset="0"/>
                <a:cs typeface="Calibri" panose="020F0502020204030204" pitchFamily="34" charset="0"/>
              </a:rPr>
              <a:t>Objective</a:t>
            </a:r>
            <a:r>
              <a:rPr lang="en-US" sz="2600" b="1" dirty="0">
                <a:latin typeface="Calibri" panose="020F0502020204030204" pitchFamily="34" charset="0"/>
                <a:cs typeface="Calibri" panose="020F0502020204030204" pitchFamily="34" charset="0"/>
              </a:rPr>
              <a:t>: To estimate the health gains, financial risk protection benefits, and fiscal revenues raised with different scenarios of increased tobacco taxes</a:t>
            </a:r>
          </a:p>
          <a:p>
            <a:r>
              <a:rPr lang="en-US" sz="2600" dirty="0">
                <a:latin typeface="Calibri" panose="020F0502020204030204" pitchFamily="34" charset="0"/>
                <a:cs typeface="Calibri" panose="020F0502020204030204" pitchFamily="34" charset="0"/>
              </a:rPr>
              <a:t>We assess the distributional impact on mortality reduction, on reducing the number of cases of catastrophic health expenditures associated with out-of-pocket costs related to treatment of tobacco-related diseases, and the revenues raised</a:t>
            </a:r>
          </a:p>
          <a:p>
            <a:endParaRPr lang="en-US" sz="2200" dirty="0">
              <a:solidFill>
                <a:srgbClr val="002060"/>
              </a:solidFill>
              <a:latin typeface="Calibri" panose="020F0502020204030204" pitchFamily="34" charset="0"/>
              <a:cs typeface="Calibri" panose="020F0502020204030204" pitchFamily="34" charset="0"/>
            </a:endParaRPr>
          </a:p>
        </p:txBody>
      </p:sp>
      <p:sp>
        <p:nvSpPr>
          <p:cNvPr id="5" name="Text Placeholder 1">
            <a:extLst>
              <a:ext uri="{FF2B5EF4-FFF2-40B4-BE49-F238E27FC236}">
                <a16:creationId xmlns:a16="http://schemas.microsoft.com/office/drawing/2014/main" id="{CCC0DA87-578B-F359-CB39-CCE24B3E2139}"/>
              </a:ext>
            </a:extLst>
          </p:cNvPr>
          <p:cNvSpPr>
            <a:spLocks noGrp="1"/>
          </p:cNvSpPr>
          <p:nvPr>
            <p:ph type="body" sz="quarter" idx="12"/>
          </p:nvPr>
        </p:nvSpPr>
        <p:spPr>
          <a:xfrm>
            <a:off x="707240" y="1321304"/>
            <a:ext cx="10220257" cy="431297"/>
          </a:xfrm>
        </p:spPr>
        <p:txBody>
          <a:bodyPr>
            <a:noAutofit/>
          </a:bodyPr>
          <a:lstStyle/>
          <a:p>
            <a:pPr marL="0" indent="0" algn="ctr">
              <a:buNone/>
            </a:pPr>
            <a:r>
              <a:rPr lang="en-US" sz="3600" b="1" dirty="0">
                <a:solidFill>
                  <a:srgbClr val="002060"/>
                </a:solidFill>
              </a:rPr>
              <a:t>question: </a:t>
            </a:r>
            <a:r>
              <a:rPr lang="en-US" sz="3600" dirty="0">
                <a:solidFill>
                  <a:srgbClr val="002060"/>
                </a:solidFill>
              </a:rPr>
              <a:t>What are the health and financial consequences of increased tobacco taxes in Indonesia?</a:t>
            </a:r>
          </a:p>
        </p:txBody>
      </p:sp>
      <p:sp>
        <p:nvSpPr>
          <p:cNvPr id="8" name="Content Placeholder 3">
            <a:extLst>
              <a:ext uri="{FF2B5EF4-FFF2-40B4-BE49-F238E27FC236}">
                <a16:creationId xmlns:a16="http://schemas.microsoft.com/office/drawing/2014/main" id="{56031C42-A509-3706-7F2B-9D201C906E3C}"/>
              </a:ext>
            </a:extLst>
          </p:cNvPr>
          <p:cNvSpPr txBox="1">
            <a:spLocks/>
          </p:cNvSpPr>
          <p:nvPr/>
        </p:nvSpPr>
        <p:spPr>
          <a:xfrm>
            <a:off x="1015245" y="5194642"/>
            <a:ext cx="9691763" cy="595719"/>
          </a:xfrm>
          <a:prstGeom prst="rect">
            <a:avLst/>
          </a:prstGeom>
        </p:spPr>
        <p:txBody>
          <a:bodyPr vert="horz" lIns="34299" tIns="17149" rIns="34299" bIns="17149" rtlCol="0">
            <a:normAutofit/>
          </a:bodyPr>
          <a:lst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31863" indent="-476250" algn="l" defTabSz="1828343" rtl="0" eaLnBrk="1" latinLnBrk="0" hangingPunct="1">
              <a:lnSpc>
                <a:spcPct val="120000"/>
              </a:lnSpc>
              <a:spcBef>
                <a:spcPts val="1000"/>
              </a:spcBef>
              <a:spcAft>
                <a:spcPts val="800"/>
              </a:spcAft>
              <a:buFont typeface="System Font Regular"/>
              <a:buChar char="•"/>
              <a:tabLst/>
              <a:defRPr sz="3200" b="0" kern="1200">
                <a:solidFill>
                  <a:schemeClr val="tx1"/>
                </a:solidFill>
                <a:latin typeface="+mn-lt"/>
                <a:ea typeface="+mn-ea"/>
                <a:cs typeface="+mn-cs"/>
              </a:defRPr>
            </a:lvl2pPr>
            <a:lvl3pPr marL="1844675" indent="-476250" algn="l" defTabSz="1828343" rtl="0" eaLnBrk="1" latinLnBrk="0" hangingPunct="1">
              <a:lnSpc>
                <a:spcPct val="120000"/>
              </a:lnSpc>
              <a:spcBef>
                <a:spcPts val="1000"/>
              </a:spcBef>
              <a:spcAft>
                <a:spcPts val="800"/>
              </a:spcAft>
              <a:buSzPct val="85000"/>
              <a:buFont typeface="System Font Regular"/>
              <a:buChar char="○"/>
              <a:tabLst/>
              <a:defRPr sz="3200" kern="1200">
                <a:solidFill>
                  <a:schemeClr val="tx1"/>
                </a:solidFill>
                <a:latin typeface="+mn-lt"/>
                <a:ea typeface="+mn-ea"/>
                <a:cs typeface="+mn-cs"/>
              </a:defRPr>
            </a:lvl3pPr>
            <a:lvl4pPr marL="2757488" indent="-476250" algn="l" defTabSz="1828343" rtl="0" eaLnBrk="1" latinLnBrk="0" hangingPunct="1">
              <a:lnSpc>
                <a:spcPct val="120000"/>
              </a:lnSpc>
              <a:spcBef>
                <a:spcPts val="1000"/>
              </a:spcBef>
              <a:spcAft>
                <a:spcPts val="800"/>
              </a:spcAft>
              <a:buFont typeface="System Font Regular"/>
              <a:buChar char="▸"/>
              <a:tabLst/>
              <a:defRPr sz="3200" kern="1200">
                <a:solidFill>
                  <a:schemeClr val="tx1"/>
                </a:solidFill>
                <a:latin typeface="+mn-lt"/>
                <a:ea typeface="+mn-ea"/>
                <a:cs typeface="+mn-cs"/>
              </a:defRPr>
            </a:lvl4pPr>
            <a:lvl5pPr marL="3670300" indent="-476250" algn="l" defTabSz="1828343" rtl="0" eaLnBrk="1" latinLnBrk="0" hangingPunct="1">
              <a:lnSpc>
                <a:spcPct val="120000"/>
              </a:lnSpc>
              <a:spcBef>
                <a:spcPts val="1000"/>
              </a:spcBef>
              <a:spcAft>
                <a:spcPts val="800"/>
              </a:spcAft>
              <a:buSzPct val="110000"/>
              <a:buFont typeface="System Font Regular"/>
              <a:buChar char="−"/>
              <a:tabLst/>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endParaRPr lang="en-US" sz="2000" b="1" dirty="0">
              <a:solidFill>
                <a:prstClr val="black"/>
              </a:solidFill>
              <a:latin typeface="Arial" panose="020B0604020202020204" pitchFamily="34" charset="0"/>
              <a:ea typeface="Times New Roman" panose="02020603050405020304" pitchFamily="18" charset="0"/>
              <a:cs typeface="Arial" panose="020B0604020202020204" pitchFamily="34" charset="0"/>
            </a:endParaRPr>
          </a:p>
        </p:txBody>
      </p:sp>
      <p:sp>
        <p:nvSpPr>
          <p:cNvPr id="2" name="TextBox 1">
            <a:extLst>
              <a:ext uri="{FF2B5EF4-FFF2-40B4-BE49-F238E27FC236}">
                <a16:creationId xmlns:a16="http://schemas.microsoft.com/office/drawing/2014/main" id="{10F189BB-157D-8BC6-3512-E2766A4A6ADD}"/>
              </a:ext>
            </a:extLst>
          </p:cNvPr>
          <p:cNvSpPr txBox="1"/>
          <p:nvPr/>
        </p:nvSpPr>
        <p:spPr>
          <a:xfrm>
            <a:off x="450000" y="6248402"/>
            <a:ext cx="10858498" cy="353943"/>
          </a:xfrm>
          <a:prstGeom prst="rect">
            <a:avLst/>
          </a:prstGeom>
          <a:noFill/>
        </p:spPr>
        <p:txBody>
          <a:bodyPr wrap="square" rtlCol="0">
            <a:spAutoFit/>
          </a:bodyPr>
          <a:lstStyle/>
          <a:p>
            <a:pPr algn="ctr"/>
            <a:r>
              <a:rPr lang="en-US" sz="1700" dirty="0">
                <a:solidFill>
                  <a:srgbClr val="000000"/>
                </a:solidFill>
                <a:latin typeface="Calibri"/>
              </a:rPr>
              <a:t>Adapted from: </a:t>
            </a:r>
            <a:r>
              <a:rPr lang="en-US" sz="1700" dirty="0" err="1">
                <a:solidFill>
                  <a:srgbClr val="000000"/>
                </a:solidFill>
                <a:latin typeface="Calibri"/>
              </a:rPr>
              <a:t>Lisus</a:t>
            </a:r>
            <a:r>
              <a:rPr lang="en-US" sz="1700" dirty="0">
                <a:solidFill>
                  <a:srgbClr val="000000"/>
                </a:solidFill>
                <a:latin typeface="Calibri"/>
              </a:rPr>
              <a:t>, Roy, et al. Forthcoming; Verguet, Gauvreau et al. </a:t>
            </a:r>
            <a:r>
              <a:rPr lang="en-US" sz="1700" i="1" dirty="0">
                <a:solidFill>
                  <a:srgbClr val="000000"/>
                </a:solidFill>
                <a:latin typeface="Calibri"/>
              </a:rPr>
              <a:t>Lancet Global Health </a:t>
            </a:r>
            <a:r>
              <a:rPr lang="en-US" sz="1700" dirty="0">
                <a:solidFill>
                  <a:srgbClr val="000000"/>
                </a:solidFill>
                <a:latin typeface="Calibri"/>
              </a:rPr>
              <a:t>2015</a:t>
            </a:r>
          </a:p>
        </p:txBody>
      </p:sp>
    </p:spTree>
    <p:extLst>
      <p:ext uri="{BB962C8B-B14F-4D97-AF65-F5344CB8AC3E}">
        <p14:creationId xmlns:p14="http://schemas.microsoft.com/office/powerpoint/2010/main" val="453036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FC02AF0-CB29-32D4-BE71-93B3B9F09AB5}"/>
              </a:ext>
            </a:extLst>
          </p:cNvPr>
          <p:cNvPicPr>
            <a:picLocks noChangeAspect="1"/>
          </p:cNvPicPr>
          <p:nvPr/>
        </p:nvPicPr>
        <p:blipFill>
          <a:blip r:embed="rId3">
            <a:extLst>
              <a:ext uri="{28A0092B-C50C-407E-A947-70E740481C1C}">
                <a14:useLocalDpi xmlns:a14="http://schemas.microsoft.com/office/drawing/2010/main" val="0"/>
              </a:ext>
            </a:extLst>
          </a:blip>
          <a:srcRect t="12590" b="8152"/>
          <a:stretch>
            <a:fillRect/>
          </a:stretch>
        </p:blipFill>
        <p:spPr>
          <a:xfrm>
            <a:off x="498141" y="1855948"/>
            <a:ext cx="8115485" cy="3819053"/>
          </a:xfrm>
          <a:prstGeom prst="rect">
            <a:avLst/>
          </a:prstGeom>
        </p:spPr>
      </p:pic>
      <p:sp>
        <p:nvSpPr>
          <p:cNvPr id="2" name="Title 1"/>
          <p:cNvSpPr>
            <a:spLocks noGrp="1"/>
          </p:cNvSpPr>
          <p:nvPr>
            <p:ph type="title"/>
          </p:nvPr>
        </p:nvSpPr>
        <p:spPr>
          <a:xfrm>
            <a:off x="588507" y="162903"/>
            <a:ext cx="11014986" cy="1150000"/>
          </a:xfrm>
        </p:spPr>
        <p:txBody>
          <a:bodyPr>
            <a:noAutofit/>
          </a:bodyPr>
          <a:lstStyle/>
          <a:p>
            <a:pPr algn="ctr"/>
            <a:r>
              <a:rPr lang="en-US" sz="4200" b="1" dirty="0"/>
              <a:t>Key finding</a:t>
            </a:r>
            <a:r>
              <a:rPr sz="4200" b="1" dirty="0"/>
              <a:t> 1: </a:t>
            </a:r>
            <a:r>
              <a:rPr lang="en-US" sz="4200" dirty="0"/>
              <a:t>H</a:t>
            </a:r>
            <a:r>
              <a:rPr sz="4200" dirty="0"/>
              <a:t>ealth gains</a:t>
            </a:r>
            <a:r>
              <a:rPr lang="en-US" sz="4200" dirty="0"/>
              <a:t> are large &amp; pro-poor </a:t>
            </a:r>
            <a:br>
              <a:rPr lang="en-US" sz="4200" dirty="0"/>
            </a:br>
            <a:r>
              <a:rPr sz="3000" dirty="0"/>
              <a:t>724,000 premature deaths averted</a:t>
            </a:r>
            <a:r>
              <a:rPr lang="en-US" sz="3000" dirty="0"/>
              <a:t>; 60</a:t>
            </a:r>
            <a:r>
              <a:rPr sz="3000" dirty="0"/>
              <a:t>% in</a:t>
            </a:r>
            <a:r>
              <a:rPr lang="en-US" sz="3000" dirty="0"/>
              <a:t> Q1 &amp; Q2</a:t>
            </a:r>
            <a:endParaRPr sz="3000" dirty="0"/>
          </a:p>
        </p:txBody>
      </p:sp>
      <p:sp>
        <p:nvSpPr>
          <p:cNvPr id="4" name="TextBox 3"/>
          <p:cNvSpPr txBox="1"/>
          <p:nvPr/>
        </p:nvSpPr>
        <p:spPr>
          <a:xfrm>
            <a:off x="450000" y="5715001"/>
            <a:ext cx="10707783" cy="830997"/>
          </a:xfrm>
          <a:prstGeom prst="rect">
            <a:avLst/>
          </a:prstGeom>
          <a:noFill/>
        </p:spPr>
        <p:txBody>
          <a:bodyPr wrap="square">
            <a:spAutoFit/>
          </a:bodyPr>
          <a:lstStyle/>
          <a:p>
            <a:r>
              <a:rPr lang="en-US" sz="1600" b="1" dirty="0">
                <a:solidFill>
                  <a:srgbClr val="000000"/>
                </a:solidFill>
                <a:latin typeface="Calibri"/>
              </a:rPr>
              <a:t>Note: </a:t>
            </a:r>
            <a:r>
              <a:rPr sz="1600" dirty="0">
                <a:solidFill>
                  <a:srgbClr val="000000"/>
                </a:solidFill>
                <a:latin typeface="Calibri"/>
              </a:rPr>
              <a:t>19 tobacco-related conditions </a:t>
            </a:r>
            <a:r>
              <a:rPr lang="en-US" sz="1600" dirty="0">
                <a:solidFill>
                  <a:srgbClr val="000000"/>
                </a:solidFill>
                <a:latin typeface="Calibri"/>
              </a:rPr>
              <a:t>(incl. </a:t>
            </a:r>
            <a:r>
              <a:rPr sz="1600" dirty="0">
                <a:solidFill>
                  <a:srgbClr val="000000"/>
                </a:solidFill>
                <a:latin typeface="Calibri"/>
              </a:rPr>
              <a:t>cardiovascular 58%, COPD 15%, lung cancer 14%, diabetes 5%</a:t>
            </a:r>
            <a:r>
              <a:rPr lang="en-US" sz="1600" dirty="0">
                <a:solidFill>
                  <a:srgbClr val="000000"/>
                </a:solidFill>
                <a:latin typeface="Calibri"/>
              </a:rPr>
              <a:t>)</a:t>
            </a:r>
            <a:r>
              <a:rPr sz="1600" dirty="0">
                <a:solidFill>
                  <a:srgbClr val="000000"/>
                </a:solidFill>
                <a:latin typeface="Calibri"/>
              </a:rPr>
              <a:t> covering 85% of Indonesia's smoking-attributable deaths;</a:t>
            </a:r>
            <a:r>
              <a:rPr lang="en-US" sz="1600" dirty="0">
                <a:solidFill>
                  <a:srgbClr val="000000"/>
                </a:solidFill>
                <a:latin typeface="Calibri"/>
              </a:rPr>
              <a:t> tuberculosis and respiratory infections not yet included, so this is conservative. 95% uncertainty intervals (n= 2,000 Monte Carlo draws). </a:t>
            </a:r>
            <a:endParaRPr sz="1600" dirty="0">
              <a:solidFill>
                <a:srgbClr val="000000"/>
              </a:solidFill>
              <a:latin typeface="Calibri"/>
            </a:endParaRPr>
          </a:p>
        </p:txBody>
      </p:sp>
      <p:sp>
        <p:nvSpPr>
          <p:cNvPr id="3" name="TextBox 2">
            <a:extLst>
              <a:ext uri="{FF2B5EF4-FFF2-40B4-BE49-F238E27FC236}">
                <a16:creationId xmlns:a16="http://schemas.microsoft.com/office/drawing/2014/main" id="{DD6DE0A3-9829-D8B1-A844-E0F888DBF0C7}"/>
              </a:ext>
            </a:extLst>
          </p:cNvPr>
          <p:cNvSpPr txBox="1"/>
          <p:nvPr/>
        </p:nvSpPr>
        <p:spPr>
          <a:xfrm>
            <a:off x="6361783" y="2438401"/>
            <a:ext cx="4594265" cy="461665"/>
          </a:xfrm>
          <a:prstGeom prst="rect">
            <a:avLst/>
          </a:prstGeom>
          <a:noFill/>
        </p:spPr>
        <p:txBody>
          <a:bodyPr wrap="square" rtlCol="0">
            <a:spAutoFit/>
          </a:bodyPr>
          <a:lstStyle/>
          <a:p>
            <a:r>
              <a:rPr lang="en-US" sz="2400" b="1" dirty="0">
                <a:solidFill>
                  <a:prstClr val="black"/>
                </a:solidFill>
                <a:latin typeface="Calibri"/>
              </a:rPr>
              <a:t>50% increase in excise tax</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4C1BC2B-FF21-A40D-149E-553C42698183}"/>
              </a:ext>
            </a:extLst>
          </p:cNvPr>
          <p:cNvPicPr>
            <a:picLocks noChangeAspect="1"/>
          </p:cNvPicPr>
          <p:nvPr/>
        </p:nvPicPr>
        <p:blipFill>
          <a:blip r:embed="rId3">
            <a:extLst>
              <a:ext uri="{28A0092B-C50C-407E-A947-70E740481C1C}">
                <a14:useLocalDpi xmlns:a14="http://schemas.microsoft.com/office/drawing/2010/main" val="0"/>
              </a:ext>
            </a:extLst>
          </a:blip>
          <a:srcRect t="12590" b="8152"/>
          <a:stretch>
            <a:fillRect/>
          </a:stretch>
        </p:blipFill>
        <p:spPr>
          <a:xfrm>
            <a:off x="450000" y="1821995"/>
            <a:ext cx="8430021" cy="3967070"/>
          </a:xfrm>
          <a:prstGeom prst="rect">
            <a:avLst/>
          </a:prstGeom>
        </p:spPr>
      </p:pic>
      <p:sp>
        <p:nvSpPr>
          <p:cNvPr id="4" name="TextBox 3"/>
          <p:cNvSpPr txBox="1"/>
          <p:nvPr/>
        </p:nvSpPr>
        <p:spPr>
          <a:xfrm>
            <a:off x="634515" y="5829065"/>
            <a:ext cx="10287000" cy="830997"/>
          </a:xfrm>
          <a:prstGeom prst="rect">
            <a:avLst/>
          </a:prstGeom>
          <a:noFill/>
        </p:spPr>
        <p:txBody>
          <a:bodyPr wrap="square">
            <a:spAutoFit/>
          </a:bodyPr>
          <a:lstStyle/>
          <a:p>
            <a:pPr>
              <a:defRPr/>
            </a:pPr>
            <a:r>
              <a:rPr lang="en-US" sz="1600" b="1" dirty="0">
                <a:solidFill>
                  <a:prstClr val="black"/>
                </a:solidFill>
                <a:latin typeface="Calibri"/>
              </a:rPr>
              <a:t>Note</a:t>
            </a:r>
            <a:r>
              <a:rPr lang="en-US" sz="1600" dirty="0">
                <a:solidFill>
                  <a:prstClr val="black"/>
                </a:solidFill>
                <a:latin typeface="Calibri"/>
              </a:rPr>
              <a:t>: Catastrophic health expenditure (CHE) cases defined as an out-of-pocket payment above 10% of annual household consumption expenditure. </a:t>
            </a:r>
            <a:r>
              <a:rPr lang="en-US" sz="1600" dirty="0">
                <a:solidFill>
                  <a:srgbClr val="000000"/>
                </a:solidFill>
                <a:latin typeface="Calibri"/>
              </a:rPr>
              <a:t>95% uncertainty intervals (n= 2,000 Monte Carlo draws). </a:t>
            </a:r>
            <a:endParaRPr lang="en-US" sz="1600" dirty="0">
              <a:solidFill>
                <a:prstClr val="black"/>
              </a:solidFill>
              <a:latin typeface="Calibri"/>
            </a:endParaRPr>
          </a:p>
        </p:txBody>
      </p:sp>
      <p:sp>
        <p:nvSpPr>
          <p:cNvPr id="3" name="Title 1">
            <a:extLst>
              <a:ext uri="{FF2B5EF4-FFF2-40B4-BE49-F238E27FC236}">
                <a16:creationId xmlns:a16="http://schemas.microsoft.com/office/drawing/2014/main" id="{5B5FF4CF-68A2-D02D-F7AD-E424C7C63B97}"/>
              </a:ext>
            </a:extLst>
          </p:cNvPr>
          <p:cNvSpPr txBox="1">
            <a:spLocks/>
          </p:cNvSpPr>
          <p:nvPr/>
        </p:nvSpPr>
        <p:spPr>
          <a:xfrm>
            <a:off x="860242" y="415747"/>
            <a:ext cx="10471516" cy="1150000"/>
          </a:xfrm>
          <a:prstGeom prst="rect">
            <a:avLst/>
          </a:prstGeom>
        </p:spPr>
        <p:txBody>
          <a:bodyPr vert="horz" lIns="91440" tIns="45720" rIns="91440" bIns="45720" rtlCol="0" anchor="ctr">
            <a:noAutofit/>
          </a:bodyPr>
          <a:lstStyle>
            <a:lvl1pPr algn="r" defTabSz="914400" rtl="0" eaLnBrk="1" latinLnBrk="0" hangingPunct="1">
              <a:spcBef>
                <a:spcPct val="0"/>
              </a:spcBef>
              <a:buNone/>
              <a:defRPr sz="4400" kern="1200">
                <a:solidFill>
                  <a:srgbClr val="002060"/>
                </a:solidFill>
                <a:latin typeface="+mj-lt"/>
                <a:ea typeface="+mj-ea"/>
                <a:cs typeface="+mj-cs"/>
              </a:defRPr>
            </a:lvl1pPr>
          </a:lstStyle>
          <a:p>
            <a:pPr algn="ctr"/>
            <a:r>
              <a:rPr lang="en-US" sz="4200" b="1" dirty="0">
                <a:latin typeface="Calibri"/>
              </a:rPr>
              <a:t>Key finding 2: </a:t>
            </a:r>
            <a:r>
              <a:rPr lang="en-US" sz="4200" dirty="0">
                <a:latin typeface="Calibri"/>
              </a:rPr>
              <a:t>Financial protection gains are large &amp; pro-poor</a:t>
            </a:r>
            <a:br>
              <a:rPr lang="en-US" dirty="0">
                <a:latin typeface="Calibri"/>
              </a:rPr>
            </a:br>
            <a:r>
              <a:rPr lang="en-US" sz="3000" dirty="0">
                <a:latin typeface="Calibri"/>
              </a:rPr>
              <a:t>577,000 catastrophic cases averted, 82% in Q1 &amp; Q2</a:t>
            </a:r>
          </a:p>
        </p:txBody>
      </p:sp>
      <p:sp>
        <p:nvSpPr>
          <p:cNvPr id="8" name="TextBox 7">
            <a:extLst>
              <a:ext uri="{FF2B5EF4-FFF2-40B4-BE49-F238E27FC236}">
                <a16:creationId xmlns:a16="http://schemas.microsoft.com/office/drawing/2014/main" id="{7E69D066-6307-6CED-F955-B4B052DB90A0}"/>
              </a:ext>
            </a:extLst>
          </p:cNvPr>
          <p:cNvSpPr txBox="1"/>
          <p:nvPr/>
        </p:nvSpPr>
        <p:spPr>
          <a:xfrm>
            <a:off x="6313642" y="2438401"/>
            <a:ext cx="4594265" cy="461665"/>
          </a:xfrm>
          <a:prstGeom prst="rect">
            <a:avLst/>
          </a:prstGeom>
          <a:noFill/>
        </p:spPr>
        <p:txBody>
          <a:bodyPr wrap="square" rtlCol="0">
            <a:spAutoFit/>
          </a:bodyPr>
          <a:lstStyle/>
          <a:p>
            <a:r>
              <a:rPr lang="en-US" sz="2400" b="1" dirty="0">
                <a:solidFill>
                  <a:prstClr val="black"/>
                </a:solidFill>
                <a:latin typeface="Calibri"/>
              </a:rPr>
              <a:t>50% increase in excise tax</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FA83F2B-0FEC-3AA3-8513-74EC79C90942}"/>
              </a:ext>
            </a:extLst>
          </p:cNvPr>
          <p:cNvPicPr>
            <a:picLocks noChangeAspect="1"/>
          </p:cNvPicPr>
          <p:nvPr/>
        </p:nvPicPr>
        <p:blipFill>
          <a:blip r:embed="rId3">
            <a:extLst>
              <a:ext uri="{28A0092B-C50C-407E-A947-70E740481C1C}">
                <a14:useLocalDpi xmlns:a14="http://schemas.microsoft.com/office/drawing/2010/main" val="0"/>
              </a:ext>
            </a:extLst>
          </a:blip>
          <a:srcRect t="15893" b="11847"/>
          <a:stretch>
            <a:fillRect/>
          </a:stretch>
        </p:blipFill>
        <p:spPr>
          <a:xfrm>
            <a:off x="473230" y="2119927"/>
            <a:ext cx="8824367" cy="3786047"/>
          </a:xfrm>
          <a:prstGeom prst="rect">
            <a:avLst/>
          </a:prstGeom>
        </p:spPr>
      </p:pic>
      <p:sp>
        <p:nvSpPr>
          <p:cNvPr id="2" name="Title 1"/>
          <p:cNvSpPr>
            <a:spLocks noGrp="1"/>
          </p:cNvSpPr>
          <p:nvPr>
            <p:ph type="title"/>
          </p:nvPr>
        </p:nvSpPr>
        <p:spPr>
          <a:xfrm>
            <a:off x="714375" y="426882"/>
            <a:ext cx="10763250" cy="1150000"/>
          </a:xfrm>
        </p:spPr>
        <p:txBody>
          <a:bodyPr>
            <a:normAutofit fontScale="90000"/>
          </a:bodyPr>
          <a:lstStyle/>
          <a:p>
            <a:pPr algn="ctr"/>
            <a:r>
              <a:rPr lang="en-US" sz="4700" b="1" dirty="0"/>
              <a:t>Key finding 3</a:t>
            </a:r>
            <a:r>
              <a:rPr sz="4700" dirty="0"/>
              <a:t>: </a:t>
            </a:r>
            <a:r>
              <a:rPr lang="en-US" sz="4700" dirty="0"/>
              <a:t>F</a:t>
            </a:r>
            <a:r>
              <a:rPr sz="4700" dirty="0"/>
              <a:t>iscal </a:t>
            </a:r>
            <a:r>
              <a:rPr lang="en-US" sz="4700" dirty="0"/>
              <a:t>revenues raised are large &amp; accrue among the rich</a:t>
            </a:r>
            <a:br>
              <a:rPr sz="4700" dirty="0"/>
            </a:br>
            <a:r>
              <a:rPr lang="en-US" sz="3300" dirty="0"/>
              <a:t>R</a:t>
            </a:r>
            <a:r>
              <a:rPr sz="3300" dirty="0"/>
              <a:t>evenue</a:t>
            </a:r>
            <a:r>
              <a:rPr lang="en-US" sz="3300" dirty="0"/>
              <a:t>s</a:t>
            </a:r>
            <a:r>
              <a:rPr sz="3300" dirty="0"/>
              <a:t> rise </a:t>
            </a:r>
            <a:r>
              <a:rPr lang="en-US" sz="3300" dirty="0"/>
              <a:t>by </a:t>
            </a:r>
            <a:r>
              <a:rPr sz="3300" dirty="0"/>
              <a:t>31%</a:t>
            </a:r>
            <a:r>
              <a:rPr lang="en-US" sz="3300" dirty="0"/>
              <a:t>; Q5 pays 27% of it</a:t>
            </a:r>
            <a:endParaRPr sz="3300" dirty="0"/>
          </a:p>
        </p:txBody>
      </p:sp>
      <p:sp>
        <p:nvSpPr>
          <p:cNvPr id="3" name="TextBox 2">
            <a:extLst>
              <a:ext uri="{FF2B5EF4-FFF2-40B4-BE49-F238E27FC236}">
                <a16:creationId xmlns:a16="http://schemas.microsoft.com/office/drawing/2014/main" id="{89E0E0B7-C270-08DD-31A4-AC67F8524B02}"/>
              </a:ext>
            </a:extLst>
          </p:cNvPr>
          <p:cNvSpPr txBox="1"/>
          <p:nvPr/>
        </p:nvSpPr>
        <p:spPr>
          <a:xfrm>
            <a:off x="2095227" y="2206336"/>
            <a:ext cx="4594265" cy="461665"/>
          </a:xfrm>
          <a:prstGeom prst="rect">
            <a:avLst/>
          </a:prstGeom>
          <a:noFill/>
        </p:spPr>
        <p:txBody>
          <a:bodyPr wrap="square" rtlCol="0">
            <a:spAutoFit/>
          </a:bodyPr>
          <a:lstStyle/>
          <a:p>
            <a:r>
              <a:rPr lang="en-US" sz="2400" b="1" dirty="0">
                <a:solidFill>
                  <a:prstClr val="black"/>
                </a:solidFill>
                <a:latin typeface="Calibri"/>
              </a:rPr>
              <a:t>50% increase in excise tax</a:t>
            </a:r>
          </a:p>
        </p:txBody>
      </p:sp>
      <p:sp>
        <p:nvSpPr>
          <p:cNvPr id="7" name="TextBox 6">
            <a:extLst>
              <a:ext uri="{FF2B5EF4-FFF2-40B4-BE49-F238E27FC236}">
                <a16:creationId xmlns:a16="http://schemas.microsoft.com/office/drawing/2014/main" id="{0A4A7DF6-1F8C-0D1B-6A7C-ACB6BF785796}"/>
              </a:ext>
            </a:extLst>
          </p:cNvPr>
          <p:cNvSpPr txBox="1"/>
          <p:nvPr/>
        </p:nvSpPr>
        <p:spPr>
          <a:xfrm>
            <a:off x="450000" y="5945974"/>
            <a:ext cx="11086420" cy="830997"/>
          </a:xfrm>
          <a:prstGeom prst="rect">
            <a:avLst/>
          </a:prstGeom>
          <a:noFill/>
        </p:spPr>
        <p:txBody>
          <a:bodyPr wrap="square" rtlCol="0">
            <a:spAutoFit/>
          </a:bodyPr>
          <a:lstStyle/>
          <a:p>
            <a:r>
              <a:rPr lang="en-US" sz="1600" b="1" dirty="0">
                <a:solidFill>
                  <a:prstClr val="black"/>
                </a:solidFill>
                <a:latin typeface="Calibri"/>
              </a:rPr>
              <a:t>Note: </a:t>
            </a:r>
            <a:r>
              <a:rPr lang="en-US" sz="1600" dirty="0">
                <a:solidFill>
                  <a:prstClr val="black"/>
                </a:solidFill>
                <a:latin typeface="Calibri"/>
              </a:rPr>
              <a:t>National total IDR 72T per year. An annual flow in a single steady-state year, not a lifetime total. In US dollars: Q1 480, Q2 717, Q3 947, Q4 1,169, Q5 1,209 million; total US$4,522 million per year. </a:t>
            </a:r>
            <a:r>
              <a:rPr lang="en-US" sz="1600" dirty="0">
                <a:solidFill>
                  <a:srgbClr val="000000"/>
                </a:solidFill>
                <a:latin typeface="Calibri"/>
              </a:rPr>
              <a:t>95% uncertainty intervals (n= 2,000 Monte Carlo draws). </a:t>
            </a:r>
            <a:endParaRPr lang="en-US" sz="1600" dirty="0">
              <a:solidFill>
                <a:prstClr val="black"/>
              </a:solidFill>
              <a:latin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4D12A-EBC0-AB06-6707-1CDDD9AF01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C65C4-3362-242E-395B-1590329D8170}"/>
              </a:ext>
            </a:extLst>
          </p:cNvPr>
          <p:cNvSpPr>
            <a:spLocks noGrp="1"/>
          </p:cNvSpPr>
          <p:nvPr>
            <p:ph idx="1"/>
          </p:nvPr>
        </p:nvSpPr>
        <p:spPr>
          <a:xfrm>
            <a:off x="1333364" y="2514601"/>
            <a:ext cx="9525273" cy="1523999"/>
          </a:xfrm>
        </p:spPr>
        <p:txBody>
          <a:bodyPr>
            <a:noAutofit/>
          </a:bodyPr>
          <a:lstStyle/>
          <a:p>
            <a:pPr marL="0" indent="0" algn="ctr">
              <a:buNone/>
            </a:pPr>
            <a:r>
              <a:rPr lang="en-US" sz="4000" b="1" dirty="0">
                <a:solidFill>
                  <a:srgbClr val="002060"/>
                </a:solidFill>
              </a:rPr>
              <a:t>Part 2. Plans for capacity-building for BKPK modeling unit</a:t>
            </a:r>
          </a:p>
        </p:txBody>
      </p:sp>
    </p:spTree>
    <p:extLst>
      <p:ext uri="{BB962C8B-B14F-4D97-AF65-F5344CB8AC3E}">
        <p14:creationId xmlns:p14="http://schemas.microsoft.com/office/powerpoint/2010/main" val="911414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373B-B8C8-07FF-BFB9-AB3D4EE74A03}"/>
              </a:ext>
            </a:extLst>
          </p:cNvPr>
          <p:cNvSpPr>
            <a:spLocks noGrp="1"/>
          </p:cNvSpPr>
          <p:nvPr>
            <p:ph type="title"/>
          </p:nvPr>
        </p:nvSpPr>
        <p:spPr>
          <a:xfrm>
            <a:off x="836830" y="270164"/>
            <a:ext cx="10518339" cy="914400"/>
          </a:xfrm>
        </p:spPr>
        <p:txBody>
          <a:bodyPr>
            <a:normAutofit/>
          </a:bodyPr>
          <a:lstStyle/>
          <a:p>
            <a:r>
              <a:rPr lang="en-US" sz="4000" dirty="0">
                <a:solidFill>
                  <a:schemeClr val="tx2"/>
                </a:solidFill>
              </a:rPr>
              <a:t>Overview of training program modules</a:t>
            </a:r>
          </a:p>
        </p:txBody>
      </p:sp>
      <p:sp>
        <p:nvSpPr>
          <p:cNvPr id="4" name="Content Placeholder 3">
            <a:extLst>
              <a:ext uri="{FF2B5EF4-FFF2-40B4-BE49-F238E27FC236}">
                <a16:creationId xmlns:a16="http://schemas.microsoft.com/office/drawing/2014/main" id="{61ED13B5-695F-CB63-04E8-BF0F9D2EEFC4}"/>
              </a:ext>
            </a:extLst>
          </p:cNvPr>
          <p:cNvSpPr>
            <a:spLocks noGrp="1"/>
          </p:cNvSpPr>
          <p:nvPr>
            <p:ph sz="quarter" idx="13"/>
          </p:nvPr>
        </p:nvSpPr>
        <p:spPr>
          <a:xfrm>
            <a:off x="836895" y="1783079"/>
            <a:ext cx="10518339" cy="4659285"/>
          </a:xfrm>
        </p:spPr>
        <p:txBody>
          <a:bodyPr>
            <a:normAutofit fontScale="92500" lnSpcReduction="20000"/>
          </a:bodyPr>
          <a:lstStyle/>
          <a:p>
            <a:r>
              <a:rPr lang="en-US" b="1" dirty="0"/>
              <a:t>Foundational lectures</a:t>
            </a:r>
          </a:p>
          <a:p>
            <a:pPr marL="971550" lvl="1" indent="-514350">
              <a:buFont typeface="+mj-lt"/>
              <a:buAutoNum type="arabicPeriod"/>
            </a:pPr>
            <a:r>
              <a:rPr lang="en-US" dirty="0"/>
              <a:t>Introduction to health economics and economic evaluation</a:t>
            </a:r>
          </a:p>
          <a:p>
            <a:pPr marL="971550" lvl="1" indent="-514350">
              <a:buFont typeface="+mj-lt"/>
              <a:buAutoNum type="arabicPeriod"/>
            </a:pPr>
            <a:r>
              <a:rPr lang="en-US" dirty="0"/>
              <a:t>Decision analysis and mathematical modeling</a:t>
            </a:r>
          </a:p>
          <a:p>
            <a:pPr marL="971550" lvl="1" indent="-514350">
              <a:buFont typeface="+mj-lt"/>
              <a:buAutoNum type="arabicPeriod"/>
            </a:pPr>
            <a:r>
              <a:rPr lang="en-US" dirty="0"/>
              <a:t>Equity and financial protection metrics</a:t>
            </a:r>
          </a:p>
          <a:p>
            <a:pPr marL="971550" lvl="1" indent="-514350">
              <a:buFont typeface="+mj-lt"/>
              <a:buAutoNum type="arabicPeriod"/>
            </a:pPr>
            <a:r>
              <a:rPr lang="en-US" dirty="0"/>
              <a:t>Extended cost-effectiveness analysis</a:t>
            </a:r>
          </a:p>
          <a:p>
            <a:r>
              <a:rPr lang="en-US" b="1" dirty="0"/>
              <a:t>Training on Indonesia CVD model</a:t>
            </a:r>
          </a:p>
          <a:p>
            <a:pPr marL="971550" lvl="1" indent="-514350">
              <a:buFont typeface="+mj-lt"/>
              <a:buAutoNum type="arabicPeriod"/>
            </a:pPr>
            <a:r>
              <a:rPr lang="en-US" dirty="0"/>
              <a:t>Economic value of avoidable mortality</a:t>
            </a:r>
          </a:p>
          <a:p>
            <a:pPr marL="971550" lvl="1" indent="-514350">
              <a:buFont typeface="+mj-lt"/>
              <a:buAutoNum type="arabicPeriod"/>
            </a:pPr>
            <a:r>
              <a:rPr lang="en-US" dirty="0"/>
              <a:t>Orientation to demographic-epidemiological model</a:t>
            </a:r>
          </a:p>
          <a:p>
            <a:pPr marL="971550" lvl="1" indent="-514350">
              <a:buFont typeface="+mj-lt"/>
              <a:buAutoNum type="arabicPeriod"/>
            </a:pPr>
            <a:r>
              <a:rPr lang="en-US" dirty="0"/>
              <a:t>Clinical intervention modeling (cost-effectiveness)</a:t>
            </a:r>
          </a:p>
          <a:p>
            <a:pPr marL="971550" lvl="1" indent="-514350">
              <a:buFont typeface="+mj-lt"/>
              <a:buAutoNum type="arabicPeriod"/>
            </a:pPr>
            <a:r>
              <a:rPr lang="en-US" dirty="0"/>
              <a:t>Tobacco and other risk factor modeling</a:t>
            </a:r>
          </a:p>
          <a:p>
            <a:pPr marL="971550" lvl="1" indent="-514350">
              <a:buFont typeface="+mj-lt"/>
              <a:buAutoNum type="arabicPeriod"/>
            </a:pPr>
            <a:r>
              <a:rPr lang="en-US" dirty="0"/>
              <a:t>Financial protection modeling</a:t>
            </a:r>
          </a:p>
        </p:txBody>
      </p:sp>
    </p:spTree>
    <p:extLst>
      <p:ext uri="{BB962C8B-B14F-4D97-AF65-F5344CB8AC3E}">
        <p14:creationId xmlns:p14="http://schemas.microsoft.com/office/powerpoint/2010/main" val="3978226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E6EB1-54A6-4752-A13D-E880CBDEE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68F46-2AFD-B05D-8162-4F333E900B85}"/>
              </a:ext>
            </a:extLst>
          </p:cNvPr>
          <p:cNvSpPr>
            <a:spLocks noGrp="1"/>
          </p:cNvSpPr>
          <p:nvPr>
            <p:ph type="title"/>
          </p:nvPr>
        </p:nvSpPr>
        <p:spPr>
          <a:xfrm>
            <a:off x="836895" y="270164"/>
            <a:ext cx="10518339" cy="914400"/>
          </a:xfrm>
        </p:spPr>
        <p:txBody>
          <a:bodyPr>
            <a:normAutofit/>
          </a:bodyPr>
          <a:lstStyle/>
          <a:p>
            <a:r>
              <a:rPr lang="en-US" sz="4000" dirty="0">
                <a:solidFill>
                  <a:schemeClr val="tx2"/>
                </a:solidFill>
              </a:rPr>
              <a:t>Proposed structure of each module</a:t>
            </a:r>
          </a:p>
        </p:txBody>
      </p:sp>
      <p:sp>
        <p:nvSpPr>
          <p:cNvPr id="4" name="Content Placeholder 3">
            <a:extLst>
              <a:ext uri="{FF2B5EF4-FFF2-40B4-BE49-F238E27FC236}">
                <a16:creationId xmlns:a16="http://schemas.microsoft.com/office/drawing/2014/main" id="{DD66819E-028E-9E33-5029-DECB9EC19FF5}"/>
              </a:ext>
            </a:extLst>
          </p:cNvPr>
          <p:cNvSpPr>
            <a:spLocks noGrp="1"/>
          </p:cNvSpPr>
          <p:nvPr>
            <p:ph sz="quarter" idx="13"/>
          </p:nvPr>
        </p:nvSpPr>
        <p:spPr>
          <a:xfrm>
            <a:off x="836895" y="1783079"/>
            <a:ext cx="10518339" cy="4659285"/>
          </a:xfrm>
        </p:spPr>
        <p:txBody>
          <a:bodyPr>
            <a:normAutofit/>
          </a:bodyPr>
          <a:lstStyle/>
          <a:p>
            <a:r>
              <a:rPr lang="en-US" dirty="0"/>
              <a:t>45-minute lecture</a:t>
            </a:r>
          </a:p>
          <a:p>
            <a:r>
              <a:rPr lang="en-US" dirty="0"/>
              <a:t>15-minute Q&amp;A</a:t>
            </a:r>
          </a:p>
          <a:p>
            <a:r>
              <a:rPr lang="en-US" dirty="0"/>
              <a:t>Break</a:t>
            </a:r>
          </a:p>
          <a:p>
            <a:r>
              <a:rPr lang="en-US" dirty="0"/>
              <a:t>30-min hands-on exercise</a:t>
            </a:r>
          </a:p>
          <a:p>
            <a:r>
              <a:rPr lang="en-US" dirty="0"/>
              <a:t>30-min group discussion and feedback</a:t>
            </a:r>
          </a:p>
        </p:txBody>
      </p:sp>
    </p:spTree>
    <p:extLst>
      <p:ext uri="{BB962C8B-B14F-4D97-AF65-F5344CB8AC3E}">
        <p14:creationId xmlns:p14="http://schemas.microsoft.com/office/powerpoint/2010/main" val="181403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6E5CC-5A23-8D40-AE4B-EF5523F5B1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79220-18BF-444A-8FAC-19BA79BB2EC2}"/>
              </a:ext>
            </a:extLst>
          </p:cNvPr>
          <p:cNvSpPr>
            <a:spLocks noGrp="1"/>
          </p:cNvSpPr>
          <p:nvPr>
            <p:ph type="title"/>
          </p:nvPr>
        </p:nvSpPr>
        <p:spPr>
          <a:xfrm>
            <a:off x="919958" y="270164"/>
            <a:ext cx="10518339" cy="914400"/>
          </a:xfrm>
        </p:spPr>
        <p:txBody>
          <a:bodyPr>
            <a:normAutofit/>
          </a:bodyPr>
          <a:lstStyle/>
          <a:p>
            <a:r>
              <a:rPr lang="en-US" sz="4000" dirty="0">
                <a:solidFill>
                  <a:schemeClr val="tx2"/>
                </a:solidFill>
              </a:rPr>
              <a:t>Proposed timeline</a:t>
            </a:r>
          </a:p>
        </p:txBody>
      </p:sp>
      <p:graphicFrame>
        <p:nvGraphicFramePr>
          <p:cNvPr id="8" name="Diagram 7">
            <a:extLst>
              <a:ext uri="{FF2B5EF4-FFF2-40B4-BE49-F238E27FC236}">
                <a16:creationId xmlns:a16="http://schemas.microsoft.com/office/drawing/2014/main" id="{15DAB438-7679-0F72-291B-732379FCCDEE}"/>
              </a:ext>
            </a:extLst>
          </p:cNvPr>
          <p:cNvGraphicFramePr/>
          <p:nvPr>
            <p:extLst>
              <p:ext uri="{D42A27DB-BD31-4B8C-83A1-F6EECF244321}">
                <p14:modId xmlns:p14="http://schemas.microsoft.com/office/powerpoint/2010/main" val="3666222204"/>
              </p:ext>
            </p:extLst>
          </p:nvPr>
        </p:nvGraphicFramePr>
        <p:xfrm>
          <a:off x="685116" y="1241904"/>
          <a:ext cx="10821769"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85111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3DB5-5456-121E-33D7-5DC0DE587B89}"/>
              </a:ext>
            </a:extLst>
          </p:cNvPr>
          <p:cNvSpPr>
            <a:spLocks noGrp="1"/>
          </p:cNvSpPr>
          <p:nvPr>
            <p:ph type="title"/>
          </p:nvPr>
        </p:nvSpPr>
        <p:spPr>
          <a:xfrm>
            <a:off x="904875" y="3429000"/>
            <a:ext cx="10382250" cy="1143000"/>
          </a:xfrm>
        </p:spPr>
        <p:txBody>
          <a:bodyPr>
            <a:normAutofit/>
          </a:bodyPr>
          <a:lstStyle/>
          <a:p>
            <a:pPr algn="ctr"/>
            <a:r>
              <a:rPr lang="en-US" sz="4800" dirty="0"/>
              <a:t>Thank you</a:t>
            </a:r>
          </a:p>
        </p:txBody>
      </p:sp>
      <p:pic>
        <p:nvPicPr>
          <p:cNvPr id="3" name="Picture 2" descr="A close up of a logo&#10;&#10;AI-generated content may be incorrect.">
            <a:extLst>
              <a:ext uri="{FF2B5EF4-FFF2-40B4-BE49-F238E27FC236}">
                <a16:creationId xmlns:a16="http://schemas.microsoft.com/office/drawing/2014/main" id="{C9BAC3AD-9767-334A-FAC4-2407F71CEE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6250" y="457200"/>
            <a:ext cx="4393042" cy="1600200"/>
          </a:xfrm>
          <a:prstGeom prst="rect">
            <a:avLst/>
          </a:prstGeom>
        </p:spPr>
      </p:pic>
    </p:spTree>
    <p:extLst>
      <p:ext uri="{BB962C8B-B14F-4D97-AF65-F5344CB8AC3E}">
        <p14:creationId xmlns:p14="http://schemas.microsoft.com/office/powerpoint/2010/main" val="2087799322"/>
      </p:ext>
    </p:extLst>
  </p:cSld>
  <p:clrMapOvr>
    <a:masterClrMapping/>
  </p:clrMapOvr>
</p:sld>
</file>

<file path=ppt/theme/theme1.xml><?xml version="1.0" encoding="utf-8"?>
<a:theme xmlns:a="http://schemas.openxmlformats.org/drawingml/2006/main" name="KRP_v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CP3 PPT Template_NEW.pptx" id="{57DC6CDC-E007-4880-AC95-23CAB42ACB6E}" vid="{EF819FD4-7F74-4B6C-80CE-FF69E1896A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otalTime>157</TotalTime>
  <Words>2622</Words>
  <Application>Microsoft Office PowerPoint</Application>
  <PresentationFormat>Widescreen</PresentationFormat>
  <Paragraphs>253</Paragraphs>
  <Slides>33</Slides>
  <Notes>12</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Calibri</vt:lpstr>
      <vt:lpstr>KRP_v2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Framework for projecting the mortality impact and cost of achieving a 70-70-70 target for CVD prevention</vt:lpstr>
      <vt:lpstr>Achieving 70-70-70 lowers premature mortality at a rising but bounded cost</vt:lpstr>
      <vt:lpstr>Other interventions can add impact (and cost) to the  70-70-70 agenda</vt:lpstr>
      <vt:lpstr>Tobacco control policies would add significant impact to the clinical intervention packages </vt:lpstr>
      <vt:lpstr>Implementation of clinical interventions and tobacco control could get Indonesia close to Malaysia’s CV mortality by 2050</vt:lpstr>
      <vt:lpstr>Achieving 70-70-70 would require differential action at the provincial level to close gaps</vt:lpstr>
      <vt:lpstr>Achieving 70-70-70 would cause premature CVD mortality to fall in every province by 2040</vt:lpstr>
      <vt:lpstr>About half of averted CVD deaths come from the three most populous provinces</vt:lpstr>
      <vt:lpstr>70-70-70 has a different financing requirement according to provincial burden and access gap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finding 1: Health gains are large &amp; pro-poor  724,000 premature deaths averted; 60% in Q1 &amp; Q2</vt:lpstr>
      <vt:lpstr>PowerPoint Presentation</vt:lpstr>
      <vt:lpstr>Key finding 3: Fiscal revenues raised are large &amp; accrue among the rich Revenues rise by 31%; Q5 pays 27% of it</vt:lpstr>
      <vt:lpstr>PowerPoint Presentation</vt:lpstr>
      <vt:lpstr>Overview of training program modules</vt:lpstr>
      <vt:lpstr>Proposed structure of each module</vt:lpstr>
      <vt:lpstr>Proposed timeline</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Key Messages from DCP Indonesia</dc:title>
  <dc:subject>DCP Indonesia key messages, minimum 18-point font</dc:subject>
  <dc:creator>Victoria Fan</dc:creator>
  <cp:lastModifiedBy>William R Garcia</cp:lastModifiedBy>
  <cp:revision>22</cp:revision>
  <dcterms:created xsi:type="dcterms:W3CDTF">2026-08-31T03:17:19Z</dcterms:created>
  <dcterms:modified xsi:type="dcterms:W3CDTF">2026-09-01T16:31:16Z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608d83-f952-409d-b7c5-456515bbbf5a_Enabled">
    <vt:lpwstr>true</vt:lpwstr>
  </property>
  <property fmtid="{D5CDD505-2E9C-101B-9397-08002B2CF9AE}" pid="3" name="MSIP_Label_89608d83-f952-409d-b7c5-456515bbbf5a_SetDate">
    <vt:lpwstr>2026-08-31T03:42:55Z</vt:lpwstr>
  </property>
  <property fmtid="{D5CDD505-2E9C-101B-9397-08002B2CF9AE}" pid="4" name="MSIP_Label_89608d83-f952-409d-b7c5-456515bbbf5a_Method">
    <vt:lpwstr>Privileged</vt:lpwstr>
  </property>
  <property fmtid="{D5CDD505-2E9C-101B-9397-08002B2CF9AE}" pid="5" name="MSIP_Label_89608d83-f952-409d-b7c5-456515bbbf5a_Name">
    <vt:lpwstr>Public</vt:lpwstr>
  </property>
  <property fmtid="{D5CDD505-2E9C-101B-9397-08002B2CF9AE}" pid="6" name="MSIP_Label_89608d83-f952-409d-b7c5-456515bbbf5a_SiteId">
    <vt:lpwstr>31a2fec0-266b-4c67-b56e-2796d8f59c36</vt:lpwstr>
  </property>
  <property fmtid="{D5CDD505-2E9C-101B-9397-08002B2CF9AE}" pid="7" name="MSIP_Label_89608d83-f952-409d-b7c5-456515bbbf5a_ActionId">
    <vt:lpwstr>38855dea-99e9-436e-be37-7ee10e530694</vt:lpwstr>
  </property>
  <property fmtid="{D5CDD505-2E9C-101B-9397-08002B2CF9AE}" pid="8" name="MSIP_Label_89608d83-f952-409d-b7c5-456515bbbf5a_ContentBits">
    <vt:lpwstr>0</vt:lpwstr>
  </property>
  <property fmtid="{D5CDD505-2E9C-101B-9397-08002B2CF9AE}" pid="9" name="MSIP_Label_89608d83-f952-409d-b7c5-456515bbbf5a_Tag">
    <vt:lpwstr>10, 0, 1, 1</vt:lpwstr>
  </property>
</Properties>
</file>