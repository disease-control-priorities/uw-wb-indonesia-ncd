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FF1A9_0.xml" ContentType="application/vnd.ms-powerpoint.comments+xml"/>
  <Override PartName="/ppt/notesSlides/notesSlide19.xml" ContentType="application/vnd.openxmlformats-officedocument.presentationml.notesSlide+xml"/>
  <Override PartName="/ppt/comments/modernComment_7FFFF1AA_0.xml" ContentType="application/vnd.ms-powerpoint.comments+xml"/>
  <Override PartName="/ppt/notesSlides/notesSlide20.xml" ContentType="application/vnd.openxmlformats-officedocument.presentationml.notesSlide+xml"/>
  <Override PartName="/ppt/comments/modernComment_119_0.xml" ContentType="application/vnd.ms-powerpoint.comments+xml"/>
  <Override PartName="/ppt/notesSlides/notesSlide21.xml" ContentType="application/vnd.openxmlformats-officedocument.presentationml.notesSlide+xml"/>
  <Override PartName="/ppt/comments/modernComment_11A_0.xml" ContentType="application/vnd.ms-powerpoint.comments+xml"/>
  <Override PartName="/ppt/notesSlides/notesSlide22.xml" ContentType="application/vnd.openxmlformats-officedocument.presentationml.notesSlide+xml"/>
  <Override PartName="/ppt/comments/modernComment_11B_0.xml" ContentType="application/vnd.ms-powerpoint.comments+xml"/>
  <Override PartName="/ppt/notesSlides/notesSlide23.xml" ContentType="application/vnd.openxmlformats-officedocument.presentationml.notesSlide+xml"/>
  <Override PartName="/ppt/comments/modernComment_11C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 id="2147483651" r:id="rId3"/>
  </p:sldMasterIdLst>
  <p:notesMasterIdLst>
    <p:notesMasterId r:id="rId57"/>
  </p:notesMasterIdLst>
  <p:handoutMasterIdLst>
    <p:handoutMasterId r:id="rId58"/>
  </p:handoutMasterIdLst>
  <p:sldIdLst>
    <p:sldId id="2735" r:id="rId4"/>
    <p:sldId id="575" r:id="rId5"/>
    <p:sldId id="2147479988" r:id="rId6"/>
    <p:sldId id="3469" r:id="rId7"/>
    <p:sldId id="3456" r:id="rId8"/>
    <p:sldId id="3459" r:id="rId9"/>
    <p:sldId id="3407" r:id="rId10"/>
    <p:sldId id="3452" r:id="rId11"/>
    <p:sldId id="3408" r:id="rId12"/>
    <p:sldId id="3411" r:id="rId13"/>
    <p:sldId id="3458" r:id="rId14"/>
    <p:sldId id="3445" r:id="rId15"/>
    <p:sldId id="3476" r:id="rId16"/>
    <p:sldId id="3477" r:id="rId17"/>
    <p:sldId id="3449" r:id="rId18"/>
    <p:sldId id="2147479945" r:id="rId19"/>
    <p:sldId id="2147479951" r:id="rId20"/>
    <p:sldId id="2147479989" r:id="rId21"/>
    <p:sldId id="2147479948" r:id="rId22"/>
    <p:sldId id="261" r:id="rId23"/>
    <p:sldId id="2147479960" r:id="rId24"/>
    <p:sldId id="263" r:id="rId25"/>
    <p:sldId id="275" r:id="rId26"/>
    <p:sldId id="277" r:id="rId27"/>
    <p:sldId id="278" r:id="rId28"/>
    <p:sldId id="2147479994" r:id="rId29"/>
    <p:sldId id="2147479998" r:id="rId30"/>
    <p:sldId id="2147479995" r:id="rId31"/>
    <p:sldId id="2147479996" r:id="rId32"/>
    <p:sldId id="2147479997" r:id="rId33"/>
    <p:sldId id="285" r:id="rId34"/>
    <p:sldId id="286" r:id="rId35"/>
    <p:sldId id="2147479949" r:id="rId36"/>
    <p:sldId id="2147479990" r:id="rId37"/>
    <p:sldId id="2147479973" r:id="rId38"/>
    <p:sldId id="2147479974" r:id="rId39"/>
    <p:sldId id="2147479957" r:id="rId40"/>
    <p:sldId id="272" r:id="rId41"/>
    <p:sldId id="2147479984" r:id="rId42"/>
    <p:sldId id="2147479977" r:id="rId43"/>
    <p:sldId id="2147479978" r:id="rId44"/>
    <p:sldId id="2147479992" r:id="rId45"/>
    <p:sldId id="2147479991" r:id="rId46"/>
    <p:sldId id="2147479959" r:id="rId47"/>
    <p:sldId id="2147479993" r:id="rId48"/>
    <p:sldId id="2147479968" r:id="rId49"/>
    <p:sldId id="279" r:id="rId50"/>
    <p:sldId id="280" r:id="rId51"/>
    <p:sldId id="281" r:id="rId52"/>
    <p:sldId id="282" r:id="rId53"/>
    <p:sldId id="283" r:id="rId54"/>
    <p:sldId id="284" r:id="rId55"/>
    <p:sldId id="2147479776"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06B37B-E629-8247-A53F-53A9397BE13B}">
          <p14:sldIdLst>
            <p14:sldId id="2735"/>
          </p14:sldIdLst>
        </p14:section>
        <p14:section name="Default Section" id="{10D93067-51E5-7548-980D-BF589F3DDB4A}">
          <p14:sldIdLst>
            <p14:sldId id="575"/>
            <p14:sldId id="2147479988"/>
            <p14:sldId id="3469"/>
            <p14:sldId id="3456"/>
            <p14:sldId id="3459"/>
            <p14:sldId id="3407"/>
            <p14:sldId id="3452"/>
            <p14:sldId id="3408"/>
            <p14:sldId id="3411"/>
            <p14:sldId id="3458"/>
            <p14:sldId id="3445"/>
            <p14:sldId id="3476"/>
            <p14:sldId id="3477"/>
            <p14:sldId id="3449"/>
            <p14:sldId id="2147479945"/>
            <p14:sldId id="2147479951"/>
            <p14:sldId id="2147479989"/>
          </p14:sldIdLst>
        </p14:section>
        <p14:section name="Main Slide Layouts" id="{54EEB197-12CA-EF49-B4C4-9F0D1A644478}">
          <p14:sldIdLst>
            <p14:sldId id="2147479948"/>
            <p14:sldId id="261"/>
            <p14:sldId id="2147479960"/>
            <p14:sldId id="263"/>
            <p14:sldId id="275"/>
            <p14:sldId id="277"/>
            <p14:sldId id="278"/>
            <p14:sldId id="2147479994"/>
            <p14:sldId id="2147479998"/>
            <p14:sldId id="2147479995"/>
            <p14:sldId id="2147479996"/>
            <p14:sldId id="2147479997"/>
            <p14:sldId id="285"/>
            <p14:sldId id="286"/>
            <p14:sldId id="2147479949"/>
            <p14:sldId id="2147479990"/>
            <p14:sldId id="2147479973"/>
            <p14:sldId id="2147479974"/>
            <p14:sldId id="2147479957"/>
            <p14:sldId id="272"/>
            <p14:sldId id="2147479984"/>
            <p14:sldId id="2147479977"/>
            <p14:sldId id="2147479978"/>
            <p14:sldId id="2147479992"/>
            <p14:sldId id="2147479991"/>
            <p14:sldId id="2147479959"/>
            <p14:sldId id="2147479993"/>
            <p14:sldId id="2147479968"/>
            <p14:sldId id="279"/>
            <p14:sldId id="280"/>
            <p14:sldId id="281"/>
            <p14:sldId id="282"/>
            <p14:sldId id="283"/>
            <p14:sldId id="284"/>
            <p14:sldId id="2147479776"/>
          </p14:sldIdLst>
        </p14:section>
        <p14:section name="Main Slide Layouts" id="{B5AC7A25-30D3-B746-A28C-D272C5E185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50C6EB-9A69-A5A2-AC2E-0E111777E240}" name="Verguet, Stéphane" initials="SV" userId="S::verguet@hsph.harvard.edu::df35d26a-4906-4d1b-8e79-7ecad4eec6b6" providerId="AD"/>
  <p188:author id="{58A478EE-FDFC-375E-D8C5-B0035DE76745}" name="Zili Huang" initials="ZLH" userId="Zili Huang" providerId="None"/>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5336" autoAdjust="0"/>
    <p:restoredTop sz="95033" autoAdjust="0"/>
  </p:normalViewPr>
  <p:slideViewPr>
    <p:cSldViewPr>
      <p:cViewPr>
        <p:scale>
          <a:sx n="100" d="100"/>
          <a:sy n="100" d="100"/>
        </p:scale>
        <p:origin x="293" y="-566"/>
      </p:cViewPr>
      <p:guideLst>
        <p:guide orient="horz" pos="2160"/>
        <p:guide pos="2880"/>
      </p:guideLst>
    </p:cSldViewPr>
  </p:slideViewPr>
  <p:outlineViewPr>
    <p:cViewPr>
      <p:scale>
        <a:sx n="33" d="100"/>
        <a:sy n="33" d="100"/>
      </p:scale>
      <p:origin x="0" y="-28864"/>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8/10/relationships/authors" Targe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omments/modernComment_7FFFF1A9_0.xml><?xml version="1.0" encoding="utf-8"?>
<p188:cmLst xmlns:a="http://schemas.openxmlformats.org/drawingml/2006/main" xmlns:r="http://schemas.openxmlformats.org/officeDocument/2006/relationships" xmlns:p188="http://schemas.microsoft.com/office/powerpoint/2018/8/main">
  <p188:cm id="{5AFD49A5-D4A7-A04C-AE86-D5BCF64E8F1A}" authorId="{6A50C6EB-9A69-A5A2-AC2E-0E111777E240}" created="2026-08-29T12:55:15.437">
    <pc:sldMkLst xmlns:pc="http://schemas.microsoft.com/office/powerpoint/2013/main/command">
      <pc:docMk/>
      <pc:sldMk cId="0" sldId="2147479977"/>
    </pc:sldMkLst>
    <p188:txBody>
      <a:bodyPr/>
      <a:lstStyle/>
      <a:p>
        <a:r>
          <a:rPr lang="en-US"/>
          <a:t>ZILI
REMOVE PERCENTAGES IN PARENTHESES IN THE FIGURE.</a:t>
        </a:r>
      </a:p>
    </p188:txBody>
  </p188:cm>
</p188:cmLst>
</file>

<file path=ppt/comments/modernComment_7FFFF1AA_0.xml><?xml version="1.0" encoding="utf-8"?>
<p188:cmLst xmlns:a="http://schemas.openxmlformats.org/drawingml/2006/main" xmlns:r="http://schemas.openxmlformats.org/officeDocument/2006/relationships" xmlns:p188="http://schemas.microsoft.com/office/powerpoint/2018/8/main">
  <p188:cm id="{1F7B96CB-D287-D44A-8C6D-48BC3325524B}" authorId="{6A50C6EB-9A69-A5A2-AC2E-0E111777E240}" created="2026-08-29T12:55:26.214">
    <pc:sldMkLst xmlns:pc="http://schemas.microsoft.com/office/powerpoint/2013/main/command">
      <pc:docMk/>
      <pc:sldMk cId="0" sldId="2147479978"/>
    </pc:sldMkLst>
    <p188:txBody>
      <a:bodyPr/>
      <a:lstStyle/>
      <a:p>
        <a:r>
          <a:rPr lang="en-US"/>
          <a:t>ZILI
REMOVE PERCENTAGES IN PARENTHESES IN THE FIGURE.</a:t>
        </a:r>
      </a:p>
    </p188:txBody>
  </p188:cm>
</p188:cmLst>
</file>

<file path=ppt/comments/modernComment_11A_0.xml><?xml version="1.0" encoding="utf-8"?>
<p188:cmLst xmlns:a="http://schemas.openxmlformats.org/drawingml/2006/main" xmlns:r="http://schemas.openxmlformats.org/officeDocument/2006/relationships" xmlns:p188="http://schemas.microsoft.com/office/powerpoint/2018/8/main">
  <p188:cm id="{3D4B559D-45FC-3344-A220-31B5EF1241ED}" authorId="{6A50C6EB-9A69-A5A2-AC2E-0E111777E240}" created="2026-08-29T13:37:41.496">
    <ac:deMkLst xmlns:ac="http://schemas.microsoft.com/office/drawing/2013/main/command">
      <pc:docMk xmlns:pc="http://schemas.microsoft.com/office/powerpoint/2013/main/command"/>
      <pc:sldMk xmlns:pc="http://schemas.microsoft.com/office/powerpoint/2013/main/command" cId="0" sldId="282"/>
      <ac:spMk id="3" creationId="{DD6DE0A3-9829-D8B1-A844-E0F888DBF0C7}"/>
    </ac:deMkLst>
    <p188:txBody>
      <a:bodyPr/>
      <a:lstStyle/>
      <a:p>
        <a:r>
          <a:rPr lang="en-US"/>
          <a:t>ZILI:
Can you add the uncertainty ranges?
Also round:
222.4=222
201.4=201
etc.</a:t>
        </a:r>
      </a:p>
    </p188:txBody>
  </p188:cm>
</p188:cmLst>
</file>

<file path=ppt/comments/modernComment_11B_0.xml><?xml version="1.0" encoding="utf-8"?>
<p188:cmLst xmlns:a="http://schemas.openxmlformats.org/drawingml/2006/main" xmlns:r="http://schemas.openxmlformats.org/officeDocument/2006/relationships" xmlns:p188="http://schemas.microsoft.com/office/powerpoint/2018/8/main">
  <p188:cm id="{DEE5B2FC-21EA-DC47-AE28-212E9B772BC2}" authorId="{6A50C6EB-9A69-A5A2-AC2E-0E111777E240}" created="2026-08-29T13:42:33.780">
    <pc:sldMkLst xmlns:pc="http://schemas.microsoft.com/office/powerpoint/2013/main/command">
      <pc:docMk/>
      <pc:sldMk cId="0" sldId="283"/>
    </pc:sldMkLst>
    <p188:txBody>
      <a:bodyPr/>
      <a:lstStyle/>
      <a:p>
        <a:r>
          <a:rPr lang="en-US"/>
          <a:t>ZILI: please round
302.7=303
168.0=168
etc.</a:t>
        </a:r>
      </a:p>
    </p188:txBody>
  </p188:cm>
</p188:cmLst>
</file>

<file path=ppt/comments/modernComment_11C_0.xml><?xml version="1.0" encoding="utf-8"?>
<p188:cmLst xmlns:a="http://schemas.openxmlformats.org/drawingml/2006/main" xmlns:r="http://schemas.openxmlformats.org/officeDocument/2006/relationships" xmlns:p188="http://schemas.microsoft.com/office/powerpoint/2018/8/main">
  <p188:cm id="{2A14BE47-130B-3649-883D-6ECAE53E460F}" authorId="{6A50C6EB-9A69-A5A2-AC2E-0E111777E240}" created="2026-08-29T13:46:45.323">
    <pc:sldMkLst xmlns:pc="http://schemas.microsoft.com/office/powerpoint/2013/main/command">
      <pc:docMk/>
      <pc:sldMk cId="0" sldId="284"/>
    </pc:sldMkLst>
    <p188:replyLst>
      <p188:reply id="{AA935CDE-4480-B74E-8964-792173F8BDEC}" authorId="{58A478EE-FDFC-375E-D8C5-B0035DE76745}" created="2026-08-29T15:48:35.249">
        <p188:txBody>
          <a:bodyPr/>
          <a:lstStyle/>
          <a:p>
            <a:r>
              <a:rPr lang="en-US"/>
              <a:t>Neither, strictly. The model has no time dimension. It's just a 2023 snapshot. We apply the full behavioural response (quitting and reduced intensity) immediately, compute one year of consumption for the post-response smoker population, and calculate the tax take on it. So IDR 72T is an annual flow for a single steady-state year, on the same yearly basis as Daria's code, not a lifetime total and not a discounted average.
Then two things follow. Because quitting is instantaneous in the model, actual first-year revenue would be higher than this, because in reality few smokers would have quit by then, so the tax would be collected on close to baseline consumption. And because we don't track the cohort forward, the figure shouldn't be read as a permanent annuity. The 62.8 million smokers we model will shrink as they quit and die, and revenue would decline accordingly.
It's worth flagging that this is the one outcome on a per-year basis. Deaths averted and catastrophic payments averted are lifetime totals for today's smokers, because a quitter's benefit accrues over the rest of their life. </a:t>
            </a:r>
          </a:p>
        </p188:txBody>
      </p188:reply>
    </p188:replyLst>
    <p188:txBody>
      <a:bodyPr/>
      <a:lstStyle/>
      <a:p>
        <a:r>
          <a:rPr lang="en-US"/>
          <a:t>ZILI:
Clarification: in Daria's code, revenues are calculated on a yearly basis.
Is the number here an average over the lifetime or for the first year?
Also in the note bar, please add the estimates for quintiles and total in USD.</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178529DE-E019-A545-8205-1FB2ED4F92A7}" authorId="{6A50C6EB-9A69-A5A2-AC2E-0E111777E240}" created="2026-08-29T13:32:44.455">
    <pc:sldMkLst xmlns:pc="http://schemas.microsoft.com/office/powerpoint/2013/main/command">
      <pc:docMk/>
      <pc:sldMk cId="0" sldId="281"/>
    </pc:sldMkLst>
    <p188:replyLst>
      <p188:reply id="{24701A6F-1C55-B84E-801D-7F1B539D5A34}" authorId="{58A478EE-FDFC-375E-D8C5-B0035DE76745}" created="2026-08-29T15:10:21.515">
        <p188:txBody>
          <a:bodyPr/>
          <a:lstStyle/>
          <a:p>
            <a:r>
              <a:rPr lang="en-US"/>
              <a:t>This is a dissertation paper. citation below and link here: https://digital.car.chula.ac.th/chulaetd/4889/
Fauzi, R. (2021). A policy simulation impact of tobacco excise tax increase on cigarette consumption, mortality, medical treatment cost, life-years gained, and government revenue in Indonesia.
</a:t>
            </a:r>
          </a:p>
        </p188:txBody>
      </p188:reply>
    </p188:replyLst>
    <p188:txBody>
      <a:bodyPr/>
      <a:lstStyle/>
      <a:p>
        <a:r>
          <a:rPr lang="en-US"/>
          <a:t>ZILI:
can you give the full reference for Fauzi et al.?</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A30549-7F29-CA4D-93AA-69646196AA63}" type="datetimeFigureOut">
              <a:rPr lang="en-US" smtClean="0"/>
              <a:t>8/29/2026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FC5DE9-4285-2247-8BA1-6B8C6F41A2E7}" type="slidenum">
              <a:rPr lang="en-US" smtClean="0"/>
              <a:t>‹#›</a:t>
            </a:fld>
            <a:endParaRPr lang="en-US"/>
          </a:p>
        </p:txBody>
      </p:sp>
    </p:spTree>
    <p:extLst>
      <p:ext uri="{BB962C8B-B14F-4D97-AF65-F5344CB8AC3E}">
        <p14:creationId xmlns:p14="http://schemas.microsoft.com/office/powerpoint/2010/main" val="40522208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E365E-8A78-466B-ACF3-8065AF63298D}" type="datetimeFigureOut">
              <a:rPr lang="en-US" smtClean="0"/>
              <a:t>8/29/2026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94D408-F7C3-43C6-9E12-CBD333D67CD8}" type="slidenum">
              <a:rPr lang="en-US" smtClean="0"/>
              <a:t>‹#›</a:t>
            </a:fld>
            <a:endParaRPr lang="en-US"/>
          </a:p>
        </p:txBody>
      </p:sp>
    </p:spTree>
    <p:extLst>
      <p:ext uri="{BB962C8B-B14F-4D97-AF65-F5344CB8AC3E}">
        <p14:creationId xmlns:p14="http://schemas.microsoft.com/office/powerpoint/2010/main" val="2915108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a:t>
            </a:fld>
            <a:endParaRPr lang="en-US"/>
          </a:p>
        </p:txBody>
      </p:sp>
    </p:spTree>
    <p:extLst>
      <p:ext uri="{BB962C8B-B14F-4D97-AF65-F5344CB8AC3E}">
        <p14:creationId xmlns:p14="http://schemas.microsoft.com/office/powerpoint/2010/main" val="2312547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6B9BF1-E6D4-2740-8E1D-E4C82134E02A}" type="slidenum">
              <a:rPr lang="en-US" smtClean="0"/>
              <a:t>9</a:t>
            </a:fld>
            <a:endParaRPr lang="en-US"/>
          </a:p>
        </p:txBody>
      </p:sp>
    </p:spTree>
    <p:extLst>
      <p:ext uri="{BB962C8B-B14F-4D97-AF65-F5344CB8AC3E}">
        <p14:creationId xmlns:p14="http://schemas.microsoft.com/office/powerpoint/2010/main" val="15986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2400" i="0" dirty="0">
                    <a:effectLst/>
                    <a:latin typeface="Times"/>
                  </a:rPr>
                  <a:t>v increases with </a:t>
                </a:r>
                <a:r>
                  <a:rPr lang="el-GR" sz="2400" i="0" dirty="0">
                    <a:effectLst/>
                    <a:latin typeface="Helvetica" pitchFamily="2" charset="0"/>
                  </a:rPr>
                  <a:t>δ</a:t>
                </a:r>
                <a:r>
                  <a:rPr lang="en-US" sz="2400" i="0" dirty="0" err="1">
                    <a:effectLst/>
                    <a:latin typeface="Helvetica" pitchFamily="2" charset="0"/>
                  </a:rPr>
                  <a:t>c,ℱ</a:t>
                </a:r>
                <a:r>
                  <a:rPr lang="en-US" sz="2400" i="0" dirty="0">
                    <a:effectLst/>
                    <a:latin typeface="Helvetica" pitchFamily="2" charset="0"/>
                  </a:rPr>
                  <a:t> </a:t>
                </a:r>
                <a:r>
                  <a:rPr lang="en-US" sz="2400" i="0" dirty="0">
                    <a:effectLst/>
                    <a:latin typeface="Times"/>
                  </a:rPr>
                  <a:t>and its marginal rate of increase decreases with </a:t>
                </a:r>
                <a:r>
                  <a:rPr lang="el-GR" sz="2400" i="0" dirty="0">
                    <a:effectLst/>
                    <a:latin typeface="Helvetica" pitchFamily="2" charset="0"/>
                  </a:rPr>
                  <a:t>δ</a:t>
                </a:r>
                <a:r>
                  <a:rPr lang="en-US" sz="2400" i="0" dirty="0" err="1">
                    <a:effectLst/>
                    <a:latin typeface="Helvetica" pitchFamily="2" charset="0"/>
                  </a:rPr>
                  <a:t>c,ℱ</a:t>
                </a:r>
                <a:r>
                  <a:rPr lang="en-US" sz="2400" i="0" dirty="0">
                    <a:effectLst/>
                    <a:latin typeface="Times"/>
                  </a:rPr>
                  <a:t>. That is, as avoidable mortality becomes greater, each additional reduction in the mortality risk would have a smaller economic value</a:t>
                </a:r>
              </a:p>
              <a:p>
                <a:pPr algn="l"/>
                <a:endParaRPr lang="en-US" sz="4400" b="1" dirty="0"/>
              </a:p>
              <a:p>
                <a:endParaRPr lang="en-US" dirty="0"/>
              </a:p>
            </p:txBody>
          </p:sp>
        </mc:Choice>
        <mc:Fallback xmlns="">
          <p:sp>
            <p:nvSpPr>
              <p:cNvPr id="3" name="Notes Placeholder 2"/>
              <p:cNvSpPr>
                <a:spLocks noGrp="1"/>
              </p:cNvSpPr>
              <p:nvPr>
                <p:ph type="body" idx="1"/>
              </p:nvPr>
            </p:nvSpPr>
            <p:spPr/>
            <p:txBody>
              <a:bodyPr/>
              <a:lstStyle/>
              <a:p>
                <a:pPr marL="571357" indent="-571357">
                  <a:buFont typeface="Arial" panose="020B0604020202020204" pitchFamily="34" charset="0"/>
                  <a:buChar char="•"/>
                </a:pPr>
                <a:r>
                  <a:rPr lang="en-US" sz="4799" dirty="0">
                    <a:latin typeface="Garamond" panose="02020404030301010803" pitchFamily="18" charset="0"/>
                  </a:rPr>
                  <a:t>We approximate the trade-off relation between income and mortality</a:t>
                </a:r>
              </a:p>
              <a:p>
                <a:pPr marL="1485529" lvl="1" indent="-571357">
                  <a:buFont typeface="Arial" panose="020B0604020202020204" pitchFamily="34" charset="0"/>
                  <a:buChar char="•"/>
                </a:pPr>
                <a:r>
                  <a:rPr lang="en-US" sz="4799" dirty="0">
                    <a:latin typeface="Garamond" panose="02020404030301010803" pitchFamily="18" charset="0"/>
                  </a:rPr>
                  <a:t>Linear: </a:t>
                </a:r>
              </a:p>
              <a:p>
                <a:pPr marL="1485529" lvl="1" indent="-571357">
                  <a:buFont typeface="Arial" panose="020B0604020202020204" pitchFamily="34" charset="0"/>
                  <a:buChar char="•"/>
                </a:pPr>
                <a:r>
                  <a:rPr lang="en-US" sz="4799" dirty="0">
                    <a:solidFill>
                      <a:srgbClr val="972D15"/>
                    </a:solidFill>
                    <a:latin typeface="Garamond" panose="02020404030301010803" pitchFamily="18" charset="0"/>
                  </a:rPr>
                  <a:t>Exponential decay: </a:t>
                </a:r>
                <a:r>
                  <a:rPr lang="pt-BR" sz="4799" i="0">
                    <a:solidFill>
                      <a:srgbClr val="972D15"/>
                    </a:solidFill>
                    <a:latin typeface="Cambria Math" panose="02040503050406030204" pitchFamily="18" charset="0"/>
                  </a:rPr>
                  <a:t>𝑒^(−𝑓(Δ))</a:t>
                </a:r>
                <a:r>
                  <a:rPr lang="en-US" sz="4799" dirty="0">
                    <a:solidFill>
                      <a:srgbClr val="C00000"/>
                    </a:solidFill>
                    <a:latin typeface="Garamond" panose="02020404030301010803" pitchFamily="18" charset="0"/>
                  </a:rPr>
                  <a:t> </a:t>
                </a:r>
              </a:p>
              <a:p>
                <a:pPr marL="1485529" lvl="1" indent="-571357">
                  <a:buFont typeface="Arial" panose="020B0604020202020204" pitchFamily="34" charset="0"/>
                  <a:buChar char="•"/>
                </a:pPr>
                <a:r>
                  <a:rPr lang="en-US" sz="4799" dirty="0">
                    <a:solidFill>
                      <a:srgbClr val="02401B"/>
                    </a:solidFill>
                    <a:latin typeface="Garamond" panose="02020404030301010803" pitchFamily="18" charset="0"/>
                  </a:rPr>
                  <a:t>Hyperbolic decay: </a:t>
                </a:r>
                <a:r>
                  <a:rPr lang="en-US" sz="4799" i="0">
                    <a:solidFill>
                      <a:srgbClr val="02401B"/>
                    </a:solidFill>
                    <a:latin typeface="Cambria Math" panose="02040503050406030204" pitchFamily="18" charset="0"/>
                  </a:rPr>
                  <a:t>□(64&amp;</a:t>
                </a:r>
                <a:r>
                  <a:rPr lang="pt-BR" sz="4799" i="0">
                    <a:solidFill>
                      <a:srgbClr val="02401B"/>
                    </a:solidFill>
                    <a:latin typeface="Cambria Math" panose="02040503050406030204" pitchFamily="18" charset="0"/>
                  </a:rPr>
                  <a:t>1</a:t>
                </a:r>
                <a:r>
                  <a:rPr lang="en-US" sz="4799" i="0">
                    <a:solidFill>
                      <a:srgbClr val="02401B"/>
                    </a:solidFill>
                    <a:latin typeface="Cambria Math" panose="02040503050406030204" pitchFamily="18" charset="0"/>
                  </a:rPr>
                  <a:t>/(</a:t>
                </a:r>
                <a:r>
                  <a:rPr lang="pt-BR" sz="4799" i="0">
                    <a:solidFill>
                      <a:srgbClr val="02401B"/>
                    </a:solidFill>
                    <a:latin typeface="Cambria Math" panose="02040503050406030204" pitchFamily="18" charset="0"/>
                  </a:rPr>
                  <a:t>1+𝑓(Δ)</a:t>
                </a:r>
                <a:r>
                  <a:rPr lang="en-US" sz="4799" i="0">
                    <a:solidFill>
                      <a:srgbClr val="02401B"/>
                    </a:solidFill>
                    <a:latin typeface="Cambria Math" panose="02040503050406030204" pitchFamily="18" charset="0"/>
                  </a:rPr>
                  <a:t>)</a:t>
                </a:r>
                <a:r>
                  <a:rPr lang="pt-BR" sz="4799" i="0">
                    <a:solidFill>
                      <a:srgbClr val="02401B"/>
                    </a:solidFill>
                    <a:latin typeface="Cambria Math" panose="02040503050406030204" pitchFamily="18" charset="0"/>
                  </a:rPr>
                  <a:t>)</a:t>
                </a:r>
                <a:endParaRPr lang="en-US" sz="4799" dirty="0">
                  <a:solidFill>
                    <a:schemeClr val="accent1">
                      <a:lumMod val="75000"/>
                    </a:schemeClr>
                  </a:solidFill>
                  <a:latin typeface="Garamond" panose="02020404030301010803" pitchFamily="18" charset="0"/>
                </a:endParaRPr>
              </a:p>
              <a:p>
                <a:pPr marL="571357" indent="-571357">
                  <a:buFont typeface="Arial" panose="020B0604020202020204" pitchFamily="34" charset="0"/>
                  <a:buChar char="•"/>
                </a:pPr>
                <a:endParaRPr lang="en-US" sz="4799" dirty="0">
                  <a:latin typeface="Garamond" panose="02020404030301010803" pitchFamily="18" charset="0"/>
                </a:endParaRPr>
              </a:p>
              <a:p>
                <a:pPr marL="571357" indent="-571357">
                  <a:buFont typeface="Arial" panose="020B0604020202020204" pitchFamily="34" charset="0"/>
                  <a:buChar char="•"/>
                </a:pPr>
                <a:r>
                  <a:rPr lang="en-US" sz="4799" dirty="0">
                    <a:latin typeface="Garamond" panose="02020404030301010803" pitchFamily="18" charset="0"/>
                  </a:rPr>
                  <a:t>In doing so, we respect natural income/resource constraints</a:t>
                </a:r>
              </a:p>
              <a:p>
                <a:pPr marL="571357" indent="-571357">
                  <a:buFont typeface="Arial" panose="020B0604020202020204" pitchFamily="34" charset="0"/>
                  <a:buChar char="•"/>
                </a:pPr>
                <a:endParaRPr lang="en-US" sz="4799" dirty="0">
                  <a:latin typeface="Garamond" panose="02020404030301010803" pitchFamily="18" charset="0"/>
                </a:endParaRPr>
              </a:p>
              <a:p>
                <a:pPr marL="571357" indent="-571357">
                  <a:buFont typeface="Arial" panose="020B0604020202020204" pitchFamily="34" charset="0"/>
                  <a:buChar char="•"/>
                </a:pPr>
                <a:r>
                  <a:rPr lang="en-US" sz="4799" dirty="0">
                    <a:latin typeface="Garamond" panose="02020404030301010803" pitchFamily="18" charset="0"/>
                  </a:rPr>
                  <a:t>Approximations are calibrated using empirical estimates of the VSMU (VSL) and risk aversion</a:t>
                </a:r>
              </a:p>
              <a:p>
                <a:endParaRPr lang="en-US" dirty="0"/>
              </a:p>
            </p:txBody>
          </p:sp>
        </mc:Fallback>
      </mc:AlternateContent>
      <p:sp>
        <p:nvSpPr>
          <p:cNvPr id="4" name="Slide Number Placeholder 3"/>
          <p:cNvSpPr>
            <a:spLocks noGrp="1"/>
          </p:cNvSpPr>
          <p:nvPr>
            <p:ph type="sldNum" sz="quarter" idx="5"/>
          </p:nvPr>
        </p:nvSpPr>
        <p:spPr/>
        <p:txBody>
          <a:bodyPr/>
          <a:lstStyle/>
          <a:p>
            <a:fld id="{3C6B9BF1-E6D4-2740-8E1D-E4C82134E02A}" type="slidenum">
              <a:rPr lang="en-US" smtClean="0"/>
              <a:t>11</a:t>
            </a:fld>
            <a:endParaRPr lang="en-US"/>
          </a:p>
        </p:txBody>
      </p:sp>
    </p:spTree>
    <p:extLst>
      <p:ext uri="{BB962C8B-B14F-4D97-AF65-F5344CB8AC3E}">
        <p14:creationId xmlns:p14="http://schemas.microsoft.com/office/powerpoint/2010/main" val="1976253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mention the future that is 2050.</a:t>
            </a:r>
          </a:p>
        </p:txBody>
      </p:sp>
      <p:sp>
        <p:nvSpPr>
          <p:cNvPr id="4" name="Slide Number Placeholder 3"/>
          <p:cNvSpPr>
            <a:spLocks noGrp="1"/>
          </p:cNvSpPr>
          <p:nvPr>
            <p:ph type="sldNum" sz="quarter" idx="5"/>
          </p:nvPr>
        </p:nvSpPr>
        <p:spPr/>
        <p:txBody>
          <a:bodyPr/>
          <a:lstStyle/>
          <a:p>
            <a:fld id="{3C6B9BF1-E6D4-2740-8E1D-E4C82134E02A}" type="slidenum">
              <a:rPr lang="en-US" smtClean="0"/>
              <a:t>12</a:t>
            </a:fld>
            <a:endParaRPr lang="en-US"/>
          </a:p>
        </p:txBody>
      </p:sp>
    </p:spTree>
    <p:extLst>
      <p:ext uri="{BB962C8B-B14F-4D97-AF65-F5344CB8AC3E}">
        <p14:creationId xmlns:p14="http://schemas.microsoft.com/office/powerpoint/2010/main" val="680668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6B9BF1-E6D4-2740-8E1D-E4C82134E02A}" type="slidenum">
              <a:rPr lang="en-US" smtClean="0"/>
              <a:t>13</a:t>
            </a:fld>
            <a:endParaRPr lang="en-US"/>
          </a:p>
        </p:txBody>
      </p:sp>
    </p:spTree>
    <p:extLst>
      <p:ext uri="{BB962C8B-B14F-4D97-AF65-F5344CB8AC3E}">
        <p14:creationId xmlns:p14="http://schemas.microsoft.com/office/powerpoint/2010/main" val="394193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effectLst/>
                <a:latin typeface="Times"/>
              </a:rPr>
              <a:t>The economic value of reducing cardiovascular disease avoidable mortality would be large for both sexes in all regions, reaching 2–8% of annual income in 2019. </a:t>
            </a:r>
          </a:p>
          <a:p>
            <a:r>
              <a:rPr lang="en-US" i="0" dirty="0">
                <a:effectLst/>
                <a:latin typeface="Times"/>
              </a:rPr>
              <a:t>LAM: 3.1% and 4.6% (2019); 4.1% and 6.1% (2050)</a:t>
            </a:r>
            <a:endParaRPr lang="en-US" i="0" dirty="0"/>
          </a:p>
        </p:txBody>
      </p:sp>
      <p:sp>
        <p:nvSpPr>
          <p:cNvPr id="4" name="Slide Number Placeholder 3"/>
          <p:cNvSpPr>
            <a:spLocks noGrp="1"/>
          </p:cNvSpPr>
          <p:nvPr>
            <p:ph type="sldNum" sz="quarter" idx="5"/>
          </p:nvPr>
        </p:nvSpPr>
        <p:spPr/>
        <p:txBody>
          <a:bodyPr/>
          <a:lstStyle/>
          <a:p>
            <a:fld id="{3C6B9BF1-E6D4-2740-8E1D-E4C82134E02A}" type="slidenum">
              <a:rPr lang="en-US" smtClean="0"/>
              <a:t>14</a:t>
            </a:fld>
            <a:endParaRPr lang="en-US"/>
          </a:p>
        </p:txBody>
      </p:sp>
    </p:spTree>
    <p:extLst>
      <p:ext uri="{BB962C8B-B14F-4D97-AF65-F5344CB8AC3E}">
        <p14:creationId xmlns:p14="http://schemas.microsoft.com/office/powerpoint/2010/main" val="897731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15</a:t>
            </a:fld>
            <a:endParaRPr lang="en-US"/>
          </a:p>
        </p:txBody>
      </p:sp>
    </p:spTree>
    <p:extLst>
      <p:ext uri="{BB962C8B-B14F-4D97-AF65-F5344CB8AC3E}">
        <p14:creationId xmlns:p14="http://schemas.microsoft.com/office/powerpoint/2010/main" val="4096688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16</a:t>
            </a:fld>
            <a:endParaRPr lang="en-US"/>
          </a:p>
        </p:txBody>
      </p:sp>
    </p:spTree>
    <p:extLst>
      <p:ext uri="{BB962C8B-B14F-4D97-AF65-F5344CB8AC3E}">
        <p14:creationId xmlns:p14="http://schemas.microsoft.com/office/powerpoint/2010/main" val="245930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2041-8491-C634-B33E-86C4554A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19FF2-3C50-DDA9-5B27-C8BD7A5D9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1A613-A621-61A1-9888-5DBC8FD40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CAC7C8-F470-E45F-3F77-0AF4EB898C99}"/>
              </a:ext>
            </a:extLst>
          </p:cNvPr>
          <p:cNvSpPr>
            <a:spLocks noGrp="1"/>
          </p:cNvSpPr>
          <p:nvPr>
            <p:ph type="sldNum" sz="quarter" idx="5"/>
          </p:nvPr>
        </p:nvSpPr>
        <p:spPr/>
        <p:txBody>
          <a:bodyPr/>
          <a:lstStyle/>
          <a:p>
            <a:fld id="{CD94D408-F7C3-43C6-9E12-CBD333D67CD8}" type="slidenum">
              <a:rPr lang="en-US" smtClean="0"/>
              <a:t>17</a:t>
            </a:fld>
            <a:endParaRPr lang="en-US"/>
          </a:p>
        </p:txBody>
      </p:sp>
    </p:spTree>
    <p:extLst>
      <p:ext uri="{BB962C8B-B14F-4D97-AF65-F5344CB8AC3E}">
        <p14:creationId xmlns:p14="http://schemas.microsoft.com/office/powerpoint/2010/main" val="2232388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err="1">
                <a:effectLst/>
              </a:rPr>
              <a:t>η_q</a:t>
            </a:r>
            <a:r>
              <a:rPr lang="en-US" dirty="0"/>
              <a:t>​=</a:t>
            </a:r>
            <a:r>
              <a:rPr lang="en-US" dirty="0" err="1"/>
              <a:t>d_</a:t>
            </a:r>
            <a:r>
              <a:rPr lang="en-US" dirty="0" err="1">
                <a:effectLst/>
              </a:rPr>
              <a:t>q</a:t>
            </a:r>
            <a:r>
              <a:rPr lang="en-US" dirty="0"/>
              <a:t>​×(1−</a:t>
            </a:r>
            <a:r>
              <a:rPr lang="en-US" dirty="0">
                <a:effectLst/>
              </a:rPr>
              <a:t>r</a:t>
            </a:r>
            <a:r>
              <a:rPr lang="en-US" dirty="0"/>
              <a:t>) </a:t>
            </a:r>
          </a:p>
          <a:p>
            <a:pPr lvl="0" rtl="0"/>
            <a:endParaRPr lang="en-US" b="1" dirty="0"/>
          </a:p>
          <a:p>
            <a:pPr lvl="0" rtl="0"/>
            <a:r>
              <a:rPr lang="en-US" b="1" dirty="0"/>
              <a:t>d:</a:t>
            </a:r>
            <a:r>
              <a:rPr lang="en-US" dirty="0"/>
              <a:t> the share of encounters where JKN was actually used, by quintile. Measured, </a:t>
            </a:r>
            <a:r>
              <a:rPr lang="en-US" dirty="0" err="1"/>
              <a:t>Susenas</a:t>
            </a:r>
            <a:r>
              <a:rPr lang="en-US" dirty="0"/>
              <a:t> March 2025: outpatient 46.8% (Q1) → 59.3% (Q5), Tabel 2.24; inpatient 79.9% → 78.2%, Tabel 2.28.</a:t>
            </a:r>
          </a:p>
          <a:p>
            <a:pPr lvl="0" rtl="0"/>
            <a:r>
              <a:rPr lang="en-US" b="1" dirty="0"/>
              <a:t>r:</a:t>
            </a:r>
            <a:r>
              <a:rPr lang="en-US" dirty="0"/>
              <a:t> the residual a household still pays even when JKN </a:t>
            </a:r>
            <a:r>
              <a:rPr lang="en-US" i="0" dirty="0"/>
              <a:t>was </a:t>
            </a:r>
            <a:r>
              <a:rPr lang="en-US" dirty="0"/>
              <a:t>used: 25% chronic, 33.6% acute (Fattah 2023).</a:t>
            </a:r>
          </a:p>
          <a:p>
            <a:endParaRPr lang="en-US" dirty="0"/>
          </a:p>
          <a:p>
            <a:r>
              <a:rPr lang="en-US" dirty="0"/>
              <a:t>Therefore, composite: ~39–40% chronic, ~54% acute. The model runs the two-state mixture (delivered → pays r; not delivered → pays full cost)</a:t>
            </a:r>
          </a:p>
        </p:txBody>
      </p:sp>
      <p:sp>
        <p:nvSpPr>
          <p:cNvPr id="4" name="Slide Number Placeholder 3"/>
          <p:cNvSpPr>
            <a:spLocks noGrp="1"/>
          </p:cNvSpPr>
          <p:nvPr>
            <p:ph type="sldNum" sz="quarter" idx="5"/>
          </p:nvPr>
        </p:nvSpPr>
        <p:spPr/>
        <p:txBody>
          <a:bodyPr/>
          <a:lstStyle/>
          <a:p>
            <a:fld id="{CD94D408-F7C3-43C6-9E12-CBD333D67CD8}" type="slidenum">
              <a:rPr lang="en-US" smtClean="0"/>
              <a:t>35</a:t>
            </a:fld>
            <a:endParaRPr lang="en-US"/>
          </a:p>
        </p:txBody>
      </p:sp>
    </p:spTree>
    <p:extLst>
      <p:ext uri="{BB962C8B-B14F-4D97-AF65-F5344CB8AC3E}">
        <p14:creationId xmlns:p14="http://schemas.microsoft.com/office/powerpoint/2010/main" val="1714032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meaning how much the JKN actually takes off the household’ bill at the point of service (by design it is 100%, and whatever falls short is what the household pays).</a:t>
            </a:r>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36</a:t>
            </a:fld>
            <a:endParaRPr lang="en-US"/>
          </a:p>
        </p:txBody>
      </p:sp>
    </p:spTree>
    <p:extLst>
      <p:ext uri="{BB962C8B-B14F-4D97-AF65-F5344CB8AC3E}">
        <p14:creationId xmlns:p14="http://schemas.microsoft.com/office/powerpoint/2010/main" val="3377467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37</a:t>
            </a:fld>
            <a:endParaRPr lang="en-US"/>
          </a:p>
        </p:txBody>
      </p:sp>
    </p:spTree>
    <p:extLst>
      <p:ext uri="{BB962C8B-B14F-4D97-AF65-F5344CB8AC3E}">
        <p14:creationId xmlns:p14="http://schemas.microsoft.com/office/powerpoint/2010/main" val="2799375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Abbreviation:</a:t>
            </a:r>
          </a:p>
          <a:p>
            <a:pPr marL="285750" indent="-285750">
              <a:buFont typeface="Arial" panose="020B0604020202020204" pitchFamily="34" charset="0"/>
              <a:buChar char="•"/>
            </a:pPr>
            <a:r>
              <a:rPr lang="en-US" sz="1200" dirty="0"/>
              <a:t>INA-CBG = Indonesia Case Base Groups (disease areas); the case-mix payment system BPJS uses</a:t>
            </a:r>
          </a:p>
          <a:p>
            <a:pPr marL="285750" indent="-285750">
              <a:buFont typeface="Arial" panose="020B0604020202020204" pitchFamily="34" charset="0"/>
              <a:buChar char="•"/>
            </a:pPr>
            <a:r>
              <a:rPr lang="en-US" sz="1200" dirty="0"/>
              <a:t>DJSN =  Dewan </a:t>
            </a:r>
            <a:r>
              <a:rPr lang="en-US" sz="1200" dirty="0" err="1"/>
              <a:t>Jaminan</a:t>
            </a:r>
            <a:r>
              <a:rPr lang="en-US" sz="1200" dirty="0"/>
              <a:t> </a:t>
            </a:r>
            <a:r>
              <a:rPr lang="en-US" sz="1200" dirty="0" err="1"/>
              <a:t>Sosial</a:t>
            </a:r>
            <a:r>
              <a:rPr lang="en-US" sz="1200" dirty="0"/>
              <a:t> Nasional (National Social Security Council)</a:t>
            </a:r>
          </a:p>
          <a:p>
            <a:endParaRPr lang="en-US" dirty="0"/>
          </a:p>
          <a:p>
            <a:r>
              <a:rPr lang="en-US" sz="1200" b="0" i="0" kern="1200" dirty="0">
                <a:solidFill>
                  <a:schemeClr val="tx1"/>
                </a:solidFill>
                <a:effectLst/>
                <a:latin typeface="+mn-lt"/>
                <a:ea typeface="+mn-ea"/>
                <a:cs typeface="+mn-cs"/>
              </a:rPr>
              <a:t>INA-CBG tariffs, </a:t>
            </a:r>
            <a:r>
              <a:rPr lang="en-US" sz="1200" b="0" i="0" kern="1200" dirty="0" err="1">
                <a:solidFill>
                  <a:schemeClr val="tx1"/>
                </a:solidFill>
                <a:effectLst/>
                <a:latin typeface="+mn-lt"/>
                <a:ea typeface="+mn-ea"/>
                <a:cs typeface="+mn-cs"/>
              </a:rPr>
              <a:t>Permenkes</a:t>
            </a:r>
            <a:r>
              <a:rPr lang="en-US" sz="1200" b="0" i="0" kern="1200" dirty="0">
                <a:solidFill>
                  <a:schemeClr val="tx1"/>
                </a:solidFill>
                <a:effectLst/>
                <a:latin typeface="+mn-lt"/>
                <a:ea typeface="+mn-ea"/>
                <a:cs typeface="+mn-cs"/>
              </a:rPr>
              <a:t> 3/2023 — </a:t>
            </a:r>
            <a:r>
              <a:rPr lang="en-US" sz="1200" b="0" i="0" kern="1200" dirty="0" err="1">
                <a:solidFill>
                  <a:schemeClr val="tx1"/>
                </a:solidFill>
                <a:effectLst/>
                <a:latin typeface="+mn-lt"/>
                <a:ea typeface="+mn-ea"/>
                <a:cs typeface="+mn-cs"/>
              </a:rPr>
              <a:t>kelas</a:t>
            </a:r>
            <a:r>
              <a:rPr lang="en-US" sz="1200" b="0" i="0" kern="1200" dirty="0">
                <a:solidFill>
                  <a:schemeClr val="tx1"/>
                </a:solidFill>
                <a:effectLst/>
                <a:latin typeface="+mn-lt"/>
                <a:ea typeface="+mn-ea"/>
                <a:cs typeface="+mn-cs"/>
              </a:rPr>
              <a:t> 3, severity II, Regional 1, government class B. Event counts: BPJS sample data 2020–24; type mix from UW incidence 2023 (IHD + IS + ICH). USD at IDR 16,000.</a:t>
            </a:r>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38</a:t>
            </a:fld>
            <a:endParaRPr lang="en-US"/>
          </a:p>
        </p:txBody>
      </p:sp>
    </p:spTree>
    <p:extLst>
      <p:ext uri="{BB962C8B-B14F-4D97-AF65-F5344CB8AC3E}">
        <p14:creationId xmlns:p14="http://schemas.microsoft.com/office/powerpoint/2010/main" val="113412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5ECA-5358-4F0F-E5A4-02C10A9B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7799D-6AC6-F70E-5763-C2E3CCEE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FF62B-1D17-9BF0-5B7C-C43562AB04B9}"/>
              </a:ext>
            </a:extLst>
          </p:cNvPr>
          <p:cNvSpPr>
            <a:spLocks noGrp="1"/>
          </p:cNvSpPr>
          <p:nvPr>
            <p:ph type="body" idx="1"/>
          </p:nvPr>
        </p:nvSpPr>
        <p:spPr/>
        <p:txBody>
          <a:bodyPr/>
          <a:lstStyle/>
          <a:p>
            <a:r>
              <a:rPr lang="en-US" dirty="0"/>
              <a:t>Interpretation: </a:t>
            </a:r>
          </a:p>
          <a:p>
            <a:pPr marL="171450" indent="-171450">
              <a:buFontTx/>
              <a:buChar char="-"/>
            </a:pPr>
            <a:r>
              <a:rPr lang="en-US" dirty="0"/>
              <a:t>JKN covers 44% of the cost of chronic CVD care for the Q5. 59% of their outpatient visits were paid through JKN.</a:t>
            </a:r>
          </a:p>
          <a:p>
            <a:pPr marL="171450" indent="-171450">
              <a:buFontTx/>
              <a:buChar char="-"/>
            </a:pPr>
            <a:r>
              <a:rPr lang="en-US" dirty="0"/>
              <a:t>JKN covers 53% of the cost of a CVD hospitalization in the Q1. 80% of their CVD admissions were paid through JKN.</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1794E007-9DE2-370A-7A59-5AF7626C52D8}"/>
              </a:ext>
            </a:extLst>
          </p:cNvPr>
          <p:cNvSpPr>
            <a:spLocks noGrp="1"/>
          </p:cNvSpPr>
          <p:nvPr>
            <p:ph type="sldNum" sz="quarter" idx="5"/>
          </p:nvPr>
        </p:nvSpPr>
        <p:spPr/>
        <p:txBody>
          <a:bodyPr/>
          <a:lstStyle/>
          <a:p>
            <a:fld id="{CD94D408-F7C3-43C6-9E12-CBD333D67CD8}" type="slidenum">
              <a:rPr lang="en-US" smtClean="0"/>
              <a:t>39</a:t>
            </a:fld>
            <a:endParaRPr lang="en-US"/>
          </a:p>
        </p:txBody>
      </p:sp>
    </p:spTree>
    <p:extLst>
      <p:ext uri="{BB962C8B-B14F-4D97-AF65-F5344CB8AC3E}">
        <p14:creationId xmlns:p14="http://schemas.microsoft.com/office/powerpoint/2010/main" val="2143446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ZILI: ROUND NUMBERS EVERYWHERE IN THE FIGURE.</a:t>
            </a:r>
          </a:p>
          <a:p>
            <a:r>
              <a:rPr lang="en-US" dirty="0"/>
              <a:t>885.4 = 885</a:t>
            </a:r>
          </a:p>
          <a:p>
            <a:r>
              <a:rPr lang="en-US" dirty="0"/>
              <a:t>659.0=659</a:t>
            </a:r>
          </a:p>
          <a:p>
            <a:r>
              <a:rPr lang="en-US" dirty="0" err="1"/>
              <a:t>Etc</a:t>
            </a:r>
            <a:endParaRPr lang="en-US" dirty="0"/>
          </a:p>
          <a:p>
            <a:endParaRPr lang="en-US" dirty="0"/>
          </a:p>
          <a:p>
            <a:r>
              <a:rPr lang="en-US" dirty="0"/>
              <a:t>Same thing for the </a:t>
            </a:r>
            <a:r>
              <a:rPr lang="en-US" dirty="0" err="1"/>
              <a:t>legent</a:t>
            </a:r>
            <a:endParaRPr lang="en-US" dirty="0"/>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40</a:t>
            </a:fld>
            <a:endParaRPr lang="en-US"/>
          </a:p>
        </p:txBody>
      </p:sp>
    </p:spTree>
    <p:extLst>
      <p:ext uri="{BB962C8B-B14F-4D97-AF65-F5344CB8AC3E}">
        <p14:creationId xmlns:p14="http://schemas.microsoft.com/office/powerpoint/2010/main" val="3122645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ZILI: ROUND NUMBERS EVERYWHERE IN THE FIGURE.</a:t>
            </a:r>
          </a:p>
          <a:p>
            <a:r>
              <a:rPr lang="en-US" dirty="0"/>
              <a:t>245.9 = 246</a:t>
            </a:r>
          </a:p>
          <a:p>
            <a:r>
              <a:rPr lang="en-US" dirty="0"/>
              <a:t>132.1=132</a:t>
            </a:r>
          </a:p>
          <a:p>
            <a:r>
              <a:rPr lang="en-US" dirty="0" err="1"/>
              <a:t>Etc</a:t>
            </a:r>
            <a:endParaRPr lang="en-US" dirty="0"/>
          </a:p>
          <a:p>
            <a:endParaRPr lang="en-US" dirty="0"/>
          </a:p>
          <a:p>
            <a:r>
              <a:rPr lang="en-US" dirty="0"/>
              <a:t>same thing for the legend</a:t>
            </a:r>
          </a:p>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41</a:t>
            </a:fld>
            <a:endParaRPr lang="en-US"/>
          </a:p>
        </p:txBody>
      </p:sp>
    </p:spTree>
    <p:extLst>
      <p:ext uri="{BB962C8B-B14F-4D97-AF65-F5344CB8AC3E}">
        <p14:creationId xmlns:p14="http://schemas.microsoft.com/office/powerpoint/2010/main" val="3735003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49</a:t>
            </a:fld>
            <a:endParaRPr lang="en-US"/>
          </a:p>
        </p:txBody>
      </p:sp>
    </p:spTree>
    <p:extLst>
      <p:ext uri="{BB962C8B-B14F-4D97-AF65-F5344CB8AC3E}">
        <p14:creationId xmlns:p14="http://schemas.microsoft.com/office/powerpoint/2010/main" val="202149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435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893674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51</a:t>
            </a:fld>
            <a:endParaRPr lang="en-US"/>
          </a:p>
        </p:txBody>
      </p:sp>
    </p:spTree>
    <p:extLst>
      <p:ext uri="{BB962C8B-B14F-4D97-AF65-F5344CB8AC3E}">
        <p14:creationId xmlns:p14="http://schemas.microsoft.com/office/powerpoint/2010/main" val="390545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4D408-F7C3-43C6-9E12-CBD333D67CD8}" type="slidenum">
              <a:rPr lang="en-US" smtClean="0"/>
              <a:t>52</a:t>
            </a:fld>
            <a:endParaRPr lang="en-US"/>
          </a:p>
        </p:txBody>
      </p:sp>
    </p:spTree>
    <p:extLst>
      <p:ext uri="{BB962C8B-B14F-4D97-AF65-F5344CB8AC3E}">
        <p14:creationId xmlns:p14="http://schemas.microsoft.com/office/powerpoint/2010/main" val="3666829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362200"/>
            <a:ext cx="7772400" cy="1470025"/>
          </a:xfrm>
        </p:spPr>
        <p:txBody>
          <a:bodyPr/>
          <a:lstStyle>
            <a:lvl1pPr>
              <a:defRPr>
                <a:solidFill>
                  <a:srgbClr val="002060"/>
                </a:solidFill>
              </a:defRPr>
            </a:lvl1pPr>
          </a:lstStyle>
          <a:p>
            <a:r>
              <a:rPr lang="en-US" dirty="0"/>
              <a:t>Click to add title</a:t>
            </a:r>
          </a:p>
        </p:txBody>
      </p:sp>
      <p:sp>
        <p:nvSpPr>
          <p:cNvPr id="3" name="Subtitl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r>
              <a:rPr lang="en-US" dirty="0"/>
              <a:t>(#)</a:t>
            </a:r>
          </a:p>
        </p:txBody>
      </p:sp>
      <p:sp>
        <p:nvSpPr>
          <p:cNvPr id="11" name="Date Placeholder 3"/>
          <p:cNvSpPr>
            <a:spLocks noGrp="1"/>
          </p:cNvSpPr>
          <p:nvPr>
            <p:ph type="dt" sz="half" idx="10"/>
          </p:nvPr>
        </p:nvSpPr>
        <p:spPr>
          <a:xfrm>
            <a:off x="457200" y="6356350"/>
            <a:ext cx="2133600" cy="365125"/>
          </a:xfrm>
        </p:spPr>
        <p:txBody>
          <a:bodyPr/>
          <a:lstStyle/>
          <a:p>
            <a:fld id="{61E9FB5B-DB08-564E-B0E2-D8890D9FACEC}" type="datetime1">
              <a:rPr lang="en-US" smtClean="0"/>
              <a:t>8/29/2026</a:t>
            </a:fld>
            <a:endParaRPr lang="en-US" dirty="0"/>
          </a:p>
        </p:txBody>
      </p:sp>
    </p:spTree>
    <p:extLst>
      <p:ext uri="{BB962C8B-B14F-4D97-AF65-F5344CB8AC3E}">
        <p14:creationId xmlns:p14="http://schemas.microsoft.com/office/powerpoint/2010/main" val="133852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466" y="274638"/>
            <a:ext cx="5699334" cy="1143000"/>
          </a:xfrm>
        </p:spPr>
        <p:txBody>
          <a:bodyPr/>
          <a:lstStyle>
            <a:lvl1pPr algn="r">
              <a:defRPr>
                <a:solidFill>
                  <a:srgbClr val="002060"/>
                </a:solidFill>
              </a:defRPr>
            </a:lvl1pPr>
          </a:lstStyle>
          <a:p>
            <a:r>
              <a:rPr lang="en-US" dirty="0"/>
              <a:t>Click to edit title</a:t>
            </a:r>
          </a:p>
        </p:txBody>
      </p:sp>
      <p:sp>
        <p:nvSpPr>
          <p:cNvPr id="3" name="Content Placeholder 2"/>
          <p:cNvSpPr>
            <a:spLocks noGrp="1"/>
          </p:cNvSpPr>
          <p:nvPr>
            <p:ph idx="1" hasCustomPrompt="1"/>
          </p:nvPr>
        </p:nvSpPr>
        <p:spPr>
          <a:xfrm>
            <a:off x="457200" y="1905000"/>
            <a:ext cx="8229600" cy="4221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620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9BAE-9C6B-B249-B79F-717E46436F0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342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Header Content">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627623" y="685800"/>
            <a:ext cx="7888754" cy="914400"/>
          </a:xfrm>
          <a:prstGeom prst="rect">
            <a:avLst/>
          </a:prstGeom>
        </p:spPr>
        <p:txBody>
          <a:bodyPr vert="horz" lIns="91440" tIns="45720" rIns="91440" bIns="45720" rtlCol="0" anchor="b">
            <a:normAutofit/>
          </a:bodyPr>
          <a:lstStyle>
            <a:lvl1pPr>
              <a:defRPr sz="1650"/>
            </a:lvl1pPr>
          </a:lstStyle>
          <a:p>
            <a:r>
              <a:rPr lang="en-US" dirty="0"/>
              <a:t>Click to edit Master title style</a:t>
            </a:r>
          </a:p>
        </p:txBody>
      </p:sp>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3" name="Content Placeholder 2">
            <a:extLst>
              <a:ext uri="{FF2B5EF4-FFF2-40B4-BE49-F238E27FC236}">
                <a16:creationId xmlns:a16="http://schemas.microsoft.com/office/drawing/2014/main" id="{78538F1B-D100-D74C-EF6C-0EE7717605D5}"/>
              </a:ext>
            </a:extLst>
          </p:cNvPr>
          <p:cNvSpPr>
            <a:spLocks noGrp="1"/>
          </p:cNvSpPr>
          <p:nvPr>
            <p:ph sz="quarter" idx="13"/>
          </p:nvPr>
        </p:nvSpPr>
        <p:spPr>
          <a:xfrm>
            <a:off x="627671" y="1783080"/>
            <a:ext cx="7888754" cy="4160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9437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ext Content">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3" name="Content Placeholder 2">
            <a:extLst>
              <a:ext uri="{FF2B5EF4-FFF2-40B4-BE49-F238E27FC236}">
                <a16:creationId xmlns:a16="http://schemas.microsoft.com/office/drawing/2014/main" id="{78538F1B-D100-D74C-EF6C-0EE7717605D5}"/>
              </a:ext>
            </a:extLst>
          </p:cNvPr>
          <p:cNvSpPr>
            <a:spLocks noGrp="1"/>
          </p:cNvSpPr>
          <p:nvPr>
            <p:ph sz="quarter" idx="13"/>
          </p:nvPr>
        </p:nvSpPr>
        <p:spPr>
          <a:xfrm>
            <a:off x="627671" y="1783080"/>
            <a:ext cx="7888754" cy="4160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2F33DFD-EA71-DC22-6BE8-BBFFFCBF19BD}"/>
              </a:ext>
            </a:extLst>
          </p:cNvPr>
          <p:cNvSpPr>
            <a:spLocks noGrp="1"/>
          </p:cNvSpPr>
          <p:nvPr>
            <p:ph type="body" sz="quarter" idx="14"/>
          </p:nvPr>
        </p:nvSpPr>
        <p:spPr>
          <a:xfrm>
            <a:off x="627671" y="685800"/>
            <a:ext cx="7888754" cy="914400"/>
          </a:xfrm>
        </p:spPr>
        <p:txBody>
          <a:bodyPr anchor="ctr"/>
          <a:lstStyle/>
          <a:p>
            <a:pPr lvl="0"/>
            <a:r>
              <a:rPr lang="en-US" dirty="0"/>
              <a:t>Click to edit Master text styles</a:t>
            </a:r>
          </a:p>
        </p:txBody>
      </p:sp>
    </p:spTree>
    <p:extLst>
      <p:ext uri="{BB962C8B-B14F-4D97-AF65-F5344CB8AC3E}">
        <p14:creationId xmlns:p14="http://schemas.microsoft.com/office/powerpoint/2010/main" val="216320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 Content Note">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05794" y="274320"/>
            <a:ext cx="8368939"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12" name="Text Placeholder 11">
            <a:extLst>
              <a:ext uri="{FF2B5EF4-FFF2-40B4-BE49-F238E27FC236}">
                <a16:creationId xmlns:a16="http://schemas.microsoft.com/office/drawing/2014/main" id="{8DDE38A6-E658-90B2-9909-606247E2ABDA}"/>
              </a:ext>
            </a:extLst>
          </p:cNvPr>
          <p:cNvSpPr>
            <a:spLocks noGrp="1"/>
          </p:cNvSpPr>
          <p:nvPr>
            <p:ph type="body" sz="quarter" idx="14"/>
          </p:nvPr>
        </p:nvSpPr>
        <p:spPr>
          <a:xfrm>
            <a:off x="627623" y="685800"/>
            <a:ext cx="7888754" cy="914400"/>
          </a:xfrm>
        </p:spPr>
        <p:txBody>
          <a:bodyPr anchor="ctr"/>
          <a:lstStyle/>
          <a:p>
            <a:pPr lvl="0"/>
            <a:r>
              <a:rPr lang="en-US" dirty="0"/>
              <a:t>Click to edit Master text styles</a:t>
            </a:r>
          </a:p>
        </p:txBody>
      </p:sp>
      <p:sp>
        <p:nvSpPr>
          <p:cNvPr id="14" name="Content Placeholder 13">
            <a:extLst>
              <a:ext uri="{FF2B5EF4-FFF2-40B4-BE49-F238E27FC236}">
                <a16:creationId xmlns:a16="http://schemas.microsoft.com/office/drawing/2014/main" id="{3863D854-F561-5708-8F57-795F786E8EC7}"/>
              </a:ext>
            </a:extLst>
          </p:cNvPr>
          <p:cNvSpPr>
            <a:spLocks noGrp="1"/>
          </p:cNvSpPr>
          <p:nvPr>
            <p:ph sz="quarter" idx="15"/>
          </p:nvPr>
        </p:nvSpPr>
        <p:spPr>
          <a:xfrm>
            <a:off x="627623" y="1783080"/>
            <a:ext cx="6327033"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4A65E644-3F17-D581-794B-7A721DE7D867}"/>
              </a:ext>
            </a:extLst>
          </p:cNvPr>
          <p:cNvSpPr>
            <a:spLocks noGrp="1"/>
          </p:cNvSpPr>
          <p:nvPr>
            <p:ph type="body" sz="quarter" idx="16"/>
          </p:nvPr>
        </p:nvSpPr>
        <p:spPr>
          <a:xfrm>
            <a:off x="7075822" y="2148840"/>
            <a:ext cx="1440555" cy="3794760"/>
          </a:xfrm>
        </p:spPr>
        <p:txBody>
          <a:bodyPr>
            <a:normAutofit/>
          </a:bodyPr>
          <a:lstStyle>
            <a:lvl1pPr>
              <a:defRPr sz="900"/>
            </a:lvl1pPr>
          </a:lstStyle>
          <a:p>
            <a:pPr lvl="0"/>
            <a:r>
              <a:rPr lang="en-US" dirty="0"/>
              <a:t>Click to edit Master text styles</a:t>
            </a:r>
          </a:p>
        </p:txBody>
      </p:sp>
    </p:spTree>
    <p:extLst>
      <p:ext uri="{BB962C8B-B14F-4D97-AF65-F5344CB8AC3E}">
        <p14:creationId xmlns:p14="http://schemas.microsoft.com/office/powerpoint/2010/main" val="108351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A090-67C3-1E4B-A66B-C0CC6D8CEE49}"/>
              </a:ext>
            </a:extLst>
          </p:cNvPr>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A419E9-AA76-F64A-8FDB-E26D2614E12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0779D9-9DEC-BD49-879A-4A6293B63F20}"/>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5" name="Footer Placeholder 4">
            <a:extLst>
              <a:ext uri="{FF2B5EF4-FFF2-40B4-BE49-F238E27FC236}">
                <a16:creationId xmlns:a16="http://schemas.microsoft.com/office/drawing/2014/main" id="{435EAE9E-0459-4741-B223-6DC85060086E}"/>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6E7C7C5-4735-8A4D-8C05-7EF423134663}"/>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731905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E2D71-DB3F-CA4B-AB69-DA0E43E622EF}"/>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7AC9B67-958C-6E40-9ACA-E92F3176A20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B940E-66A9-CB4A-84DB-5081F4A0AF3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5" name="Footer Placeholder 4">
            <a:extLst>
              <a:ext uri="{FF2B5EF4-FFF2-40B4-BE49-F238E27FC236}">
                <a16:creationId xmlns:a16="http://schemas.microsoft.com/office/drawing/2014/main" id="{3D9C9BD7-CFC9-ED44-A259-D7478BB7179D}"/>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7E8D592-DE38-C84F-B50C-2098DD512921}"/>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56696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FB63-EA63-504F-8F50-5B91FD65C3FE}"/>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9D77F6-6F3A-D64B-BD9B-6BBD4762F214}"/>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B9D8CE6-E124-B644-A21E-92215F79611C}"/>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5" name="Footer Placeholder 4">
            <a:extLst>
              <a:ext uri="{FF2B5EF4-FFF2-40B4-BE49-F238E27FC236}">
                <a16:creationId xmlns:a16="http://schemas.microsoft.com/office/drawing/2014/main" id="{3E0CD4E0-0B76-7A4C-BDDF-91A030E87548}"/>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441E1E-D6AB-EA48-A2EA-F62EB55F4D6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70985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7B90-3D4F-CD4F-97BC-A347829F66D4}"/>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DA4AEE5-0B83-C64B-81E0-54DC0ADBF54B}"/>
              </a:ext>
            </a:extLst>
          </p:cNvPr>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B5C314-37AF-9847-BA04-4A909D69700B}"/>
              </a:ext>
            </a:extLst>
          </p:cNvPr>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5D8F8F-1769-8C44-8833-2A633CEE07D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6" name="Footer Placeholder 5">
            <a:extLst>
              <a:ext uri="{FF2B5EF4-FFF2-40B4-BE49-F238E27FC236}">
                <a16:creationId xmlns:a16="http://schemas.microsoft.com/office/drawing/2014/main" id="{DD714BFC-BFF4-E741-A29A-C39CDF2301B2}"/>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5B0D28-A603-9045-9C94-9B365ABD61A5}"/>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1606446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BDE4-7E60-0D4B-8097-4A62035401E3}"/>
              </a:ext>
            </a:extLst>
          </p:cNvPr>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041D60B-DF1E-0547-A16B-C68320E4A14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EB95F77-36C9-BB45-B4CF-0BC9B526BDC0}"/>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39E3A9-18F9-E148-A7EC-AEE4555E017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F2F87EA-40CE-DC45-8E80-DA1907F9D8C6}"/>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AB47F-77FC-5846-BDE0-C5E6655E87EA}"/>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8" name="Footer Placeholder 7">
            <a:extLst>
              <a:ext uri="{FF2B5EF4-FFF2-40B4-BE49-F238E27FC236}">
                <a16:creationId xmlns:a16="http://schemas.microsoft.com/office/drawing/2014/main" id="{052153DA-D3C5-BB43-B4C6-4AE715DC74AF}"/>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9D47C59-477B-4845-B18D-1C6A646F8D91}"/>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274719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20B6-C8BB-A14B-8CD3-596205618333}"/>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7C392F9-B400-7941-8F44-89EDB53A4B72}"/>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4" name="Footer Placeholder 3">
            <a:extLst>
              <a:ext uri="{FF2B5EF4-FFF2-40B4-BE49-F238E27FC236}">
                <a16:creationId xmlns:a16="http://schemas.microsoft.com/office/drawing/2014/main" id="{28A473D4-0D82-864A-8A80-33A1E5FE68EB}"/>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F256C183-0080-7748-9790-86D011ED5C9D}"/>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63318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2478FD-94EA-4C47-BDBC-09626DB52931}"/>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3" name="Footer Placeholder 2">
            <a:extLst>
              <a:ext uri="{FF2B5EF4-FFF2-40B4-BE49-F238E27FC236}">
                <a16:creationId xmlns:a16="http://schemas.microsoft.com/office/drawing/2014/main" id="{C6EC8C59-B23B-EB4D-84D2-657767741980}"/>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B4D68CC-2E7B-D54A-B7F7-09C603511885}"/>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4227732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F4C6-9AF0-864F-8DD4-CDC62094E878}"/>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831DEF-16A6-4D43-A7AD-ED7268ACC1E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02292-00F7-5741-B616-CE91A8FBBCF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793A744-110D-FB49-8AD0-4EE773833AB9}"/>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6" name="Footer Placeholder 5">
            <a:extLst>
              <a:ext uri="{FF2B5EF4-FFF2-40B4-BE49-F238E27FC236}">
                <a16:creationId xmlns:a16="http://schemas.microsoft.com/office/drawing/2014/main" id="{5D688E92-E4A0-6A47-991E-5298200974E5}"/>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D3F4B7B-AFBE-3844-99A0-5DC1F7E5F76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4153701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7056-335E-E244-AA7E-AEE335FD9986}"/>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E0C7D9-4192-1C49-8DAF-B904BB5F401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2DEA7B-FE87-BE49-9987-6D71676B5C9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ADC28B8-87A5-0D40-8A94-BA7DD063E503}"/>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6" name="Footer Placeholder 5">
            <a:extLst>
              <a:ext uri="{FF2B5EF4-FFF2-40B4-BE49-F238E27FC236}">
                <a16:creationId xmlns:a16="http://schemas.microsoft.com/office/drawing/2014/main" id="{4CBD90A8-19FF-8F42-BCE2-6F1A3A9040DA}"/>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1F6E3E2-41E5-E74C-8D9E-1E5FC2D47B78}"/>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3996444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5267E-F8D4-5E46-8B95-C47B503012DA}"/>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2F5A2-5FE9-B442-9FE8-66BDD445415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428A1-47E7-2942-88E4-1DE8875C3430}"/>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5" name="Footer Placeholder 4">
            <a:extLst>
              <a:ext uri="{FF2B5EF4-FFF2-40B4-BE49-F238E27FC236}">
                <a16:creationId xmlns:a16="http://schemas.microsoft.com/office/drawing/2014/main" id="{212E8B99-20F7-2545-8294-A8F84716AA8C}"/>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873578-33A7-084D-A253-720646DA71A3}"/>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151658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D00839-9CCD-2545-9E91-47BBC8066EBE}"/>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41FED2-9460-544F-8B32-C646700AD999}"/>
              </a:ext>
            </a:extLst>
          </p:cNvPr>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70F17A-03C6-D34D-B761-2B93343374F7}"/>
              </a:ext>
            </a:extLst>
          </p:cNvPr>
          <p:cNvSpPr>
            <a:spLocks noGrp="1"/>
          </p:cNvSpPr>
          <p:nvPr>
            <p:ph type="dt" sz="half" idx="10"/>
          </p:nvPr>
        </p:nvSpPr>
        <p:spPr>
          <a:xfrm>
            <a:off x="628650" y="6356350"/>
            <a:ext cx="2057400" cy="365125"/>
          </a:xfrm>
          <a:prstGeom prst="rect">
            <a:avLst/>
          </a:prstGeom>
        </p:spPr>
        <p:txBody>
          <a:bodyPr/>
          <a:lstStyle/>
          <a:p>
            <a:fld id="{ADEADF2D-3A10-0645-8DA4-40C3BB74BDDF}" type="datetimeFigureOut">
              <a:rPr lang="en-US" smtClean="0"/>
              <a:t>8/29/2026</a:t>
            </a:fld>
            <a:endParaRPr lang="en-US"/>
          </a:p>
        </p:txBody>
      </p:sp>
      <p:sp>
        <p:nvSpPr>
          <p:cNvPr id="5" name="Footer Placeholder 4">
            <a:extLst>
              <a:ext uri="{FF2B5EF4-FFF2-40B4-BE49-F238E27FC236}">
                <a16:creationId xmlns:a16="http://schemas.microsoft.com/office/drawing/2014/main" id="{109FDF0F-951F-804F-8F5A-4C08793B3FDF}"/>
              </a:ext>
            </a:extLst>
          </p:cNvPr>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B119EC-532D-1748-A2B7-B5309D7A3B7D}"/>
              </a:ext>
            </a:extLst>
          </p:cNvPr>
          <p:cNvSpPr>
            <a:spLocks noGrp="1"/>
          </p:cNvSpPr>
          <p:nvPr>
            <p:ph type="sldNum" sz="quarter" idx="12"/>
          </p:nvPr>
        </p:nvSpPr>
        <p:spPr>
          <a:xfrm>
            <a:off x="6457950" y="6356350"/>
            <a:ext cx="2057400" cy="365125"/>
          </a:xfrm>
          <a:prstGeom prst="rect">
            <a:avLst/>
          </a:prstGeom>
        </p:spPr>
        <p:txBody>
          <a:bodyPr/>
          <a:lstStyle/>
          <a:p>
            <a:fld id="{123C193E-2975-0A4D-91FC-1620CB48EC10}" type="slidenum">
              <a:rPr lang="en-US" smtClean="0"/>
              <a:t>‹#›</a:t>
            </a:fld>
            <a:endParaRPr lang="en-US"/>
          </a:p>
        </p:txBody>
      </p:sp>
    </p:spTree>
    <p:extLst>
      <p:ext uri="{BB962C8B-B14F-4D97-AF65-F5344CB8AC3E}">
        <p14:creationId xmlns:p14="http://schemas.microsoft.com/office/powerpoint/2010/main" val="2913644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54" y="2130848"/>
            <a:ext cx="7773293" cy="1470049"/>
          </a:xfrm>
        </p:spPr>
        <p:txBody>
          <a:bodyPr/>
          <a:lstStyle/>
          <a:p>
            <a:r>
              <a:rPr lang="en-US"/>
              <a:t>Click to edit Master title style</a:t>
            </a:r>
          </a:p>
        </p:txBody>
      </p:sp>
      <p:sp>
        <p:nvSpPr>
          <p:cNvPr id="3" name="Subtitle 2"/>
          <p:cNvSpPr>
            <a:spLocks noGrp="1"/>
          </p:cNvSpPr>
          <p:nvPr>
            <p:ph type="subTitle" idx="1"/>
          </p:nvPr>
        </p:nvSpPr>
        <p:spPr>
          <a:xfrm>
            <a:off x="1371824" y="3886647"/>
            <a:ext cx="6400354" cy="1752451"/>
          </a:xfrm>
        </p:spPr>
        <p:txBody>
          <a:bodyPr/>
          <a:lstStyle>
            <a:lvl1pPr marL="0" indent="0" algn="ctr">
              <a:buNone/>
              <a:defRPr/>
            </a:lvl1pPr>
            <a:lvl2pPr marL="321457" indent="0" algn="ctr">
              <a:buNone/>
              <a:defRPr/>
            </a:lvl2pPr>
            <a:lvl3pPr marL="642915" indent="0" algn="ctr">
              <a:buNone/>
              <a:defRPr/>
            </a:lvl3pPr>
            <a:lvl4pPr marL="964372" indent="0" algn="ctr">
              <a:buNone/>
              <a:defRPr/>
            </a:lvl4pPr>
            <a:lvl5pPr marL="1285829" indent="0" algn="ctr">
              <a:buNone/>
              <a:defRPr/>
            </a:lvl5pPr>
            <a:lvl6pPr marL="1607287" indent="0" algn="ctr">
              <a:buNone/>
              <a:defRPr/>
            </a:lvl6pPr>
            <a:lvl7pPr marL="1928744" indent="0" algn="ctr">
              <a:buNone/>
              <a:defRPr/>
            </a:lvl7pPr>
            <a:lvl8pPr marL="2250201" indent="0" algn="ctr">
              <a:buNone/>
              <a:defRPr/>
            </a:lvl8pPr>
            <a:lvl9pPr marL="2571659" indent="0" algn="ctr">
              <a:buNone/>
              <a:defRPr/>
            </a:lvl9pPr>
          </a:lstStyle>
          <a:p>
            <a:r>
              <a:rPr lang="en-US"/>
              <a:t>Click to edit Master subtitle style</a:t>
            </a:r>
          </a:p>
        </p:txBody>
      </p:sp>
    </p:spTree>
    <p:extLst>
      <p:ext uri="{BB962C8B-B14F-4D97-AF65-F5344CB8AC3E}">
        <p14:creationId xmlns:p14="http://schemas.microsoft.com/office/powerpoint/2010/main" val="207245324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332238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92969" y="1946672"/>
            <a:ext cx="1718965" cy="4018359"/>
          </a:xfrm>
        </p:spPr>
        <p:txBody>
          <a:bodyPr/>
          <a:lstStyle>
            <a:lvl1pPr>
              <a:defRPr sz="2000"/>
            </a:lvl1pPr>
            <a:lvl2pPr>
              <a:defRPr sz="1700"/>
            </a:lvl2pPr>
            <a:lvl3pPr>
              <a:defRPr sz="14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719090" y="1946672"/>
            <a:ext cx="1718965" cy="4018359"/>
          </a:xfrm>
        </p:spPr>
        <p:txBody>
          <a:bodyPr/>
          <a:lstStyle>
            <a:lvl1pPr>
              <a:defRPr sz="2000"/>
            </a:lvl1pPr>
            <a:lvl2pPr>
              <a:defRPr sz="1700"/>
            </a:lvl2pPr>
            <a:lvl3pPr>
              <a:defRPr sz="14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5022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647" y="274588"/>
            <a:ext cx="8228707"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647" y="1534791"/>
            <a:ext cx="4039568" cy="639589"/>
          </a:xfrm>
        </p:spPr>
        <p:txBody>
          <a:bodyPr anchor="b"/>
          <a:lstStyle>
            <a:lvl1pPr marL="0" indent="0">
              <a:buNone/>
              <a:defRPr sz="1700" b="1"/>
            </a:lvl1pPr>
            <a:lvl2pPr marL="321457" indent="0">
              <a:buNone/>
              <a:defRPr sz="1400" b="1"/>
            </a:lvl2pPr>
            <a:lvl3pPr marL="642915" indent="0">
              <a:buNone/>
              <a:defRPr sz="1300" b="1"/>
            </a:lvl3pPr>
            <a:lvl4pPr marL="964372" indent="0">
              <a:buNone/>
              <a:defRPr sz="1100" b="1"/>
            </a:lvl4pPr>
            <a:lvl5pPr marL="1285829" indent="0">
              <a:buNone/>
              <a:defRPr sz="1100" b="1"/>
            </a:lvl5pPr>
            <a:lvl6pPr marL="1607287" indent="0">
              <a:buNone/>
              <a:defRPr sz="1100" b="1"/>
            </a:lvl6pPr>
            <a:lvl7pPr marL="1928744" indent="0">
              <a:buNone/>
              <a:defRPr sz="1100" b="1"/>
            </a:lvl7pPr>
            <a:lvl8pPr marL="2250201" indent="0">
              <a:buNone/>
              <a:defRPr sz="1100" b="1"/>
            </a:lvl8pPr>
            <a:lvl9pPr marL="2571659" indent="0">
              <a:buNone/>
              <a:defRPr sz="1100" b="1"/>
            </a:lvl9pPr>
          </a:lstStyle>
          <a:p>
            <a:pPr lvl="0"/>
            <a:r>
              <a:rPr lang="en-US"/>
              <a:t>Click to edit Master text styles</a:t>
            </a:r>
          </a:p>
        </p:txBody>
      </p:sp>
      <p:sp>
        <p:nvSpPr>
          <p:cNvPr id="4" name="Content Placeholder 3"/>
          <p:cNvSpPr>
            <a:spLocks noGrp="1"/>
          </p:cNvSpPr>
          <p:nvPr>
            <p:ph sz="half" idx="2"/>
          </p:nvPr>
        </p:nvSpPr>
        <p:spPr>
          <a:xfrm>
            <a:off x="457647" y="2174379"/>
            <a:ext cx="4039568" cy="3951387"/>
          </a:xfrm>
        </p:spPr>
        <p:txBody>
          <a:bodyPr/>
          <a:lstStyle>
            <a:lvl1pPr>
              <a:defRPr sz="1700"/>
            </a:lvl1pPr>
            <a:lvl2pPr>
              <a:defRPr sz="1400"/>
            </a:lvl2pPr>
            <a:lvl3pPr>
              <a:defRPr sz="13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55" y="1534791"/>
            <a:ext cx="4041799" cy="639589"/>
          </a:xfrm>
        </p:spPr>
        <p:txBody>
          <a:bodyPr anchor="b"/>
          <a:lstStyle>
            <a:lvl1pPr marL="0" indent="0">
              <a:buNone/>
              <a:defRPr sz="1700" b="1"/>
            </a:lvl1pPr>
            <a:lvl2pPr marL="321457" indent="0">
              <a:buNone/>
              <a:defRPr sz="1400" b="1"/>
            </a:lvl2pPr>
            <a:lvl3pPr marL="642915" indent="0">
              <a:buNone/>
              <a:defRPr sz="1300" b="1"/>
            </a:lvl3pPr>
            <a:lvl4pPr marL="964372" indent="0">
              <a:buNone/>
              <a:defRPr sz="1100" b="1"/>
            </a:lvl4pPr>
            <a:lvl5pPr marL="1285829" indent="0">
              <a:buNone/>
              <a:defRPr sz="1100" b="1"/>
            </a:lvl5pPr>
            <a:lvl6pPr marL="1607287" indent="0">
              <a:buNone/>
              <a:defRPr sz="1100" b="1"/>
            </a:lvl6pPr>
            <a:lvl7pPr marL="1928744" indent="0">
              <a:buNone/>
              <a:defRPr sz="1100" b="1"/>
            </a:lvl7pPr>
            <a:lvl8pPr marL="2250201" indent="0">
              <a:buNone/>
              <a:defRPr sz="1100" b="1"/>
            </a:lvl8pPr>
            <a:lvl9pPr marL="2571659" indent="0">
              <a:buNone/>
              <a:defRPr sz="1100" b="1"/>
            </a:lvl9pPr>
          </a:lstStyle>
          <a:p>
            <a:pPr lvl="0"/>
            <a:r>
              <a:rPr lang="en-US"/>
              <a:t>Click to edit Master text styles</a:t>
            </a:r>
          </a:p>
        </p:txBody>
      </p:sp>
      <p:sp>
        <p:nvSpPr>
          <p:cNvPr id="6" name="Content Placeholder 5"/>
          <p:cNvSpPr>
            <a:spLocks noGrp="1"/>
          </p:cNvSpPr>
          <p:nvPr>
            <p:ph sz="quarter" idx="4"/>
          </p:nvPr>
        </p:nvSpPr>
        <p:spPr>
          <a:xfrm>
            <a:off x="4644555" y="2174379"/>
            <a:ext cx="4041799" cy="3951387"/>
          </a:xfrm>
        </p:spPr>
        <p:txBody>
          <a:bodyPr/>
          <a:lstStyle>
            <a:lvl1pPr>
              <a:defRPr sz="1700"/>
            </a:lvl1pPr>
            <a:lvl2pPr>
              <a:defRPr sz="1400"/>
            </a:lvl2pPr>
            <a:lvl3pPr>
              <a:defRPr sz="13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26540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612108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90380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647" y="273473"/>
            <a:ext cx="3008189" cy="1161975"/>
          </a:xfrm>
        </p:spPr>
        <p:txBody>
          <a:bodyPr anchor="b"/>
          <a:lstStyle>
            <a:lvl1pPr algn="l">
              <a:defRPr sz="1400" b="1"/>
            </a:lvl1pPr>
          </a:lstStyle>
          <a:p>
            <a:r>
              <a:rPr lang="en-US"/>
              <a:t>Click to edit Master title style</a:t>
            </a:r>
          </a:p>
        </p:txBody>
      </p:sp>
      <p:sp>
        <p:nvSpPr>
          <p:cNvPr id="3" name="Content Placeholder 2"/>
          <p:cNvSpPr>
            <a:spLocks noGrp="1"/>
          </p:cNvSpPr>
          <p:nvPr>
            <p:ph idx="1"/>
          </p:nvPr>
        </p:nvSpPr>
        <p:spPr>
          <a:xfrm>
            <a:off x="3575224" y="273472"/>
            <a:ext cx="5111130" cy="5852294"/>
          </a:xfrm>
        </p:spPr>
        <p:txBody>
          <a:bodyPr/>
          <a:lstStyle>
            <a:lvl1pPr>
              <a:defRPr sz="2200"/>
            </a:lvl1pPr>
            <a:lvl2pPr>
              <a:defRPr sz="2000"/>
            </a:lvl2pPr>
            <a:lvl3pPr>
              <a:defRPr sz="17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647" y="1435448"/>
            <a:ext cx="3008189" cy="4690318"/>
          </a:xfrm>
        </p:spPr>
        <p:txBody>
          <a:bodyPr/>
          <a:lstStyle>
            <a:lvl1pPr marL="0" indent="0">
              <a:buNone/>
              <a:defRPr sz="1000"/>
            </a:lvl1pPr>
            <a:lvl2pPr marL="321457" indent="0">
              <a:buNone/>
              <a:defRPr sz="800"/>
            </a:lvl2pPr>
            <a:lvl3pPr marL="642915" indent="0">
              <a:buNone/>
              <a:defRPr sz="700"/>
            </a:lvl3pPr>
            <a:lvl4pPr marL="964372" indent="0">
              <a:buNone/>
              <a:defRPr sz="600"/>
            </a:lvl4pPr>
            <a:lvl5pPr marL="1285829" indent="0">
              <a:buNone/>
              <a:defRPr sz="600"/>
            </a:lvl5pPr>
            <a:lvl6pPr marL="1607287" indent="0">
              <a:buNone/>
              <a:defRPr sz="600"/>
            </a:lvl6pPr>
            <a:lvl7pPr marL="1928744" indent="0">
              <a:buNone/>
              <a:defRPr sz="600"/>
            </a:lvl7pPr>
            <a:lvl8pPr marL="2250201" indent="0">
              <a:buNone/>
              <a:defRPr sz="600"/>
            </a:lvl8pPr>
            <a:lvl9pPr marL="2571659" indent="0">
              <a:buNone/>
              <a:defRPr sz="600"/>
            </a:lvl9pPr>
          </a:lstStyle>
          <a:p>
            <a:pPr lvl="0"/>
            <a:r>
              <a:rPr lang="en-US"/>
              <a:t>Click to edit Master text styles</a:t>
            </a:r>
          </a:p>
        </p:txBody>
      </p:sp>
    </p:spTree>
    <p:extLst>
      <p:ext uri="{BB962C8B-B14F-4D97-AF65-F5344CB8AC3E}">
        <p14:creationId xmlns:p14="http://schemas.microsoft.com/office/powerpoint/2010/main" val="14899571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35" y="4800824"/>
            <a:ext cx="5486177" cy="567035"/>
          </a:xfrm>
        </p:spPr>
        <p:txBody>
          <a:bodyPr anchor="b"/>
          <a:lstStyle>
            <a:lvl1pPr algn="l">
              <a:defRPr sz="1400" b="1"/>
            </a:lvl1pPr>
          </a:lstStyle>
          <a:p>
            <a:r>
              <a:rPr lang="en-US"/>
              <a:t>Click to edit Master title style</a:t>
            </a:r>
          </a:p>
        </p:txBody>
      </p:sp>
      <p:sp>
        <p:nvSpPr>
          <p:cNvPr id="3" name="Picture Placeholder 2"/>
          <p:cNvSpPr>
            <a:spLocks noGrp="1"/>
          </p:cNvSpPr>
          <p:nvPr>
            <p:ph type="pic" idx="1"/>
          </p:nvPr>
        </p:nvSpPr>
        <p:spPr>
          <a:xfrm>
            <a:off x="1792635" y="612800"/>
            <a:ext cx="5486177" cy="4114354"/>
          </a:xfrm>
        </p:spPr>
        <p:txBody>
          <a:bodyPr/>
          <a:lstStyle>
            <a:lvl1pPr marL="0" indent="0">
              <a:buNone/>
              <a:defRPr sz="2200"/>
            </a:lvl1pPr>
            <a:lvl2pPr marL="321457" indent="0">
              <a:buNone/>
              <a:defRPr sz="2000"/>
            </a:lvl2pPr>
            <a:lvl3pPr marL="642915" indent="0">
              <a:buNone/>
              <a:defRPr sz="1700"/>
            </a:lvl3pPr>
            <a:lvl4pPr marL="964372" indent="0">
              <a:buNone/>
              <a:defRPr sz="1400"/>
            </a:lvl4pPr>
            <a:lvl5pPr marL="1285829" indent="0">
              <a:buNone/>
              <a:defRPr sz="1400"/>
            </a:lvl5pPr>
            <a:lvl6pPr marL="1607287" indent="0">
              <a:buNone/>
              <a:defRPr sz="1400"/>
            </a:lvl6pPr>
            <a:lvl7pPr marL="1928744" indent="0">
              <a:buNone/>
              <a:defRPr sz="1400"/>
            </a:lvl7pPr>
            <a:lvl8pPr marL="2250201" indent="0">
              <a:buNone/>
              <a:defRPr sz="1400"/>
            </a:lvl8pPr>
            <a:lvl9pPr marL="2571659" indent="0">
              <a:buNone/>
              <a:defRPr sz="1400"/>
            </a:lvl9pPr>
          </a:lstStyle>
          <a:p>
            <a:r>
              <a:rPr lang="en-US"/>
              <a:t>Click icon to add picture</a:t>
            </a:r>
          </a:p>
        </p:txBody>
      </p:sp>
      <p:sp>
        <p:nvSpPr>
          <p:cNvPr id="4" name="Text Placeholder 3"/>
          <p:cNvSpPr>
            <a:spLocks noGrp="1"/>
          </p:cNvSpPr>
          <p:nvPr>
            <p:ph type="body" sz="half" idx="2"/>
          </p:nvPr>
        </p:nvSpPr>
        <p:spPr>
          <a:xfrm>
            <a:off x="1792635" y="5367859"/>
            <a:ext cx="5486177" cy="804788"/>
          </a:xfrm>
        </p:spPr>
        <p:txBody>
          <a:bodyPr/>
          <a:lstStyle>
            <a:lvl1pPr marL="0" indent="0">
              <a:buNone/>
              <a:defRPr sz="1000"/>
            </a:lvl1pPr>
            <a:lvl2pPr marL="321457" indent="0">
              <a:buNone/>
              <a:defRPr sz="800"/>
            </a:lvl2pPr>
            <a:lvl3pPr marL="642915" indent="0">
              <a:buNone/>
              <a:defRPr sz="700"/>
            </a:lvl3pPr>
            <a:lvl4pPr marL="964372" indent="0">
              <a:buNone/>
              <a:defRPr sz="600"/>
            </a:lvl4pPr>
            <a:lvl5pPr marL="1285829" indent="0">
              <a:buNone/>
              <a:defRPr sz="600"/>
            </a:lvl5pPr>
            <a:lvl6pPr marL="1607287" indent="0">
              <a:buNone/>
              <a:defRPr sz="600"/>
            </a:lvl6pPr>
            <a:lvl7pPr marL="1928744" indent="0">
              <a:buNone/>
              <a:defRPr sz="600"/>
            </a:lvl7pPr>
            <a:lvl8pPr marL="2250201" indent="0">
              <a:buNone/>
              <a:defRPr sz="600"/>
            </a:lvl8pPr>
            <a:lvl9pPr marL="2571659" indent="0">
              <a:buNone/>
              <a:defRPr sz="600"/>
            </a:lvl9pPr>
          </a:lstStyle>
          <a:p>
            <a:pPr lvl="0"/>
            <a:r>
              <a:rPr lang="en-US"/>
              <a:t>Click to edit Master text styles</a:t>
            </a:r>
          </a:p>
        </p:txBody>
      </p:sp>
    </p:spTree>
    <p:extLst>
      <p:ext uri="{BB962C8B-B14F-4D97-AF65-F5344CB8AC3E}">
        <p14:creationId xmlns:p14="http://schemas.microsoft.com/office/powerpoint/2010/main" val="114565238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557665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11515" y="178594"/>
            <a:ext cx="1839516" cy="5786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92969" y="178594"/>
            <a:ext cx="5411391" cy="5786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72352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647" y="1928813"/>
            <a:ext cx="8228707" cy="1143000"/>
          </a:xfrm>
          <a:prstGeom prst="rect">
            <a:avLst/>
          </a:prstGeom>
        </p:spPr>
        <p:txBody>
          <a:bodyPr vert="horz" lIns="64284" tIns="32142" rIns="64284" bIns="32142"/>
          <a:lstStyle>
            <a:lvl1pPr>
              <a:defRPr>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175078595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647" y="1928813"/>
            <a:ext cx="8228707" cy="1143000"/>
          </a:xfrm>
          <a:prstGeom prst="rect">
            <a:avLst/>
          </a:prstGeom>
        </p:spPr>
        <p:txBody>
          <a:bodyPr vert="horz" lIns="64284" tIns="32142" rIns="64284" bIns="32142"/>
          <a:lstStyle>
            <a:lvl1pPr>
              <a:defRPr>
                <a:solidFill>
                  <a:schemeClr val="accent5"/>
                </a:solidFill>
              </a:defRPr>
            </a:lvl1pPr>
          </a:lstStyle>
          <a:p>
            <a:r>
              <a:rPr lang="en-US"/>
              <a:t>Click to edit Master title style</a:t>
            </a:r>
            <a:endParaRPr lang="en-US" dirty="0"/>
          </a:p>
        </p:txBody>
      </p:sp>
    </p:spTree>
    <p:extLst>
      <p:ext uri="{BB962C8B-B14F-4D97-AF65-F5344CB8AC3E}">
        <p14:creationId xmlns:p14="http://schemas.microsoft.com/office/powerpoint/2010/main" val="88743187"/>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FAD32-CC12-0049-BF75-3DDCA597D08B}" type="datetime1">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916442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6" r:id="rId3"/>
    <p:sldLayoutId id="2147483677" r:id="rId4"/>
    <p:sldLayoutId id="2147483678" r:id="rId5"/>
    <p:sldLayoutId id="214748367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B96D0A-E866-214C-9AA7-BFFCE1F059D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6">
            <a:extLst>
              <a:ext uri="{FF2B5EF4-FFF2-40B4-BE49-F238E27FC236}">
                <a16:creationId xmlns:a16="http://schemas.microsoft.com/office/drawing/2014/main" id="{8C3B293A-1B30-3F41-8CF6-AAB2D4C06675}"/>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08045017"/>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446485" y="321469"/>
            <a:ext cx="8304609" cy="1553766"/>
          </a:xfrm>
          <a:prstGeom prst="rect">
            <a:avLst/>
          </a:prstGeom>
          <a:noFill/>
          <a:ln w="12700">
            <a:noFill/>
            <a:miter lim="800000"/>
            <a:headEnd/>
            <a:tailEnd/>
          </a:ln>
          <a:effectLst/>
        </p:spPr>
        <p:txBody>
          <a:bodyPr vert="horz" wrap="square" lIns="35717" tIns="35717" rIns="35717" bIns="35717" numCol="1" anchor="ctr" anchorCtr="0" compatLnSpc="1">
            <a:prstTxWarp prst="textNoShape">
              <a:avLst/>
            </a:prstTxWarp>
          </a:bodyPr>
          <a:lstStyle/>
          <a:p>
            <a:pPr lvl="0"/>
            <a:r>
              <a:rPr lang="en-US" dirty="0">
                <a:sym typeface="Gill Sans" pitchFamily="-1" charset="0"/>
              </a:rPr>
              <a:t>Click to edit Master title style</a:t>
            </a:r>
          </a:p>
        </p:txBody>
      </p:sp>
      <p:sp>
        <p:nvSpPr>
          <p:cNvPr id="2050" name="Rectangle 2"/>
          <p:cNvSpPr>
            <a:spLocks noGrp="1" noChangeArrowheads="1"/>
          </p:cNvSpPr>
          <p:nvPr>
            <p:ph type="body" idx="1"/>
          </p:nvPr>
        </p:nvSpPr>
        <p:spPr bwMode="auto">
          <a:xfrm>
            <a:off x="500063" y="2089547"/>
            <a:ext cx="8251031" cy="4018359"/>
          </a:xfrm>
          <a:prstGeom prst="rect">
            <a:avLst/>
          </a:prstGeom>
          <a:noFill/>
          <a:ln w="12700">
            <a:noFill/>
            <a:miter lim="800000"/>
            <a:headEnd/>
            <a:tailEnd/>
          </a:ln>
          <a:effectLst/>
        </p:spPr>
        <p:txBody>
          <a:bodyPr vert="horz" wrap="square" lIns="35717" tIns="35717" rIns="35717" bIns="35717" numCol="1" anchor="t" anchorCtr="0" compatLnSpc="1">
            <a:prstTxWarp prst="textNoShape">
              <a:avLst/>
            </a:prstTxWarp>
          </a:bodyPr>
          <a:lstStyle/>
          <a:p>
            <a:pPr lvl="0"/>
            <a:r>
              <a:rPr lang="en-US" dirty="0">
                <a:sym typeface="Gill Sans" pitchFamily="-1" charset="0"/>
              </a:rPr>
              <a:t>Click to edit Master text styles</a:t>
            </a:r>
          </a:p>
          <a:p>
            <a:pPr lvl="1"/>
            <a:r>
              <a:rPr lang="en-US" dirty="0">
                <a:sym typeface="Gill Sans" pitchFamily="-1" charset="0"/>
              </a:rPr>
              <a:t>Second level</a:t>
            </a:r>
          </a:p>
          <a:p>
            <a:pPr lvl="2"/>
            <a:r>
              <a:rPr lang="en-US" dirty="0">
                <a:sym typeface="Gill Sans" pitchFamily="-1" charset="0"/>
              </a:rPr>
              <a:t>Third level</a:t>
            </a:r>
          </a:p>
          <a:p>
            <a:pPr lvl="3"/>
            <a:r>
              <a:rPr lang="en-US" dirty="0">
                <a:sym typeface="Gill Sans" pitchFamily="-1" charset="0"/>
              </a:rPr>
              <a:t>Fourth level</a:t>
            </a:r>
          </a:p>
          <a:p>
            <a:pPr lvl="4"/>
            <a:r>
              <a:rPr lang="en-US" dirty="0">
                <a:sym typeface="Gill Sans" pitchFamily="-1" charset="0"/>
              </a:rPr>
              <a:t>Fifth level</a:t>
            </a:r>
          </a:p>
        </p:txBody>
      </p:sp>
      <p:sp>
        <p:nvSpPr>
          <p:cNvPr id="5" name="Rectangle 4"/>
          <p:cNvSpPr/>
          <p:nvPr/>
        </p:nvSpPr>
        <p:spPr bwMode="auto">
          <a:xfrm>
            <a:off x="0" y="0"/>
            <a:ext cx="9144000" cy="160734"/>
          </a:xfrm>
          <a:prstGeom prst="rect">
            <a:avLst/>
          </a:prstGeom>
          <a:solidFill>
            <a:schemeClr val="accent2"/>
          </a:solidFill>
          <a:ln w="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marL="0" marR="0" indent="0" algn="ctr" defTabSz="642915" rtl="0" eaLnBrk="1" fontAlgn="base" latinLnBrk="0" hangingPunct="1">
              <a:lnSpc>
                <a:spcPct val="100000"/>
              </a:lnSpc>
              <a:spcBef>
                <a:spcPct val="0"/>
              </a:spcBef>
              <a:spcAft>
                <a:spcPct val="0"/>
              </a:spcAft>
              <a:buClrTx/>
              <a:buSzTx/>
              <a:buFontTx/>
              <a:buNone/>
              <a:tabLst/>
            </a:pPr>
            <a:endParaRPr kumimoji="0" lang="en-US" sz="30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endParaRPr>
          </a:p>
        </p:txBody>
      </p:sp>
      <p:pic>
        <p:nvPicPr>
          <p:cNvPr id="6" name="Picture 5"/>
          <p:cNvPicPr>
            <a:picLocks noChangeAspect="1"/>
          </p:cNvPicPr>
          <p:nvPr/>
        </p:nvPicPr>
        <p:blipFill>
          <a:blip r:embed="rId14"/>
          <a:stretch>
            <a:fillRect/>
          </a:stretch>
        </p:blipFill>
        <p:spPr>
          <a:xfrm>
            <a:off x="5345696" y="6197600"/>
            <a:ext cx="3405398" cy="563696"/>
          </a:xfrm>
          <a:prstGeom prst="rect">
            <a:avLst/>
          </a:prstGeom>
        </p:spPr>
      </p:pic>
    </p:spTree>
    <p:extLst>
      <p:ext uri="{BB962C8B-B14F-4D97-AF65-F5344CB8AC3E}">
        <p14:creationId xmlns:p14="http://schemas.microsoft.com/office/powerpoint/2010/main" val="144637409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ransition/>
  <p:txStyles>
    <p:titleStyle>
      <a:lvl1pPr algn="ctr" rtl="0" eaLnBrk="1" fontAlgn="base" hangingPunct="1">
        <a:spcBef>
          <a:spcPct val="0"/>
        </a:spcBef>
        <a:spcAft>
          <a:spcPct val="0"/>
        </a:spcAft>
        <a:defRPr sz="3500">
          <a:solidFill>
            <a:srgbClr val="343434"/>
          </a:solidFill>
          <a:latin typeface="+mj-lt"/>
          <a:ea typeface="+mj-ea"/>
          <a:cs typeface="+mj-cs"/>
          <a:sym typeface="Gill Sans" pitchFamily="-1" charset="0"/>
        </a:defRPr>
      </a:lvl1pPr>
      <a:lvl2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2pPr>
      <a:lvl3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3pPr>
      <a:lvl4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4pPr>
      <a:lvl5pPr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5pPr>
      <a:lvl6pPr marL="321457"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6pPr>
      <a:lvl7pPr marL="642915"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7pPr>
      <a:lvl8pPr marL="964372"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8pPr>
      <a:lvl9pPr marL="1285829" algn="ctr" rtl="0" eaLnBrk="1" fontAlgn="base" hangingPunct="1">
        <a:spcBef>
          <a:spcPct val="0"/>
        </a:spcBef>
        <a:spcAft>
          <a:spcPct val="0"/>
        </a:spcAft>
        <a:defRPr sz="5900">
          <a:solidFill>
            <a:schemeClr val="tx1"/>
          </a:solidFill>
          <a:latin typeface="Gill Sans" pitchFamily="-1" charset="0"/>
          <a:ea typeface="ヒラギノ角ゴ ProN W3" pitchFamily="-1" charset="-128"/>
          <a:cs typeface="ヒラギノ角ゴ ProN W3" pitchFamily="-1" charset="-128"/>
          <a:sym typeface="Gill Sans" pitchFamily="-1" charset="0"/>
        </a:defRPr>
      </a:lvl9pPr>
    </p:titleStyle>
    <p:bodyStyle>
      <a:lvl1pPr marL="534646"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1pPr>
      <a:lvl2pPr marL="847174"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2pPr>
      <a:lvl3pPr marL="1159702"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3pPr>
      <a:lvl4pPr marL="1472230"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4pPr>
      <a:lvl5pPr marL="1784758" indent="-347130" algn="l" rtl="0" eaLnBrk="1" fontAlgn="base" hangingPunct="1">
        <a:spcBef>
          <a:spcPts val="2672"/>
        </a:spcBef>
        <a:spcAft>
          <a:spcPct val="0"/>
        </a:spcAft>
        <a:buClr>
          <a:schemeClr val="accent5"/>
        </a:buClr>
        <a:buSzPct val="100000"/>
        <a:buFont typeface="Gill Sans" pitchFamily="-1" charset="0"/>
        <a:buChar char="•"/>
        <a:defRPr sz="2200">
          <a:solidFill>
            <a:srgbClr val="000000"/>
          </a:solidFill>
          <a:latin typeface="+mn-lt"/>
          <a:ea typeface="+mn-ea"/>
          <a:cs typeface="+mn-cs"/>
          <a:sym typeface="Gill Sans" pitchFamily="-1" charset="0"/>
        </a:defRPr>
      </a:lvl5pPr>
      <a:lvl6pPr marL="2106216"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6pPr>
      <a:lvl7pPr marL="2427673"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7pPr>
      <a:lvl8pPr marL="2749130"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8pPr>
      <a:lvl9pPr marL="3070587" indent="-347130" algn="l" rtl="0" eaLnBrk="1" fontAlgn="base" hangingPunct="1">
        <a:spcBef>
          <a:spcPts val="2672"/>
        </a:spcBef>
        <a:spcAft>
          <a:spcPct val="0"/>
        </a:spcAft>
        <a:buSzPct val="171000"/>
        <a:buFont typeface="Gill Sans" pitchFamily="-1" charset="0"/>
        <a:buChar char="•"/>
        <a:defRPr sz="2200">
          <a:solidFill>
            <a:schemeClr val="tx1"/>
          </a:solidFill>
          <a:latin typeface="+mn-lt"/>
          <a:ea typeface="+mn-ea"/>
          <a:cs typeface="+mn-cs"/>
          <a:sym typeface="Gill Sans" pitchFamily="-1" charset="0"/>
        </a:defRPr>
      </a:lvl9pPr>
    </p:bodyStyle>
    <p:otherStyle>
      <a:defPPr>
        <a:defRPr lang="en-US"/>
      </a:defPPr>
      <a:lvl1pPr marL="0" algn="l" defTabSz="321457" rtl="0" eaLnBrk="1" latinLnBrk="0" hangingPunct="1">
        <a:defRPr sz="1300" kern="1200">
          <a:solidFill>
            <a:schemeClr val="tx1"/>
          </a:solidFill>
          <a:latin typeface="+mn-lt"/>
          <a:ea typeface="+mn-ea"/>
          <a:cs typeface="+mn-cs"/>
        </a:defRPr>
      </a:lvl1pPr>
      <a:lvl2pPr marL="321457" algn="l" defTabSz="321457" rtl="0" eaLnBrk="1" latinLnBrk="0" hangingPunct="1">
        <a:defRPr sz="1300" kern="1200">
          <a:solidFill>
            <a:schemeClr val="tx1"/>
          </a:solidFill>
          <a:latin typeface="+mn-lt"/>
          <a:ea typeface="+mn-ea"/>
          <a:cs typeface="+mn-cs"/>
        </a:defRPr>
      </a:lvl2pPr>
      <a:lvl3pPr marL="642915" algn="l" defTabSz="321457" rtl="0" eaLnBrk="1" latinLnBrk="0" hangingPunct="1">
        <a:defRPr sz="1300" kern="1200">
          <a:solidFill>
            <a:schemeClr val="tx1"/>
          </a:solidFill>
          <a:latin typeface="+mn-lt"/>
          <a:ea typeface="+mn-ea"/>
          <a:cs typeface="+mn-cs"/>
        </a:defRPr>
      </a:lvl3pPr>
      <a:lvl4pPr marL="964372" algn="l" defTabSz="321457" rtl="0" eaLnBrk="1" latinLnBrk="0" hangingPunct="1">
        <a:defRPr sz="1300" kern="1200">
          <a:solidFill>
            <a:schemeClr val="tx1"/>
          </a:solidFill>
          <a:latin typeface="+mn-lt"/>
          <a:ea typeface="+mn-ea"/>
          <a:cs typeface="+mn-cs"/>
        </a:defRPr>
      </a:lvl4pPr>
      <a:lvl5pPr marL="1285829" algn="l" defTabSz="321457" rtl="0" eaLnBrk="1" latinLnBrk="0" hangingPunct="1">
        <a:defRPr sz="1300" kern="1200">
          <a:solidFill>
            <a:schemeClr val="tx1"/>
          </a:solidFill>
          <a:latin typeface="+mn-lt"/>
          <a:ea typeface="+mn-ea"/>
          <a:cs typeface="+mn-cs"/>
        </a:defRPr>
      </a:lvl5pPr>
      <a:lvl6pPr marL="1607287" algn="l" defTabSz="321457" rtl="0" eaLnBrk="1" latinLnBrk="0" hangingPunct="1">
        <a:defRPr sz="1300" kern="1200">
          <a:solidFill>
            <a:schemeClr val="tx1"/>
          </a:solidFill>
          <a:latin typeface="+mn-lt"/>
          <a:ea typeface="+mn-ea"/>
          <a:cs typeface="+mn-cs"/>
        </a:defRPr>
      </a:lvl6pPr>
      <a:lvl7pPr marL="1928744" algn="l" defTabSz="321457" rtl="0" eaLnBrk="1" latinLnBrk="0" hangingPunct="1">
        <a:defRPr sz="1300" kern="1200">
          <a:solidFill>
            <a:schemeClr val="tx1"/>
          </a:solidFill>
          <a:latin typeface="+mn-lt"/>
          <a:ea typeface="+mn-ea"/>
          <a:cs typeface="+mn-cs"/>
        </a:defRPr>
      </a:lvl7pPr>
      <a:lvl8pPr marL="2250201" algn="l" defTabSz="321457" rtl="0" eaLnBrk="1" latinLnBrk="0" hangingPunct="1">
        <a:defRPr sz="1300" kern="1200">
          <a:solidFill>
            <a:schemeClr val="tx1"/>
          </a:solidFill>
          <a:latin typeface="+mn-lt"/>
          <a:ea typeface="+mn-ea"/>
          <a:cs typeface="+mn-cs"/>
        </a:defRPr>
      </a:lvl8pPr>
      <a:lvl9pPr marL="2571659" algn="l" defTabSz="321457"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7FFFF1A9_0.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microsoft.com/office/2018/10/relationships/comments" Target="../comments/modernComment_7FFFF1AA_0.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19_0.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11A_0.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11C_0.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144000" cy="6858000"/>
          </a:xfrm>
          <a:prstGeom prst="rect">
            <a:avLst/>
          </a:prstGeom>
          <a:solidFill>
            <a:schemeClr val="tx2">
              <a:lumMod val="40000"/>
              <a:lumOff val="6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200" b="0" i="0" u="none" strike="noStrike" cap="none" normalizeH="0" baseline="0">
              <a:ln>
                <a:noFill/>
              </a:ln>
              <a:solidFill>
                <a:schemeClr val="bg1"/>
              </a:solidFill>
              <a:effectLst/>
              <a:latin typeface="Gill Sans" pitchFamily="-1" charset="0"/>
              <a:ea typeface="ヒラギノ角ゴ ProN W3" pitchFamily="-1" charset="-128"/>
              <a:cs typeface="ヒラギノ角ゴ ProN W3" pitchFamily="-1" charset="-128"/>
              <a:sym typeface="Gill Sans" pitchFamily="-1" charset="0"/>
            </a:endParaRPr>
          </a:p>
        </p:txBody>
      </p:sp>
      <p:sp>
        <p:nvSpPr>
          <p:cNvPr id="19457" name="Rectangle 1"/>
          <p:cNvSpPr>
            <a:spLocks/>
          </p:cNvSpPr>
          <p:nvPr/>
        </p:nvSpPr>
        <p:spPr bwMode="auto">
          <a:xfrm>
            <a:off x="304800" y="2209800"/>
            <a:ext cx="8534400" cy="4495800"/>
          </a:xfrm>
          <a:prstGeom prst="rect">
            <a:avLst/>
          </a:prstGeom>
          <a:noFill/>
          <a:ln w="12700" cap="flat">
            <a:noFill/>
            <a:miter lim="800000"/>
            <a:headEnd type="none" w="med" len="med"/>
            <a:tailEnd type="none" w="med" len="med"/>
          </a:ln>
        </p:spPr>
        <p:txBody>
          <a:bodyPr lIns="0" tIns="0" rIns="0" bIns="0" anchor="ctr">
            <a:prstTxWarp prst="textNoShape">
              <a:avLst/>
            </a:prstTxWarp>
          </a:bodyPr>
          <a:lstStyle/>
          <a:p>
            <a:pPr algn="ctr" fontAlgn="ctr"/>
            <a:r>
              <a:rPr lang="en-US" sz="5000" b="1" dirty="0">
                <a:latin typeface="+mj-lt"/>
              </a:rPr>
              <a:t>Reducing the impact of CVD in Indonesia</a:t>
            </a:r>
          </a:p>
          <a:p>
            <a:pPr algn="ctr" fontAlgn="ctr"/>
            <a:endParaRPr lang="en-US" sz="2200" b="1" dirty="0">
              <a:latin typeface="+mj-lt"/>
            </a:endParaRPr>
          </a:p>
          <a:p>
            <a:pPr algn="ctr" fontAlgn="ctr"/>
            <a:r>
              <a:rPr lang="en-US" sz="3000" dirty="0">
                <a:latin typeface="+mj-lt"/>
                <a:ea typeface="Helvetica" pitchFamily="-1" charset="0"/>
                <a:cs typeface="Helvetica" pitchFamily="-1" charset="0"/>
                <a:sym typeface="Helvetica" pitchFamily="-1" charset="0"/>
              </a:rPr>
              <a:t>David Watkins, William Garcia, William </a:t>
            </a:r>
            <a:r>
              <a:rPr lang="en-US" sz="3000" dirty="0" err="1">
                <a:latin typeface="+mj-lt"/>
                <a:ea typeface="Helvetica" pitchFamily="-1" charset="0"/>
                <a:cs typeface="Helvetica" pitchFamily="-1" charset="0"/>
                <a:sym typeface="Helvetica" pitchFamily="-1" charset="0"/>
              </a:rPr>
              <a:t>Msemburi</a:t>
            </a:r>
            <a:r>
              <a:rPr lang="en-US" sz="3000" dirty="0">
                <a:latin typeface="+mj-lt"/>
                <a:ea typeface="Helvetica" pitchFamily="-1" charset="0"/>
                <a:cs typeface="Helvetica" pitchFamily="-1" charset="0"/>
                <a:sym typeface="Helvetica" pitchFamily="-1" charset="0"/>
              </a:rPr>
              <a:t>, </a:t>
            </a:r>
          </a:p>
          <a:p>
            <a:pPr algn="ctr" fontAlgn="ctr"/>
            <a:r>
              <a:rPr lang="en-US" sz="3000" dirty="0">
                <a:latin typeface="+mj-lt"/>
                <a:ea typeface="Helvetica" pitchFamily="-1" charset="0"/>
                <a:cs typeface="Helvetica" pitchFamily="-1" charset="0"/>
                <a:sym typeface="Helvetica" pitchFamily="-1" charset="0"/>
              </a:rPr>
              <a:t>Zili Huang, Yuchen Liu, Stéphane Verguet</a:t>
            </a:r>
          </a:p>
          <a:p>
            <a:pPr algn="ctr" fontAlgn="ctr"/>
            <a:endParaRPr lang="en-US" sz="3000" dirty="0">
              <a:latin typeface="+mj-lt"/>
              <a:ea typeface="Helvetica" pitchFamily="-1" charset="0"/>
              <a:cs typeface="Helvetica" pitchFamily="-1" charset="0"/>
              <a:sym typeface="Helvetica" pitchFamily="-1" charset="0"/>
            </a:endParaRPr>
          </a:p>
          <a:p>
            <a:pPr algn="ctr"/>
            <a:endParaRPr lang="en-US" sz="1200" dirty="0">
              <a:latin typeface="+mj-lt"/>
              <a:ea typeface="Helvetica" pitchFamily="-1" charset="0"/>
              <a:cs typeface="Helvetica" pitchFamily="-1" charset="0"/>
              <a:sym typeface="Helvetica" pitchFamily="-1" charset="0"/>
            </a:endParaRPr>
          </a:p>
          <a:p>
            <a:pPr algn="ctr"/>
            <a:r>
              <a:rPr lang="en-US" sz="2000" dirty="0" err="1">
                <a:latin typeface="+mj-lt"/>
              </a:rPr>
              <a:t>Kemenkes</a:t>
            </a:r>
            <a:r>
              <a:rPr lang="en-US" sz="2000" dirty="0">
                <a:latin typeface="+mj-lt"/>
              </a:rPr>
              <a:t>, August 28, 2026</a:t>
            </a:r>
          </a:p>
          <a:p>
            <a:pPr algn="ctr"/>
            <a:endParaRPr lang="en-US" dirty="0">
              <a:latin typeface="+mj-lt"/>
            </a:endParaRPr>
          </a:p>
        </p:txBody>
      </p:sp>
      <p:pic>
        <p:nvPicPr>
          <p:cNvPr id="3" name="Picture 2" descr="A close up of a logo&#10;&#10;AI-generated content may be incorrect.">
            <a:extLst>
              <a:ext uri="{FF2B5EF4-FFF2-40B4-BE49-F238E27FC236}">
                <a16:creationId xmlns:a16="http://schemas.microsoft.com/office/drawing/2014/main" id="{6AEC541F-5BA3-78CA-C1C9-00C089172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457200"/>
            <a:ext cx="3514434" cy="1280160"/>
          </a:xfrm>
          <a:prstGeom prst="rect">
            <a:avLst/>
          </a:prstGeom>
        </p:spPr>
      </p:pic>
    </p:spTree>
    <p:extLst>
      <p:ext uri="{BB962C8B-B14F-4D97-AF65-F5344CB8AC3E}">
        <p14:creationId xmlns:p14="http://schemas.microsoft.com/office/powerpoint/2010/main" val="4030985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14600"/>
            <a:ext cx="8229600" cy="1523999"/>
          </a:xfrm>
        </p:spPr>
        <p:txBody>
          <a:bodyPr>
            <a:noAutofit/>
          </a:bodyPr>
          <a:lstStyle/>
          <a:p>
            <a:pPr marL="0" indent="0" algn="ctr">
              <a:buNone/>
            </a:pPr>
            <a:r>
              <a:rPr lang="en-US" sz="4000" b="1" dirty="0">
                <a:solidFill>
                  <a:srgbClr val="002060"/>
                </a:solidFill>
              </a:rPr>
              <a:t>Message 1. </a:t>
            </a:r>
            <a:r>
              <a:rPr lang="en-US" sz="4000" dirty="0">
                <a:solidFill>
                  <a:srgbClr val="002060"/>
                </a:solidFill>
              </a:rPr>
              <a:t>The economic value of reducing avoidable mortality is very large in Indonesia</a:t>
            </a:r>
          </a:p>
        </p:txBody>
      </p:sp>
    </p:spTree>
    <p:extLst>
      <p:ext uri="{BB962C8B-B14F-4D97-AF65-F5344CB8AC3E}">
        <p14:creationId xmlns:p14="http://schemas.microsoft.com/office/powerpoint/2010/main" val="1999605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9802E-2420-0204-3E11-AF2A334DA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F23CF-6566-5D38-8257-2E328286B1F6}"/>
              </a:ext>
            </a:extLst>
          </p:cNvPr>
          <p:cNvSpPr>
            <a:spLocks noGrp="1"/>
          </p:cNvSpPr>
          <p:nvPr>
            <p:ph type="title"/>
          </p:nvPr>
        </p:nvSpPr>
        <p:spPr>
          <a:xfrm>
            <a:off x="627623" y="685621"/>
            <a:ext cx="7888754" cy="685979"/>
          </a:xfrm>
        </p:spPr>
        <p:txBody>
          <a:bodyPr>
            <a:noAutofit/>
          </a:bodyPr>
          <a:lstStyle/>
          <a:p>
            <a:r>
              <a:rPr lang="en-US" sz="4000" b="1" dirty="0">
                <a:solidFill>
                  <a:srgbClr val="002060"/>
                </a:solidFill>
              </a:rPr>
              <a:t>HEALTHY LONGEVITY INITIATIVE</a:t>
            </a:r>
          </a:p>
        </p:txBody>
      </p:sp>
      <p:pic>
        <p:nvPicPr>
          <p:cNvPr id="6" name="Content Placeholder 5">
            <a:extLst>
              <a:ext uri="{FF2B5EF4-FFF2-40B4-BE49-F238E27FC236}">
                <a16:creationId xmlns:a16="http://schemas.microsoft.com/office/drawing/2014/main" id="{0DB9C0F7-0B2B-43A5-B6DC-5C8645E7D6B1}"/>
              </a:ext>
            </a:extLst>
          </p:cNvPr>
          <p:cNvPicPr>
            <a:picLocks noGrp="1" noChangeAspect="1"/>
          </p:cNvPicPr>
          <p:nvPr>
            <p:ph sz="quarter" idx="13"/>
          </p:nvPr>
        </p:nvPicPr>
        <p:blipFill>
          <a:blip r:embed="rId2"/>
          <a:stretch>
            <a:fillRect/>
          </a:stretch>
        </p:blipFill>
        <p:spPr>
          <a:xfrm>
            <a:off x="228600" y="2201305"/>
            <a:ext cx="2597364" cy="3361295"/>
          </a:xfrm>
        </p:spPr>
      </p:pic>
      <p:sp>
        <p:nvSpPr>
          <p:cNvPr id="10" name="TextBox 9">
            <a:extLst>
              <a:ext uri="{FF2B5EF4-FFF2-40B4-BE49-F238E27FC236}">
                <a16:creationId xmlns:a16="http://schemas.microsoft.com/office/drawing/2014/main" id="{CCE453BC-44B7-A17D-2442-87D31A0735F9}"/>
              </a:ext>
            </a:extLst>
          </p:cNvPr>
          <p:cNvSpPr txBox="1"/>
          <p:nvPr/>
        </p:nvSpPr>
        <p:spPr>
          <a:xfrm>
            <a:off x="2971800" y="1898571"/>
            <a:ext cx="6095999" cy="3816429"/>
          </a:xfrm>
          <a:prstGeom prst="rect">
            <a:avLst/>
          </a:prstGeom>
          <a:noFill/>
        </p:spPr>
        <p:txBody>
          <a:bodyPr wrap="square">
            <a:spAutoFit/>
          </a:bodyPr>
          <a:lstStyle/>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In many countries, the </a:t>
            </a:r>
            <a:r>
              <a:rPr lang="en-US" sz="2200" b="1" dirty="0">
                <a:latin typeface="Calibri" panose="020F0502020204030204" pitchFamily="34" charset="0"/>
                <a:cs typeface="Calibri" panose="020F0502020204030204" pitchFamily="34" charset="0"/>
              </a:rPr>
              <a:t>proportion of older adults is increasing</a:t>
            </a:r>
            <a:r>
              <a:rPr lang="en-US" sz="2200" dirty="0">
                <a:latin typeface="Calibri" panose="020F0502020204030204" pitchFamily="34" charset="0"/>
                <a:cs typeface="Calibri" panose="020F0502020204030204" pitchFamily="34" charset="0"/>
              </a:rPr>
              <a:t>, with an </a:t>
            </a:r>
            <a:r>
              <a:rPr lang="en-US" sz="2200" b="1" dirty="0">
                <a:latin typeface="Calibri" panose="020F0502020204030204" pitchFamily="34" charset="0"/>
                <a:cs typeface="Calibri" panose="020F0502020204030204" pitchFamily="34" charset="0"/>
              </a:rPr>
              <a:t>ever-increasing burden of NCDs</a:t>
            </a:r>
          </a:p>
          <a:p>
            <a:pPr marL="171496" indent="-171496">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National health systems face difficult </a:t>
            </a:r>
            <a:r>
              <a:rPr lang="en-US" sz="2200" b="1" dirty="0">
                <a:latin typeface="Calibri" panose="020F0502020204030204" pitchFamily="34" charset="0"/>
                <a:cs typeface="Calibri" panose="020F0502020204030204" pitchFamily="34" charset="0"/>
              </a:rPr>
              <a:t>trade-offs when allocating health sector resources</a:t>
            </a:r>
            <a:endParaRPr lang="en-US" sz="2200" dirty="0">
              <a:latin typeface="Calibri" panose="020F0502020204030204" pitchFamily="34" charset="0"/>
              <a:cs typeface="Calibri" panose="020F0502020204030204" pitchFamily="34" charset="0"/>
            </a:endParaRPr>
          </a:p>
          <a:p>
            <a:pPr marL="171496"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World Bank launched the “Healthy Longevity Initiative” to develop an evidence base for </a:t>
            </a:r>
            <a:r>
              <a:rPr lang="en-US" sz="2200" b="1" dirty="0">
                <a:latin typeface="Calibri" panose="020F0502020204030204" pitchFamily="34" charset="0"/>
                <a:cs typeface="Calibri" panose="020F0502020204030204" pitchFamily="34" charset="0"/>
              </a:rPr>
              <a:t>life-course investments in policies that can improve healthy longevity and human capital</a:t>
            </a:r>
          </a:p>
        </p:txBody>
      </p:sp>
      <p:sp>
        <p:nvSpPr>
          <p:cNvPr id="12" name="Down Arrow 11">
            <a:extLst>
              <a:ext uri="{FF2B5EF4-FFF2-40B4-BE49-F238E27FC236}">
                <a16:creationId xmlns:a16="http://schemas.microsoft.com/office/drawing/2014/main" id="{575F2A69-83B0-3948-BA53-E07D56FC531B}"/>
              </a:ext>
            </a:extLst>
          </p:cNvPr>
          <p:cNvSpPr/>
          <p:nvPr/>
        </p:nvSpPr>
        <p:spPr>
          <a:xfrm>
            <a:off x="5105400" y="2882722"/>
            <a:ext cx="1227541" cy="470078"/>
          </a:xfrm>
          <a:prstGeom prst="downArrow">
            <a:avLst/>
          </a:prstGeom>
          <a:solidFill>
            <a:schemeClr val="accent6">
              <a:lumMod val="60000"/>
              <a:lumOff val="40000"/>
            </a:schemeClr>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Tree>
    <p:extLst>
      <p:ext uri="{BB962C8B-B14F-4D97-AF65-F5344CB8AC3E}">
        <p14:creationId xmlns:p14="http://schemas.microsoft.com/office/powerpoint/2010/main" val="517079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2F76019-1178-910E-CBB4-A141A1D9A952}"/>
              </a:ext>
            </a:extLst>
          </p:cNvPr>
          <p:cNvSpPr txBox="1"/>
          <p:nvPr/>
        </p:nvSpPr>
        <p:spPr>
          <a:xfrm>
            <a:off x="381000" y="1929348"/>
            <a:ext cx="8229600" cy="3785652"/>
          </a:xfrm>
          <a:prstGeom prst="rect">
            <a:avLst/>
          </a:prstGeom>
          <a:noFill/>
        </p:spPr>
        <p:txBody>
          <a:bodyPr wrap="square">
            <a:spAutoFit/>
          </a:bodyPr>
          <a:lstStyle/>
          <a:p>
            <a:pPr marL="171496" indent="-171496">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marL="557292" lvl="1" indent="-214370">
              <a:buFont typeface="Wingdings" pitchFamily="2" charset="2"/>
              <a:buChar char="Ø"/>
            </a:pPr>
            <a:r>
              <a:rPr lang="en-US" sz="2400" b="1" u="sng" dirty="0">
                <a:latin typeface="Calibri" panose="020F0502020204030204" pitchFamily="34" charset="0"/>
                <a:cs typeface="Calibri" panose="020F0502020204030204" pitchFamily="34" charset="0"/>
              </a:rPr>
              <a:t>Estimating the economic value of avoidable mortality from major causes of death</a:t>
            </a:r>
            <a:r>
              <a:rPr lang="en-US" sz="2400" b="1" dirty="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provides the foundations for evaluating the benefits of prevention and control policies under consideration</a:t>
            </a:r>
          </a:p>
          <a:p>
            <a:pPr marL="171496" indent="-171496">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marL="557292" lvl="1" indent="-214370">
              <a:buFont typeface="Wingdings" pitchFamily="2" charset="2"/>
              <a:buChar char="Ø"/>
            </a:pPr>
            <a:r>
              <a:rPr lang="en-US" sz="2400" b="1" u="sng" dirty="0">
                <a:latin typeface="Calibri" panose="020F0502020204030204" pitchFamily="34" charset="0"/>
                <a:cs typeface="Calibri" panose="020F0502020204030204" pitchFamily="34" charset="0"/>
              </a:rPr>
              <a:t>Producing a monetary value</a:t>
            </a:r>
            <a:r>
              <a:rPr lang="en-US" sz="2400" dirty="0">
                <a:latin typeface="Calibri" panose="020F0502020204030204" pitchFamily="34" charset="0"/>
                <a:cs typeface="Calibri" panose="020F0502020204030204" pitchFamily="34" charset="0"/>
              </a:rPr>
              <a:t> of reducing avoidable mortality by cause of death can directly speak to decision-makers beyond ministries of health, those in other sectors and </a:t>
            </a:r>
            <a:r>
              <a:rPr lang="en-US" sz="2400" b="1" u="sng" dirty="0">
                <a:latin typeface="Calibri" panose="020F0502020204030204" pitchFamily="34" charset="0"/>
                <a:cs typeface="Calibri" panose="020F0502020204030204" pitchFamily="34" charset="0"/>
              </a:rPr>
              <a:t>ministers of finance</a:t>
            </a:r>
          </a:p>
        </p:txBody>
      </p:sp>
      <p:sp>
        <p:nvSpPr>
          <p:cNvPr id="11" name="Title 1">
            <a:extLst>
              <a:ext uri="{FF2B5EF4-FFF2-40B4-BE49-F238E27FC236}">
                <a16:creationId xmlns:a16="http://schemas.microsoft.com/office/drawing/2014/main" id="{55AF81B9-9712-50B9-D7AA-CD29F6D408EA}"/>
              </a:ext>
            </a:extLst>
          </p:cNvPr>
          <p:cNvSpPr>
            <a:spLocks noGrp="1"/>
          </p:cNvSpPr>
          <p:nvPr>
            <p:ph type="title"/>
          </p:nvPr>
        </p:nvSpPr>
        <p:spPr>
          <a:xfrm>
            <a:off x="627623" y="685621"/>
            <a:ext cx="7888754" cy="685979"/>
          </a:xfrm>
        </p:spPr>
        <p:txBody>
          <a:bodyPr>
            <a:noAutofit/>
          </a:bodyPr>
          <a:lstStyle/>
          <a:p>
            <a:r>
              <a:rPr lang="en-US" sz="4000" b="1" dirty="0">
                <a:solidFill>
                  <a:srgbClr val="002060"/>
                </a:solidFill>
              </a:rPr>
              <a:t>OBJECTIVE</a:t>
            </a:r>
          </a:p>
        </p:txBody>
      </p:sp>
      <p:sp>
        <p:nvSpPr>
          <p:cNvPr id="13" name="TextBox 12">
            <a:extLst>
              <a:ext uri="{FF2B5EF4-FFF2-40B4-BE49-F238E27FC236}">
                <a16:creationId xmlns:a16="http://schemas.microsoft.com/office/drawing/2014/main" id="{2AED5DC4-38E8-2479-3595-3A0B0EE5CAA0}"/>
              </a:ext>
            </a:extLst>
          </p:cNvPr>
          <p:cNvSpPr txBox="1"/>
          <p:nvPr/>
        </p:nvSpPr>
        <p:spPr>
          <a:xfrm>
            <a:off x="1447800" y="6248401"/>
            <a:ext cx="6476999" cy="369332"/>
          </a:xfrm>
          <a:prstGeom prst="rect">
            <a:avLst/>
          </a:prstGeom>
          <a:noFill/>
        </p:spPr>
        <p:txBody>
          <a:bodyPr wrap="square" rtlCol="0">
            <a:spAutoFit/>
          </a:bodyPr>
          <a:lstStyle/>
          <a:p>
            <a:pPr algn="ctr"/>
            <a:r>
              <a:rPr lang="en-US" dirty="0">
                <a:solidFill>
                  <a:srgbClr val="000000"/>
                </a:solidFill>
              </a:rPr>
              <a:t>Adapted from: Verguet, </a:t>
            </a:r>
            <a:r>
              <a:rPr lang="en-US" dirty="0" err="1">
                <a:solidFill>
                  <a:srgbClr val="000000"/>
                </a:solidFill>
              </a:rPr>
              <a:t>Bolongaita</a:t>
            </a:r>
            <a:r>
              <a:rPr lang="en-US" dirty="0">
                <a:solidFill>
                  <a:srgbClr val="000000"/>
                </a:solidFill>
              </a:rPr>
              <a:t>, et al. </a:t>
            </a:r>
            <a:r>
              <a:rPr lang="en-US" i="1" dirty="0">
                <a:solidFill>
                  <a:srgbClr val="000000"/>
                </a:solidFill>
              </a:rPr>
              <a:t>Nature Medicine </a:t>
            </a:r>
            <a:r>
              <a:rPr lang="en-US" dirty="0">
                <a:solidFill>
                  <a:srgbClr val="000000"/>
                </a:solidFill>
              </a:rPr>
              <a:t>2024</a:t>
            </a:r>
            <a:endParaRPr lang="en-US" i="1" dirty="0">
              <a:solidFill>
                <a:srgbClr val="000000"/>
              </a:solidFill>
            </a:endParaRPr>
          </a:p>
        </p:txBody>
      </p:sp>
    </p:spTree>
    <p:extLst>
      <p:ext uri="{BB962C8B-B14F-4D97-AF65-F5344CB8AC3E}">
        <p14:creationId xmlns:p14="http://schemas.microsoft.com/office/powerpoint/2010/main" val="295586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7280AE-72AA-369C-928F-36F4C32C07BB}"/>
              </a:ext>
            </a:extLst>
          </p:cNvPr>
          <p:cNvSpPr>
            <a:spLocks noGrp="1"/>
          </p:cNvSpPr>
          <p:nvPr>
            <p:ph sz="quarter" idx="13"/>
          </p:nvPr>
        </p:nvSpPr>
        <p:spPr>
          <a:xfrm>
            <a:off x="340218" y="1961725"/>
            <a:ext cx="8498981" cy="2915075"/>
          </a:xfrm>
        </p:spPr>
        <p:txBody>
          <a:bodyPr>
            <a:noAutofit/>
          </a:bodyPr>
          <a:lstStyle/>
          <a:p>
            <a:r>
              <a:rPr lang="en-US" sz="2200" b="1" u="sng" dirty="0">
                <a:latin typeface="Calibri" panose="020F0502020204030204" pitchFamily="34" charset="0"/>
                <a:cs typeface="Calibri" panose="020F0502020204030204" pitchFamily="34" charset="0"/>
              </a:rPr>
              <a:t>Objective</a:t>
            </a:r>
            <a:r>
              <a:rPr lang="en-US" sz="2200" b="1" dirty="0">
                <a:latin typeface="Calibri" panose="020F0502020204030204" pitchFamily="34" charset="0"/>
                <a:cs typeface="Calibri" panose="020F0502020204030204" pitchFamily="34" charset="0"/>
              </a:rPr>
              <a:t>: To estimate the economic value associated with avoidable mortality related to NCD causes of death, over 2019-2050</a:t>
            </a:r>
          </a:p>
          <a:p>
            <a:r>
              <a:rPr lang="en-US" sz="2200" dirty="0">
                <a:latin typeface="Calibri" panose="020F0502020204030204" pitchFamily="34" charset="0"/>
                <a:cs typeface="Calibri" panose="020F0502020204030204" pitchFamily="34" charset="0"/>
              </a:rPr>
              <a:t>We assess the monetary value of hypothetical reductions in cause-specific mortality</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benchmark these hypothetical reductions against a mortality frontier (lowest mortality rates achieved) by cause</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assign a willingness to pay value to these hypothetical reductions in cause-specific mortality</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64ACBEED-8A82-E373-7018-4AD493CAFF61}"/>
              </a:ext>
            </a:extLst>
          </p:cNvPr>
          <p:cNvSpPr>
            <a:spLocks noGrp="1"/>
          </p:cNvSpPr>
          <p:nvPr>
            <p:ph type="body" sz="quarter" idx="12"/>
          </p:nvPr>
        </p:nvSpPr>
        <p:spPr>
          <a:xfrm>
            <a:off x="510594" y="940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is the economic value of avoidable mortality FROM </a:t>
            </a:r>
            <a:r>
              <a:rPr lang="en-US" sz="3600" dirty="0" err="1">
                <a:solidFill>
                  <a:srgbClr val="002060"/>
                </a:solidFill>
              </a:rPr>
              <a:t>ncd</a:t>
            </a:r>
            <a:r>
              <a:rPr lang="en-US" sz="3600" dirty="0">
                <a:solidFill>
                  <a:srgbClr val="002060"/>
                </a:solidFill>
              </a:rPr>
              <a:t>?</a:t>
            </a:r>
          </a:p>
        </p:txBody>
      </p:sp>
      <p:sp>
        <p:nvSpPr>
          <p:cNvPr id="6" name="Content Placeholder 3">
            <a:extLst>
              <a:ext uri="{FF2B5EF4-FFF2-40B4-BE49-F238E27FC236}">
                <a16:creationId xmlns:a16="http://schemas.microsoft.com/office/drawing/2014/main" id="{5A96E519-97BD-4E05-B5D9-155ED7E84BF9}"/>
              </a:ext>
            </a:extLst>
          </p:cNvPr>
          <p:cNvSpPr txBox="1">
            <a:spLocks/>
          </p:cNvSpPr>
          <p:nvPr/>
        </p:nvSpPr>
        <p:spPr>
          <a:xfrm>
            <a:off x="304800" y="5008389"/>
            <a:ext cx="8534400" cy="1544811"/>
          </a:xfrm>
          <a:prstGeom prst="rect">
            <a:avLst/>
          </a:prstGeom>
          <a:ln w="28575">
            <a:solidFill>
              <a:schemeClr val="tx1"/>
            </a:solidFill>
          </a:ln>
        </p:spPr>
        <p:txBody>
          <a:bodyPr vert="horz" lIns="34299" tIns="17149" rIns="34299" bIns="17149" rtlCol="0">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200" b="1" u="sng" dirty="0">
                <a:latin typeface="Calibri" panose="020F0502020204030204" pitchFamily="34" charset="0"/>
                <a:ea typeface="Times New Roman" panose="02020603050405020304" pitchFamily="18" charset="0"/>
                <a:cs typeface="Calibri" panose="020F0502020204030204" pitchFamily="34" charset="0"/>
              </a:rPr>
              <a:t>Key numéraire obtained</a:t>
            </a:r>
            <a:r>
              <a:rPr lang="en-US" sz="2200" b="1" dirty="0">
                <a:latin typeface="Calibri" panose="020F0502020204030204" pitchFamily="34" charset="0"/>
                <a:ea typeface="Times New Roman" panose="02020603050405020304" pitchFamily="18" charset="0"/>
                <a:cs typeface="Calibri" panose="020F0502020204030204" pitchFamily="34" charset="0"/>
              </a:rPr>
              <a:t>: </a:t>
            </a:r>
          </a:p>
          <a:p>
            <a:pPr marL="214370" indent="-214370">
              <a:lnSpc>
                <a:spcPct val="100000"/>
              </a:lnSpc>
              <a:spcBef>
                <a:spcPts val="0"/>
              </a:spcBef>
              <a:spcAft>
                <a:spcPts val="0"/>
              </a:spcAft>
              <a:buFont typeface="Arial" panose="020B0604020202020204" pitchFamily="34" charset="0"/>
              <a:buChar char="•"/>
            </a:pPr>
            <a:r>
              <a:rPr lang="en-US" sz="2200" dirty="0">
                <a:latin typeface="Calibri" panose="020F0502020204030204" pitchFamily="34" charset="0"/>
                <a:ea typeface="Times New Roman" panose="02020603050405020304" pitchFamily="18" charset="0"/>
                <a:cs typeface="Calibri" panose="020F0502020204030204" pitchFamily="34" charset="0"/>
              </a:rPr>
              <a:t>% of income an individual is willing to pay to live 1 year under the lowest possible mortality rate for a given cause of death</a:t>
            </a:r>
          </a:p>
          <a:p>
            <a:pPr marL="214370" indent="-214370">
              <a:lnSpc>
                <a:spcPct val="100000"/>
              </a:lnSpc>
              <a:spcBef>
                <a:spcPts val="0"/>
              </a:spcBef>
              <a:spcAft>
                <a:spcPts val="0"/>
              </a:spcAft>
              <a:buFont typeface="Arial" panose="020B0604020202020204" pitchFamily="34" charset="0"/>
              <a:buChar char="•"/>
            </a:pPr>
            <a:r>
              <a:rPr lang="en-US" sz="2200" b="1" dirty="0">
                <a:latin typeface="Calibri" panose="020F0502020204030204" pitchFamily="34" charset="0"/>
                <a:ea typeface="Times New Roman" panose="02020603050405020304" pitchFamily="18" charset="0"/>
                <a:cs typeface="Calibri" panose="020F0502020204030204" pitchFamily="34" charset="0"/>
              </a:rPr>
              <a:t>Economic metric directly comparable to national annual incomes</a:t>
            </a:r>
            <a:r>
              <a:rPr lang="en-US" sz="2200" dirty="0">
                <a:latin typeface="Calibri" panose="020F0502020204030204" pitchFamily="34" charset="0"/>
                <a:ea typeface="Times New Roman" panose="02020603050405020304" pitchFamily="18" charset="0"/>
                <a:cs typeface="Calibri" panose="020F0502020204030204" pitchFamily="34" charset="0"/>
              </a:rPr>
              <a:t> (GNI)</a:t>
            </a:r>
          </a:p>
        </p:txBody>
      </p:sp>
      <p:sp>
        <p:nvSpPr>
          <p:cNvPr id="8" name="Content Placeholder 3">
            <a:extLst>
              <a:ext uri="{FF2B5EF4-FFF2-40B4-BE49-F238E27FC236}">
                <a16:creationId xmlns:a16="http://schemas.microsoft.com/office/drawing/2014/main" id="{279F3F6B-FB7E-0AE0-664D-57A43739CBC7}"/>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59669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3B09DE-8099-8A58-5880-DE3C2E88E76B}"/>
              </a:ext>
            </a:extLst>
          </p:cNvPr>
          <p:cNvSpPr/>
          <p:nvPr/>
        </p:nvSpPr>
        <p:spPr>
          <a:xfrm>
            <a:off x="1676400" y="1333411"/>
            <a:ext cx="7096444"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rgbClr val="002060"/>
                </a:solidFill>
              </a:rPr>
              <a:t>MAIN ANALYTICAL STEPS</a:t>
            </a:r>
          </a:p>
        </p:txBody>
      </p:sp>
      <p:sp>
        <p:nvSpPr>
          <p:cNvPr id="20" name="Rectangle 19">
            <a:extLst>
              <a:ext uri="{FF2B5EF4-FFF2-40B4-BE49-F238E27FC236}">
                <a16:creationId xmlns:a16="http://schemas.microsoft.com/office/drawing/2014/main" id="{B8B90738-A6BC-E591-D124-D5CFA62613DF}"/>
              </a:ext>
            </a:extLst>
          </p:cNvPr>
          <p:cNvSpPr/>
          <p:nvPr/>
        </p:nvSpPr>
        <p:spPr>
          <a:xfrm>
            <a:off x="1083959" y="5143411"/>
            <a:ext cx="7118442"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Step 2</a:t>
            </a:r>
            <a:r>
              <a:rPr lang="en-US" sz="2400" dirty="0">
                <a:solidFill>
                  <a:schemeClr val="tx1"/>
                </a:solidFill>
              </a:rPr>
              <a:t>: </a:t>
            </a:r>
          </a:p>
          <a:p>
            <a:r>
              <a:rPr lang="en-US" sz="2400" dirty="0">
                <a:solidFill>
                  <a:schemeClr val="tx1"/>
                </a:solidFill>
              </a:rPr>
              <a:t>Estimate economic value associated with NCD avoidable mortality </a:t>
            </a:r>
          </a:p>
        </p:txBody>
      </p:sp>
      <p:sp>
        <p:nvSpPr>
          <p:cNvPr id="6" name="Rectangle 5">
            <a:extLst>
              <a:ext uri="{FF2B5EF4-FFF2-40B4-BE49-F238E27FC236}">
                <a16:creationId xmlns:a16="http://schemas.microsoft.com/office/drawing/2014/main" id="{EE786D6F-40BC-7AAD-F529-5057A34F0C82}"/>
              </a:ext>
            </a:extLst>
          </p:cNvPr>
          <p:cNvSpPr/>
          <p:nvPr/>
        </p:nvSpPr>
        <p:spPr>
          <a:xfrm>
            <a:off x="1083959" y="4000411"/>
            <a:ext cx="6640561"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Step 1</a:t>
            </a:r>
            <a:r>
              <a:rPr lang="en-US" sz="2400" dirty="0">
                <a:solidFill>
                  <a:schemeClr val="tx1"/>
                </a:solidFill>
              </a:rPr>
              <a:t>: </a:t>
            </a:r>
          </a:p>
          <a:p>
            <a:r>
              <a:rPr lang="en-US" sz="2400" dirty="0">
                <a:solidFill>
                  <a:schemeClr val="tx1"/>
                </a:solidFill>
              </a:rPr>
              <a:t>Estimate cause-specific mortality frontiers &amp; regional mortality rates</a:t>
            </a:r>
          </a:p>
        </p:txBody>
      </p:sp>
      <p:sp>
        <p:nvSpPr>
          <p:cNvPr id="16" name="Rectangle 15">
            <a:extLst>
              <a:ext uri="{FF2B5EF4-FFF2-40B4-BE49-F238E27FC236}">
                <a16:creationId xmlns:a16="http://schemas.microsoft.com/office/drawing/2014/main" id="{F6231DEA-ECF0-A8FB-9050-D0E8E09CC526}"/>
              </a:ext>
            </a:extLst>
          </p:cNvPr>
          <p:cNvSpPr/>
          <p:nvPr/>
        </p:nvSpPr>
        <p:spPr>
          <a:xfrm>
            <a:off x="1083959" y="2819400"/>
            <a:ext cx="7450441" cy="342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solidFill>
                  <a:schemeClr val="tx1"/>
                </a:solidFill>
              </a:rPr>
              <a:t>Data sources</a:t>
            </a:r>
            <a:r>
              <a:rPr lang="en-US" sz="2400" dirty="0">
                <a:solidFill>
                  <a:schemeClr val="tx1"/>
                </a:solidFill>
              </a:rPr>
              <a:t>: </a:t>
            </a:r>
          </a:p>
          <a:p>
            <a:r>
              <a:rPr lang="en-US" sz="2400" dirty="0">
                <a:solidFill>
                  <a:schemeClr val="tx1"/>
                </a:solidFill>
              </a:rPr>
              <a:t>UN’s World Population Prospects &amp; WHO’s Global Health Estimates</a:t>
            </a:r>
          </a:p>
        </p:txBody>
      </p:sp>
    </p:spTree>
    <p:extLst>
      <p:ext uri="{BB962C8B-B14F-4D97-AF65-F5344CB8AC3E}">
        <p14:creationId xmlns:p14="http://schemas.microsoft.com/office/powerpoint/2010/main" val="1682479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47302A-035D-9188-9032-472E38229C75}"/>
              </a:ext>
            </a:extLst>
          </p:cNvPr>
          <p:cNvSpPr>
            <a:spLocks noGrp="1"/>
          </p:cNvSpPr>
          <p:nvPr>
            <p:ph type="body" sz="quarter" idx="12"/>
          </p:nvPr>
        </p:nvSpPr>
        <p:spPr>
          <a:xfrm>
            <a:off x="205794" y="914400"/>
            <a:ext cx="8368939" cy="171495"/>
          </a:xfrm>
        </p:spPr>
        <p:txBody>
          <a:bodyPr>
            <a:noAutofit/>
          </a:bodyPr>
          <a:lstStyle/>
          <a:p>
            <a:pPr algn="ctr"/>
            <a:r>
              <a:rPr lang="en-US" sz="3600" b="1" dirty="0">
                <a:solidFill>
                  <a:srgbClr val="002060"/>
                </a:solidFill>
              </a:rPr>
              <a:t>Data sources: </a:t>
            </a:r>
            <a:r>
              <a:rPr lang="en-US" sz="3600" dirty="0">
                <a:solidFill>
                  <a:srgbClr val="002060"/>
                </a:solidFill>
              </a:rPr>
              <a:t>UN’s World Population prospects &amp; who’s Global health ESTIMATES</a:t>
            </a:r>
          </a:p>
        </p:txBody>
      </p:sp>
      <p:graphicFrame>
        <p:nvGraphicFramePr>
          <p:cNvPr id="9" name="Table 9">
            <a:extLst>
              <a:ext uri="{FF2B5EF4-FFF2-40B4-BE49-F238E27FC236}">
                <a16:creationId xmlns:a16="http://schemas.microsoft.com/office/drawing/2014/main" id="{6036D086-849C-C2ED-2155-9EC26A8F24B4}"/>
              </a:ext>
            </a:extLst>
          </p:cNvPr>
          <p:cNvGraphicFramePr>
            <a:graphicFrameLocks noGrp="1"/>
          </p:cNvGraphicFramePr>
          <p:nvPr>
            <p:ph sz="quarter" idx="13"/>
            <p:extLst>
              <p:ext uri="{D42A27DB-BD31-4B8C-83A1-F6EECF244321}">
                <p14:modId xmlns:p14="http://schemas.microsoft.com/office/powerpoint/2010/main" val="1047985035"/>
              </p:ext>
            </p:extLst>
          </p:nvPr>
        </p:nvGraphicFramePr>
        <p:xfrm>
          <a:off x="609600" y="3313638"/>
          <a:ext cx="7888755" cy="3468162"/>
        </p:xfrm>
        <a:graphic>
          <a:graphicData uri="http://schemas.openxmlformats.org/drawingml/2006/table">
            <a:tbl>
              <a:tblPr firstRow="1" bandRow="1">
                <a:tableStyleId>{2D5ABB26-0587-4C30-8999-92F81FD0307C}</a:tableStyleId>
              </a:tblPr>
              <a:tblGrid>
                <a:gridCol w="2629585">
                  <a:extLst>
                    <a:ext uri="{9D8B030D-6E8A-4147-A177-3AD203B41FA5}">
                      <a16:colId xmlns:a16="http://schemas.microsoft.com/office/drawing/2014/main" val="972226099"/>
                    </a:ext>
                  </a:extLst>
                </a:gridCol>
                <a:gridCol w="2629585">
                  <a:extLst>
                    <a:ext uri="{9D8B030D-6E8A-4147-A177-3AD203B41FA5}">
                      <a16:colId xmlns:a16="http://schemas.microsoft.com/office/drawing/2014/main" val="3373533407"/>
                    </a:ext>
                  </a:extLst>
                </a:gridCol>
                <a:gridCol w="2629585">
                  <a:extLst>
                    <a:ext uri="{9D8B030D-6E8A-4147-A177-3AD203B41FA5}">
                      <a16:colId xmlns:a16="http://schemas.microsoft.com/office/drawing/2014/main" val="1166421458"/>
                    </a:ext>
                  </a:extLst>
                </a:gridCol>
              </a:tblGrid>
              <a:tr h="217222">
                <a:tc gridSpan="3">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mn-lt"/>
                          <a:cs typeface="Calibri" panose="020F0502020204030204" pitchFamily="34" charset="0"/>
                        </a:rPr>
                        <a:t>Communicable, maternal, perinatal and nutritional conditions</a:t>
                      </a: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57584694"/>
                  </a:ext>
                </a:extLst>
              </a:tr>
              <a:tr h="217222">
                <a:tc gridSpan="3">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mn-lt"/>
                          <a:cs typeface="Calibri" panose="020F0502020204030204" pitchFamily="34" charset="0"/>
                        </a:rPr>
                        <a:t>Non-communicable diseases (NCDs)</a:t>
                      </a:r>
                      <a:endParaRPr lang="en-US" sz="1200" b="1" i="0" dirty="0">
                        <a:solidFill>
                          <a:schemeClr val="bg1"/>
                        </a:solidFill>
                        <a:latin typeface="+mn-lt"/>
                        <a:cs typeface="Calibri" panose="020F0502020204030204" pitchFamily="34" charset="0"/>
                      </a:endParaRP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28768348"/>
                  </a:ext>
                </a:extLst>
              </a:tr>
              <a:tr h="208082">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Cardiovascular diseases</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Malignant neoplasms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Mental &amp; substance use disorders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50406757"/>
                  </a:ext>
                </a:extLst>
              </a:tr>
              <a:tr h="173784">
                <a:tc>
                  <a:txBody>
                    <a:bodyPr/>
                    <a:lstStyle/>
                    <a:p>
                      <a:pPr marL="0" marR="0">
                        <a:spcBef>
                          <a:spcPts val="0"/>
                        </a:spcBef>
                        <a:spcAft>
                          <a:spcPts val="0"/>
                        </a:spcAft>
                      </a:pPr>
                      <a:r>
                        <a:rPr lang="en-US" sz="1200" b="0" dirty="0" err="1">
                          <a:effectLst/>
                          <a:latin typeface="+mn-lt"/>
                          <a:cs typeface="Calibri" panose="020F0502020204030204" pitchFamily="34" charset="0"/>
                        </a:rPr>
                        <a:t>Ischaemic</a:t>
                      </a:r>
                      <a:r>
                        <a:rPr lang="en-US" sz="1200" b="0" dirty="0">
                          <a:effectLst/>
                          <a:latin typeface="+mn-lt"/>
                          <a:cs typeface="Calibri" panose="020F0502020204030204" pitchFamily="34" charset="0"/>
                        </a:rPr>
                        <a:t> heart disease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Breast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Alcohol use disorders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972648847"/>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Stroke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Cervix uteri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Other mental &amp; substance use disorders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656650093"/>
                  </a:ext>
                </a:extLst>
              </a:tr>
              <a:tr h="208082">
                <a:tc>
                  <a:txBody>
                    <a:bodyPr/>
                    <a:lstStyle/>
                    <a:p>
                      <a:pPr marL="0" marR="0">
                        <a:spcBef>
                          <a:spcPts val="0"/>
                        </a:spcBef>
                        <a:spcAft>
                          <a:spcPts val="0"/>
                        </a:spcAft>
                      </a:pPr>
                      <a:r>
                        <a:rPr lang="en-US" sz="1200" b="0" dirty="0">
                          <a:effectLst/>
                          <a:latin typeface="+mn-lt"/>
                          <a:cs typeface="Calibri" panose="020F0502020204030204" pitchFamily="34" charset="0"/>
                        </a:rPr>
                        <a:t>Other cardiovascular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Liver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Respiratory diseases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33251733"/>
                  </a:ext>
                </a:extLst>
              </a:tr>
              <a:tr h="208082">
                <a:tc>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effectLst/>
                          <a:latin typeface="+mn-lt"/>
                          <a:cs typeface="Calibri" panose="020F0502020204030204" pitchFamily="34" charset="0"/>
                        </a:rPr>
                        <a:t>Diabetes mellitus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a:spcBef>
                          <a:spcPts val="0"/>
                        </a:spcBef>
                        <a:spcAft>
                          <a:spcPts val="0"/>
                        </a:spcAft>
                      </a:pPr>
                      <a:r>
                        <a:rPr lang="en-US" sz="1200" b="0" dirty="0">
                          <a:effectLst/>
                          <a:latin typeface="+mn-lt"/>
                          <a:cs typeface="Calibri" panose="020F0502020204030204" pitchFamily="34" charset="0"/>
                        </a:rPr>
                        <a:t>Mouth and oropharynx cancers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Chronic obstructive pulmonary disease</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8436645"/>
                  </a:ext>
                </a:extLst>
              </a:tr>
              <a:tr h="208082">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Digestive diseases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a:spcBef>
                          <a:spcPts val="0"/>
                        </a:spcBef>
                        <a:spcAft>
                          <a:spcPts val="0"/>
                        </a:spcAft>
                      </a:pPr>
                      <a:r>
                        <a:rPr lang="en-US" sz="1200" b="0" dirty="0" err="1">
                          <a:effectLst/>
                          <a:latin typeface="+mn-lt"/>
                          <a:cs typeface="Calibri" panose="020F0502020204030204" pitchFamily="34" charset="0"/>
                        </a:rPr>
                        <a:t>Oesophagus</a:t>
                      </a:r>
                      <a:r>
                        <a:rPr lang="en-US" sz="1200" b="0" dirty="0">
                          <a:effectLst/>
                          <a:latin typeface="+mn-lt"/>
                          <a:cs typeface="Calibri" panose="020F0502020204030204" pitchFamily="34" charset="0"/>
                        </a:rPr>
                        <a:t>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Other respiratory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772734911"/>
                  </a:ext>
                </a:extLst>
              </a:tr>
              <a:tr h="208082">
                <a:tc>
                  <a:txBody>
                    <a:bodyPr/>
                    <a:lstStyle/>
                    <a:p>
                      <a:pPr marL="0" marR="0">
                        <a:spcBef>
                          <a:spcPts val="0"/>
                        </a:spcBef>
                        <a:spcAft>
                          <a:spcPts val="0"/>
                        </a:spcAft>
                      </a:pPr>
                      <a:r>
                        <a:rPr lang="en-US" sz="1200" b="0" dirty="0">
                          <a:effectLst/>
                          <a:latin typeface="+mn-lt"/>
                          <a:cs typeface="Calibri" panose="020F0502020204030204" pitchFamily="34" charset="0"/>
                        </a:rPr>
                        <a:t>Cirrhosis of the liver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Stomach cancer</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1828343"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Calibri" panose="020F0502020204030204" pitchFamily="34" charset="0"/>
                        </a:rPr>
                        <a:t>Other NCDs</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40406627"/>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Other digestive diseases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dirty="0">
                          <a:effectLst/>
                          <a:latin typeface="+mn-lt"/>
                          <a:cs typeface="Calibri" panose="020F0502020204030204" pitchFamily="34" charset="0"/>
                        </a:rPr>
                        <a:t>Trachea, bronchus, lung cancers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40463650"/>
                  </a:ext>
                </a:extLst>
              </a:tr>
              <a:tr h="173784">
                <a:tc>
                  <a:txBody>
                    <a:bodyPr/>
                    <a:lstStyle/>
                    <a:p>
                      <a:pPr marL="0" marR="0" indent="0" algn="l" defTabSz="1828343" rtl="0" eaLnBrk="1" fontAlgn="auto" latinLnBrk="0" hangingPunct="1">
                        <a:lnSpc>
                          <a:spcPct val="100000"/>
                        </a:lnSpc>
                        <a:spcBef>
                          <a:spcPts val="0"/>
                        </a:spcBef>
                        <a:spcAft>
                          <a:spcPts val="0"/>
                        </a:spcAft>
                        <a:buClrTx/>
                        <a:buSzTx/>
                        <a:buFontTx/>
                        <a:buNone/>
                        <a:tabLst/>
                        <a:defRPr/>
                      </a:pPr>
                      <a:endParaRPr lang="en-US" sz="1200" b="1" i="0" dirty="0">
                        <a:solidFill>
                          <a:schemeClr val="tx1"/>
                        </a:solidFill>
                        <a:latin typeface="+mn-lt"/>
                        <a:cs typeface="Calibri" panose="020F0502020204030204" pitchFamily="34" charset="0"/>
                      </a:endParaRPr>
                    </a:p>
                  </a:txBody>
                  <a:tcPr marL="18293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b="0" kern="1200" dirty="0">
                          <a:solidFill>
                            <a:schemeClr val="dk1"/>
                          </a:solidFill>
                          <a:effectLst/>
                          <a:latin typeface="+mn-lt"/>
                          <a:cs typeface="Calibri" panose="020F0502020204030204" pitchFamily="34" charset="0"/>
                        </a:rPr>
                        <a:t>Other malignant neoplasms</a:t>
                      </a:r>
                      <a:r>
                        <a:rPr lang="en-US" sz="1200" b="0" dirty="0">
                          <a:effectLst/>
                          <a:latin typeface="+mn-lt"/>
                          <a:cs typeface="Calibri" panose="020F0502020204030204" pitchFamily="34" charset="0"/>
                        </a:rPr>
                        <a:t> </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75191856"/>
                  </a:ext>
                </a:extLst>
              </a:tr>
              <a:tr h="217222">
                <a:tc gridSpan="3">
                  <a:txBody>
                    <a:bodyPr/>
                    <a:lstStyle/>
                    <a:p>
                      <a:r>
                        <a:rPr lang="en-US" sz="1200" b="1" dirty="0">
                          <a:solidFill>
                            <a:schemeClr val="bg1"/>
                          </a:solidFill>
                          <a:latin typeface="+mn-lt"/>
                          <a:cs typeface="Calibri" panose="020F0502020204030204" pitchFamily="34" charset="0"/>
                        </a:rPr>
                        <a:t>Injuries</a:t>
                      </a:r>
                      <a:endParaRPr lang="en-US" sz="1200" b="1" i="0" dirty="0">
                        <a:solidFill>
                          <a:schemeClr val="bg1"/>
                        </a:solidFill>
                        <a:latin typeface="+mn-lt"/>
                        <a:cs typeface="Calibri" panose="020F0502020204030204" pitchFamily="34" charset="0"/>
                      </a:endParaRPr>
                    </a:p>
                  </a:txBody>
                  <a:tcPr marL="34294" marR="34294" marT="17147" marB="17147">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tc hMerge="1">
                  <a:txBody>
                    <a:bodyPr/>
                    <a:lstStyle/>
                    <a:p>
                      <a:endParaRPr lang="en-US" sz="2000" b="0" i="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58049923"/>
                  </a:ext>
                </a:extLst>
              </a:tr>
              <a:tr h="208082">
                <a:tc>
                  <a:txBody>
                    <a:bodyPr/>
                    <a:lstStyle/>
                    <a:p>
                      <a:r>
                        <a:rPr lang="en-US" sz="1200" b="1" kern="1200" dirty="0">
                          <a:solidFill>
                            <a:schemeClr val="dk1"/>
                          </a:solidFill>
                          <a:effectLst/>
                          <a:latin typeface="+mn-lt"/>
                          <a:cs typeface="Calibri" panose="020F0502020204030204" pitchFamily="34" charset="0"/>
                        </a:rPr>
                        <a:t>Unintentional injuries</a:t>
                      </a:r>
                      <a:r>
                        <a:rPr lang="en-US" sz="1200" b="1" dirty="0">
                          <a:effectLst/>
                          <a:latin typeface="+mn-lt"/>
                          <a:cs typeface="Calibri" panose="020F0502020204030204" pitchFamily="34" charset="0"/>
                        </a:rPr>
                        <a:t>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200" b="1" kern="1200" dirty="0">
                          <a:solidFill>
                            <a:schemeClr val="dk1"/>
                          </a:solidFill>
                          <a:effectLst/>
                          <a:latin typeface="+mn-lt"/>
                          <a:cs typeface="Calibri" panose="020F0502020204030204" pitchFamily="34" charset="0"/>
                        </a:rPr>
                        <a:t>Intentional injuries</a:t>
                      </a:r>
                      <a:r>
                        <a:rPr lang="en-US" sz="1200" b="1" dirty="0">
                          <a:effectLst/>
                          <a:latin typeface="+mn-lt"/>
                          <a:cs typeface="Calibri" panose="020F0502020204030204" pitchFamily="34" charset="0"/>
                        </a:rPr>
                        <a:t> </a:t>
                      </a:r>
                      <a:endParaRPr lang="en-US" sz="1200" b="1"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en-US" sz="1200" b="0" i="0" dirty="0">
                        <a:solidFill>
                          <a:schemeClr val="tx1"/>
                        </a:solidFill>
                        <a:latin typeface="+mn-lt"/>
                        <a:cs typeface="Calibri" panose="020F0502020204030204" pitchFamily="34" charset="0"/>
                      </a:endParaRPr>
                    </a:p>
                  </a:txBody>
                  <a:tcPr marL="36587"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62223002"/>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Road injury</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479323012"/>
                  </a:ext>
                </a:extLst>
              </a:tr>
              <a:tr h="173784">
                <a:tc>
                  <a:txBody>
                    <a:bodyPr/>
                    <a:lstStyle/>
                    <a:p>
                      <a:pPr marL="0" marR="0">
                        <a:spcBef>
                          <a:spcPts val="0"/>
                        </a:spcBef>
                        <a:spcAft>
                          <a:spcPts val="0"/>
                        </a:spcAft>
                      </a:pPr>
                      <a:r>
                        <a:rPr lang="en-US" sz="1200" b="0" dirty="0">
                          <a:effectLst/>
                          <a:latin typeface="+mn-lt"/>
                          <a:cs typeface="Calibri" panose="020F0502020204030204" pitchFamily="34" charset="0"/>
                        </a:rPr>
                        <a:t>Other unintentional injuries</a:t>
                      </a:r>
                      <a:endParaRPr lang="en-US" sz="1200" b="0" i="0" dirty="0">
                        <a:effectLst/>
                        <a:latin typeface="+mn-lt"/>
                        <a:ea typeface="Times New Roman" panose="02020603050405020304" pitchFamily="18" charset="0"/>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dirty="0">
                        <a:solidFill>
                          <a:schemeClr val="tx1"/>
                        </a:solidFill>
                        <a:latin typeface="+mn-lt"/>
                        <a:cs typeface="Calibri" panose="020F0502020204030204" pitchFamily="34" charset="0"/>
                      </a:endParaRPr>
                    </a:p>
                  </a:txBody>
                  <a:tcPr marL="146350" marR="36587" marT="18294" marB="1829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8360969"/>
                  </a:ext>
                </a:extLst>
              </a:tr>
            </a:tbl>
          </a:graphicData>
        </a:graphic>
      </p:graphicFrame>
      <p:sp>
        <p:nvSpPr>
          <p:cNvPr id="5" name="Text Placeholder 3">
            <a:extLst>
              <a:ext uri="{FF2B5EF4-FFF2-40B4-BE49-F238E27FC236}">
                <a16:creationId xmlns:a16="http://schemas.microsoft.com/office/drawing/2014/main" id="{A106D6B9-2674-CE93-869F-0CFD81E759F0}"/>
              </a:ext>
            </a:extLst>
          </p:cNvPr>
          <p:cNvSpPr txBox="1">
            <a:spLocks/>
          </p:cNvSpPr>
          <p:nvPr/>
        </p:nvSpPr>
        <p:spPr>
          <a:xfrm>
            <a:off x="297816" y="2177138"/>
            <a:ext cx="8368939" cy="794662"/>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214370" indent="-214370">
              <a:lnSpc>
                <a:spcPct val="100000"/>
              </a:lnSpc>
              <a:spcBef>
                <a:spcPts val="0"/>
              </a:spcBef>
              <a:spcAft>
                <a:spcPts val="0"/>
              </a:spcAft>
              <a:buFont typeface="Arial" panose="020B0604020202020204" pitchFamily="34" charset="0"/>
              <a:buChar char="•"/>
            </a:pPr>
            <a:r>
              <a:rPr lang="en-US" sz="2200" b="1" dirty="0"/>
              <a:t>Estimates on age-sex-specific all-cause mortality rates by 5-year age group, and population sizes</a:t>
            </a:r>
          </a:p>
          <a:p>
            <a:pPr marL="214370" indent="-214370">
              <a:lnSpc>
                <a:spcPct val="100000"/>
              </a:lnSpc>
              <a:spcBef>
                <a:spcPts val="0"/>
              </a:spcBef>
              <a:spcAft>
                <a:spcPts val="0"/>
              </a:spcAft>
              <a:buFont typeface="Arial" panose="020B0604020202020204" pitchFamily="34" charset="0"/>
              <a:buChar char="•"/>
            </a:pPr>
            <a:r>
              <a:rPr lang="en-US" sz="2200" b="1" dirty="0"/>
              <a:t>Estimates on cause-specific death counts by 5-year age group and sex from WHO’s Global Health Estimates for all countries over 2000-2019</a:t>
            </a:r>
          </a:p>
        </p:txBody>
      </p:sp>
    </p:spTree>
    <p:extLst>
      <p:ext uri="{BB962C8B-B14F-4D97-AF65-F5344CB8AC3E}">
        <p14:creationId xmlns:p14="http://schemas.microsoft.com/office/powerpoint/2010/main" val="3060502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DC356BA-ACBE-6A22-FE12-2655AC751314}"/>
              </a:ext>
            </a:extLst>
          </p:cNvPr>
          <p:cNvSpPr>
            <a:spLocks noGrp="1"/>
          </p:cNvSpPr>
          <p:nvPr>
            <p:ph type="body" sz="quarter" idx="12"/>
          </p:nvPr>
        </p:nvSpPr>
        <p:spPr>
          <a:xfrm>
            <a:off x="205794" y="533400"/>
            <a:ext cx="8368939" cy="426646"/>
          </a:xfrm>
        </p:spPr>
        <p:txBody>
          <a:bodyPr>
            <a:noAutofit/>
          </a:bodyPr>
          <a:lstStyle/>
          <a:p>
            <a:pPr marL="0" indent="0" algn="ctr">
              <a:buNone/>
            </a:pPr>
            <a:r>
              <a:rPr lang="en-US" sz="3400" b="1" u="sng" dirty="0">
                <a:solidFill>
                  <a:srgbClr val="002060"/>
                </a:solidFill>
              </a:rPr>
              <a:t>STEP 1</a:t>
            </a:r>
            <a:r>
              <a:rPr lang="en-US" sz="3400" b="1" dirty="0">
                <a:solidFill>
                  <a:srgbClr val="002060"/>
                </a:solidFill>
              </a:rPr>
              <a:t>: </a:t>
            </a:r>
            <a:r>
              <a:rPr lang="en-US" sz="3400" dirty="0" err="1">
                <a:solidFill>
                  <a:srgbClr val="002060"/>
                </a:solidFill>
              </a:rPr>
              <a:t>EstimatE</a:t>
            </a:r>
            <a:r>
              <a:rPr lang="en-US" sz="3400" dirty="0">
                <a:solidFill>
                  <a:srgbClr val="002060"/>
                </a:solidFill>
              </a:rPr>
              <a:t> cause-specific mortality frontiers, 2000-2019</a:t>
            </a:r>
          </a:p>
        </p:txBody>
      </p:sp>
      <p:sp>
        <p:nvSpPr>
          <p:cNvPr id="3" name="Text Placeholder 2">
            <a:extLst>
              <a:ext uri="{FF2B5EF4-FFF2-40B4-BE49-F238E27FC236}">
                <a16:creationId xmlns:a16="http://schemas.microsoft.com/office/drawing/2014/main" id="{C372CAE0-FCFD-496B-8AC2-445DC070EEF9}"/>
              </a:ext>
            </a:extLst>
          </p:cNvPr>
          <p:cNvSpPr>
            <a:spLocks noGrp="1"/>
          </p:cNvSpPr>
          <p:nvPr>
            <p:ph type="body" sz="quarter" idx="14"/>
          </p:nvPr>
        </p:nvSpPr>
        <p:spPr>
          <a:xfrm>
            <a:off x="732880" y="1886122"/>
            <a:ext cx="8639720" cy="628478"/>
          </a:xfrm>
        </p:spPr>
        <p:txBody>
          <a:bodyPr>
            <a:noAutofit/>
          </a:bodyPr>
          <a:lstStyle/>
          <a:p>
            <a:pPr>
              <a:spcBef>
                <a:spcPts val="0"/>
              </a:spcBef>
            </a:pPr>
            <a:r>
              <a:rPr lang="en-US" sz="2400" b="1" u="sng" dirty="0"/>
              <a:t>Countries included in frontier computations (N=35) if</a:t>
            </a:r>
            <a:r>
              <a:rPr lang="en-US" sz="2400" dirty="0"/>
              <a:t>: 	</a:t>
            </a:r>
          </a:p>
          <a:p>
            <a:pPr marL="0" indent="0">
              <a:spcBef>
                <a:spcPts val="0"/>
              </a:spcBef>
              <a:buNone/>
            </a:pPr>
            <a:r>
              <a:rPr lang="en-US" sz="2400" dirty="0"/>
              <a:t>	(</a:t>
            </a:r>
            <a:r>
              <a:rPr lang="en-US" sz="2400" dirty="0" err="1"/>
              <a:t>i</a:t>
            </a:r>
            <a:r>
              <a:rPr lang="en-US" sz="2400" dirty="0"/>
              <a:t>) high-quality vital registration data</a:t>
            </a:r>
          </a:p>
          <a:p>
            <a:pPr marL="0" indent="0">
              <a:spcBef>
                <a:spcPts val="0"/>
              </a:spcBef>
              <a:buNone/>
            </a:pPr>
            <a:r>
              <a:rPr lang="en-US" sz="2400" dirty="0"/>
              <a:t>	(ii) populations &gt; 5M in 2020</a:t>
            </a:r>
          </a:p>
          <a:p>
            <a:pPr marL="0" indent="0">
              <a:spcBef>
                <a:spcPts val="0"/>
              </a:spcBef>
              <a:buNone/>
            </a:pPr>
            <a:r>
              <a:rPr lang="en-US" sz="2400" dirty="0"/>
              <a:t>	(iii) included in WHO’s Global Health Estimates</a:t>
            </a:r>
          </a:p>
        </p:txBody>
      </p:sp>
      <p:sp>
        <p:nvSpPr>
          <p:cNvPr id="11" name="Text Placeholder 2">
            <a:extLst>
              <a:ext uri="{FF2B5EF4-FFF2-40B4-BE49-F238E27FC236}">
                <a16:creationId xmlns:a16="http://schemas.microsoft.com/office/drawing/2014/main" id="{D78DC784-76D0-78B3-B339-338AF69D704E}"/>
              </a:ext>
            </a:extLst>
          </p:cNvPr>
          <p:cNvSpPr txBox="1">
            <a:spLocks/>
          </p:cNvSpPr>
          <p:nvPr/>
        </p:nvSpPr>
        <p:spPr>
          <a:xfrm>
            <a:off x="377288" y="3913756"/>
            <a:ext cx="2237401" cy="1801244"/>
          </a:xfrm>
          <a:prstGeom prst="rect">
            <a:avLst/>
          </a:prstGeom>
          <a:ln w="28575">
            <a:solidFill>
              <a:schemeClr val="tx1"/>
            </a:solidFill>
          </a:ln>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lnSpc>
                <a:spcPct val="100000"/>
              </a:lnSpc>
              <a:spcBef>
                <a:spcPts val="0"/>
              </a:spcBef>
              <a:spcAft>
                <a:spcPts val="0"/>
              </a:spcAft>
            </a:pPr>
            <a:r>
              <a:rPr lang="en-US" sz="2400" b="1" dirty="0"/>
              <a:t>Cause-specific mortality frontiers</a:t>
            </a:r>
          </a:p>
          <a:p>
            <a:pPr algn="ctr">
              <a:lnSpc>
                <a:spcPct val="100000"/>
              </a:lnSpc>
              <a:spcBef>
                <a:spcPts val="0"/>
              </a:spcBef>
              <a:spcAft>
                <a:spcPts val="0"/>
              </a:spcAft>
            </a:pPr>
            <a:r>
              <a:rPr lang="en-US" sz="2400" dirty="0"/>
              <a:t>(lowest mortality rates achieved)</a:t>
            </a:r>
          </a:p>
        </p:txBody>
      </p:sp>
      <p:pic>
        <p:nvPicPr>
          <p:cNvPr id="6" name="Picture 5">
            <a:extLst>
              <a:ext uri="{FF2B5EF4-FFF2-40B4-BE49-F238E27FC236}">
                <a16:creationId xmlns:a16="http://schemas.microsoft.com/office/drawing/2014/main" id="{B29515E7-29BD-7495-CAC7-99714B25122D}"/>
              </a:ext>
            </a:extLst>
          </p:cNvPr>
          <p:cNvPicPr>
            <a:picLocks noChangeAspect="1"/>
          </p:cNvPicPr>
          <p:nvPr/>
        </p:nvPicPr>
        <p:blipFill>
          <a:blip r:embed="rId2"/>
          <a:stretch>
            <a:fillRect/>
          </a:stretch>
        </p:blipFill>
        <p:spPr>
          <a:xfrm>
            <a:off x="2743200" y="3124200"/>
            <a:ext cx="6270171" cy="3657600"/>
          </a:xfrm>
          <a:prstGeom prst="rect">
            <a:avLst/>
          </a:prstGeom>
        </p:spPr>
      </p:pic>
    </p:spTree>
    <p:extLst>
      <p:ext uri="{BB962C8B-B14F-4D97-AF65-F5344CB8AC3E}">
        <p14:creationId xmlns:p14="http://schemas.microsoft.com/office/powerpoint/2010/main" val="321702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A71B5AA5-903C-293A-43A5-9A494E37451C}"/>
              </a:ext>
            </a:extLst>
          </p:cNvPr>
          <p:cNvSpPr>
            <a:spLocks noGrp="1"/>
          </p:cNvSpPr>
          <p:nvPr>
            <p:ph type="body" sz="quarter" idx="12"/>
          </p:nvPr>
        </p:nvSpPr>
        <p:spPr>
          <a:xfrm>
            <a:off x="457200" y="381000"/>
            <a:ext cx="8419102" cy="970411"/>
          </a:xfrm>
        </p:spPr>
        <p:txBody>
          <a:bodyPr>
            <a:noAutofit/>
          </a:bodyPr>
          <a:lstStyle/>
          <a:p>
            <a:pPr marL="0" indent="0" algn="ctr">
              <a:buNone/>
            </a:pPr>
            <a:r>
              <a:rPr lang="en-US" sz="3800" b="1" u="sng" dirty="0">
                <a:solidFill>
                  <a:srgbClr val="002060"/>
                </a:solidFill>
              </a:rPr>
              <a:t>STEP 1</a:t>
            </a:r>
            <a:r>
              <a:rPr lang="en-US" sz="3800" b="1" dirty="0">
                <a:solidFill>
                  <a:srgbClr val="002060"/>
                </a:solidFill>
              </a:rPr>
              <a:t>: </a:t>
            </a:r>
            <a:r>
              <a:rPr lang="en-US" sz="3800" dirty="0">
                <a:solidFill>
                  <a:srgbClr val="002060"/>
                </a:solidFill>
              </a:rPr>
              <a:t>PROJECT cause-specific mortality frontiers, 2020-2050</a:t>
            </a:r>
          </a:p>
        </p:txBody>
      </p:sp>
      <p:sp>
        <p:nvSpPr>
          <p:cNvPr id="3" name="Text Placeholder 2">
            <a:extLst>
              <a:ext uri="{FF2B5EF4-FFF2-40B4-BE49-F238E27FC236}">
                <a16:creationId xmlns:a16="http://schemas.microsoft.com/office/drawing/2014/main" id="{D9E3F983-E3A8-AB86-D06F-A1DFB33A1131}"/>
              </a:ext>
            </a:extLst>
          </p:cNvPr>
          <p:cNvSpPr>
            <a:spLocks noGrp="1"/>
          </p:cNvSpPr>
          <p:nvPr>
            <p:ph type="body" sz="quarter" idx="14"/>
          </p:nvPr>
        </p:nvSpPr>
        <p:spPr>
          <a:xfrm>
            <a:off x="290277" y="1852729"/>
            <a:ext cx="3214807" cy="4776671"/>
          </a:xfrm>
        </p:spPr>
        <p:txBody>
          <a:bodyPr>
            <a:noAutofit/>
          </a:bodyPr>
          <a:lstStyle/>
          <a:p>
            <a:pPr marL="192933" indent="-192933">
              <a:buFont typeface="+mj-lt"/>
              <a:buAutoNum type="arabicPeriod"/>
            </a:pPr>
            <a:r>
              <a:rPr lang="en-US" sz="2200" dirty="0">
                <a:latin typeface="Calibri" panose="020F0502020204030204" pitchFamily="34" charset="0"/>
                <a:cs typeface="Calibri" panose="020F0502020204030204" pitchFamily="34" charset="0"/>
              </a:rPr>
              <a:t>For 2020-2050, the </a:t>
            </a:r>
            <a:r>
              <a:rPr lang="en-US" sz="2200" b="1" dirty="0">
                <a:latin typeface="Calibri" panose="020F0502020204030204" pitchFamily="34" charset="0"/>
                <a:cs typeface="Calibri" panose="020F0502020204030204" pitchFamily="34" charset="0"/>
              </a:rPr>
              <a:t>frontiers are projected based on trends underlying 2010-2019 </a:t>
            </a:r>
            <a:r>
              <a:rPr lang="en-US" sz="2200" dirty="0">
                <a:latin typeface="Calibri" panose="020F0502020204030204" pitchFamily="34" charset="0"/>
                <a:cs typeface="Calibri" panose="020F0502020204030204" pitchFamily="34" charset="0"/>
              </a:rPr>
              <a:t>frontiers by cause and large age group    </a:t>
            </a:r>
            <a:r>
              <a:rPr lang="en-US" sz="2000" dirty="0">
                <a:latin typeface="Calibri" panose="020F0502020204030204" pitchFamily="34" charset="0"/>
                <a:cs typeface="Calibri" panose="020F0502020204030204" pitchFamily="34" charset="0"/>
              </a:rPr>
              <a:t>(Mathers &amp; Loncar, 2006)</a:t>
            </a:r>
          </a:p>
          <a:p>
            <a:pPr marL="192933" indent="-192933">
              <a:buFont typeface="+mj-lt"/>
              <a:buAutoNum type="arabicPeriod"/>
            </a:pPr>
            <a:r>
              <a:rPr lang="en-US" sz="2200" dirty="0">
                <a:latin typeface="Calibri" panose="020F0502020204030204" pitchFamily="34" charset="0"/>
                <a:cs typeface="Calibri" panose="020F0502020204030204" pitchFamily="34" charset="0"/>
              </a:rPr>
              <a:t>The </a:t>
            </a:r>
            <a:r>
              <a:rPr lang="en-US" sz="2200" b="1" dirty="0">
                <a:latin typeface="Calibri" panose="020F0502020204030204" pitchFamily="34" charset="0"/>
                <a:cs typeface="Calibri" panose="020F0502020204030204" pitchFamily="34" charset="0"/>
              </a:rPr>
              <a:t>frontiers are normalized to the all-cause mortality frontiers</a:t>
            </a:r>
            <a:endParaRPr lang="en-US" sz="220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6B148B95-8A71-48CD-02A5-50F749662FDF}"/>
              </a:ext>
            </a:extLst>
          </p:cNvPr>
          <p:cNvSpPr/>
          <p:nvPr/>
        </p:nvSpPr>
        <p:spPr>
          <a:xfrm>
            <a:off x="4038600" y="1714963"/>
            <a:ext cx="3828131" cy="357302"/>
          </a:xfrm>
          <a:prstGeom prst="rect">
            <a:avLst/>
          </a:prstGeom>
          <a:solidFill>
            <a:schemeClr val="accent6">
              <a:lumMod val="20000"/>
              <a:lumOff val="8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rPr>
              <a:t>Example of projected frontier</a:t>
            </a:r>
          </a:p>
        </p:txBody>
      </p:sp>
      <p:pic>
        <p:nvPicPr>
          <p:cNvPr id="7" name="Picture 6">
            <a:extLst>
              <a:ext uri="{FF2B5EF4-FFF2-40B4-BE49-F238E27FC236}">
                <a16:creationId xmlns:a16="http://schemas.microsoft.com/office/drawing/2014/main" id="{37C705EB-FEFF-0DA3-575E-7CA3C6BEF668}"/>
              </a:ext>
            </a:extLst>
          </p:cNvPr>
          <p:cNvPicPr>
            <a:picLocks noChangeAspect="1"/>
          </p:cNvPicPr>
          <p:nvPr/>
        </p:nvPicPr>
        <p:blipFill>
          <a:blip r:embed="rId3"/>
          <a:stretch>
            <a:fillRect/>
          </a:stretch>
        </p:blipFill>
        <p:spPr>
          <a:xfrm>
            <a:off x="3387762" y="2316480"/>
            <a:ext cx="5680038" cy="4389120"/>
          </a:xfrm>
          <a:prstGeom prst="rect">
            <a:avLst/>
          </a:prstGeom>
        </p:spPr>
      </p:pic>
    </p:spTree>
    <p:extLst>
      <p:ext uri="{BB962C8B-B14F-4D97-AF65-F5344CB8AC3E}">
        <p14:creationId xmlns:p14="http://schemas.microsoft.com/office/powerpoint/2010/main" val="428616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328DC-0462-1E9A-9AC4-47D64580AD50}"/>
              </a:ext>
            </a:extLst>
          </p:cNvPr>
          <p:cNvSpPr>
            <a:spLocks noGrp="1"/>
          </p:cNvSpPr>
          <p:nvPr>
            <p:ph type="body" sz="quarter" idx="14"/>
          </p:nvPr>
        </p:nvSpPr>
        <p:spPr>
          <a:xfrm>
            <a:off x="307559" y="2438400"/>
            <a:ext cx="4797841" cy="2346247"/>
          </a:xfrm>
        </p:spPr>
        <p:txBody>
          <a:bodyPr>
            <a:noAutofit/>
          </a:bodyPr>
          <a:lstStyle/>
          <a:p>
            <a:pPr marL="192933" indent="-192933">
              <a:buFont typeface="+mj-lt"/>
              <a:buAutoNum type="arabicPeriod"/>
            </a:pPr>
            <a:r>
              <a:rPr lang="en-US" sz="2200" dirty="0"/>
              <a:t>Country-specific mortality rates for 2020-2050 are projected using the same approach                                     </a:t>
            </a:r>
          </a:p>
          <a:p>
            <a:pPr marL="192933" indent="-192933">
              <a:buFont typeface="+mj-lt"/>
              <a:buAutoNum type="arabicPeriod"/>
            </a:pPr>
            <a:r>
              <a:rPr lang="en-US" sz="2200" b="1" u="sng" dirty="0"/>
              <a:t>Mortality rates are then population-weighted</a:t>
            </a:r>
            <a:r>
              <a:rPr lang="en-US" sz="2200" b="1" dirty="0"/>
              <a:t> </a:t>
            </a:r>
            <a:r>
              <a:rPr lang="en-US" sz="2200" dirty="0"/>
              <a:t>to obtain regional age-sex-cause-specific mortality rates for 7 “regions”</a:t>
            </a:r>
          </a:p>
        </p:txBody>
      </p:sp>
      <p:sp>
        <p:nvSpPr>
          <p:cNvPr id="5" name="Text Placeholder 4">
            <a:extLst>
              <a:ext uri="{FF2B5EF4-FFF2-40B4-BE49-F238E27FC236}">
                <a16:creationId xmlns:a16="http://schemas.microsoft.com/office/drawing/2014/main" id="{F7E11150-0F60-37DF-F1CE-85CD19DDACE9}"/>
              </a:ext>
            </a:extLst>
          </p:cNvPr>
          <p:cNvSpPr>
            <a:spLocks noGrp="1"/>
          </p:cNvSpPr>
          <p:nvPr>
            <p:ph type="body" sz="quarter" idx="16"/>
          </p:nvPr>
        </p:nvSpPr>
        <p:spPr>
          <a:xfrm>
            <a:off x="398200" y="4900352"/>
            <a:ext cx="4327055" cy="1444990"/>
          </a:xfrm>
        </p:spPr>
        <p:txBody>
          <a:bodyPr>
            <a:noAutofit/>
          </a:bodyPr>
          <a:lstStyle/>
          <a:p>
            <a:pPr marL="0" indent="0">
              <a:spcBef>
                <a:spcPts val="0"/>
              </a:spcBef>
              <a:buNone/>
            </a:pPr>
            <a:r>
              <a:rPr lang="en-US" sz="2200" b="1" dirty="0"/>
              <a:t>“Regions”</a:t>
            </a:r>
            <a:r>
              <a:rPr lang="en-US" sz="2200" dirty="0"/>
              <a:t>: </a:t>
            </a:r>
          </a:p>
          <a:p>
            <a:pPr marL="128622" indent="-128622">
              <a:spcBef>
                <a:spcPts val="0"/>
              </a:spcBef>
            </a:pPr>
            <a:r>
              <a:rPr lang="en-US" sz="2200" dirty="0"/>
              <a:t>China; India; Eurasia &amp; the Mediterranean; High-income; Latin America &amp; the Caribbean; Sub-Saharan Africa; World</a:t>
            </a:r>
          </a:p>
        </p:txBody>
      </p:sp>
      <p:sp>
        <p:nvSpPr>
          <p:cNvPr id="7" name="Text Placeholder 6">
            <a:extLst>
              <a:ext uri="{FF2B5EF4-FFF2-40B4-BE49-F238E27FC236}">
                <a16:creationId xmlns:a16="http://schemas.microsoft.com/office/drawing/2014/main" id="{69DD8905-B19E-DB3B-16DB-04E89354B6FF}"/>
              </a:ext>
            </a:extLst>
          </p:cNvPr>
          <p:cNvSpPr>
            <a:spLocks noGrp="1"/>
          </p:cNvSpPr>
          <p:nvPr>
            <p:ph type="body" sz="quarter" idx="12"/>
          </p:nvPr>
        </p:nvSpPr>
        <p:spPr>
          <a:xfrm>
            <a:off x="398200" y="863725"/>
            <a:ext cx="4455423" cy="736475"/>
          </a:xfrm>
        </p:spPr>
        <p:txBody>
          <a:bodyPr>
            <a:noAutofit/>
          </a:bodyPr>
          <a:lstStyle/>
          <a:p>
            <a:pPr marL="0" indent="0">
              <a:buNone/>
            </a:pPr>
            <a:r>
              <a:rPr lang="en-US" sz="3400" b="1" u="sng" dirty="0">
                <a:solidFill>
                  <a:srgbClr val="002060"/>
                </a:solidFill>
              </a:rPr>
              <a:t>STEP 1</a:t>
            </a:r>
            <a:r>
              <a:rPr lang="en-US" sz="3400" b="1" dirty="0">
                <a:solidFill>
                  <a:srgbClr val="002060"/>
                </a:solidFill>
              </a:rPr>
              <a:t>: </a:t>
            </a:r>
            <a:r>
              <a:rPr lang="en-US" sz="3400" dirty="0">
                <a:solidFill>
                  <a:srgbClr val="002060"/>
                </a:solidFill>
              </a:rPr>
              <a:t>PROJECT regional cause-specific MORTALITY RATES, 2020-2050</a:t>
            </a:r>
          </a:p>
        </p:txBody>
      </p:sp>
      <p:sp>
        <p:nvSpPr>
          <p:cNvPr id="2" name="Rectangle 1">
            <a:extLst>
              <a:ext uri="{FF2B5EF4-FFF2-40B4-BE49-F238E27FC236}">
                <a16:creationId xmlns:a16="http://schemas.microsoft.com/office/drawing/2014/main" id="{B0F143D3-7FFF-B805-CD3B-03D0A4DF6A43}"/>
              </a:ext>
            </a:extLst>
          </p:cNvPr>
          <p:cNvSpPr/>
          <p:nvPr/>
        </p:nvSpPr>
        <p:spPr>
          <a:xfrm>
            <a:off x="5275000" y="304800"/>
            <a:ext cx="3488000" cy="630276"/>
          </a:xfrm>
          <a:prstGeom prst="rect">
            <a:avLst/>
          </a:prstGeom>
          <a:solidFill>
            <a:schemeClr val="accent6">
              <a:lumMod val="20000"/>
              <a:lumOff val="8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rPr>
              <a:t>Latin America &amp; the Caribbean </a:t>
            </a:r>
          </a:p>
          <a:p>
            <a:pPr algn="ctr"/>
            <a:r>
              <a:rPr lang="en-US" sz="2000" dirty="0">
                <a:solidFill>
                  <a:srgbClr val="002060"/>
                </a:solidFill>
              </a:rPr>
              <a:t>vs. Frontier</a:t>
            </a:r>
          </a:p>
        </p:txBody>
      </p:sp>
      <p:pic>
        <p:nvPicPr>
          <p:cNvPr id="4" name="Content Placeholder 6">
            <a:extLst>
              <a:ext uri="{FF2B5EF4-FFF2-40B4-BE49-F238E27FC236}">
                <a16:creationId xmlns:a16="http://schemas.microsoft.com/office/drawing/2014/main" id="{01A117BF-670E-6B7B-CABB-F6598D0FDA90}"/>
              </a:ext>
            </a:extLst>
          </p:cNvPr>
          <p:cNvPicPr>
            <a:picLocks noGrp="1" noChangeAspect="1"/>
          </p:cNvPicPr>
          <p:nvPr>
            <p:ph sz="quarter" idx="15"/>
          </p:nvPr>
        </p:nvPicPr>
        <p:blipFill>
          <a:blip r:embed="rId2"/>
          <a:stretch>
            <a:fillRect/>
          </a:stretch>
        </p:blipFill>
        <p:spPr>
          <a:xfrm>
            <a:off x="4800600" y="1112520"/>
            <a:ext cx="4251960" cy="5669280"/>
          </a:xfrm>
        </p:spPr>
      </p:pic>
    </p:spTree>
    <p:extLst>
      <p:ext uri="{BB962C8B-B14F-4D97-AF65-F5344CB8AC3E}">
        <p14:creationId xmlns:p14="http://schemas.microsoft.com/office/powerpoint/2010/main" val="485328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2B5DC-5079-8E85-3C9D-59230A5ABD04}"/>
              </a:ext>
            </a:extLst>
          </p:cNvPr>
          <p:cNvSpPr>
            <a:spLocks noGrp="1"/>
          </p:cNvSpPr>
          <p:nvPr>
            <p:ph type="body" sz="quarter" idx="12"/>
          </p:nvPr>
        </p:nvSpPr>
        <p:spPr>
          <a:xfrm>
            <a:off x="394061" y="1047705"/>
            <a:ext cx="8368939" cy="171495"/>
          </a:xfrm>
        </p:spPr>
        <p:txBody>
          <a:bodyPr>
            <a:noAutofit/>
          </a:bodyPr>
          <a:lstStyle/>
          <a:p>
            <a:pPr marL="0" indent="0" algn="ctr">
              <a:buNone/>
            </a:pPr>
            <a:r>
              <a:rPr lang="en-US" sz="3800" b="1" u="sng" dirty="0">
                <a:solidFill>
                  <a:srgbClr val="002060"/>
                </a:solidFill>
              </a:rPr>
              <a:t>STEP 2</a:t>
            </a:r>
            <a:r>
              <a:rPr lang="en-US" sz="3800" b="1" dirty="0">
                <a:solidFill>
                  <a:srgbClr val="002060"/>
                </a:solidFill>
              </a:rPr>
              <a:t>: </a:t>
            </a:r>
            <a:r>
              <a:rPr lang="en-US" sz="3800" dirty="0" err="1">
                <a:solidFill>
                  <a:srgbClr val="002060"/>
                </a:solidFill>
              </a:rPr>
              <a:t>EstimatE</a:t>
            </a:r>
            <a:r>
              <a:rPr lang="en-US" sz="3800" dirty="0">
                <a:solidFill>
                  <a:srgbClr val="002060"/>
                </a:solidFill>
              </a:rPr>
              <a:t> ECONOMIC VALUE Associated with NCD avoidable Mortality, 2019-2050</a:t>
            </a:r>
          </a:p>
        </p:txBody>
      </p:sp>
      <mc:AlternateContent xmlns:mc="http://schemas.openxmlformats.org/markup-compatibility/2006" xmlns:a14="http://schemas.microsoft.com/office/drawing/2010/main">
        <mc:Choice Requires="a14">
          <p:sp>
            <p:nvSpPr>
              <p:cNvPr id="19" name="Text Placeholder 2">
                <a:extLst>
                  <a:ext uri="{FF2B5EF4-FFF2-40B4-BE49-F238E27FC236}">
                    <a16:creationId xmlns:a16="http://schemas.microsoft.com/office/drawing/2014/main" id="{FBC4CA6F-3BB3-540D-037F-496FD0E3A990}"/>
                  </a:ext>
                </a:extLst>
              </p:cNvPr>
              <p:cNvSpPr>
                <a:spLocks noGrp="1"/>
              </p:cNvSpPr>
              <p:nvPr>
                <p:ph type="body" sz="quarter" idx="14"/>
              </p:nvPr>
            </p:nvSpPr>
            <p:spPr>
              <a:xfrm>
                <a:off x="257055" y="2438400"/>
                <a:ext cx="4979286" cy="3827040"/>
              </a:xfrm>
            </p:spPr>
            <p:txBody>
              <a:bodyPr>
                <a:noAutofit/>
              </a:bodyPr>
              <a:lstStyle/>
              <a:p>
                <a:pPr marL="0" indent="0">
                  <a:buNone/>
                </a:pPr>
                <a:r>
                  <a:rPr lang="en-US" sz="2200" b="1" u="sng" dirty="0">
                    <a:latin typeface="Calibri" panose="020F0502020204030204" pitchFamily="34" charset="0"/>
                    <a:cs typeface="Calibri" panose="020F0502020204030204" pitchFamily="34" charset="0"/>
                  </a:rPr>
                  <a:t>For each region</a:t>
                </a:r>
                <a:r>
                  <a:rPr lang="en-US" sz="2200" b="1" dirty="0">
                    <a:latin typeface="Calibri" panose="020F0502020204030204" pitchFamily="34" charset="0"/>
                    <a:cs typeface="Calibri" panose="020F0502020204030204" pitchFamily="34" charset="0"/>
                  </a:rPr>
                  <a:t>:</a:t>
                </a:r>
              </a:p>
              <a:p>
                <a:pPr marL="278681" indent="-278681">
                  <a:buFont typeface="+mj-lt"/>
                  <a:buAutoNum type="arabicPeriod"/>
                </a:pPr>
                <a:r>
                  <a:rPr lang="en-US" sz="2200" dirty="0">
                    <a:latin typeface="Calibri" panose="020F0502020204030204" pitchFamily="34" charset="0"/>
                    <a:cs typeface="Calibri" panose="020F0502020204030204" pitchFamily="34" charset="0"/>
                  </a:rPr>
                  <a:t>Calculate the change in the probability of dying per age group </a:t>
                </a:r>
                <a:r>
                  <a:rPr lang="en-US" sz="2200" i="1" dirty="0">
                    <a:latin typeface="Calibri" panose="020F0502020204030204" pitchFamily="34" charset="0"/>
                    <a:cs typeface="Calibri" panose="020F0502020204030204" pitchFamily="34" charset="0"/>
                  </a:rPr>
                  <a:t>a</a:t>
                </a:r>
                <a:r>
                  <a:rPr lang="en-US" sz="2200" dirty="0">
                    <a:latin typeface="Calibri" panose="020F0502020204030204" pitchFamily="34" charset="0"/>
                    <a:cs typeface="Calibri" panose="020F0502020204030204" pitchFamily="34" charset="0"/>
                  </a:rPr>
                  <a:t> (vs. Frontier):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𝛿</m:t>
                        </m:r>
                      </m:e>
                      <m:sub>
                        <m:r>
                          <a:rPr lang="en-US" sz="2200" i="1">
                            <a:latin typeface="Cambria Math" panose="02040503050406030204" pitchFamily="18" charset="0"/>
                          </a:rPr>
                          <m:t>𝑅𝑒𝑔𝑖𝑜𝑛</m:t>
                        </m:r>
                        <m:r>
                          <a:rPr lang="en-US" sz="2200" i="1">
                            <a:latin typeface="Cambria Math" panose="02040503050406030204" pitchFamily="18" charset="0"/>
                          </a:rPr>
                          <m:t>,</m:t>
                        </m:r>
                        <m:r>
                          <a:rPr lang="en-US" sz="2200" i="1">
                            <a:latin typeface="Cambria Math" panose="02040503050406030204" pitchFamily="18" charset="0"/>
                          </a:rPr>
                          <m:t>ℱ</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r>
                      <a:rPr lang="en-US" sz="2200" i="1">
                        <a:latin typeface="Cambria Math" panose="02040503050406030204" pitchFamily="18" charset="0"/>
                      </a:rPr>
                      <m:t>=</m:t>
                    </m:r>
                  </m:oMath>
                </a14:m>
                <a:r>
                  <a:rPr lang="en-US" sz="2200" i="1" dirty="0">
                    <a:latin typeface="Calibri" panose="020F0502020204030204" pitchFamily="34" charset="0"/>
                    <a:cs typeface="Calibri" panose="020F0502020204030204" pitchFamily="34" charset="0"/>
                  </a:rPr>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𝑞</m:t>
                        </m:r>
                      </m:e>
                      <m:sub>
                        <m:r>
                          <a:rPr lang="en-US" sz="2200" i="1">
                            <a:latin typeface="Cambria Math" panose="02040503050406030204" pitchFamily="18" charset="0"/>
                          </a:rPr>
                          <m:t>𝑅𝑒𝑔𝑖𝑜𝑛</m:t>
                        </m:r>
                        <m:r>
                          <a:rPr lang="en-US" sz="2200" i="1">
                            <a:latin typeface="Cambria Math" panose="02040503050406030204" pitchFamily="18" charset="0"/>
                          </a:rPr>
                          <m:t> </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oMath>
                </a14:m>
                <a:r>
                  <a:rPr lang="en-US" sz="2200" i="1" dirty="0">
                    <a:latin typeface="Calibri" panose="020F0502020204030204" pitchFamily="34" charset="0"/>
                    <a:cs typeface="Calibri" panose="020F0502020204030204" pitchFamily="34" charset="0"/>
                  </a:rPr>
                  <a:t> -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𝑞</m:t>
                        </m:r>
                      </m:e>
                      <m:sub>
                        <m:r>
                          <a:rPr lang="en-US" sz="2200" i="1">
                            <a:latin typeface="Cambria Math" panose="02040503050406030204" pitchFamily="18" charset="0"/>
                          </a:rPr>
                          <m:t>ℱ</m:t>
                        </m:r>
                      </m:sub>
                    </m:sSub>
                    <m:d>
                      <m:dPr>
                        <m:ctrlPr>
                          <a:rPr lang="en-US" sz="2200" i="1">
                            <a:latin typeface="Cambria Math" panose="02040503050406030204" pitchFamily="18" charset="0"/>
                          </a:rPr>
                        </m:ctrlPr>
                      </m:dPr>
                      <m:e>
                        <m:r>
                          <a:rPr lang="en-US" sz="2200" i="1">
                            <a:latin typeface="Cambria Math" panose="02040503050406030204" pitchFamily="18" charset="0"/>
                          </a:rPr>
                          <m:t>𝑎</m:t>
                        </m:r>
                      </m:e>
                    </m:d>
                  </m:oMath>
                </a14:m>
                <a:endParaRPr lang="en-US" sz="2200" i="1" dirty="0">
                  <a:latin typeface="Calibri" panose="020F0502020204030204" pitchFamily="34" charset="0"/>
                  <a:cs typeface="Calibri" panose="020F0502020204030204" pitchFamily="34" charset="0"/>
                </a:endParaRPr>
              </a:p>
              <a:p>
                <a:pPr marL="278681" indent="-278681">
                  <a:buFont typeface="+mj-lt"/>
                  <a:buAutoNum type="arabicPeriod"/>
                </a:pPr>
                <a:r>
                  <a:rPr lang="en-US" sz="2200" dirty="0">
                    <a:latin typeface="Calibri" panose="020F0502020204030204" pitchFamily="34" charset="0"/>
                    <a:cs typeface="Calibri" panose="020F0502020204030204" pitchFamily="34" charset="0"/>
                  </a:rPr>
                  <a:t>Assign a monetary value to the change depending on: </a:t>
                </a:r>
              </a:p>
              <a:p>
                <a:pPr marL="521038" lvl="1"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extent of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𝛿</m:t>
                        </m:r>
                      </m:e>
                      <m:sub>
                        <m:r>
                          <a:rPr lang="en-US" sz="2200" i="1">
                            <a:latin typeface="Cambria Math" panose="02040503050406030204" pitchFamily="18" charset="0"/>
                          </a:rPr>
                          <m:t>𝑅𝑒𝑔𝑖𝑜𝑛</m:t>
                        </m:r>
                        <m:r>
                          <a:rPr lang="en-US" sz="2200" i="1">
                            <a:latin typeface="Cambria Math" panose="02040503050406030204" pitchFamily="18" charset="0"/>
                          </a:rPr>
                          <m:t>,</m:t>
                        </m:r>
                        <m:r>
                          <a:rPr lang="en-US" sz="2200" i="1">
                            <a:latin typeface="Cambria Math" panose="02040503050406030204" pitchFamily="18" charset="0"/>
                          </a:rPr>
                          <m:t>ℱ</m:t>
                        </m:r>
                      </m:sub>
                    </m:sSub>
                  </m:oMath>
                </a14:m>
                <a:r>
                  <a:rPr lang="en-US" sz="2200" dirty="0">
                    <a:latin typeface="Calibri" panose="020F0502020204030204" pitchFamily="34" charset="0"/>
                    <a:cs typeface="Calibri" panose="020F0502020204030204" pitchFamily="34" charset="0"/>
                  </a:rPr>
                  <a:t> modulated by decreasing marginal returns</a:t>
                </a:r>
              </a:p>
              <a:p>
                <a:pPr marL="521038" lvl="1" indent="-171496">
                  <a:buFont typeface="Arial" panose="020B0604020202020204" pitchFamily="34" charset="0"/>
                  <a:buChar char="•"/>
                </a:pPr>
                <a:r>
                  <a:rPr lang="en-US" sz="2200" dirty="0">
                    <a:latin typeface="Calibri" panose="020F0502020204030204" pitchFamily="34" charset="0"/>
                    <a:cs typeface="Calibri" panose="020F0502020204030204" pitchFamily="34" charset="0"/>
                  </a:rPr>
                  <a:t>value of statistical life in countries within region</a:t>
                </a:r>
              </a:p>
              <a:p>
                <a:pPr marL="278681" indent="-278681">
                  <a:buFont typeface="+mj-lt"/>
                  <a:buAutoNum type="arabicPeriod"/>
                </a:pPr>
                <a:r>
                  <a:rPr lang="en-US" sz="2200" dirty="0">
                    <a:latin typeface="Calibri" panose="020F0502020204030204" pitchFamily="34" charset="0"/>
                    <a:cs typeface="Calibri" panose="020F0502020204030204" pitchFamily="34" charset="0"/>
                  </a:rPr>
                  <a:t>Apply age distributions and sum across age groups to yield an aggregate value</a:t>
                </a:r>
              </a:p>
            </p:txBody>
          </p:sp>
        </mc:Choice>
        <mc:Fallback xmlns="">
          <p:sp>
            <p:nvSpPr>
              <p:cNvPr id="19" name="Text Placeholder 2">
                <a:extLst>
                  <a:ext uri="{FF2B5EF4-FFF2-40B4-BE49-F238E27FC236}">
                    <a16:creationId xmlns:a16="http://schemas.microsoft.com/office/drawing/2014/main" id="{FBC4CA6F-3BB3-540D-037F-496FD0E3A990}"/>
                  </a:ext>
                </a:extLst>
              </p:cNvPr>
              <p:cNvSpPr>
                <a:spLocks noGrp="1" noRot="1" noChangeAspect="1" noMove="1" noResize="1" noEditPoints="1" noAdjustHandles="1" noChangeArrowheads="1" noChangeShapeType="1" noTextEdit="1"/>
              </p:cNvSpPr>
              <p:nvPr>
                <p:ph type="body" sz="quarter" idx="14"/>
              </p:nvPr>
            </p:nvSpPr>
            <p:spPr>
              <a:xfrm>
                <a:off x="257055" y="2438400"/>
                <a:ext cx="4979286" cy="3827040"/>
              </a:xfrm>
              <a:blipFill>
                <a:blip r:embed="rId3"/>
                <a:stretch>
                  <a:fillRect l="-1781" t="-10265" r="-11705" b="-11921"/>
                </a:stretch>
              </a:blipFill>
            </p:spPr>
            <p:txBody>
              <a:bodyPr/>
              <a:lstStyle/>
              <a:p>
                <a:r>
                  <a:rPr lang="en-US">
                    <a:noFill/>
                  </a:rPr>
                  <a:t> </a:t>
                </a:r>
              </a:p>
            </p:txBody>
          </p:sp>
        </mc:Fallback>
      </mc:AlternateContent>
      <p:sp>
        <p:nvSpPr>
          <p:cNvPr id="20" name="Text Placeholder 4">
            <a:extLst>
              <a:ext uri="{FF2B5EF4-FFF2-40B4-BE49-F238E27FC236}">
                <a16:creationId xmlns:a16="http://schemas.microsoft.com/office/drawing/2014/main" id="{8A3B4DC7-F33A-8148-FEEE-1130F01719C4}"/>
              </a:ext>
            </a:extLst>
          </p:cNvPr>
          <p:cNvSpPr>
            <a:spLocks noGrp="1"/>
          </p:cNvSpPr>
          <p:nvPr>
            <p:ph type="body" sz="quarter" idx="16"/>
          </p:nvPr>
        </p:nvSpPr>
        <p:spPr>
          <a:xfrm>
            <a:off x="5638800" y="6096000"/>
            <a:ext cx="3095375" cy="473503"/>
          </a:xfrm>
        </p:spPr>
        <p:txBody>
          <a:bodyPr>
            <a:noAutofit/>
          </a:bodyPr>
          <a:lstStyle/>
          <a:p>
            <a:pPr marL="0" indent="0" algn="ctr">
              <a:buNone/>
            </a:pPr>
            <a:r>
              <a:rPr lang="en-US" sz="1400" dirty="0">
                <a:latin typeface="Calibri" panose="020F0502020204030204" pitchFamily="34" charset="0"/>
                <a:cs typeface="Calibri" panose="020F0502020204030204" pitchFamily="34" charset="0"/>
              </a:rPr>
              <a:t>Adapted from: </a:t>
            </a:r>
            <a:r>
              <a:rPr lang="en-US" sz="1400" dirty="0" err="1">
                <a:latin typeface="Calibri" panose="020F0502020204030204" pitchFamily="34" charset="0"/>
                <a:cs typeface="Calibri" panose="020F0502020204030204" pitchFamily="34" charset="0"/>
              </a:rPr>
              <a:t>Hammitt</a:t>
            </a:r>
            <a:r>
              <a:rPr lang="en-US" sz="1400" dirty="0">
                <a:latin typeface="Calibri" panose="020F0502020204030204" pitchFamily="34" charset="0"/>
                <a:cs typeface="Calibri" panose="020F0502020204030204" pitchFamily="34" charset="0"/>
              </a:rPr>
              <a:t> et al., 2020; Cardoso &amp; </a:t>
            </a:r>
            <a:r>
              <a:rPr lang="en-US" sz="1400" dirty="0" err="1">
                <a:latin typeface="Calibri" panose="020F0502020204030204" pitchFamily="34" charset="0"/>
                <a:cs typeface="Calibri" panose="020F0502020204030204" pitchFamily="34" charset="0"/>
              </a:rPr>
              <a:t>Dahis</a:t>
            </a:r>
            <a:r>
              <a:rPr lang="en-US" sz="1400" dirty="0">
                <a:latin typeface="Calibri" panose="020F0502020204030204" pitchFamily="34" charset="0"/>
                <a:cs typeface="Calibri" panose="020F0502020204030204" pitchFamily="34" charset="0"/>
              </a:rPr>
              <a:t> 2024</a:t>
            </a:r>
          </a:p>
        </p:txBody>
      </p:sp>
      <p:grpSp>
        <p:nvGrpSpPr>
          <p:cNvPr id="2" name="Group 1">
            <a:extLst>
              <a:ext uri="{FF2B5EF4-FFF2-40B4-BE49-F238E27FC236}">
                <a16:creationId xmlns:a16="http://schemas.microsoft.com/office/drawing/2014/main" id="{1593AA73-96BF-0110-FA9E-3CA0489D4F57}"/>
              </a:ext>
            </a:extLst>
          </p:cNvPr>
          <p:cNvGrpSpPr/>
          <p:nvPr/>
        </p:nvGrpSpPr>
        <p:grpSpPr>
          <a:xfrm>
            <a:off x="4977526" y="2679287"/>
            <a:ext cx="4023852" cy="3190024"/>
            <a:chOff x="6041535" y="1538353"/>
            <a:chExt cx="5838654" cy="4272797"/>
          </a:xfrm>
        </p:grpSpPr>
        <p:cxnSp>
          <p:nvCxnSpPr>
            <p:cNvPr id="3" name="Straight Arrow Connector 2">
              <a:extLst>
                <a:ext uri="{FF2B5EF4-FFF2-40B4-BE49-F238E27FC236}">
                  <a16:creationId xmlns:a16="http://schemas.microsoft.com/office/drawing/2014/main" id="{B5283923-9A56-8E0C-C650-EE845B1954BE}"/>
                </a:ext>
              </a:extLst>
            </p:cNvPr>
            <p:cNvCxnSpPr>
              <a:cxnSpLocks/>
            </p:cNvCxnSpPr>
            <p:nvPr/>
          </p:nvCxnSpPr>
          <p:spPr>
            <a:xfrm flipV="1">
              <a:off x="7189365" y="2357306"/>
              <a:ext cx="0" cy="2835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D1346794-B177-8140-C8C8-D4252BC01E86}"/>
                </a:ext>
              </a:extLst>
            </p:cNvPr>
            <p:cNvCxnSpPr>
              <a:cxnSpLocks/>
            </p:cNvCxnSpPr>
            <p:nvPr/>
          </p:nvCxnSpPr>
          <p:spPr>
            <a:xfrm>
              <a:off x="7048150" y="5101904"/>
              <a:ext cx="445315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46D9E85-71B1-C20D-6038-520F599D0933}"/>
                </a:ext>
              </a:extLst>
            </p:cNvPr>
            <p:cNvSpPr txBox="1"/>
            <p:nvPr/>
          </p:nvSpPr>
          <p:spPr>
            <a:xfrm>
              <a:off x="6475001" y="1538353"/>
              <a:ext cx="1523893" cy="865712"/>
            </a:xfrm>
            <a:prstGeom prst="rect">
              <a:avLst/>
            </a:prstGeom>
            <a:noFill/>
            <a:ln w="28575">
              <a:solidFill>
                <a:schemeClr val="tx1"/>
              </a:solidFill>
            </a:ln>
          </p:spPr>
          <p:txBody>
            <a:bodyPr wrap="square" rtlCol="0">
              <a:spAutoFit/>
            </a:bodyPr>
            <a:lstStyle/>
            <a:p>
              <a:pPr algn="ctr"/>
              <a:r>
                <a:rPr lang="pt-BR" sz="1200" dirty="0" err="1">
                  <a:latin typeface="Calibri" panose="020F0502020204030204" pitchFamily="34" charset="0"/>
                  <a:cs typeface="Calibri" panose="020F0502020204030204" pitchFamily="34" charset="0"/>
                </a:rPr>
                <a:t>Share</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of</a:t>
              </a:r>
              <a:r>
                <a:rPr lang="pt-BR" sz="1200" dirty="0">
                  <a:latin typeface="Calibri" panose="020F0502020204030204" pitchFamily="34" charset="0"/>
                  <a:cs typeface="Calibri" panose="020F0502020204030204" pitchFamily="34" charset="0"/>
                </a:rPr>
                <a:t> individual income (%)</a:t>
              </a:r>
            </a:p>
          </p:txBody>
        </p:sp>
        <p:sp>
          <p:nvSpPr>
            <p:cNvPr id="6" name="TextBox 5">
              <a:extLst>
                <a:ext uri="{FF2B5EF4-FFF2-40B4-BE49-F238E27FC236}">
                  <a16:creationId xmlns:a16="http://schemas.microsoft.com/office/drawing/2014/main" id="{97BDABB9-AC90-6BF5-CCC1-27EEDCD0B28B}"/>
                </a:ext>
              </a:extLst>
            </p:cNvPr>
            <p:cNvSpPr txBox="1"/>
            <p:nvPr/>
          </p:nvSpPr>
          <p:spPr>
            <a:xfrm>
              <a:off x="9853050" y="5192784"/>
              <a:ext cx="2027139" cy="618366"/>
            </a:xfrm>
            <a:prstGeom prst="rect">
              <a:avLst/>
            </a:prstGeom>
            <a:noFill/>
            <a:ln w="28575">
              <a:solidFill>
                <a:schemeClr val="tx1"/>
              </a:solidFill>
            </a:ln>
          </p:spPr>
          <p:txBody>
            <a:bodyPr wrap="square" rtlCol="0">
              <a:spAutoFit/>
            </a:bodyPr>
            <a:lstStyle/>
            <a:p>
              <a:pPr algn="ctr"/>
              <a:r>
                <a:rPr lang="pt-BR" sz="1200" dirty="0" err="1">
                  <a:latin typeface="Calibri" panose="020F0502020204030204" pitchFamily="34" charset="0"/>
                  <a:cs typeface="Calibri" panose="020F0502020204030204" pitchFamily="34" charset="0"/>
                </a:rPr>
                <a:t>Change</a:t>
              </a:r>
              <a:r>
                <a:rPr lang="pt-BR" sz="1200" dirty="0">
                  <a:latin typeface="Calibri" panose="020F0502020204030204" pitchFamily="34" charset="0"/>
                  <a:cs typeface="Calibri" panose="020F0502020204030204" pitchFamily="34" charset="0"/>
                </a:rPr>
                <a:t> in </a:t>
              </a:r>
              <a:r>
                <a:rPr lang="pt-BR" sz="1200" dirty="0" err="1">
                  <a:latin typeface="Calibri" panose="020F0502020204030204" pitchFamily="34" charset="0"/>
                  <a:cs typeface="Calibri" panose="020F0502020204030204" pitchFamily="34" charset="0"/>
                </a:rPr>
                <a:t>probability</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of</a:t>
              </a:r>
              <a:r>
                <a:rPr lang="pt-BR" sz="1200" dirty="0">
                  <a:latin typeface="Calibri" panose="020F0502020204030204" pitchFamily="34" charset="0"/>
                  <a:cs typeface="Calibri" panose="020F0502020204030204" pitchFamily="34" charset="0"/>
                </a:rPr>
                <a:t> </a:t>
              </a:r>
              <a:r>
                <a:rPr lang="pt-BR" sz="1200" dirty="0" err="1">
                  <a:latin typeface="Calibri" panose="020F0502020204030204" pitchFamily="34" charset="0"/>
                  <a:cs typeface="Calibri" panose="020F0502020204030204" pitchFamily="34" charset="0"/>
                </a:rPr>
                <a:t>dying</a:t>
              </a:r>
              <a:endParaRPr lang="pt-BR" sz="1200" dirty="0">
                <a:latin typeface="Calibri" panose="020F0502020204030204" pitchFamily="34" charset="0"/>
                <a:cs typeface="Calibri" panose="020F0502020204030204" pitchFamily="34" charset="0"/>
              </a:endParaRPr>
            </a:p>
          </p:txBody>
        </p:sp>
        <p:sp>
          <p:nvSpPr>
            <p:cNvPr id="8" name="Freeform: Shape 15">
              <a:extLst>
                <a:ext uri="{FF2B5EF4-FFF2-40B4-BE49-F238E27FC236}">
                  <a16:creationId xmlns:a16="http://schemas.microsoft.com/office/drawing/2014/main" id="{223584A4-A15F-8621-DB08-1180B67AFE14}"/>
                </a:ext>
              </a:extLst>
            </p:cNvPr>
            <p:cNvSpPr/>
            <p:nvPr/>
          </p:nvSpPr>
          <p:spPr>
            <a:xfrm>
              <a:off x="7189363" y="2938461"/>
              <a:ext cx="4278208" cy="2050033"/>
            </a:xfrm>
            <a:custGeom>
              <a:avLst/>
              <a:gdLst>
                <a:gd name="connsiteX0" fmla="*/ 0 w 3053593"/>
                <a:gd name="connsiteY0" fmla="*/ 0 h 2197916"/>
                <a:gd name="connsiteX1" fmla="*/ 939567 w 3053593"/>
                <a:gd name="connsiteY1" fmla="*/ 1510019 h 2197916"/>
                <a:gd name="connsiteX2" fmla="*/ 3053593 w 3053593"/>
                <a:gd name="connsiteY2" fmla="*/ 2197916 h 2197916"/>
              </a:gdLst>
              <a:ahLst/>
              <a:cxnLst>
                <a:cxn ang="0">
                  <a:pos x="connsiteX0" y="connsiteY0"/>
                </a:cxn>
                <a:cxn ang="0">
                  <a:pos x="connsiteX1" y="connsiteY1"/>
                </a:cxn>
                <a:cxn ang="0">
                  <a:pos x="connsiteX2" y="connsiteY2"/>
                </a:cxn>
              </a:cxnLst>
              <a:rect l="l" t="t" r="r" b="b"/>
              <a:pathLst>
                <a:path w="3053593" h="2197916">
                  <a:moveTo>
                    <a:pt x="0" y="0"/>
                  </a:moveTo>
                  <a:cubicBezTo>
                    <a:pt x="215317" y="571850"/>
                    <a:pt x="430635" y="1143700"/>
                    <a:pt x="939567" y="1510019"/>
                  </a:cubicBezTo>
                  <a:cubicBezTo>
                    <a:pt x="1448499" y="1876338"/>
                    <a:pt x="2251046" y="2037127"/>
                    <a:pt x="3053593" y="2197916"/>
                  </a:cubicBezTo>
                </a:path>
              </a:pathLst>
            </a:custGeom>
            <a:noFill/>
            <a:ln w="38100">
              <a:solidFill>
                <a:srgbClr val="972D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latin typeface="Garamond" panose="02020404030301010803" pitchFamily="18" charset="0"/>
              </a:endParaRPr>
            </a:p>
          </p:txBody>
        </p:sp>
        <p:cxnSp>
          <p:nvCxnSpPr>
            <p:cNvPr id="9" name="Straight Connector 8">
              <a:extLst>
                <a:ext uri="{FF2B5EF4-FFF2-40B4-BE49-F238E27FC236}">
                  <a16:creationId xmlns:a16="http://schemas.microsoft.com/office/drawing/2014/main" id="{1F454573-647B-5E7F-4F2F-D151983D1E3D}"/>
                </a:ext>
              </a:extLst>
            </p:cNvPr>
            <p:cNvCxnSpPr>
              <a:cxnSpLocks/>
            </p:cNvCxnSpPr>
            <p:nvPr/>
          </p:nvCxnSpPr>
          <p:spPr>
            <a:xfrm>
              <a:off x="7189365" y="2938463"/>
              <a:ext cx="1189932" cy="2163441"/>
            </a:xfrm>
            <a:prstGeom prst="line">
              <a:avLst/>
            </a:prstGeom>
            <a:ln w="28575">
              <a:solidFill>
                <a:srgbClr val="D8B70A"/>
              </a:solidFill>
              <a:prstDash val="sysDash"/>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1F66266-A973-C22D-B374-61015C013D3A}"/>
                </a:ext>
              </a:extLst>
            </p:cNvPr>
            <p:cNvSpPr/>
            <p:nvPr/>
          </p:nvSpPr>
          <p:spPr>
            <a:xfrm>
              <a:off x="7155986" y="2921912"/>
              <a:ext cx="80962" cy="80963"/>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latin typeface="Garamond" panose="02020404030301010803" pitchFamily="18" charset="0"/>
              </a:endParaRPr>
            </a:p>
          </p:txBody>
        </p:sp>
        <p:sp>
          <p:nvSpPr>
            <p:cNvPr id="11" name="TextBox 10">
              <a:extLst>
                <a:ext uri="{FF2B5EF4-FFF2-40B4-BE49-F238E27FC236}">
                  <a16:creationId xmlns:a16="http://schemas.microsoft.com/office/drawing/2014/main" id="{8DCAF71A-9911-8B9D-F70A-4455ADF4E89E}"/>
                </a:ext>
              </a:extLst>
            </p:cNvPr>
            <p:cNvSpPr txBox="1"/>
            <p:nvPr/>
          </p:nvSpPr>
          <p:spPr>
            <a:xfrm>
              <a:off x="6041535" y="4004147"/>
              <a:ext cx="1107343" cy="231887"/>
            </a:xfrm>
            <a:prstGeom prst="rect">
              <a:avLst/>
            </a:prstGeom>
            <a:noFill/>
          </p:spPr>
          <p:txBody>
            <a:bodyPr wrap="square" rtlCol="0">
              <a:spAutoFit/>
            </a:bodyPr>
            <a:lstStyle/>
            <a:p>
              <a:pPr algn="ctr"/>
              <a:endParaRPr lang="en-US" sz="525">
                <a:solidFill>
                  <a:srgbClr val="C00000"/>
                </a:solidFill>
                <a:latin typeface="Garamond" panose="02020404030301010803" pitchFamily="18" charset="0"/>
              </a:endParaRPr>
            </a:p>
          </p:txBody>
        </p:sp>
        <p:sp>
          <p:nvSpPr>
            <p:cNvPr id="12" name="TextBox 11">
              <a:extLst>
                <a:ext uri="{FF2B5EF4-FFF2-40B4-BE49-F238E27FC236}">
                  <a16:creationId xmlns:a16="http://schemas.microsoft.com/office/drawing/2014/main" id="{464D243B-52ED-04EC-1781-BA3DB32DCD8F}"/>
                </a:ext>
              </a:extLst>
            </p:cNvPr>
            <p:cNvSpPr txBox="1"/>
            <p:nvPr/>
          </p:nvSpPr>
          <p:spPr>
            <a:xfrm>
              <a:off x="6196425" y="2798681"/>
              <a:ext cx="1107343" cy="355560"/>
            </a:xfrm>
            <a:prstGeom prst="rect">
              <a:avLst/>
            </a:prstGeom>
            <a:noFill/>
          </p:spPr>
          <p:txBody>
            <a:bodyPr wrap="square" rtlCol="0">
              <a:spAutoFit/>
            </a:bodyPr>
            <a:lstStyle/>
            <a:p>
              <a:pPr algn="ctr"/>
              <a:r>
                <a:rPr lang="pt-BR" sz="1125" dirty="0">
                  <a:latin typeface="Arial" panose="020B0604020202020204" pitchFamily="34" charset="0"/>
                  <a:cs typeface="Arial" panose="020B0604020202020204" pitchFamily="34" charset="0"/>
                </a:rPr>
                <a:t>100%</a:t>
              </a:r>
            </a:p>
          </p:txBody>
        </p:sp>
      </p:grpSp>
      <p:sp>
        <p:nvSpPr>
          <p:cNvPr id="14" name="TextBox 13">
            <a:extLst>
              <a:ext uri="{FF2B5EF4-FFF2-40B4-BE49-F238E27FC236}">
                <a16:creationId xmlns:a16="http://schemas.microsoft.com/office/drawing/2014/main" id="{57803296-56B4-30A9-3AEF-6AEF9189498A}"/>
              </a:ext>
            </a:extLst>
          </p:cNvPr>
          <p:cNvSpPr txBox="1"/>
          <p:nvPr/>
        </p:nvSpPr>
        <p:spPr>
          <a:xfrm>
            <a:off x="5370982" y="5351831"/>
            <a:ext cx="654982" cy="265457"/>
          </a:xfrm>
          <a:prstGeom prst="rect">
            <a:avLst/>
          </a:prstGeom>
          <a:noFill/>
        </p:spPr>
        <p:txBody>
          <a:bodyPr wrap="square" rtlCol="0">
            <a:spAutoFit/>
          </a:bodyPr>
          <a:lstStyle/>
          <a:p>
            <a:pPr algn="ctr"/>
            <a:r>
              <a:rPr lang="pt-BR" sz="1125"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1300635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92A813-6AF5-B2FB-0532-9DC91D38BA17}"/>
              </a:ext>
            </a:extLst>
          </p:cNvPr>
          <p:cNvPicPr>
            <a:picLocks noChangeAspect="1"/>
          </p:cNvPicPr>
          <p:nvPr/>
        </p:nvPicPr>
        <p:blipFill>
          <a:blip r:embed="rId3"/>
          <a:stretch>
            <a:fillRect/>
          </a:stretch>
        </p:blipFill>
        <p:spPr>
          <a:xfrm>
            <a:off x="609600" y="1752600"/>
            <a:ext cx="8503920" cy="5102352"/>
          </a:xfrm>
          <a:prstGeom prst="rect">
            <a:avLst/>
          </a:prstGeom>
        </p:spPr>
      </p:pic>
      <p:sp>
        <p:nvSpPr>
          <p:cNvPr id="5" name="Text Placeholder 6">
            <a:extLst>
              <a:ext uri="{FF2B5EF4-FFF2-40B4-BE49-F238E27FC236}">
                <a16:creationId xmlns:a16="http://schemas.microsoft.com/office/drawing/2014/main" id="{2CFC22C7-20F4-78B2-1DDB-EA0A77EB68BB}"/>
              </a:ext>
            </a:extLst>
          </p:cNvPr>
          <p:cNvSpPr>
            <a:spLocks noGrp="1"/>
          </p:cNvSpPr>
          <p:nvPr>
            <p:ph type="body" sz="quarter" idx="12"/>
          </p:nvPr>
        </p:nvSpPr>
        <p:spPr>
          <a:xfrm>
            <a:off x="252388" y="138116"/>
            <a:ext cx="8663012" cy="1538284"/>
          </a:xfrm>
        </p:spPr>
        <p:txBody>
          <a:bodyPr anchor="t">
            <a:noAutofit/>
          </a:bodyPr>
          <a:lstStyle/>
          <a:p>
            <a:pPr marL="0" indent="0">
              <a:buNone/>
            </a:pPr>
            <a:r>
              <a:rPr lang="en-US" sz="2400" b="1" u="sng" dirty="0">
                <a:solidFill>
                  <a:srgbClr val="002060"/>
                </a:solidFill>
              </a:rPr>
              <a:t>Key finding #1</a:t>
            </a:r>
            <a:r>
              <a:rPr lang="en-US" sz="2400" b="1" dirty="0">
                <a:solidFill>
                  <a:srgbClr val="002060"/>
                </a:solidFill>
              </a:rPr>
              <a:t>: </a:t>
            </a:r>
          </a:p>
          <a:p>
            <a:pPr marL="0" indent="0">
              <a:buNone/>
            </a:pPr>
            <a:r>
              <a:rPr lang="en-US" sz="2400" dirty="0">
                <a:solidFill>
                  <a:srgbClr val="002060"/>
                </a:solidFill>
              </a:rPr>
              <a:t>The NCD &amp; injury share of the economic value associated with AVOIDABLE mortality is dominant in Every Region BUT sub-Saharan Africa</a:t>
            </a:r>
          </a:p>
        </p:txBody>
      </p:sp>
      <p:sp>
        <p:nvSpPr>
          <p:cNvPr id="2" name="TextBox 1">
            <a:extLst>
              <a:ext uri="{FF2B5EF4-FFF2-40B4-BE49-F238E27FC236}">
                <a16:creationId xmlns:a16="http://schemas.microsoft.com/office/drawing/2014/main" id="{042E4813-75FA-8724-6E67-3A05AA7981F5}"/>
              </a:ext>
            </a:extLst>
          </p:cNvPr>
          <p:cNvSpPr txBox="1"/>
          <p:nvPr/>
        </p:nvSpPr>
        <p:spPr>
          <a:xfrm rot="16200000">
            <a:off x="-1194779" y="3758222"/>
            <a:ext cx="3695136" cy="523220"/>
          </a:xfrm>
          <a:prstGeom prst="rect">
            <a:avLst/>
          </a:prstGeom>
          <a:solidFill>
            <a:schemeClr val="bg1"/>
          </a:solidFill>
          <a:ln>
            <a:solidFill>
              <a:schemeClr val="tx1"/>
            </a:solidFill>
          </a:ln>
        </p:spPr>
        <p:txBody>
          <a:bodyPr wrap="square" rtlCol="0">
            <a:spAutoFit/>
          </a:bodyPr>
          <a:lstStyle/>
          <a:p>
            <a:pPr algn="ctr"/>
            <a:r>
              <a:rPr lang="en-US" sz="1400" b="1" dirty="0">
                <a:latin typeface="Rubik" pitchFamily="2" charset="-79"/>
                <a:cs typeface="Rubik" pitchFamily="2" charset="-79"/>
              </a:rPr>
              <a:t>Fraction of economic value associated with avoidable mortality, by cause</a:t>
            </a:r>
          </a:p>
        </p:txBody>
      </p:sp>
    </p:spTree>
    <p:extLst>
      <p:ext uri="{BB962C8B-B14F-4D97-AF65-F5344CB8AC3E}">
        <p14:creationId xmlns:p14="http://schemas.microsoft.com/office/powerpoint/2010/main" val="36596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5">
            <a:extLst>
              <a:ext uri="{FF2B5EF4-FFF2-40B4-BE49-F238E27FC236}">
                <a16:creationId xmlns:a16="http://schemas.microsoft.com/office/drawing/2014/main" id="{277D925B-22B3-814F-ED17-A2BE341F4272}"/>
              </a:ext>
            </a:extLst>
          </p:cNvPr>
          <p:cNvPicPr>
            <a:picLocks noGrp="1" noChangeAspect="1"/>
          </p:cNvPicPr>
          <p:nvPr>
            <p:ph sz="quarter" idx="13"/>
          </p:nvPr>
        </p:nvPicPr>
        <p:blipFill>
          <a:blip r:embed="rId3"/>
          <a:stretch>
            <a:fillRect/>
          </a:stretch>
        </p:blipFill>
        <p:spPr>
          <a:xfrm>
            <a:off x="3733800" y="1005840"/>
            <a:ext cx="5349239" cy="4937760"/>
          </a:xfrm>
        </p:spPr>
      </p:pic>
      <p:sp>
        <p:nvSpPr>
          <p:cNvPr id="7" name="Text Placeholder 6">
            <a:extLst>
              <a:ext uri="{FF2B5EF4-FFF2-40B4-BE49-F238E27FC236}">
                <a16:creationId xmlns:a16="http://schemas.microsoft.com/office/drawing/2014/main" id="{24637316-1672-A40E-F1CE-ECEA4F138441}"/>
              </a:ext>
            </a:extLst>
          </p:cNvPr>
          <p:cNvSpPr txBox="1">
            <a:spLocks/>
          </p:cNvSpPr>
          <p:nvPr/>
        </p:nvSpPr>
        <p:spPr>
          <a:xfrm>
            <a:off x="228600" y="533400"/>
            <a:ext cx="3195933" cy="5715000"/>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400" b="1" u="sng" dirty="0">
                <a:solidFill>
                  <a:srgbClr val="002060"/>
                </a:solidFill>
              </a:rPr>
              <a:t>Key </a:t>
            </a:r>
            <a:r>
              <a:rPr lang="en-US" sz="2400" b="1" u="sng" dirty="0" err="1">
                <a:solidFill>
                  <a:srgbClr val="002060"/>
                </a:solidFill>
              </a:rPr>
              <a:t>findinG</a:t>
            </a:r>
            <a:r>
              <a:rPr lang="en-US" sz="2400" b="1" u="sng" dirty="0">
                <a:solidFill>
                  <a:srgbClr val="002060"/>
                </a:solidFill>
              </a:rPr>
              <a:t> #2</a:t>
            </a:r>
            <a:r>
              <a:rPr lang="en-US" sz="2400" b="1" dirty="0">
                <a:solidFill>
                  <a:srgbClr val="002060"/>
                </a:solidFill>
              </a:rPr>
              <a:t>: </a:t>
            </a:r>
          </a:p>
          <a:p>
            <a:r>
              <a:rPr lang="en-US" sz="2400" dirty="0">
                <a:solidFill>
                  <a:srgbClr val="002060"/>
                </a:solidFill>
              </a:rPr>
              <a:t>The economic value associated with avoidable mortality varies greatly across NCD causes in EACH REGION</a:t>
            </a:r>
          </a:p>
        </p:txBody>
      </p:sp>
      <p:sp>
        <p:nvSpPr>
          <p:cNvPr id="8" name="TextBox 7">
            <a:extLst>
              <a:ext uri="{FF2B5EF4-FFF2-40B4-BE49-F238E27FC236}">
                <a16:creationId xmlns:a16="http://schemas.microsoft.com/office/drawing/2014/main" id="{C6D8EE9D-5227-C5D8-8F0C-951E30BA04F6}"/>
              </a:ext>
            </a:extLst>
          </p:cNvPr>
          <p:cNvSpPr txBox="1"/>
          <p:nvPr/>
        </p:nvSpPr>
        <p:spPr>
          <a:xfrm rot="16200000">
            <a:off x="1902767" y="3426767"/>
            <a:ext cx="3505200" cy="461665"/>
          </a:xfrm>
          <a:prstGeom prst="rect">
            <a:avLst/>
          </a:prstGeom>
          <a:solidFill>
            <a:schemeClr val="bg2"/>
          </a:solidFill>
          <a:ln>
            <a:solidFill>
              <a:schemeClr val="tx1"/>
            </a:solidFill>
          </a:ln>
        </p:spPr>
        <p:txBody>
          <a:bodyPr wrap="square" rtlCol="0">
            <a:spAutoFit/>
          </a:bodyPr>
          <a:lstStyle/>
          <a:p>
            <a:pPr algn="ctr"/>
            <a:r>
              <a:rPr lang="en-US" sz="1200" b="1" dirty="0">
                <a:latin typeface="Rubik" pitchFamily="2" charset="-79"/>
                <a:cs typeface="Rubik" pitchFamily="2" charset="-79"/>
              </a:rPr>
              <a:t>Fraction of annual income associated with avoidable mortality, by cause</a:t>
            </a:r>
          </a:p>
        </p:txBody>
      </p:sp>
    </p:spTree>
    <p:extLst>
      <p:ext uri="{BB962C8B-B14F-4D97-AF65-F5344CB8AC3E}">
        <p14:creationId xmlns:p14="http://schemas.microsoft.com/office/powerpoint/2010/main" val="1749528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5">
            <a:extLst>
              <a:ext uri="{FF2B5EF4-FFF2-40B4-BE49-F238E27FC236}">
                <a16:creationId xmlns:a16="http://schemas.microsoft.com/office/drawing/2014/main" id="{277D925B-22B3-814F-ED17-A2BE341F4272}"/>
              </a:ext>
            </a:extLst>
          </p:cNvPr>
          <p:cNvPicPr>
            <a:picLocks noGrp="1" noChangeAspect="1"/>
          </p:cNvPicPr>
          <p:nvPr>
            <p:ph sz="quarter" idx="13"/>
          </p:nvPr>
        </p:nvPicPr>
        <p:blipFill>
          <a:blip r:embed="rId3"/>
          <a:stretch>
            <a:fillRect/>
          </a:stretch>
        </p:blipFill>
        <p:spPr>
          <a:xfrm>
            <a:off x="3718561" y="1005840"/>
            <a:ext cx="5349239" cy="4937760"/>
          </a:xfrm>
        </p:spPr>
      </p:pic>
      <p:sp>
        <p:nvSpPr>
          <p:cNvPr id="7" name="Text Placeholder 6">
            <a:extLst>
              <a:ext uri="{FF2B5EF4-FFF2-40B4-BE49-F238E27FC236}">
                <a16:creationId xmlns:a16="http://schemas.microsoft.com/office/drawing/2014/main" id="{24637316-1672-A40E-F1CE-ECEA4F138441}"/>
              </a:ext>
            </a:extLst>
          </p:cNvPr>
          <p:cNvSpPr txBox="1">
            <a:spLocks/>
          </p:cNvSpPr>
          <p:nvPr/>
        </p:nvSpPr>
        <p:spPr>
          <a:xfrm>
            <a:off x="295338" y="1787677"/>
            <a:ext cx="3288234" cy="3774923"/>
          </a:xfrm>
          <a:prstGeom prst="rect">
            <a:avLst/>
          </a:prstGeom>
        </p:spPr>
        <p:txBody>
          <a:bodyPr vert="horz" lIns="34299" tIns="17149" rIns="34299" bIns="17149" rtlCol="0" anchor="ctr">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400" b="1" u="sng" dirty="0">
                <a:solidFill>
                  <a:srgbClr val="002060"/>
                </a:solidFill>
              </a:rPr>
              <a:t>Key finding #3 </a:t>
            </a:r>
            <a:r>
              <a:rPr lang="en-US" sz="2400" dirty="0">
                <a:solidFill>
                  <a:srgbClr val="002060"/>
                </a:solidFill>
              </a:rPr>
              <a:t>The economic value </a:t>
            </a:r>
            <a:r>
              <a:rPr lang="en-US" sz="2400" b="1" dirty="0">
                <a:solidFill>
                  <a:srgbClr val="002060"/>
                </a:solidFill>
              </a:rPr>
              <a:t>(% of annual income</a:t>
            </a:r>
            <a:r>
              <a:rPr lang="en-US" sz="2400" dirty="0">
                <a:solidFill>
                  <a:srgbClr val="002060"/>
                </a:solidFill>
              </a:rPr>
              <a:t>) associated WITH AVOIDABLE</a:t>
            </a:r>
            <a:r>
              <a:rPr lang="en-US" sz="2400" b="1" u="sng" dirty="0">
                <a:solidFill>
                  <a:srgbClr val="002060"/>
                </a:solidFill>
              </a:rPr>
              <a:t>CVD </a:t>
            </a:r>
            <a:r>
              <a:rPr lang="en-US" sz="2400" b="1" u="sng" dirty="0" err="1">
                <a:solidFill>
                  <a:srgbClr val="002060"/>
                </a:solidFill>
              </a:rPr>
              <a:t>MOrtality</a:t>
            </a:r>
            <a:r>
              <a:rPr lang="en-US" sz="2400" b="1" dirty="0">
                <a:solidFill>
                  <a:srgbClr val="002060"/>
                </a:solidFill>
              </a:rPr>
              <a:t> </a:t>
            </a:r>
            <a:r>
              <a:rPr lang="en-US" sz="2400" dirty="0">
                <a:solidFill>
                  <a:srgbClr val="002060"/>
                </a:solidFill>
              </a:rPr>
              <a:t>is UNIVERSALLY LARGE </a:t>
            </a:r>
          </a:p>
          <a:p>
            <a:pPr marL="214370" indent="-214370">
              <a:lnSpc>
                <a:spcPct val="100000"/>
              </a:lnSpc>
              <a:spcBef>
                <a:spcPts val="0"/>
              </a:spcBef>
              <a:spcAft>
                <a:spcPts val="0"/>
              </a:spcAft>
              <a:buFont typeface="Arial" panose="020B0604020202020204" pitchFamily="34" charset="0"/>
              <a:buChar char="•"/>
            </a:pPr>
            <a:endParaRPr lang="en-US" sz="2400" dirty="0">
              <a:solidFill>
                <a:srgbClr val="002060"/>
              </a:solidFill>
            </a:endParaRPr>
          </a:p>
        </p:txBody>
      </p:sp>
      <p:sp>
        <p:nvSpPr>
          <p:cNvPr id="8" name="TextBox 7">
            <a:extLst>
              <a:ext uri="{FF2B5EF4-FFF2-40B4-BE49-F238E27FC236}">
                <a16:creationId xmlns:a16="http://schemas.microsoft.com/office/drawing/2014/main" id="{C6D8EE9D-5227-C5D8-8F0C-951E30BA04F6}"/>
              </a:ext>
            </a:extLst>
          </p:cNvPr>
          <p:cNvSpPr txBox="1"/>
          <p:nvPr/>
        </p:nvSpPr>
        <p:spPr>
          <a:xfrm rot="16200000">
            <a:off x="1632290" y="3244511"/>
            <a:ext cx="3902687" cy="461665"/>
          </a:xfrm>
          <a:prstGeom prst="rect">
            <a:avLst/>
          </a:prstGeom>
          <a:solidFill>
            <a:schemeClr val="bg2"/>
          </a:solidFill>
          <a:ln>
            <a:solidFill>
              <a:schemeClr val="tx1"/>
            </a:solidFill>
          </a:ln>
        </p:spPr>
        <p:txBody>
          <a:bodyPr wrap="square" rtlCol="0">
            <a:spAutoFit/>
          </a:bodyPr>
          <a:lstStyle/>
          <a:p>
            <a:pPr algn="ctr"/>
            <a:r>
              <a:rPr lang="en-US" sz="1200" b="1" dirty="0">
                <a:latin typeface="Rubik" pitchFamily="2" charset="-79"/>
                <a:cs typeface="Rubik" pitchFamily="2" charset="-79"/>
              </a:rPr>
              <a:t>Fraction of annual income associated with avoidable mortality, by cause</a:t>
            </a:r>
          </a:p>
        </p:txBody>
      </p:sp>
    </p:spTree>
    <p:extLst>
      <p:ext uri="{BB962C8B-B14F-4D97-AF65-F5344CB8AC3E}">
        <p14:creationId xmlns:p14="http://schemas.microsoft.com/office/powerpoint/2010/main" val="2539755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2CFC22C7-20F4-78B2-1DDB-EA0A77EB68BB}"/>
              </a:ext>
            </a:extLst>
          </p:cNvPr>
          <p:cNvSpPr>
            <a:spLocks noGrp="1"/>
          </p:cNvSpPr>
          <p:nvPr>
            <p:ph type="body" sz="quarter" idx="12"/>
          </p:nvPr>
        </p:nvSpPr>
        <p:spPr>
          <a:xfrm>
            <a:off x="324408" y="228600"/>
            <a:ext cx="8743392" cy="1103299"/>
          </a:xfrm>
        </p:spPr>
        <p:txBody>
          <a:bodyPr anchor="t">
            <a:noAutofit/>
          </a:bodyPr>
          <a:lstStyle/>
          <a:p>
            <a:pPr marL="0" indent="0">
              <a:buNone/>
            </a:pPr>
            <a:r>
              <a:rPr lang="en-US" sz="2200" b="1" u="sng" dirty="0">
                <a:solidFill>
                  <a:srgbClr val="002060"/>
                </a:solidFill>
              </a:rPr>
              <a:t>Take-home messages</a:t>
            </a:r>
            <a:endParaRPr lang="en-US" sz="2200" b="1" dirty="0">
              <a:solidFill>
                <a:srgbClr val="002060"/>
              </a:solidFill>
            </a:endParaRPr>
          </a:p>
          <a:p>
            <a:pPr marL="0" indent="0">
              <a:buNone/>
            </a:pPr>
            <a:r>
              <a:rPr lang="en-US" sz="2200" dirty="0">
                <a:solidFill>
                  <a:srgbClr val="002060"/>
                </a:solidFill>
              </a:rPr>
              <a:t>a novel measure for priority setting within and beyond the health sector</a:t>
            </a:r>
          </a:p>
        </p:txBody>
      </p:sp>
      <p:sp>
        <p:nvSpPr>
          <p:cNvPr id="7" name="TextBox 6">
            <a:extLst>
              <a:ext uri="{FF2B5EF4-FFF2-40B4-BE49-F238E27FC236}">
                <a16:creationId xmlns:a16="http://schemas.microsoft.com/office/drawing/2014/main" id="{DD2A7EB3-078D-BC5C-B5FE-4B41CBFDF932}"/>
              </a:ext>
            </a:extLst>
          </p:cNvPr>
          <p:cNvSpPr txBox="1"/>
          <p:nvPr/>
        </p:nvSpPr>
        <p:spPr>
          <a:xfrm>
            <a:off x="294349" y="1690062"/>
            <a:ext cx="4794401" cy="3139321"/>
          </a:xfrm>
          <a:prstGeom prst="rect">
            <a:avLst/>
          </a:prstGeom>
          <a:noFill/>
        </p:spPr>
        <p:txBody>
          <a:bodyPr wrap="square" rtlCol="0">
            <a:spAutoFit/>
          </a:bodyPr>
          <a:lstStyle/>
          <a:p>
            <a:pPr marL="278681" indent="-278681">
              <a:buAutoNum type="arabicPeriod"/>
            </a:pPr>
            <a:r>
              <a:rPr lang="en-US" sz="2200" b="1" dirty="0"/>
              <a:t>Economic metric </a:t>
            </a:r>
            <a:r>
              <a:rPr lang="en-US" sz="2200" dirty="0"/>
              <a:t>directly comparable </a:t>
            </a:r>
            <a:r>
              <a:rPr lang="en-US" sz="2200" b="1" dirty="0"/>
              <a:t>to national incomes and willingness to pay thresholds </a:t>
            </a:r>
            <a:r>
              <a:rPr lang="en-US" sz="2200" dirty="0"/>
              <a:t>for 1 life year</a:t>
            </a:r>
          </a:p>
          <a:p>
            <a:pPr marL="278681" indent="-278681">
              <a:buAutoNum type="arabicPeriod"/>
            </a:pPr>
            <a:r>
              <a:rPr lang="en-US" sz="2200" dirty="0"/>
              <a:t>Dual focus on </a:t>
            </a:r>
            <a:r>
              <a:rPr lang="en-US" sz="2200" b="1" dirty="0"/>
              <a:t>cause mortality frontiers</a:t>
            </a:r>
            <a:r>
              <a:rPr lang="en-US" sz="2200" dirty="0"/>
              <a:t> and </a:t>
            </a:r>
            <a:r>
              <a:rPr lang="en-US" sz="2200" b="1" dirty="0"/>
              <a:t>modulated valuation of size of mortality risk reduction </a:t>
            </a:r>
            <a:r>
              <a:rPr lang="en-US" sz="2200" dirty="0"/>
              <a:t>provides a metric </a:t>
            </a:r>
            <a:r>
              <a:rPr lang="en-US" sz="2200" b="1" dirty="0"/>
              <a:t>complementary to cause of death distributions </a:t>
            </a:r>
            <a:r>
              <a:rPr lang="en-US" sz="2200" dirty="0"/>
              <a:t>within countries</a:t>
            </a:r>
          </a:p>
        </p:txBody>
      </p:sp>
      <p:sp>
        <p:nvSpPr>
          <p:cNvPr id="3" name="Down Arrow 2">
            <a:extLst>
              <a:ext uri="{FF2B5EF4-FFF2-40B4-BE49-F238E27FC236}">
                <a16:creationId xmlns:a16="http://schemas.microsoft.com/office/drawing/2014/main" id="{8FBEF74C-61CA-C6FD-68AF-BB789FC4F72B}"/>
              </a:ext>
            </a:extLst>
          </p:cNvPr>
          <p:cNvSpPr/>
          <p:nvPr/>
        </p:nvSpPr>
        <p:spPr>
          <a:xfrm>
            <a:off x="2217156" y="4766168"/>
            <a:ext cx="1227541" cy="379982"/>
          </a:xfrm>
          <a:prstGeom prst="downArrow">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
        <p:nvSpPr>
          <p:cNvPr id="28" name="Text Placeholder 6">
            <a:extLst>
              <a:ext uri="{FF2B5EF4-FFF2-40B4-BE49-F238E27FC236}">
                <a16:creationId xmlns:a16="http://schemas.microsoft.com/office/drawing/2014/main" id="{034C629F-3C54-35A7-C748-4D93C1300104}"/>
              </a:ext>
            </a:extLst>
          </p:cNvPr>
          <p:cNvSpPr txBox="1">
            <a:spLocks/>
          </p:cNvSpPr>
          <p:nvPr/>
        </p:nvSpPr>
        <p:spPr>
          <a:xfrm>
            <a:off x="5629767" y="1671919"/>
            <a:ext cx="2949745" cy="538900"/>
          </a:xfrm>
          <a:prstGeom prst="rect">
            <a:avLst/>
          </a:prstGeom>
          <a:ln w="28575">
            <a:solidFill>
              <a:schemeClr val="tx1"/>
            </a:solidFill>
          </a:ln>
        </p:spPr>
        <p:txBody>
          <a:bodyPr vert="horz" lIns="34299" tIns="17149" rIns="34299" bIns="17149" rtlCol="0" anchor="t">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r>
              <a:rPr lang="en-US" sz="1500" b="1" dirty="0"/>
              <a:t>Does it re-rank priorities?</a:t>
            </a:r>
          </a:p>
        </p:txBody>
      </p:sp>
      <p:sp>
        <p:nvSpPr>
          <p:cNvPr id="2" name="TextBox 1">
            <a:extLst>
              <a:ext uri="{FF2B5EF4-FFF2-40B4-BE49-F238E27FC236}">
                <a16:creationId xmlns:a16="http://schemas.microsoft.com/office/drawing/2014/main" id="{654704FA-9684-C94A-93BE-866B219F1416}"/>
              </a:ext>
            </a:extLst>
          </p:cNvPr>
          <p:cNvSpPr txBox="1"/>
          <p:nvPr/>
        </p:nvSpPr>
        <p:spPr>
          <a:xfrm>
            <a:off x="596578" y="5313402"/>
            <a:ext cx="4204022" cy="553998"/>
          </a:xfrm>
          <a:prstGeom prst="rect">
            <a:avLst/>
          </a:prstGeom>
          <a:noFill/>
          <a:ln w="38100">
            <a:solidFill>
              <a:schemeClr val="tx1"/>
            </a:solidFill>
          </a:ln>
        </p:spPr>
        <p:txBody>
          <a:bodyPr wrap="square" rtlCol="0">
            <a:spAutoFit/>
          </a:bodyPr>
          <a:lstStyle/>
          <a:p>
            <a:pPr algn="ctr"/>
            <a:r>
              <a:rPr lang="en-US" sz="1500" dirty="0"/>
              <a:t>Important implications for economic evaluations, priority setting and resource allocation</a:t>
            </a:r>
          </a:p>
        </p:txBody>
      </p:sp>
      <p:sp>
        <p:nvSpPr>
          <p:cNvPr id="4" name="Text Placeholder 6">
            <a:extLst>
              <a:ext uri="{FF2B5EF4-FFF2-40B4-BE49-F238E27FC236}">
                <a16:creationId xmlns:a16="http://schemas.microsoft.com/office/drawing/2014/main" id="{87A70C28-A514-520B-D0EB-0282E69B3975}"/>
              </a:ext>
            </a:extLst>
          </p:cNvPr>
          <p:cNvSpPr txBox="1">
            <a:spLocks/>
          </p:cNvSpPr>
          <p:nvPr/>
        </p:nvSpPr>
        <p:spPr>
          <a:xfrm>
            <a:off x="5378159" y="5867400"/>
            <a:ext cx="3599167" cy="307834"/>
          </a:xfrm>
          <a:prstGeom prst="rect">
            <a:avLst/>
          </a:prstGeom>
        </p:spPr>
        <p:txBody>
          <a:bodyPr vert="horz" lIns="34299" tIns="17149" rIns="34299" bIns="17149" rtlCol="0" anchor="t">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1800" b="0" kern="1200" cap="all" spc="600" baseline="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ctr"/>
            <a:r>
              <a:rPr lang="en-US" sz="1200" dirty="0">
                <a:solidFill>
                  <a:srgbClr val="002060"/>
                </a:solidFill>
              </a:rPr>
              <a:t>LATIN AMERICA &amp; </a:t>
            </a:r>
            <a:r>
              <a:rPr lang="en-US" sz="1200" dirty="0" err="1">
                <a:solidFill>
                  <a:srgbClr val="002060"/>
                </a:solidFill>
              </a:rPr>
              <a:t>CaribBean</a:t>
            </a:r>
            <a:r>
              <a:rPr lang="en-US" sz="1200" dirty="0">
                <a:solidFill>
                  <a:srgbClr val="002060"/>
                </a:solidFill>
              </a:rPr>
              <a:t>, MALES, 2019</a:t>
            </a:r>
          </a:p>
        </p:txBody>
      </p:sp>
      <p:pic>
        <p:nvPicPr>
          <p:cNvPr id="6" name="Picture 5">
            <a:extLst>
              <a:ext uri="{FF2B5EF4-FFF2-40B4-BE49-F238E27FC236}">
                <a16:creationId xmlns:a16="http://schemas.microsoft.com/office/drawing/2014/main" id="{B618D972-F31B-D3B8-D57E-D100E9F0DB47}"/>
              </a:ext>
            </a:extLst>
          </p:cNvPr>
          <p:cNvPicPr>
            <a:picLocks noChangeAspect="1"/>
          </p:cNvPicPr>
          <p:nvPr/>
        </p:nvPicPr>
        <p:blipFill>
          <a:blip r:embed="rId3">
            <a:extLst>
              <a:ext uri="{28A0092B-C50C-407E-A947-70E740481C1C}">
                <a14:useLocalDpi xmlns:a14="http://schemas.microsoft.com/office/drawing/2010/main" val="0"/>
              </a:ext>
            </a:extLst>
          </a:blip>
          <a:srcRect l="51254" t="9214" r="4942" b="49284"/>
          <a:stretch/>
        </p:blipFill>
        <p:spPr>
          <a:xfrm>
            <a:off x="5367504" y="2438400"/>
            <a:ext cx="3474273" cy="3291840"/>
          </a:xfrm>
          <a:prstGeom prst="rect">
            <a:avLst/>
          </a:prstGeom>
        </p:spPr>
      </p:pic>
      <p:sp>
        <p:nvSpPr>
          <p:cNvPr id="8" name="TextBox 7">
            <a:extLst>
              <a:ext uri="{FF2B5EF4-FFF2-40B4-BE49-F238E27FC236}">
                <a16:creationId xmlns:a16="http://schemas.microsoft.com/office/drawing/2014/main" id="{8C1B472B-61E0-521D-40EA-668AEE283048}"/>
              </a:ext>
            </a:extLst>
          </p:cNvPr>
          <p:cNvSpPr txBox="1"/>
          <p:nvPr/>
        </p:nvSpPr>
        <p:spPr>
          <a:xfrm>
            <a:off x="596578" y="5943600"/>
            <a:ext cx="4204022" cy="553998"/>
          </a:xfrm>
          <a:prstGeom prst="rect">
            <a:avLst/>
          </a:prstGeom>
          <a:noFill/>
          <a:ln w="38100">
            <a:solidFill>
              <a:schemeClr val="tx1"/>
            </a:solidFill>
          </a:ln>
        </p:spPr>
        <p:txBody>
          <a:bodyPr wrap="square" rtlCol="0">
            <a:spAutoFit/>
          </a:bodyPr>
          <a:lstStyle/>
          <a:p>
            <a:pPr algn="ctr"/>
            <a:r>
              <a:rPr lang="en-US" sz="1500" b="1" u="sng" dirty="0"/>
              <a:t>Next step</a:t>
            </a:r>
            <a:r>
              <a:rPr lang="en-US" sz="1500" dirty="0"/>
              <a:t>: implement at national level with country-specific studies</a:t>
            </a:r>
          </a:p>
        </p:txBody>
      </p:sp>
    </p:spTree>
    <p:extLst>
      <p:ext uri="{BB962C8B-B14F-4D97-AF65-F5344CB8AC3E}">
        <p14:creationId xmlns:p14="http://schemas.microsoft.com/office/powerpoint/2010/main" val="2570498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5EFB6-7D07-1173-533D-10E606B6C5F8}"/>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B639B2C-BE61-142E-CDDB-E2A222200F3E}"/>
              </a:ext>
            </a:extLst>
          </p:cNvPr>
          <p:cNvSpPr>
            <a:spLocks noGrp="1"/>
          </p:cNvSpPr>
          <p:nvPr>
            <p:ph sz="quarter" idx="13"/>
          </p:nvPr>
        </p:nvSpPr>
        <p:spPr>
          <a:xfrm>
            <a:off x="533400" y="1219200"/>
            <a:ext cx="8229600" cy="901196"/>
          </a:xfrm>
        </p:spPr>
        <p:txBody>
          <a:bodyPr>
            <a:noAutofit/>
          </a:bodyPr>
          <a:lstStyle/>
          <a:p>
            <a:pPr marL="0" indent="-57128" algn="ctr">
              <a:buNone/>
            </a:pPr>
            <a:r>
              <a:rPr lang="en-US" sz="3000" b="1" dirty="0">
                <a:latin typeface="Calibri" panose="020F0502020204030204" pitchFamily="34" charset="0"/>
                <a:cs typeface="Calibri" panose="020F0502020204030204" pitchFamily="34" charset="0"/>
              </a:rPr>
              <a:t>Estimating the economic value of avoidable mortality from major causes of death to evaluate the benefits of health policies</a:t>
            </a:r>
            <a:endParaRPr lang="en-US" sz="3000" dirty="0">
              <a:latin typeface="Calibri" panose="020F0502020204030204" pitchFamily="34" charset="0"/>
              <a:cs typeface="Calibri" panose="020F0502020204030204" pitchFamily="34" charset="0"/>
            </a:endParaRPr>
          </a:p>
          <a:p>
            <a:pPr marL="0" indent="-57128">
              <a:buNone/>
            </a:pPr>
            <a:endParaRPr lang="en-US" sz="2000" b="1" dirty="0">
              <a:latin typeface="Calibri" panose="020F0502020204030204" pitchFamily="34" charset="0"/>
              <a:cs typeface="Calibri" panose="020F0502020204030204" pitchFamily="34" charset="0"/>
            </a:endParaRPr>
          </a:p>
        </p:txBody>
      </p:sp>
      <p:sp>
        <p:nvSpPr>
          <p:cNvPr id="18" name="Content Placeholder 10">
            <a:extLst>
              <a:ext uri="{FF2B5EF4-FFF2-40B4-BE49-F238E27FC236}">
                <a16:creationId xmlns:a16="http://schemas.microsoft.com/office/drawing/2014/main" id="{2F25E484-F643-C6E7-0107-8B072B36D89D}"/>
              </a:ext>
            </a:extLst>
          </p:cNvPr>
          <p:cNvSpPr txBox="1">
            <a:spLocks/>
          </p:cNvSpPr>
          <p:nvPr/>
        </p:nvSpPr>
        <p:spPr>
          <a:xfrm>
            <a:off x="762000" y="4191000"/>
            <a:ext cx="7772400" cy="1905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57128">
              <a:buFont typeface="Arial" pitchFamily="34" charset="0"/>
              <a:buNone/>
            </a:pPr>
            <a:r>
              <a:rPr lang="en-US" sz="2400" dirty="0">
                <a:latin typeface="Calibri" panose="020F0502020204030204" pitchFamily="34" charset="0"/>
                <a:cs typeface="Calibri" panose="020F0502020204030204" pitchFamily="34" charset="0"/>
              </a:rPr>
              <a:t>Monetary value speaks to decision-makers beyond ministries of health, in other sectors (e.g. finance ministries)</a:t>
            </a:r>
          </a:p>
          <a:p>
            <a:pPr marL="0" indent="0">
              <a:buFont typeface="Arial" pitchFamily="34" charset="0"/>
              <a:buNone/>
            </a:pPr>
            <a:r>
              <a:rPr lang="en-US" sz="2400" b="1" dirty="0">
                <a:latin typeface="Calibri" panose="020F0502020204030204" pitchFamily="34" charset="0"/>
                <a:ea typeface="Times New Roman" panose="02020603050405020304" pitchFamily="18" charset="0"/>
                <a:cs typeface="Calibri" panose="020F0502020204030204" pitchFamily="34" charset="0"/>
              </a:rPr>
              <a:t>Key numéraire obtained</a:t>
            </a:r>
            <a:r>
              <a:rPr lang="en-US" sz="2400" dirty="0">
                <a:latin typeface="Calibri" panose="020F0502020204030204" pitchFamily="34" charset="0"/>
                <a:ea typeface="Times New Roman" panose="02020603050405020304" pitchFamily="18" charset="0"/>
                <a:cs typeface="Calibri" panose="020F0502020204030204" pitchFamily="34" charset="0"/>
              </a:rPr>
              <a:t>: Economic metric comparable to national annual incomes (e.g. GNI)</a:t>
            </a:r>
            <a:endParaRPr lang="en-US" sz="2400" dirty="0">
              <a:latin typeface="Calibri" panose="020F0502020204030204" pitchFamily="34" charset="0"/>
              <a:cs typeface="Calibri" panose="020F0502020204030204" pitchFamily="34" charset="0"/>
            </a:endParaRPr>
          </a:p>
        </p:txBody>
      </p:sp>
      <p:sp>
        <p:nvSpPr>
          <p:cNvPr id="2" name="Down Arrow 1">
            <a:extLst>
              <a:ext uri="{FF2B5EF4-FFF2-40B4-BE49-F238E27FC236}">
                <a16:creationId xmlns:a16="http://schemas.microsoft.com/office/drawing/2014/main" id="{2F5825C2-04FF-E389-3C5D-64A0C623C30D}"/>
              </a:ext>
            </a:extLst>
          </p:cNvPr>
          <p:cNvSpPr/>
          <p:nvPr/>
        </p:nvSpPr>
        <p:spPr>
          <a:xfrm>
            <a:off x="3653429" y="3061204"/>
            <a:ext cx="1837141" cy="901196"/>
          </a:xfrm>
          <a:prstGeom prst="downArrow">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highlight>
                <a:srgbClr val="800080"/>
              </a:highlight>
            </a:endParaRPr>
          </a:p>
        </p:txBody>
      </p:sp>
    </p:spTree>
    <p:extLst>
      <p:ext uri="{BB962C8B-B14F-4D97-AF65-F5344CB8AC3E}">
        <p14:creationId xmlns:p14="http://schemas.microsoft.com/office/powerpoint/2010/main" val="4238172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6C614-4D82-4EBD-FD01-2D16F92DD4F2}"/>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00977C94-54FC-BB72-F01D-66CFABE73810}"/>
              </a:ext>
            </a:extLst>
          </p:cNvPr>
          <p:cNvSpPr>
            <a:spLocks noGrp="1"/>
          </p:cNvSpPr>
          <p:nvPr>
            <p:ph sz="quarter" idx="13"/>
          </p:nvPr>
        </p:nvSpPr>
        <p:spPr>
          <a:xfrm>
            <a:off x="0" y="685800"/>
            <a:ext cx="2667000" cy="5943600"/>
          </a:xfrm>
        </p:spPr>
        <p:txBody>
          <a:bodyPr>
            <a:noAutofit/>
          </a:bodyPr>
          <a:lstStyle/>
          <a:p>
            <a:pPr marL="0" indent="-57128" algn="ctr">
              <a:buNone/>
            </a:pPr>
            <a:r>
              <a:rPr lang="en-US" sz="4200" b="1" dirty="0">
                <a:solidFill>
                  <a:srgbClr val="002060"/>
                </a:solidFill>
                <a:latin typeface="Calibri" panose="020F0502020204030204" pitchFamily="34" charset="0"/>
                <a:cs typeface="Calibri" panose="020F0502020204030204" pitchFamily="34" charset="0"/>
              </a:rPr>
              <a:t>Economic value of avoidable mortality</a:t>
            </a:r>
          </a:p>
          <a:p>
            <a:pPr marL="0" indent="-57128" algn="ctr">
              <a:buNone/>
            </a:pPr>
            <a:r>
              <a:rPr lang="en-US" sz="4200" b="1" dirty="0">
                <a:solidFill>
                  <a:srgbClr val="002060"/>
                </a:solidFill>
                <a:latin typeface="Calibri" panose="020F0502020204030204" pitchFamily="34" charset="0"/>
                <a:cs typeface="Calibri" panose="020F0502020204030204" pitchFamily="34" charset="0"/>
              </a:rPr>
              <a:t>Indonesia vs. selected others</a:t>
            </a:r>
          </a:p>
        </p:txBody>
      </p:sp>
      <p:pic>
        <p:nvPicPr>
          <p:cNvPr id="3" name="Picture 2">
            <a:extLst>
              <a:ext uri="{FF2B5EF4-FFF2-40B4-BE49-F238E27FC236}">
                <a16:creationId xmlns:a16="http://schemas.microsoft.com/office/drawing/2014/main" id="{65470B9B-2ED4-9BCD-2353-F0B12B0876ED}"/>
              </a:ext>
            </a:extLst>
          </p:cNvPr>
          <p:cNvPicPr>
            <a:picLocks noChangeAspect="1"/>
          </p:cNvPicPr>
          <p:nvPr/>
        </p:nvPicPr>
        <p:blipFill>
          <a:blip r:embed="rId3"/>
          <a:stretch>
            <a:fillRect/>
          </a:stretch>
        </p:blipFill>
        <p:spPr>
          <a:xfrm>
            <a:off x="2631882" y="533400"/>
            <a:ext cx="6512118" cy="5760720"/>
          </a:xfrm>
          <a:prstGeom prst="rect">
            <a:avLst/>
          </a:prstGeom>
        </p:spPr>
      </p:pic>
    </p:spTree>
    <p:extLst>
      <p:ext uri="{BB962C8B-B14F-4D97-AF65-F5344CB8AC3E}">
        <p14:creationId xmlns:p14="http://schemas.microsoft.com/office/powerpoint/2010/main" val="3317852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19EB13-C909-AEF0-FE2E-9C309E09ACC8}"/>
              </a:ext>
            </a:extLst>
          </p:cNvPr>
          <p:cNvPicPr>
            <a:picLocks noChangeAspect="1"/>
          </p:cNvPicPr>
          <p:nvPr/>
        </p:nvPicPr>
        <p:blipFill>
          <a:blip r:embed="rId2"/>
          <a:stretch>
            <a:fillRect/>
          </a:stretch>
        </p:blipFill>
        <p:spPr>
          <a:xfrm>
            <a:off x="685800" y="2270760"/>
            <a:ext cx="7927140" cy="4206240"/>
          </a:xfrm>
          <a:prstGeom prst="rect">
            <a:avLst/>
          </a:prstGeom>
        </p:spPr>
      </p:pic>
      <p:sp>
        <p:nvSpPr>
          <p:cNvPr id="8" name="TextBox 7">
            <a:extLst>
              <a:ext uri="{FF2B5EF4-FFF2-40B4-BE49-F238E27FC236}">
                <a16:creationId xmlns:a16="http://schemas.microsoft.com/office/drawing/2014/main" id="{48023F77-F2F7-9F8F-C65D-CDC151431E23}"/>
              </a:ext>
            </a:extLst>
          </p:cNvPr>
          <p:cNvSpPr txBox="1"/>
          <p:nvPr/>
        </p:nvSpPr>
        <p:spPr>
          <a:xfrm>
            <a:off x="454860" y="443805"/>
            <a:ext cx="8234280" cy="1384995"/>
          </a:xfrm>
          <a:prstGeom prst="rect">
            <a:avLst/>
          </a:prstGeom>
          <a:noFill/>
        </p:spPr>
        <p:txBody>
          <a:bodyPr wrap="square">
            <a:spAutoFit/>
          </a:bodyPr>
          <a:lstStyle/>
          <a:p>
            <a:pPr marL="0" indent="-57128" algn="ctr">
              <a:buNone/>
            </a:pPr>
            <a:r>
              <a:rPr lang="en-US" sz="4200" b="1" dirty="0">
                <a:solidFill>
                  <a:srgbClr val="002060"/>
                </a:solidFill>
                <a:latin typeface="Calibri" panose="020F0502020204030204" pitchFamily="34" charset="0"/>
                <a:cs typeface="Calibri" panose="020F0502020204030204" pitchFamily="34" charset="0"/>
              </a:rPr>
              <a:t>Indonesia’s economic value of avoidable mortality, 2019 &amp; 2050</a:t>
            </a:r>
          </a:p>
        </p:txBody>
      </p:sp>
    </p:spTree>
    <p:extLst>
      <p:ext uri="{BB962C8B-B14F-4D97-AF65-F5344CB8AC3E}">
        <p14:creationId xmlns:p14="http://schemas.microsoft.com/office/powerpoint/2010/main" val="3909750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E1BC-5548-DDB5-A6D7-03CE0C44C1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E7956-B98B-5186-5E6F-77AAE78DE411}"/>
              </a:ext>
            </a:extLst>
          </p:cNvPr>
          <p:cNvSpPr>
            <a:spLocks noGrp="1"/>
          </p:cNvSpPr>
          <p:nvPr>
            <p:ph idx="1"/>
          </p:nvPr>
        </p:nvSpPr>
        <p:spPr>
          <a:xfrm>
            <a:off x="457200" y="2743201"/>
            <a:ext cx="8229600" cy="1981199"/>
          </a:xfrm>
        </p:spPr>
        <p:txBody>
          <a:bodyPr>
            <a:normAutofit/>
          </a:bodyPr>
          <a:lstStyle/>
          <a:p>
            <a:pPr marL="0" indent="0" algn="ctr">
              <a:buNone/>
            </a:pPr>
            <a:r>
              <a:rPr lang="en-US" sz="4000" b="1" dirty="0">
                <a:solidFill>
                  <a:srgbClr val="002060"/>
                </a:solidFill>
              </a:rPr>
              <a:t>Message 2. </a:t>
            </a:r>
            <a:r>
              <a:rPr lang="en-US" sz="4000" dirty="0">
                <a:solidFill>
                  <a:srgbClr val="002060"/>
                </a:solidFill>
              </a:rPr>
              <a:t>The impact of CVD clinical interventions in Indonesia is important yet not sufficient</a:t>
            </a:r>
          </a:p>
        </p:txBody>
      </p:sp>
    </p:spTree>
    <p:extLst>
      <p:ext uri="{BB962C8B-B14F-4D97-AF65-F5344CB8AC3E}">
        <p14:creationId xmlns:p14="http://schemas.microsoft.com/office/powerpoint/2010/main" val="1409562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1FD8427-FF15-406B-B9F4-FE8554078CF0}"/>
              </a:ext>
            </a:extLst>
          </p:cNvPr>
          <p:cNvSpPr>
            <a:spLocks noGrp="1"/>
          </p:cNvSpPr>
          <p:nvPr>
            <p:ph type="title"/>
          </p:nvPr>
        </p:nvSpPr>
        <p:spPr>
          <a:xfrm>
            <a:off x="59893" y="350791"/>
            <a:ext cx="9038591" cy="1129350"/>
          </a:xfrm>
          <a:prstGeom prst="rect">
            <a:avLst/>
          </a:prstGeom>
        </p:spPr>
        <p:txBody>
          <a:bodyPr vert="horz" wrap="square" lIns="0" tIns="21148" rIns="0" bIns="0" anchor="ctr">
            <a:spAutoFit/>
          </a:bodyPr>
          <a:lstStyle/>
          <a:p>
            <a:pPr marL="20141" algn="ctr">
              <a:spcBef>
                <a:spcPts val="167"/>
              </a:spcBef>
              <a:buNone/>
              <a:defRPr sz="2400">
                <a:solidFill>
                  <a:srgbClr val="17365D"/>
                </a:solidFill>
                <a:latin typeface="Arial"/>
                <a:ea typeface="Arial"/>
                <a:cs typeface="Arial"/>
              </a:defRPr>
            </a:pPr>
            <a:r>
              <a:rPr sz="3600" b="1" dirty="0"/>
              <a:t>How interventions change the disease pathway</a:t>
            </a:r>
          </a:p>
        </p:txBody>
      </p:sp>
      <p:sp>
        <p:nvSpPr>
          <p:cNvPr id="4" name="object 4">
            <a:extLst>
              <a:ext uri="{FF2B5EF4-FFF2-40B4-BE49-F238E27FC236}">
                <a16:creationId xmlns:a16="http://schemas.microsoft.com/office/drawing/2014/main" id="{EE624097-ED75-42A8-AEB2-67935187228C}"/>
              </a:ext>
            </a:extLst>
          </p:cNvPr>
          <p:cNvSpPr>
            <a:spLocks noGrp="1"/>
          </p:cNvSpPr>
          <p:nvPr/>
        </p:nvSpPr>
        <p:spPr>
          <a:xfrm>
            <a:off x="2476500" y="2381250"/>
            <a:ext cx="1285875" cy="0"/>
          </a:xfrm>
          <a:custGeom>
            <a:avLst/>
            <a:gdLst/>
            <a:ahLst/>
            <a:cxnLst/>
            <a:rect l="l" t="t" r="r" b="b"/>
            <a:pathLst>
              <a:path w="4700905">
                <a:moveTo>
                  <a:pt x="0" y="0"/>
                </a:moveTo>
                <a:lnTo>
                  <a:pt x="4700378" y="0"/>
                </a:lnTo>
              </a:path>
            </a:pathLst>
          </a:custGeom>
          <a:noFill/>
          <a:ln w="19050">
            <a:solidFill>
              <a:srgbClr val="4B6F93"/>
            </a:solidFill>
            <a:prstDash val="solid"/>
          </a:ln>
        </p:spPr>
        <p:txBody>
          <a:bodyPr wrap="square" lIns="0" tIns="0" rIns="0" bIns="0"/>
          <a:lstStyle/>
          <a:p>
            <a:endParaRPr sz="2855"/>
          </a:p>
        </p:txBody>
      </p:sp>
      <p:sp>
        <p:nvSpPr>
          <p:cNvPr id="5" name="object 5">
            <a:extLst>
              <a:ext uri="{FF2B5EF4-FFF2-40B4-BE49-F238E27FC236}">
                <a16:creationId xmlns:a16="http://schemas.microsoft.com/office/drawing/2014/main" id="{02CAB6A2-4AD4-4D08-B92C-F3035519B313}"/>
              </a:ext>
            </a:extLst>
          </p:cNvPr>
          <p:cNvSpPr>
            <a:spLocks noGrp="1"/>
          </p:cNvSpPr>
          <p:nvPr/>
        </p:nvSpPr>
        <p:spPr>
          <a:xfrm>
            <a:off x="5572125" y="2381250"/>
            <a:ext cx="1333500" cy="0"/>
          </a:xfrm>
          <a:custGeom>
            <a:avLst/>
            <a:gdLst/>
            <a:ahLst/>
            <a:cxnLst/>
            <a:rect l="l" t="t" r="r" b="b"/>
            <a:pathLst>
              <a:path w="4700905">
                <a:moveTo>
                  <a:pt x="0" y="0"/>
                </a:moveTo>
                <a:lnTo>
                  <a:pt x="4700378" y="0"/>
                </a:lnTo>
              </a:path>
            </a:pathLst>
          </a:custGeom>
          <a:noFill/>
          <a:ln w="19050">
            <a:solidFill>
              <a:srgbClr val="B54A4A"/>
            </a:solidFill>
            <a:prstDash val="solid"/>
          </a:ln>
        </p:spPr>
        <p:txBody>
          <a:bodyPr wrap="square" lIns="0" tIns="0" rIns="0" bIns="0"/>
          <a:lstStyle/>
          <a:p>
            <a:endParaRPr sz="2855"/>
          </a:p>
        </p:txBody>
      </p:sp>
      <p:sp>
        <p:nvSpPr>
          <p:cNvPr id="6" name="object 6">
            <a:extLst>
              <a:ext uri="{FF2B5EF4-FFF2-40B4-BE49-F238E27FC236}">
                <a16:creationId xmlns:a16="http://schemas.microsoft.com/office/drawing/2014/main" id="{1EBEC810-E61B-4BB8-84A3-D3A120E7E14D}"/>
              </a:ext>
            </a:extLst>
          </p:cNvPr>
          <p:cNvSpPr>
            <a:spLocks noGrp="1"/>
          </p:cNvSpPr>
          <p:nvPr/>
        </p:nvSpPr>
        <p:spPr>
          <a:xfrm>
            <a:off x="1666875" y="2781300"/>
            <a:ext cx="2428875" cy="1171575"/>
          </a:xfrm>
          <a:custGeom>
            <a:avLst/>
            <a:gdLst/>
            <a:ahLst/>
            <a:cxnLst/>
            <a:rect l="l" t="t" r="r" b="b"/>
            <a:pathLst>
              <a:path w="4700905">
                <a:moveTo>
                  <a:pt x="0" y="0"/>
                </a:moveTo>
                <a:lnTo>
                  <a:pt x="4700378" y="0"/>
                </a:lnTo>
              </a:path>
            </a:pathLst>
          </a:custGeom>
          <a:noFill/>
          <a:ln w="14288">
            <a:solidFill>
              <a:srgbClr val="7A8793"/>
            </a:solidFill>
            <a:prstDash val="solid"/>
          </a:ln>
        </p:spPr>
        <p:txBody>
          <a:bodyPr wrap="square" lIns="0" tIns="0" rIns="0" bIns="0"/>
          <a:lstStyle/>
          <a:p>
            <a:endParaRPr sz="2855"/>
          </a:p>
        </p:txBody>
      </p:sp>
      <p:sp>
        <p:nvSpPr>
          <p:cNvPr id="7" name="object 7">
            <a:extLst>
              <a:ext uri="{FF2B5EF4-FFF2-40B4-BE49-F238E27FC236}">
                <a16:creationId xmlns:a16="http://schemas.microsoft.com/office/drawing/2014/main" id="{F3199CC0-CD95-47CF-978E-6FE78D2DE4E2}"/>
              </a:ext>
            </a:extLst>
          </p:cNvPr>
          <p:cNvSpPr>
            <a:spLocks noGrp="1"/>
          </p:cNvSpPr>
          <p:nvPr/>
        </p:nvSpPr>
        <p:spPr>
          <a:xfrm>
            <a:off x="5191125" y="2781300"/>
            <a:ext cx="0" cy="1171575"/>
          </a:xfrm>
          <a:custGeom>
            <a:avLst/>
            <a:gdLst/>
            <a:ahLst/>
            <a:cxnLst/>
            <a:rect l="l" t="t" r="r" b="b"/>
            <a:pathLst>
              <a:path w="4700905">
                <a:moveTo>
                  <a:pt x="0" y="0"/>
                </a:moveTo>
                <a:lnTo>
                  <a:pt x="4700378" y="0"/>
                </a:lnTo>
              </a:path>
            </a:pathLst>
          </a:custGeom>
          <a:noFill/>
          <a:ln w="14288">
            <a:solidFill>
              <a:srgbClr val="7A8793"/>
            </a:solidFill>
            <a:prstDash val="solid"/>
          </a:ln>
        </p:spPr>
        <p:txBody>
          <a:bodyPr wrap="square" lIns="0" tIns="0" rIns="0" bIns="0"/>
          <a:lstStyle/>
          <a:p>
            <a:endParaRPr sz="2855"/>
          </a:p>
        </p:txBody>
      </p:sp>
      <p:sp>
        <p:nvSpPr>
          <p:cNvPr id="22" name="object 22">
            <a:extLst>
              <a:ext uri="{FF2B5EF4-FFF2-40B4-BE49-F238E27FC236}">
                <a16:creationId xmlns:a16="http://schemas.microsoft.com/office/drawing/2014/main" id="{BDB82562-24A7-4DD8-AE8D-8220EBF00722}"/>
              </a:ext>
            </a:extLst>
          </p:cNvPr>
          <p:cNvSpPr>
            <a:spLocks noGrp="1"/>
          </p:cNvSpPr>
          <p:nvPr/>
        </p:nvSpPr>
        <p:spPr>
          <a:xfrm>
            <a:off x="857250" y="2000250"/>
            <a:ext cx="1619250" cy="781050"/>
          </a:xfrm>
          <a:prstGeom prst="rect">
            <a:avLst/>
          </a:prstGeom>
          <a:solidFill>
            <a:srgbClr val="EDF3F8"/>
          </a:solidFill>
          <a:ln w="11430">
            <a:solidFill>
              <a:srgbClr val="8FA7C1"/>
            </a:solidFill>
            <a:prstDash val="solid"/>
          </a:ln>
        </p:spPr>
        <p:txBody>
          <a:bodyPr vert="horz" wrap="square" lIns="0" tIns="19134" rIns="0" bIns="0" anchor="ctr">
            <a:normAutofit/>
          </a:bodyPr>
          <a:lstStyle/>
          <a:p>
            <a:pPr marL="20141" marR="8056" algn="ctr">
              <a:lnSpc>
                <a:spcPct val="117900"/>
              </a:lnSpc>
              <a:spcBef>
                <a:spcPts val="151"/>
              </a:spcBef>
              <a:buNone/>
              <a:defRPr sz="1425" b="1">
                <a:solidFill>
                  <a:srgbClr val="17365D"/>
                </a:solidFill>
                <a:latin typeface="Arial"/>
                <a:ea typeface="Arial"/>
                <a:cs typeface="Arial"/>
              </a:defRPr>
            </a:pPr>
            <a:r>
              <a:rPr sz="1425" b="1" spc="-16">
                <a:solidFill>
                  <a:srgbClr val="17365D"/>
                </a:solidFill>
                <a:latin typeface="Arial"/>
                <a:ea typeface="Arial"/>
                <a:cs typeface="Arial"/>
              </a:rPr>
              <a:t>Healthy</a:t>
            </a:r>
            <a:endParaRPr sz="634">
              <a:latin typeface="Arial MT"/>
              <a:ea typeface="Arial MT"/>
              <a:cs typeface="Arial MT"/>
            </a:endParaRPr>
          </a:p>
          <a:p>
            <a:pPr marL="20141" marR="8056" algn="ctr">
              <a:lnSpc>
                <a:spcPct val="117900"/>
              </a:lnSpc>
              <a:spcBef>
                <a:spcPts val="151"/>
              </a:spcBef>
              <a:buNone/>
              <a:defRPr sz="1425" b="1">
                <a:solidFill>
                  <a:srgbClr val="17365D"/>
                </a:solidFill>
                <a:latin typeface="Arial"/>
                <a:ea typeface="Arial"/>
                <a:cs typeface="Arial"/>
              </a:defRPr>
            </a:pPr>
            <a:r>
              <a:rPr sz="1425" b="1" spc="-16">
                <a:solidFill>
                  <a:srgbClr val="17365D"/>
                </a:solidFill>
                <a:latin typeface="Arial"/>
                <a:ea typeface="Arial"/>
                <a:cs typeface="Arial"/>
              </a:rPr>
              <a:t>(no CVD)</a:t>
            </a:r>
            <a:endParaRPr sz="634">
              <a:latin typeface="Arial MT"/>
              <a:ea typeface="Arial MT"/>
              <a:cs typeface="Arial MT"/>
            </a:endParaRPr>
          </a:p>
        </p:txBody>
      </p:sp>
      <p:sp>
        <p:nvSpPr>
          <p:cNvPr id="23" name="object 23">
            <a:extLst>
              <a:ext uri="{FF2B5EF4-FFF2-40B4-BE49-F238E27FC236}">
                <a16:creationId xmlns:a16="http://schemas.microsoft.com/office/drawing/2014/main" id="{EF34184F-D6DA-429F-9871-200AFA25F898}"/>
              </a:ext>
            </a:extLst>
          </p:cNvPr>
          <p:cNvSpPr>
            <a:spLocks noGrp="1"/>
          </p:cNvSpPr>
          <p:nvPr/>
        </p:nvSpPr>
        <p:spPr>
          <a:xfrm>
            <a:off x="3762375" y="2000250"/>
            <a:ext cx="1809750" cy="781050"/>
          </a:xfrm>
          <a:prstGeom prst="rect">
            <a:avLst/>
          </a:prstGeom>
          <a:solidFill>
            <a:srgbClr val="EDF3F8"/>
          </a:solidFill>
          <a:ln w="11430">
            <a:solidFill>
              <a:srgbClr val="8FA7C1"/>
            </a:solidFill>
            <a:prstDash val="solid"/>
          </a:ln>
        </p:spPr>
        <p:txBody>
          <a:bodyPr vert="horz" wrap="square" lIns="0" tIns="19134" rIns="0" bIns="0" anchor="ctr">
            <a:normAutofit/>
          </a:bodyPr>
          <a:lstStyle/>
          <a:p>
            <a:pPr marL="20141" marR="8056" algn="ctr">
              <a:lnSpc>
                <a:spcPct val="117400"/>
              </a:lnSpc>
              <a:spcBef>
                <a:spcPts val="151"/>
              </a:spcBef>
              <a:buNone/>
              <a:defRPr sz="1425" b="1">
                <a:solidFill>
                  <a:srgbClr val="17365D"/>
                </a:solidFill>
                <a:latin typeface="Arial"/>
                <a:ea typeface="Arial"/>
                <a:cs typeface="Arial"/>
              </a:defRPr>
            </a:pPr>
            <a:r>
              <a:rPr sz="1425" b="1" spc="-16">
                <a:solidFill>
                  <a:srgbClr val="17365D"/>
                </a:solidFill>
                <a:latin typeface="Arial"/>
                <a:ea typeface="Arial"/>
                <a:cs typeface="Arial"/>
              </a:rPr>
              <a:t>Living with CVD</a:t>
            </a:r>
            <a:endParaRPr sz="634">
              <a:latin typeface="Arial MT"/>
              <a:ea typeface="Arial MT"/>
              <a:cs typeface="Arial MT"/>
            </a:endParaRPr>
          </a:p>
          <a:p>
            <a:pPr marL="20141" marR="8056" algn="ctr">
              <a:lnSpc>
                <a:spcPct val="117400"/>
              </a:lnSpc>
              <a:spcBef>
                <a:spcPts val="151"/>
              </a:spcBef>
              <a:buNone/>
              <a:defRPr sz="1425" b="1">
                <a:solidFill>
                  <a:srgbClr val="17365D"/>
                </a:solidFill>
                <a:latin typeface="Arial"/>
                <a:ea typeface="Arial"/>
                <a:cs typeface="Arial"/>
              </a:defRPr>
            </a:pPr>
            <a:r>
              <a:rPr sz="1425" b="1" spc="-16">
                <a:solidFill>
                  <a:srgbClr val="17365D"/>
                </a:solidFill>
                <a:latin typeface="Arial"/>
                <a:ea typeface="Arial"/>
                <a:cs typeface="Arial"/>
              </a:rPr>
              <a:t>(or diabetes)</a:t>
            </a:r>
            <a:endParaRPr sz="634">
              <a:latin typeface="Arial MT"/>
              <a:ea typeface="Arial MT"/>
              <a:cs typeface="Arial MT"/>
            </a:endParaRPr>
          </a:p>
        </p:txBody>
      </p:sp>
      <p:sp>
        <p:nvSpPr>
          <p:cNvPr id="32" name="object 32">
            <a:extLst>
              <a:ext uri="{FF2B5EF4-FFF2-40B4-BE49-F238E27FC236}">
                <a16:creationId xmlns:a16="http://schemas.microsoft.com/office/drawing/2014/main" id="{A4496290-13C8-40B2-B5FF-E3DD64B2E2DE}"/>
              </a:ext>
            </a:extLst>
          </p:cNvPr>
          <p:cNvSpPr>
            <a:spLocks noGrp="1"/>
          </p:cNvSpPr>
          <p:nvPr/>
        </p:nvSpPr>
        <p:spPr>
          <a:xfrm>
            <a:off x="6905625" y="2000250"/>
            <a:ext cx="1381125" cy="781050"/>
          </a:xfrm>
          <a:prstGeom prst="rect">
            <a:avLst/>
          </a:prstGeom>
          <a:solidFill>
            <a:srgbClr val="F6E7E7"/>
          </a:solidFill>
          <a:ln w="11430">
            <a:solidFill>
              <a:srgbClr val="8FA7C1"/>
            </a:solidFill>
            <a:prstDash val="solid"/>
          </a:ln>
        </p:spPr>
        <p:txBody>
          <a:bodyPr vert="horz" wrap="square" lIns="0" tIns="18127" rIns="0" bIns="0" anchor="ctr">
            <a:normAutofit/>
          </a:bodyPr>
          <a:lstStyle/>
          <a:p>
            <a:pPr marL="20141" algn="ctr">
              <a:spcBef>
                <a:spcPts val="143"/>
              </a:spcBef>
              <a:buNone/>
              <a:defRPr sz="1425" b="1">
                <a:solidFill>
                  <a:srgbClr val="9B2C2C"/>
                </a:solidFill>
                <a:latin typeface="Arial"/>
                <a:ea typeface="Arial"/>
                <a:cs typeface="Arial"/>
              </a:defRPr>
            </a:pPr>
            <a:r>
              <a:rPr sz="1425" b="1" spc="-16">
                <a:solidFill>
                  <a:srgbClr val="9B2C2C"/>
                </a:solidFill>
                <a:latin typeface="Arial"/>
                <a:ea typeface="Arial"/>
                <a:cs typeface="Arial"/>
              </a:rPr>
              <a:t>CVD death</a:t>
            </a:r>
            <a:endParaRPr sz="714">
              <a:latin typeface="Arial"/>
              <a:ea typeface="Arial"/>
              <a:cs typeface="Arial"/>
            </a:endParaRPr>
          </a:p>
        </p:txBody>
      </p:sp>
      <p:sp>
        <p:nvSpPr>
          <p:cNvPr id="33" name="object 33">
            <a:extLst>
              <a:ext uri="{FF2B5EF4-FFF2-40B4-BE49-F238E27FC236}">
                <a16:creationId xmlns:a16="http://schemas.microsoft.com/office/drawing/2014/main" id="{7631B7D2-8A96-468C-9BFE-4307E7093993}"/>
              </a:ext>
            </a:extLst>
          </p:cNvPr>
          <p:cNvSpPr>
            <a:spLocks noGrp="1"/>
          </p:cNvSpPr>
          <p:nvPr/>
        </p:nvSpPr>
        <p:spPr>
          <a:xfrm>
            <a:off x="3619500" y="3952875"/>
            <a:ext cx="2095500" cy="781050"/>
          </a:xfrm>
          <a:prstGeom prst="rect">
            <a:avLst/>
          </a:prstGeom>
          <a:solidFill>
            <a:srgbClr val="F2F2F2"/>
          </a:solidFill>
          <a:ln w="11430">
            <a:solidFill>
              <a:srgbClr val="8FA7C1"/>
            </a:solidFill>
            <a:prstDash val="solid"/>
          </a:ln>
        </p:spPr>
        <p:txBody>
          <a:bodyPr vert="horz" wrap="square" lIns="0" tIns="18127" rIns="0" bIns="0" anchor="ctr">
            <a:normAutofit/>
          </a:bodyPr>
          <a:lstStyle/>
          <a:p>
            <a:pPr marL="27190" algn="ctr">
              <a:spcBef>
                <a:spcPts val="143"/>
              </a:spcBef>
              <a:buNone/>
              <a:defRPr sz="1275" b="1">
                <a:solidFill>
                  <a:srgbClr val="4B5563"/>
                </a:solidFill>
                <a:latin typeface="Arial"/>
                <a:ea typeface="Arial"/>
                <a:cs typeface="Arial"/>
              </a:defRPr>
            </a:pPr>
            <a:r>
              <a:rPr sz="1275" b="1" dirty="0">
                <a:solidFill>
                  <a:srgbClr val="4B5563"/>
                </a:solidFill>
                <a:latin typeface="Arial"/>
                <a:ea typeface="Arial"/>
                <a:cs typeface="Arial"/>
              </a:rPr>
              <a:t>Other</a:t>
            </a:r>
            <a:r>
              <a:rPr lang="en-US" sz="1275" b="1" dirty="0">
                <a:solidFill>
                  <a:srgbClr val="4B5563"/>
                </a:solidFill>
                <a:latin typeface="Arial"/>
                <a:ea typeface="Arial"/>
                <a:cs typeface="Arial"/>
              </a:rPr>
              <a:t> </a:t>
            </a:r>
            <a:r>
              <a:rPr sz="1275" b="1" dirty="0">
                <a:solidFill>
                  <a:srgbClr val="4B5563"/>
                </a:solidFill>
                <a:latin typeface="Arial"/>
                <a:ea typeface="Arial"/>
                <a:cs typeface="Arial"/>
              </a:rPr>
              <a:t>cause</a:t>
            </a:r>
            <a:endParaRPr sz="714" dirty="0">
              <a:latin typeface="Arial"/>
              <a:ea typeface="Arial"/>
              <a:cs typeface="Arial"/>
            </a:endParaRPr>
          </a:p>
          <a:p>
            <a:pPr marL="20141" algn="ctr">
              <a:spcBef>
                <a:spcPts val="563"/>
              </a:spcBef>
              <a:buNone/>
              <a:defRPr sz="1275" b="1">
                <a:solidFill>
                  <a:srgbClr val="4B5563"/>
                </a:solidFill>
                <a:latin typeface="Arial"/>
                <a:ea typeface="Arial"/>
                <a:cs typeface="Arial"/>
              </a:defRPr>
            </a:pPr>
            <a:r>
              <a:rPr sz="1275" b="1" dirty="0">
                <a:solidFill>
                  <a:srgbClr val="4B5563"/>
                </a:solidFill>
                <a:latin typeface="Arial"/>
                <a:ea typeface="Arial"/>
                <a:cs typeface="Arial"/>
              </a:rPr>
              <a:t>(background) death</a:t>
            </a:r>
            <a:endParaRPr sz="714" dirty="0">
              <a:latin typeface="Arial"/>
              <a:ea typeface="Arial"/>
              <a:cs typeface="Arial"/>
            </a:endParaRPr>
          </a:p>
        </p:txBody>
      </p:sp>
      <p:sp>
        <p:nvSpPr>
          <p:cNvPr id="34" name="object 34">
            <a:extLst>
              <a:ext uri="{FF2B5EF4-FFF2-40B4-BE49-F238E27FC236}">
                <a16:creationId xmlns:a16="http://schemas.microsoft.com/office/drawing/2014/main" id="{2B596B52-4D0E-42C2-A686-1DFB8D74E016}"/>
              </a:ext>
            </a:extLst>
          </p:cNvPr>
          <p:cNvSpPr>
            <a:spLocks noGrp="1"/>
          </p:cNvSpPr>
          <p:nvPr/>
        </p:nvSpPr>
        <p:spPr>
          <a:xfrm>
            <a:off x="2524125" y="1924973"/>
            <a:ext cx="1190625" cy="361027"/>
          </a:xfrm>
          <a:prstGeom prst="rect">
            <a:avLst/>
          </a:prstGeom>
          <a:noFill/>
          <a:ln>
            <a:noFill/>
          </a:ln>
        </p:spPr>
        <p:txBody>
          <a:bodyPr vert="horz" wrap="square" lIns="0" tIns="18127" rIns="0" bIns="0" anchor="ctr">
            <a:normAutofit/>
          </a:bodyPr>
          <a:lstStyle/>
          <a:p>
            <a:pPr marL="20141" algn="ctr">
              <a:spcBef>
                <a:spcPts val="143"/>
              </a:spcBef>
              <a:buNone/>
              <a:defRPr sz="1125" b="1">
                <a:solidFill>
                  <a:srgbClr val="1F77B4"/>
                </a:solidFill>
                <a:latin typeface="Arial"/>
                <a:ea typeface="Arial"/>
                <a:cs typeface="Arial"/>
              </a:defRPr>
            </a:pPr>
            <a:r>
              <a:rPr sz="1125" b="1" spc="-16" dirty="0">
                <a:solidFill>
                  <a:srgbClr val="1F77B4"/>
                </a:solidFill>
                <a:latin typeface="Arial"/>
                <a:ea typeface="Arial"/>
                <a:cs typeface="Arial"/>
              </a:rPr>
              <a:t>new CVD incidence  →</a:t>
            </a:r>
            <a:endParaRPr sz="714" dirty="0">
              <a:latin typeface="Arial"/>
              <a:ea typeface="Arial"/>
              <a:cs typeface="Arial"/>
            </a:endParaRPr>
          </a:p>
        </p:txBody>
      </p:sp>
      <p:sp>
        <p:nvSpPr>
          <p:cNvPr id="35" name="object 35">
            <a:extLst>
              <a:ext uri="{FF2B5EF4-FFF2-40B4-BE49-F238E27FC236}">
                <a16:creationId xmlns:a16="http://schemas.microsoft.com/office/drawing/2014/main" id="{D77C5A44-2ABC-4E08-B8D1-AF61CA943918}"/>
              </a:ext>
            </a:extLst>
          </p:cNvPr>
          <p:cNvSpPr>
            <a:spLocks noGrp="1"/>
          </p:cNvSpPr>
          <p:nvPr/>
        </p:nvSpPr>
        <p:spPr>
          <a:xfrm>
            <a:off x="5619750" y="1907210"/>
            <a:ext cx="1238250" cy="683590"/>
          </a:xfrm>
          <a:prstGeom prst="rect">
            <a:avLst/>
          </a:prstGeom>
          <a:noFill/>
          <a:ln>
            <a:noFill/>
          </a:ln>
        </p:spPr>
        <p:txBody>
          <a:bodyPr vert="horz" wrap="square" lIns="0" tIns="105740" rIns="0" bIns="0" anchor="ctr">
            <a:normAutofit/>
          </a:bodyPr>
          <a:lstStyle/>
          <a:p>
            <a:pPr marL="279959" algn="ctr">
              <a:spcBef>
                <a:spcPts val="833"/>
              </a:spcBef>
              <a:buNone/>
              <a:defRPr sz="1125" b="1">
                <a:solidFill>
                  <a:srgbClr val="B54A4A"/>
                </a:solidFill>
                <a:latin typeface="Arial"/>
                <a:ea typeface="Arial"/>
                <a:cs typeface="Arial"/>
              </a:defRPr>
            </a:pPr>
            <a:r>
              <a:rPr sz="1125" b="1" spc="16" dirty="0">
                <a:solidFill>
                  <a:srgbClr val="B54A4A"/>
                </a:solidFill>
                <a:latin typeface="Arial"/>
                <a:ea typeface="Arial"/>
                <a:cs typeface="Arial"/>
              </a:rPr>
              <a:t>dies of CVD  →</a:t>
            </a:r>
            <a:endParaRPr sz="1031" dirty="0">
              <a:latin typeface="Arial"/>
              <a:ea typeface="Arial"/>
              <a:cs typeface="Arial"/>
            </a:endParaRPr>
          </a:p>
          <a:p>
            <a:pPr marL="279959" algn="ctr">
              <a:spcBef>
                <a:spcPts val="500"/>
              </a:spcBef>
              <a:buNone/>
              <a:defRPr sz="1125" b="1">
                <a:solidFill>
                  <a:srgbClr val="B54A4A"/>
                </a:solidFill>
                <a:latin typeface="Arial"/>
                <a:ea typeface="Arial"/>
                <a:cs typeface="Arial"/>
              </a:defRPr>
            </a:pPr>
            <a:r>
              <a:rPr lang="en-US" sz="1125" b="1" dirty="0">
                <a:solidFill>
                  <a:srgbClr val="B54A4A"/>
                </a:solidFill>
                <a:latin typeface="Arial"/>
                <a:ea typeface="Arial"/>
                <a:cs typeface="Arial"/>
              </a:rPr>
              <a:t>C</a:t>
            </a:r>
            <a:r>
              <a:rPr sz="1125" b="1" dirty="0">
                <a:solidFill>
                  <a:srgbClr val="B54A4A"/>
                </a:solidFill>
                <a:latin typeface="Arial"/>
                <a:ea typeface="Arial"/>
                <a:cs typeface="Arial"/>
              </a:rPr>
              <a:t>ase</a:t>
            </a:r>
            <a:r>
              <a:rPr lang="en-US" sz="1125" b="1" dirty="0">
                <a:solidFill>
                  <a:srgbClr val="B54A4A"/>
                </a:solidFill>
                <a:latin typeface="Arial"/>
                <a:ea typeface="Arial"/>
                <a:cs typeface="Arial"/>
              </a:rPr>
              <a:t> </a:t>
            </a:r>
            <a:r>
              <a:rPr sz="1125" b="1" dirty="0">
                <a:solidFill>
                  <a:srgbClr val="B54A4A"/>
                </a:solidFill>
                <a:latin typeface="Arial"/>
                <a:ea typeface="Arial"/>
                <a:cs typeface="Arial"/>
              </a:rPr>
              <a:t>fatality</a:t>
            </a:r>
            <a:endParaRPr sz="793" dirty="0">
              <a:latin typeface="Arial MT"/>
              <a:ea typeface="Arial MT"/>
              <a:cs typeface="Arial MT"/>
            </a:endParaRPr>
          </a:p>
        </p:txBody>
      </p:sp>
      <p:sp>
        <p:nvSpPr>
          <p:cNvPr id="39" name="object 39">
            <a:extLst>
              <a:ext uri="{FF2B5EF4-FFF2-40B4-BE49-F238E27FC236}">
                <a16:creationId xmlns:a16="http://schemas.microsoft.com/office/drawing/2014/main" id="{950EC398-D2F7-4E9E-A526-FE8DA258BB94}"/>
              </a:ext>
            </a:extLst>
          </p:cNvPr>
          <p:cNvSpPr>
            <a:spLocks noGrp="1"/>
          </p:cNvSpPr>
          <p:nvPr/>
        </p:nvSpPr>
        <p:spPr>
          <a:xfrm>
            <a:off x="666750" y="3095625"/>
            <a:ext cx="2714625" cy="666750"/>
          </a:xfrm>
          <a:prstGeom prst="rect">
            <a:avLst/>
          </a:prstGeom>
          <a:noFill/>
          <a:ln>
            <a:noFill/>
          </a:ln>
        </p:spPr>
        <p:txBody>
          <a:bodyPr vert="horz" wrap="square" lIns="0" tIns="21148" rIns="0" bIns="0" anchor="ctr">
            <a:normAutofit/>
          </a:bodyPr>
          <a:lstStyle/>
          <a:p>
            <a:pPr marL="20141" algn="ctr">
              <a:spcBef>
                <a:spcPts val="167"/>
              </a:spcBef>
              <a:buNone/>
              <a:tabLst>
                <a:tab pos="553876" algn="l"/>
                <a:tab pos="1089624" algn="l"/>
                <a:tab pos="1624366" algn="l"/>
                <a:tab pos="2159108" algn="l"/>
                <a:tab pos="2693849" algn="l"/>
                <a:tab pos="3228591" algn="l"/>
                <a:tab pos="3763333" algn="l"/>
                <a:tab pos="4298074" algn="l"/>
              </a:tabLst>
              <a:defRPr sz="975" b="1">
                <a:solidFill>
                  <a:srgbClr val="1F77B4"/>
                </a:solidFill>
                <a:latin typeface="Arial"/>
                <a:ea typeface="Arial"/>
                <a:cs typeface="Arial"/>
              </a:defRPr>
            </a:pPr>
            <a:r>
              <a:rPr sz="975" b="1" spc="-32" dirty="0">
                <a:solidFill>
                  <a:srgbClr val="1F77B4"/>
                </a:solidFill>
                <a:latin typeface="Arial"/>
                <a:ea typeface="Arial"/>
                <a:cs typeface="Arial"/>
              </a:rPr>
              <a:t>Fewer people fall ill</a:t>
            </a:r>
            <a:endParaRPr sz="793" dirty="0">
              <a:latin typeface="Arial MT"/>
              <a:ea typeface="Arial MT"/>
              <a:cs typeface="Arial MT"/>
            </a:endParaRPr>
          </a:p>
          <a:p>
            <a:pPr marL="59416" algn="ctr">
              <a:lnSpc>
                <a:spcPts val="722"/>
              </a:lnSpc>
              <a:spcBef>
                <a:spcPts val="515"/>
              </a:spcBef>
              <a:buNone/>
              <a:defRPr sz="975" b="1">
                <a:solidFill>
                  <a:srgbClr val="1F77B4"/>
                </a:solidFill>
                <a:latin typeface="Arial"/>
                <a:ea typeface="Arial"/>
                <a:cs typeface="Arial"/>
              </a:defRPr>
            </a:pPr>
            <a:r>
              <a:rPr lang="en-US" sz="975" b="1" dirty="0">
                <a:solidFill>
                  <a:srgbClr val="1F77B4"/>
                </a:solidFill>
                <a:latin typeface="Arial"/>
                <a:ea typeface="Arial"/>
                <a:cs typeface="Arial"/>
              </a:rPr>
              <a:t>Health </a:t>
            </a:r>
            <a:r>
              <a:rPr sz="975" b="1" dirty="0">
                <a:solidFill>
                  <a:srgbClr val="1F77B4"/>
                </a:solidFill>
                <a:latin typeface="Arial"/>
                <a:ea typeface="Arial"/>
                <a:cs typeface="Arial"/>
              </a:rPr>
              <a:t>policies lower incidence</a:t>
            </a:r>
            <a:endParaRPr sz="634" dirty="0">
              <a:latin typeface="Arial MT"/>
              <a:ea typeface="Arial MT"/>
              <a:cs typeface="Arial MT"/>
            </a:endParaRPr>
          </a:p>
        </p:txBody>
      </p:sp>
      <p:sp>
        <p:nvSpPr>
          <p:cNvPr id="40" name="object 40">
            <a:extLst>
              <a:ext uri="{FF2B5EF4-FFF2-40B4-BE49-F238E27FC236}">
                <a16:creationId xmlns:a16="http://schemas.microsoft.com/office/drawing/2014/main" id="{292A37CA-A00A-4EA6-9435-CED5F41DDEEA}"/>
              </a:ext>
            </a:extLst>
          </p:cNvPr>
          <p:cNvSpPr>
            <a:spLocks noGrp="1"/>
          </p:cNvSpPr>
          <p:nvPr/>
        </p:nvSpPr>
        <p:spPr>
          <a:xfrm>
            <a:off x="2667000" y="4857750"/>
            <a:ext cx="3810000" cy="381000"/>
          </a:xfrm>
          <a:prstGeom prst="rect">
            <a:avLst/>
          </a:prstGeom>
          <a:noFill/>
          <a:ln>
            <a:noFill/>
          </a:ln>
        </p:spPr>
        <p:txBody>
          <a:bodyPr vert="horz" wrap="square" lIns="0" tIns="21148" rIns="0" bIns="0" anchor="ctr">
            <a:normAutofit/>
          </a:bodyPr>
          <a:lstStyle/>
          <a:p>
            <a:pPr marL="20141" algn="ctr">
              <a:spcBef>
                <a:spcPts val="167"/>
              </a:spcBef>
              <a:buNone/>
              <a:defRPr sz="975" b="0">
                <a:solidFill>
                  <a:srgbClr val="4B5563"/>
                </a:solidFill>
                <a:latin typeface="Arial"/>
                <a:ea typeface="Arial"/>
                <a:cs typeface="Arial"/>
              </a:defRPr>
            </a:pPr>
            <a:r>
              <a:rPr sz="975" b="0" spc="-32" dirty="0">
                <a:solidFill>
                  <a:srgbClr val="4B5563"/>
                </a:solidFill>
                <a:latin typeface="Arial"/>
                <a:ea typeface="Arial"/>
                <a:cs typeface="Arial"/>
              </a:rPr>
              <a:t>Background mortality is driven by demography and remains unchanged by </a:t>
            </a:r>
            <a:r>
              <a:rPr lang="en-US" sz="975" b="0" spc="-32" dirty="0">
                <a:solidFill>
                  <a:srgbClr val="4B5563"/>
                </a:solidFill>
                <a:latin typeface="Arial"/>
                <a:ea typeface="Arial"/>
                <a:cs typeface="Arial"/>
              </a:rPr>
              <a:t>health</a:t>
            </a:r>
            <a:r>
              <a:rPr sz="975" b="0" spc="-32" dirty="0">
                <a:solidFill>
                  <a:srgbClr val="4B5563"/>
                </a:solidFill>
                <a:latin typeface="Arial"/>
                <a:ea typeface="Arial"/>
                <a:cs typeface="Arial"/>
              </a:rPr>
              <a:t> interventions</a:t>
            </a:r>
            <a:endParaRPr sz="793" dirty="0">
              <a:latin typeface="Arial MT"/>
              <a:ea typeface="Arial MT"/>
              <a:cs typeface="Arial MT"/>
            </a:endParaRPr>
          </a:p>
        </p:txBody>
      </p:sp>
      <p:sp>
        <p:nvSpPr>
          <p:cNvPr id="41" name="object 41">
            <a:extLst>
              <a:ext uri="{FF2B5EF4-FFF2-40B4-BE49-F238E27FC236}">
                <a16:creationId xmlns:a16="http://schemas.microsoft.com/office/drawing/2014/main" id="{EEFF8624-8A59-4215-85AC-E81E76888B13}"/>
              </a:ext>
            </a:extLst>
          </p:cNvPr>
          <p:cNvSpPr>
            <a:spLocks noGrp="1"/>
          </p:cNvSpPr>
          <p:nvPr/>
        </p:nvSpPr>
        <p:spPr>
          <a:xfrm>
            <a:off x="5762625" y="3095625"/>
            <a:ext cx="2714625" cy="666750"/>
          </a:xfrm>
          <a:prstGeom prst="rect">
            <a:avLst/>
          </a:prstGeom>
          <a:noFill/>
          <a:ln>
            <a:noFill/>
          </a:ln>
        </p:spPr>
        <p:txBody>
          <a:bodyPr vert="horz" wrap="square" lIns="0" tIns="21148" rIns="0" bIns="0" anchor="ctr">
            <a:normAutofit/>
          </a:bodyPr>
          <a:lstStyle/>
          <a:p>
            <a:pPr marL="20141" algn="ctr">
              <a:spcBef>
                <a:spcPts val="167"/>
              </a:spcBef>
              <a:buNone/>
              <a:defRPr sz="975" b="1">
                <a:solidFill>
                  <a:srgbClr val="B54A4A"/>
                </a:solidFill>
                <a:latin typeface="Arial"/>
                <a:ea typeface="Arial"/>
                <a:cs typeface="Arial"/>
              </a:defRPr>
            </a:pPr>
            <a:r>
              <a:rPr sz="975" b="1" spc="-32" dirty="0">
                <a:solidFill>
                  <a:srgbClr val="B54A4A"/>
                </a:solidFill>
                <a:latin typeface="Arial"/>
                <a:ea typeface="Arial"/>
                <a:cs typeface="Arial"/>
              </a:rPr>
              <a:t>More people survive</a:t>
            </a:r>
            <a:endParaRPr sz="793" dirty="0">
              <a:latin typeface="Arial MT"/>
              <a:ea typeface="Arial MT"/>
              <a:cs typeface="Arial MT"/>
            </a:endParaRPr>
          </a:p>
        </p:txBody>
      </p:sp>
      <p:sp>
        <p:nvSpPr>
          <p:cNvPr id="8" name="TextBox 7">
            <a:extLst>
              <a:ext uri="{FF2B5EF4-FFF2-40B4-BE49-F238E27FC236}">
                <a16:creationId xmlns:a16="http://schemas.microsoft.com/office/drawing/2014/main" id="{6CE2963E-0ED2-4B08-B0DF-F4456D480F4B}"/>
              </a:ext>
            </a:extLst>
          </p:cNvPr>
          <p:cNvSpPr txBox="1"/>
          <p:nvPr/>
        </p:nvSpPr>
        <p:spPr>
          <a:xfrm>
            <a:off x="504825" y="5819001"/>
            <a:ext cx="8324850" cy="661078"/>
          </a:xfrm>
          <a:prstGeom prst="rect">
            <a:avLst/>
          </a:prstGeom>
          <a:noFill/>
        </p:spPr>
        <p:txBody>
          <a:bodyPr wrap="square">
            <a:spAutoFit/>
          </a:bodyPr>
          <a:lstStyle/>
          <a:p>
            <a:pPr marL="20141" marR="8056">
              <a:lnSpc>
                <a:spcPct val="105200"/>
              </a:lnSpc>
              <a:spcBef>
                <a:spcPts val="95"/>
              </a:spcBef>
            </a:pPr>
            <a:r>
              <a:rPr lang="en-US" sz="1189" i="1" dirty="0">
                <a:solidFill>
                  <a:srgbClr val="5B6B7A"/>
                </a:solidFill>
                <a:latin typeface="Calibri"/>
                <a:cs typeface="Calibri"/>
              </a:rPr>
              <a:t>Clinical interventions are already included in Indonesia’s health benefit package, but low effective coverage contributes to avoidable illness and death. The analysis therefore models scaling up these interventions to universal access and high-quality delivery, beyond insurance coverage alone, to assess how Indonesia could close the health-outcome gap with ASEAN peers.</a:t>
            </a:r>
          </a:p>
        </p:txBody>
      </p:sp>
    </p:spTree>
    <p:extLst>
      <p:ext uri="{BB962C8B-B14F-4D97-AF65-F5344CB8AC3E}">
        <p14:creationId xmlns:p14="http://schemas.microsoft.com/office/powerpoint/2010/main" val="1537211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6CDB268-5842-44E2-8A1F-E33B4A234CF4}"/>
              </a:ext>
            </a:extLst>
          </p:cNvPr>
          <p:cNvSpPr>
            <a:spLocks noGrp="1"/>
          </p:cNvSpPr>
          <p:nvPr>
            <p:ph type="title"/>
          </p:nvPr>
        </p:nvSpPr>
        <p:spPr>
          <a:xfrm>
            <a:off x="152400" y="40445"/>
            <a:ext cx="8686800" cy="1362268"/>
          </a:xfrm>
          <a:prstGeom prst="rect">
            <a:avLst/>
          </a:prstGeom>
        </p:spPr>
        <p:txBody>
          <a:bodyPr vert="horz" wrap="square" lIns="0" tIns="21148" rIns="0" bIns="0" anchor="ctr">
            <a:normAutofit/>
          </a:bodyPr>
          <a:lstStyle/>
          <a:p>
            <a:pPr marL="20141" algn="ctr">
              <a:spcBef>
                <a:spcPts val="167"/>
              </a:spcBef>
              <a:defRPr sz="2400">
                <a:solidFill>
                  <a:srgbClr val="17365D"/>
                </a:solidFill>
                <a:latin typeface="Arial"/>
                <a:ea typeface="Arial"/>
                <a:cs typeface="Arial"/>
              </a:defRPr>
            </a:pPr>
            <a:r>
              <a:rPr lang="en-US" sz="3600" b="1" spc="-10" dirty="0">
                <a:solidFill>
                  <a:srgbClr val="17365D"/>
                </a:solidFill>
                <a:latin typeface="Arial"/>
                <a:cs typeface="Arial"/>
              </a:rPr>
              <a:t>Scaling up clinical care sharply cuts premature cardiovascular deaths</a:t>
            </a:r>
            <a:endParaRPr sz="3600" b="1" spc="-10" dirty="0">
              <a:solidFill>
                <a:srgbClr val="17365D"/>
              </a:solidFill>
              <a:latin typeface="Arial"/>
              <a:cs typeface="Arial"/>
            </a:endParaRPr>
          </a:p>
        </p:txBody>
      </p:sp>
      <p:sp>
        <p:nvSpPr>
          <p:cNvPr id="4" name="object 4">
            <a:extLst>
              <a:ext uri="{FF2B5EF4-FFF2-40B4-BE49-F238E27FC236}">
                <a16:creationId xmlns:a16="http://schemas.microsoft.com/office/drawing/2014/main" id="{213C17C1-77E3-5A26-D1FC-1F4BB5EB1FBA}"/>
              </a:ext>
            </a:extLst>
          </p:cNvPr>
          <p:cNvSpPr txBox="1"/>
          <p:nvPr/>
        </p:nvSpPr>
        <p:spPr>
          <a:xfrm>
            <a:off x="596910" y="5943600"/>
            <a:ext cx="8026380" cy="580928"/>
          </a:xfrm>
          <a:prstGeom prst="rect">
            <a:avLst/>
          </a:prstGeom>
        </p:spPr>
        <p:txBody>
          <a:bodyPr vert="horz" wrap="square" lIns="0" tIns="12065" rIns="0" bIns="0" rtlCol="0">
            <a:spAutoFit/>
          </a:bodyPr>
          <a:lstStyle/>
          <a:p>
            <a:pPr marL="20141" marR="8056">
              <a:lnSpc>
                <a:spcPct val="105200"/>
              </a:lnSpc>
              <a:spcBef>
                <a:spcPts val="95"/>
              </a:spcBef>
            </a:pPr>
            <a:r>
              <a:rPr lang="en-US" sz="1189" i="1" dirty="0">
                <a:solidFill>
                  <a:srgbClr val="5B6B7A"/>
                </a:solidFill>
                <a:latin typeface="Calibri"/>
                <a:cs typeface="Calibri"/>
              </a:rPr>
              <a:t>D</a:t>
            </a:r>
            <a:r>
              <a:rPr sz="1189" i="1" dirty="0">
                <a:solidFill>
                  <a:srgbClr val="5B6B7A"/>
                </a:solidFill>
                <a:latin typeface="Calibri"/>
                <a:cs typeface="Calibri"/>
              </a:rPr>
              <a:t>iscounted incremental costs (3% per year) and assum</a:t>
            </a:r>
            <a:r>
              <a:rPr lang="en-US" sz="1189" i="1" dirty="0">
                <a:solidFill>
                  <a:srgbClr val="5B6B7A"/>
                </a:solidFill>
                <a:latin typeface="Calibri"/>
                <a:cs typeface="Calibri"/>
              </a:rPr>
              <a:t>ing</a:t>
            </a:r>
            <a:r>
              <a:rPr sz="1189" i="1" dirty="0">
                <a:solidFill>
                  <a:srgbClr val="5B6B7A"/>
                </a:solidFill>
                <a:latin typeface="Calibri"/>
                <a:cs typeface="Calibri"/>
              </a:rPr>
              <a:t> a linear scale-up from</a:t>
            </a:r>
            <a:r>
              <a:rPr lang="en-US" sz="1189" i="1" dirty="0">
                <a:solidFill>
                  <a:srgbClr val="5B6B7A"/>
                </a:solidFill>
                <a:latin typeface="Calibri"/>
                <a:cs typeface="Calibri"/>
              </a:rPr>
              <a:t> </a:t>
            </a:r>
            <a:r>
              <a:rPr sz="1189" i="1" dirty="0">
                <a:solidFill>
                  <a:srgbClr val="5B6B7A"/>
                </a:solidFill>
                <a:latin typeface="Calibri"/>
                <a:cs typeface="Calibri"/>
              </a:rPr>
              <a:t>baseline coverage in 2025 to 80% coverage by 2050. Costs are reported in market US$ (price year 2023) from the</a:t>
            </a:r>
            <a:r>
              <a:rPr lang="en-US" sz="1189" i="1" dirty="0">
                <a:solidFill>
                  <a:srgbClr val="5B6B7A"/>
                </a:solidFill>
                <a:latin typeface="Calibri"/>
                <a:cs typeface="Calibri"/>
              </a:rPr>
              <a:t> </a:t>
            </a:r>
            <a:r>
              <a:rPr sz="1189" i="1" dirty="0">
                <a:solidFill>
                  <a:srgbClr val="5B6B7A"/>
                </a:solidFill>
                <a:latin typeface="Calibri"/>
                <a:cs typeface="Calibri"/>
              </a:rPr>
              <a:t>health system perspective.</a:t>
            </a:r>
            <a:r>
              <a:rPr lang="en-US" sz="1189" i="1" dirty="0">
                <a:solidFill>
                  <a:srgbClr val="5B6B7A"/>
                </a:solidFill>
                <a:latin typeface="Calibri"/>
                <a:cs typeface="Calibri"/>
              </a:rPr>
              <a:t> Preliminary costing results: unit costs, service use, and delivery assumptions require further validation against BPJS and Ministry of Health data before policy use.</a:t>
            </a:r>
            <a:endParaRPr sz="1189" i="1" dirty="0">
              <a:solidFill>
                <a:srgbClr val="5B6B7A"/>
              </a:solidFill>
              <a:latin typeface="Calibri"/>
              <a:cs typeface="Calibri"/>
            </a:endParaRPr>
          </a:p>
        </p:txBody>
      </p:sp>
      <p:graphicFrame>
        <p:nvGraphicFramePr>
          <p:cNvPr id="11" name="Table 10">
            <a:extLst>
              <a:ext uri="{FF2B5EF4-FFF2-40B4-BE49-F238E27FC236}">
                <a16:creationId xmlns:a16="http://schemas.microsoft.com/office/drawing/2014/main" id="{99768426-6011-F3BB-B4C7-C674FFEABBF9}"/>
              </a:ext>
            </a:extLst>
          </p:cNvPr>
          <p:cNvGraphicFramePr>
            <a:graphicFrameLocks noGrp="1"/>
          </p:cNvGraphicFramePr>
          <p:nvPr>
            <p:extLst>
              <p:ext uri="{D42A27DB-BD31-4B8C-83A1-F6EECF244321}">
                <p14:modId xmlns:p14="http://schemas.microsoft.com/office/powerpoint/2010/main" val="1756594300"/>
              </p:ext>
            </p:extLst>
          </p:nvPr>
        </p:nvGraphicFramePr>
        <p:xfrm>
          <a:off x="381000" y="1565910"/>
          <a:ext cx="8458200" cy="4072890"/>
        </p:xfrm>
        <a:graphic>
          <a:graphicData uri="http://schemas.openxmlformats.org/drawingml/2006/table">
            <a:tbl>
              <a:tblPr/>
              <a:tblGrid>
                <a:gridCol w="1402544">
                  <a:extLst>
                    <a:ext uri="{9D8B030D-6E8A-4147-A177-3AD203B41FA5}">
                      <a16:colId xmlns:a16="http://schemas.microsoft.com/office/drawing/2014/main" val="3204248566"/>
                    </a:ext>
                  </a:extLst>
                </a:gridCol>
                <a:gridCol w="1402544">
                  <a:extLst>
                    <a:ext uri="{9D8B030D-6E8A-4147-A177-3AD203B41FA5}">
                      <a16:colId xmlns:a16="http://schemas.microsoft.com/office/drawing/2014/main" val="2768952482"/>
                    </a:ext>
                  </a:extLst>
                </a:gridCol>
                <a:gridCol w="1402544">
                  <a:extLst>
                    <a:ext uri="{9D8B030D-6E8A-4147-A177-3AD203B41FA5}">
                      <a16:colId xmlns:a16="http://schemas.microsoft.com/office/drawing/2014/main" val="2653873423"/>
                    </a:ext>
                  </a:extLst>
                </a:gridCol>
                <a:gridCol w="1402544">
                  <a:extLst>
                    <a:ext uri="{9D8B030D-6E8A-4147-A177-3AD203B41FA5}">
                      <a16:colId xmlns:a16="http://schemas.microsoft.com/office/drawing/2014/main" val="1804987838"/>
                    </a:ext>
                  </a:extLst>
                </a:gridCol>
                <a:gridCol w="1645843">
                  <a:extLst>
                    <a:ext uri="{9D8B030D-6E8A-4147-A177-3AD203B41FA5}">
                      <a16:colId xmlns:a16="http://schemas.microsoft.com/office/drawing/2014/main" val="2478584131"/>
                    </a:ext>
                  </a:extLst>
                </a:gridCol>
                <a:gridCol w="1202181">
                  <a:extLst>
                    <a:ext uri="{9D8B030D-6E8A-4147-A177-3AD203B41FA5}">
                      <a16:colId xmlns:a16="http://schemas.microsoft.com/office/drawing/2014/main" val="3740481995"/>
                    </a:ext>
                  </a:extLst>
                </a:gridCol>
              </a:tblGrid>
              <a:tr h="608018">
                <a:tc>
                  <a:txBody>
                    <a:bodyPr/>
                    <a:lstStyle/>
                    <a:p>
                      <a:pPr algn="l" rtl="0" fontAlgn="ctr">
                        <a:buNone/>
                      </a:pPr>
                      <a:r>
                        <a:rPr lang="en-US" sz="1200" b="1" i="0" u="none" strike="noStrike">
                          <a:solidFill>
                            <a:srgbClr val="17365D"/>
                          </a:solidFill>
                          <a:effectLst/>
                          <a:latin typeface="Calibri" panose="020F0502020204030204" pitchFamily="34" charset="0"/>
                        </a:rPr>
                        <a:t>Clinical intervention</a:t>
                      </a:r>
                      <a:endParaRPr lang="en-US" sz="12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200" b="1" i="0" u="none" strike="noStrike">
                          <a:solidFill>
                            <a:srgbClr val="17365D"/>
                          </a:solidFill>
                          <a:effectLst/>
                          <a:latin typeface="Calibri" panose="020F0502020204030204" pitchFamily="34" charset="0"/>
                        </a:rPr>
                        <a:t>Deaths averted</a:t>
                      </a:r>
                      <a:br>
                        <a:rPr lang="en-US" sz="1200" b="1" i="0" u="none" strike="noStrike">
                          <a:solidFill>
                            <a:srgbClr val="17365D"/>
                          </a:solidFill>
                          <a:effectLst/>
                          <a:latin typeface="Calibri" panose="020F0502020204030204" pitchFamily="34" charset="0"/>
                        </a:rPr>
                      </a:br>
                      <a:r>
                        <a:rPr lang="en-US" sz="1200" b="1" i="0" u="none" strike="noStrike">
                          <a:solidFill>
                            <a:srgbClr val="17365D"/>
                          </a:solidFill>
                          <a:effectLst/>
                          <a:latin typeface="Calibri" panose="020F0502020204030204" pitchFamily="34" charset="0"/>
                        </a:rPr>
                        <a:t>(cumulative)</a:t>
                      </a:r>
                      <a:endParaRPr lang="en-US" sz="12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algn="l" defTabSz="914400" rtl="0" eaLnBrk="1" fontAlgn="ctr" latinLnBrk="0" hangingPunct="1">
                        <a:buNone/>
                      </a:pPr>
                      <a:r>
                        <a:rPr lang="en-US" sz="1200" b="1" i="0" u="none" strike="noStrike" kern="1200" dirty="0">
                          <a:solidFill>
                            <a:srgbClr val="17365D"/>
                          </a:solidFill>
                          <a:effectLst/>
                          <a:latin typeface="Calibri" panose="020F0502020204030204" pitchFamily="34" charset="0"/>
                          <a:ea typeface="+mn-ea"/>
                          <a:cs typeface="+mn-cs"/>
                        </a:rPr>
                        <a:t>Reduction in Prob. of CVD death</a:t>
                      </a:r>
                      <a:br>
                        <a:rPr lang="en-US" sz="1200" b="1" i="0" u="none" strike="noStrike" kern="1200" dirty="0">
                          <a:solidFill>
                            <a:srgbClr val="17365D"/>
                          </a:solidFill>
                          <a:effectLst/>
                          <a:latin typeface="Calibri" panose="020F0502020204030204" pitchFamily="34" charset="0"/>
                          <a:ea typeface="+mn-ea"/>
                          <a:cs typeface="+mn-cs"/>
                        </a:rPr>
                      </a:br>
                      <a:r>
                        <a:rPr lang="en-US" sz="1200" b="1" i="0" u="none" strike="noStrike" kern="1200" dirty="0">
                          <a:solidFill>
                            <a:srgbClr val="17365D"/>
                          </a:solidFill>
                          <a:effectLst/>
                          <a:latin typeface="Calibri" panose="020F0502020204030204" pitchFamily="34" charset="0"/>
                          <a:ea typeface="+mn-ea"/>
                          <a:cs typeface="+mn-cs"/>
                        </a:rPr>
                        <a:t>before age 70, 2050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200" b="1" i="0" u="none" strike="noStrike" dirty="0">
                          <a:solidFill>
                            <a:srgbClr val="17365D"/>
                          </a:solidFill>
                          <a:effectLst/>
                          <a:latin typeface="Calibri" panose="020F0502020204030204" pitchFamily="34" charset="0"/>
                        </a:rPr>
                        <a:t>Deaths reduction</a:t>
                      </a:r>
                      <a:br>
                        <a:rPr lang="en-US" sz="1200" b="1" i="0" u="none" strike="noStrike" dirty="0">
                          <a:solidFill>
                            <a:srgbClr val="17365D"/>
                          </a:solidFill>
                          <a:effectLst/>
                          <a:latin typeface="Calibri" panose="020F0502020204030204" pitchFamily="34" charset="0"/>
                        </a:rPr>
                      </a:br>
                      <a:r>
                        <a:rPr lang="en-US" sz="1200" b="1" i="0" u="none" strike="noStrike" dirty="0">
                          <a:solidFill>
                            <a:srgbClr val="17365D"/>
                          </a:solidFill>
                          <a:effectLst/>
                          <a:latin typeface="Calibri" panose="020F0502020204030204" pitchFamily="34" charset="0"/>
                        </a:rPr>
                        <a:t>2050</a:t>
                      </a:r>
                      <a:endParaRPr lang="en-US" sz="1200" b="1" i="0" u="none" strike="noStrike" dirty="0">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200" b="1" i="0" u="none" strike="noStrike">
                          <a:solidFill>
                            <a:srgbClr val="17365D"/>
                          </a:solidFill>
                          <a:effectLst/>
                          <a:latin typeface="Calibri" panose="020F0502020204030204" pitchFamily="34" charset="0"/>
                        </a:rPr>
                        <a:t>Avg. annual add’l</a:t>
                      </a:r>
                      <a:br>
                        <a:rPr lang="en-US" sz="1200" b="1" i="0" u="none" strike="noStrike">
                          <a:solidFill>
                            <a:srgbClr val="17365D"/>
                          </a:solidFill>
                          <a:effectLst/>
                          <a:latin typeface="Calibri" panose="020F0502020204030204" pitchFamily="34" charset="0"/>
                        </a:rPr>
                      </a:br>
                      <a:r>
                        <a:rPr lang="en-US" sz="1200" b="1" i="0" u="none" strike="noStrike">
                          <a:solidFill>
                            <a:srgbClr val="17365D"/>
                          </a:solidFill>
                          <a:effectLst/>
                          <a:latin typeface="Calibri" panose="020F0502020204030204" pitchFamily="34" charset="0"/>
                        </a:rPr>
                        <a:t>cost/capita, 2026-50 (disc.)</a:t>
                      </a:r>
                      <a:endParaRPr lang="en-US" sz="12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200" b="1" i="0" u="none" strike="noStrike">
                          <a:solidFill>
                            <a:srgbClr val="17365D"/>
                          </a:solidFill>
                          <a:effectLst/>
                          <a:latin typeface="Calibri" panose="020F0502020204030204" pitchFamily="34" charset="0"/>
                        </a:rPr>
                        <a:t>Add’l cost/capita</a:t>
                      </a:r>
                      <a:br>
                        <a:rPr lang="en-US" sz="1200" b="1" i="0" u="none" strike="noStrike">
                          <a:solidFill>
                            <a:srgbClr val="17365D"/>
                          </a:solidFill>
                          <a:effectLst/>
                          <a:latin typeface="Calibri" panose="020F0502020204030204" pitchFamily="34" charset="0"/>
                        </a:rPr>
                      </a:br>
                      <a:r>
                        <a:rPr lang="en-US" sz="1200" b="1" i="0" u="none" strike="noStrike">
                          <a:solidFill>
                            <a:srgbClr val="17365D"/>
                          </a:solidFill>
                          <a:effectLst/>
                          <a:latin typeface="Calibri" panose="020F0502020204030204" pitchFamily="34" charset="0"/>
                        </a:rPr>
                        <a:t>in 2050 (disc.)</a:t>
                      </a:r>
                      <a:endParaRPr lang="en-US" sz="12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22277482"/>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Primary CVD prevention</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1,964,000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16.70%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11.50%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US$1.35</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US$1.88</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3608966"/>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Type-2 diabetes treatment</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493,000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0.60%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2.50%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US$10.82</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US$16.40</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9453846"/>
                  </a:ext>
                </a:extLst>
              </a:tr>
              <a:tr h="608018">
                <a:tc>
                  <a:txBody>
                    <a:bodyPr/>
                    <a:lstStyle/>
                    <a:p>
                      <a:pPr algn="l" rtl="0" fontAlgn="ctr">
                        <a:buNone/>
                      </a:pPr>
                      <a:r>
                        <a:rPr lang="en-US" sz="1200" b="1" i="0" u="none" strike="noStrike">
                          <a:solidFill>
                            <a:srgbClr val="222222"/>
                          </a:solidFill>
                          <a:effectLst/>
                          <a:latin typeface="Calibri" panose="020F0502020204030204" pitchFamily="34" charset="0"/>
                        </a:rPr>
                        <a:t>Heart-attack secondary prevention</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244,000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2.40%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1.10%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US$0.69</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US$1.06</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8272709"/>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Chronic heart-failure care</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105,000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0.40%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US$0.13</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US$0.21</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2904611"/>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Acute heart-failure care</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94,000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0.60%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0.40%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US$0.19</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US$0.30</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3208753"/>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Stroke secondary prevention</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40,000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0.30%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US$0.39</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US$0.56</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3436123"/>
                  </a:ext>
                </a:extLst>
              </a:tr>
              <a:tr h="408122">
                <a:tc>
                  <a:txBody>
                    <a:bodyPr/>
                    <a:lstStyle/>
                    <a:p>
                      <a:pPr algn="l" rtl="0" fontAlgn="ctr">
                        <a:buNone/>
                      </a:pPr>
                      <a:r>
                        <a:rPr lang="en-US" sz="1200" b="1" i="0" u="none" strike="noStrike">
                          <a:solidFill>
                            <a:srgbClr val="222222"/>
                          </a:solidFill>
                          <a:effectLst/>
                          <a:latin typeface="Calibri" panose="020F0502020204030204" pitchFamily="34" charset="0"/>
                        </a:rPr>
                        <a:t>RHD secondary prevention</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2,000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-0.30%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Arial" panose="020B0604020202020204" pitchFamily="34" charset="0"/>
                        </a:rPr>
                        <a:t>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US$0.0077</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200" b="0" i="0" u="none" strike="noStrike">
                          <a:solidFill>
                            <a:srgbClr val="222222"/>
                          </a:solidFill>
                          <a:effectLst/>
                          <a:latin typeface="Calibri" panose="020F0502020204030204" pitchFamily="34" charset="0"/>
                        </a:rPr>
                        <a:t>US$0.0063</a:t>
                      </a:r>
                      <a:endParaRPr lang="en-US" sz="12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1167504"/>
                  </a:ext>
                </a:extLst>
              </a:tr>
              <a:tr h="408122">
                <a:tc>
                  <a:txBody>
                    <a:bodyPr/>
                    <a:lstStyle/>
                    <a:p>
                      <a:pPr algn="l" rtl="0" fontAlgn="ctr">
                        <a:buNone/>
                      </a:pPr>
                      <a:r>
                        <a:rPr lang="en-US" sz="1200" b="1" i="0" u="none" strike="noStrike">
                          <a:solidFill>
                            <a:srgbClr val="17365D"/>
                          </a:solidFill>
                          <a:effectLst/>
                          <a:latin typeface="Calibri" panose="020F0502020204030204" pitchFamily="34" charset="0"/>
                        </a:rPr>
                        <a:t>All clinical (combined)</a:t>
                      </a:r>
                      <a:endParaRPr lang="en-US" sz="12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200" b="1" i="0" u="none" strike="noStrike">
                          <a:solidFill>
                            <a:srgbClr val="244062"/>
                          </a:solidFill>
                          <a:effectLst/>
                          <a:latin typeface="Arial" panose="020B0604020202020204" pitchFamily="34" charset="0"/>
                        </a:rPr>
                        <a:t>2,883,000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200" b="1" i="0" u="none" strike="noStrike">
                          <a:solidFill>
                            <a:srgbClr val="244062"/>
                          </a:solidFill>
                          <a:effectLst/>
                          <a:latin typeface="Arial" panose="020B0604020202020204" pitchFamily="34" charset="0"/>
                        </a:rPr>
                        <a:t>20.60%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200" b="1" i="0" u="none" strike="noStrike">
                          <a:solidFill>
                            <a:srgbClr val="244062"/>
                          </a:solidFill>
                          <a:effectLst/>
                          <a:latin typeface="Arial" panose="020B0604020202020204" pitchFamily="34" charset="0"/>
                        </a:rPr>
                        <a:t>15.70%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200" b="1" i="0" u="none" strike="noStrike">
                          <a:solidFill>
                            <a:srgbClr val="244062"/>
                          </a:solidFill>
                          <a:effectLst/>
                          <a:latin typeface="Calibri" panose="020F0502020204030204" pitchFamily="34" charset="0"/>
                        </a:rPr>
                        <a:t>US$13.36</a:t>
                      </a:r>
                      <a:endParaRPr lang="en-US" sz="1200" b="1" i="0" u="none" strike="noStrike">
                        <a:solidFill>
                          <a:srgbClr val="24406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200" b="1" i="0" u="none" strike="noStrike" dirty="0">
                          <a:solidFill>
                            <a:srgbClr val="244062"/>
                          </a:solidFill>
                          <a:effectLst/>
                          <a:latin typeface="Calibri" panose="020F0502020204030204" pitchFamily="34" charset="0"/>
                        </a:rPr>
                        <a:t>US$19.97</a:t>
                      </a:r>
                      <a:endParaRPr lang="en-US" sz="1200" b="1" i="0" u="none" strike="noStrike" dirty="0">
                        <a:solidFill>
                          <a:srgbClr val="24406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2131782909"/>
                  </a:ext>
                </a:extLst>
              </a:tr>
            </a:tbl>
          </a:graphicData>
        </a:graphic>
      </p:graphicFrame>
    </p:spTree>
    <p:extLst>
      <p:ext uri="{BB962C8B-B14F-4D97-AF65-F5344CB8AC3E}">
        <p14:creationId xmlns:p14="http://schemas.microsoft.com/office/powerpoint/2010/main" val="71399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78ED916-FF80-4D3D-AA83-FAE5054762F3}"/>
              </a:ext>
            </a:extLst>
          </p:cNvPr>
          <p:cNvSpPr>
            <a:spLocks noGrp="1"/>
          </p:cNvSpPr>
          <p:nvPr>
            <p:ph type="title"/>
          </p:nvPr>
        </p:nvSpPr>
        <p:spPr>
          <a:xfrm>
            <a:off x="52704" y="-198313"/>
            <a:ext cx="9038591" cy="1362268"/>
          </a:xfrm>
          <a:prstGeom prst="rect">
            <a:avLst/>
          </a:prstGeom>
        </p:spPr>
        <p:txBody>
          <a:bodyPr vert="horz" wrap="square" lIns="0" tIns="21148" rIns="0" bIns="0" anchor="ctr">
            <a:normAutofit/>
          </a:bodyPr>
          <a:lstStyle/>
          <a:p>
            <a:pPr marL="20141" algn="ctr">
              <a:spcBef>
                <a:spcPts val="167"/>
              </a:spcBef>
              <a:defRPr sz="2400">
                <a:solidFill>
                  <a:srgbClr val="17365D"/>
                </a:solidFill>
                <a:latin typeface="Arial"/>
                <a:ea typeface="Arial"/>
                <a:cs typeface="Arial"/>
              </a:defRPr>
            </a:pPr>
            <a:r>
              <a:rPr sz="3600" b="1" spc="-10" dirty="0"/>
              <a:t>Public-health policies deliver high impact</a:t>
            </a:r>
          </a:p>
        </p:txBody>
      </p:sp>
      <p:sp>
        <p:nvSpPr>
          <p:cNvPr id="4" name="object 4">
            <a:extLst>
              <a:ext uri="{FF2B5EF4-FFF2-40B4-BE49-F238E27FC236}">
                <a16:creationId xmlns:a16="http://schemas.microsoft.com/office/drawing/2014/main" id="{E39E784E-3FD8-F3B8-5D86-4EEDC0ACB02D}"/>
              </a:ext>
            </a:extLst>
          </p:cNvPr>
          <p:cNvSpPr txBox="1"/>
          <p:nvPr/>
        </p:nvSpPr>
        <p:spPr>
          <a:xfrm>
            <a:off x="619125" y="5562600"/>
            <a:ext cx="7839075" cy="580928"/>
          </a:xfrm>
          <a:prstGeom prst="rect">
            <a:avLst/>
          </a:prstGeom>
        </p:spPr>
        <p:txBody>
          <a:bodyPr vert="horz" wrap="square" lIns="0" tIns="12065" rIns="0" bIns="0" rtlCol="0">
            <a:spAutoFit/>
          </a:bodyPr>
          <a:lstStyle/>
          <a:p>
            <a:pPr marL="20141" marR="8056" algn="just">
              <a:lnSpc>
                <a:spcPct val="105200"/>
              </a:lnSpc>
              <a:spcBef>
                <a:spcPts val="95"/>
              </a:spcBef>
            </a:pPr>
            <a:r>
              <a:rPr sz="1189" i="1" dirty="0">
                <a:solidFill>
                  <a:srgbClr val="5B6B7A"/>
                </a:solidFill>
                <a:latin typeface="Calibri"/>
                <a:cs typeface="Calibri"/>
              </a:rPr>
              <a:t>Cumulative deaths averted during 2025–2050, relative to the </a:t>
            </a:r>
            <a:r>
              <a:rPr lang="en-US" sz="1189" i="1" dirty="0">
                <a:solidFill>
                  <a:srgbClr val="5B6B7A"/>
                </a:solidFill>
                <a:latin typeface="Calibri"/>
                <a:cs typeface="Calibri"/>
              </a:rPr>
              <a:t>status quo</a:t>
            </a:r>
            <a:r>
              <a:rPr sz="1189" i="1" dirty="0">
                <a:solidFill>
                  <a:srgbClr val="5B6B7A"/>
                </a:solidFill>
                <a:latin typeface="Calibri"/>
                <a:cs typeface="Calibri"/>
              </a:rPr>
              <a:t> baseline. </a:t>
            </a:r>
            <a:r>
              <a:rPr lang="en-US" sz="1189" i="1" dirty="0">
                <a:solidFill>
                  <a:srgbClr val="5B6B7A"/>
                </a:solidFill>
                <a:latin typeface="Calibri"/>
                <a:cs typeface="Calibri"/>
              </a:rPr>
              <a:t> T</a:t>
            </a:r>
            <a:r>
              <a:rPr sz="1189" i="1" dirty="0">
                <a:solidFill>
                  <a:srgbClr val="5B6B7A"/>
                </a:solidFill>
                <a:latin typeface="Calibri"/>
                <a:cs typeface="Calibri"/>
              </a:rPr>
              <a:t>obacco package</a:t>
            </a:r>
            <a:r>
              <a:rPr lang="en-US" sz="1189" i="1" dirty="0">
                <a:solidFill>
                  <a:srgbClr val="5B6B7A"/>
                </a:solidFill>
                <a:latin typeface="Calibri"/>
                <a:cs typeface="Calibri"/>
              </a:rPr>
              <a:t> = </a:t>
            </a:r>
            <a:r>
              <a:rPr sz="1189" i="1" dirty="0">
                <a:solidFill>
                  <a:srgbClr val="5B6B7A"/>
                </a:solidFill>
                <a:latin typeface="Calibri"/>
                <a:cs typeface="Calibri"/>
              </a:rPr>
              <a:t>smoke-free policies, health warnings and mass-media campaigns, advertising bans, and cessation support. </a:t>
            </a:r>
            <a:r>
              <a:rPr lang="en-US" sz="1189" i="1" dirty="0">
                <a:solidFill>
                  <a:srgbClr val="5B6B7A"/>
                </a:solidFill>
                <a:latin typeface="Calibri"/>
                <a:cs typeface="Calibri"/>
              </a:rPr>
              <a:t> S</a:t>
            </a:r>
            <a:r>
              <a:rPr sz="1189" i="1" dirty="0">
                <a:solidFill>
                  <a:srgbClr val="5B6B7A"/>
                </a:solidFill>
                <a:latin typeface="Calibri"/>
                <a:cs typeface="Calibri"/>
              </a:rPr>
              <a:t>odium package </a:t>
            </a:r>
            <a:r>
              <a:rPr lang="en-US" sz="1189" i="1" dirty="0">
                <a:solidFill>
                  <a:srgbClr val="5B6B7A"/>
                </a:solidFill>
                <a:latin typeface="Calibri"/>
                <a:cs typeface="Calibri"/>
              </a:rPr>
              <a:t>=</a:t>
            </a:r>
            <a:r>
              <a:rPr sz="1189" i="1" dirty="0">
                <a:solidFill>
                  <a:srgbClr val="5B6B7A"/>
                </a:solidFill>
                <a:latin typeface="Calibri"/>
                <a:cs typeface="Calibri"/>
              </a:rPr>
              <a:t> food reformulation, front-of-pack nutrition </a:t>
            </a:r>
            <a:r>
              <a:rPr lang="en-US" sz="1189" i="1" dirty="0">
                <a:solidFill>
                  <a:srgbClr val="5B6B7A"/>
                </a:solidFill>
                <a:latin typeface="Calibri"/>
                <a:cs typeface="Calibri"/>
              </a:rPr>
              <a:t>labeling</a:t>
            </a:r>
            <a:r>
              <a:rPr sz="1189" i="1" dirty="0">
                <a:solidFill>
                  <a:srgbClr val="5B6B7A"/>
                </a:solidFill>
                <a:latin typeface="Calibri"/>
                <a:cs typeface="Calibri"/>
              </a:rPr>
              <a:t>, healthy public food-procurement policies, and behavior-change communication. </a:t>
            </a:r>
          </a:p>
        </p:txBody>
      </p:sp>
      <p:graphicFrame>
        <p:nvGraphicFramePr>
          <p:cNvPr id="5" name="Table 4">
            <a:extLst>
              <a:ext uri="{FF2B5EF4-FFF2-40B4-BE49-F238E27FC236}">
                <a16:creationId xmlns:a16="http://schemas.microsoft.com/office/drawing/2014/main" id="{EF770FE2-5105-5003-DA3A-75BA0E50E1E7}"/>
              </a:ext>
            </a:extLst>
          </p:cNvPr>
          <p:cNvGraphicFramePr>
            <a:graphicFrameLocks noGrp="1"/>
          </p:cNvGraphicFramePr>
          <p:nvPr>
            <p:extLst>
              <p:ext uri="{D42A27DB-BD31-4B8C-83A1-F6EECF244321}">
                <p14:modId xmlns:p14="http://schemas.microsoft.com/office/powerpoint/2010/main" val="233926257"/>
              </p:ext>
            </p:extLst>
          </p:nvPr>
        </p:nvGraphicFramePr>
        <p:xfrm>
          <a:off x="990600" y="1524000"/>
          <a:ext cx="7239000" cy="3733800"/>
        </p:xfrm>
        <a:graphic>
          <a:graphicData uri="http://schemas.openxmlformats.org/drawingml/2006/table">
            <a:tbl>
              <a:tblPr/>
              <a:tblGrid>
                <a:gridCol w="1809750">
                  <a:extLst>
                    <a:ext uri="{9D8B030D-6E8A-4147-A177-3AD203B41FA5}">
                      <a16:colId xmlns:a16="http://schemas.microsoft.com/office/drawing/2014/main" val="1549961161"/>
                    </a:ext>
                  </a:extLst>
                </a:gridCol>
                <a:gridCol w="1809750">
                  <a:extLst>
                    <a:ext uri="{9D8B030D-6E8A-4147-A177-3AD203B41FA5}">
                      <a16:colId xmlns:a16="http://schemas.microsoft.com/office/drawing/2014/main" val="1031690910"/>
                    </a:ext>
                  </a:extLst>
                </a:gridCol>
                <a:gridCol w="1809750">
                  <a:extLst>
                    <a:ext uri="{9D8B030D-6E8A-4147-A177-3AD203B41FA5}">
                      <a16:colId xmlns:a16="http://schemas.microsoft.com/office/drawing/2014/main" val="501014789"/>
                    </a:ext>
                  </a:extLst>
                </a:gridCol>
                <a:gridCol w="1809750">
                  <a:extLst>
                    <a:ext uri="{9D8B030D-6E8A-4147-A177-3AD203B41FA5}">
                      <a16:colId xmlns:a16="http://schemas.microsoft.com/office/drawing/2014/main" val="3322436700"/>
                    </a:ext>
                  </a:extLst>
                </a:gridCol>
              </a:tblGrid>
              <a:tr h="1237780">
                <a:tc>
                  <a:txBody>
                    <a:bodyPr/>
                    <a:lstStyle/>
                    <a:p>
                      <a:pPr algn="l" rtl="0" fontAlgn="ctr">
                        <a:buNone/>
                      </a:pPr>
                      <a:r>
                        <a:rPr lang="en-US" sz="1600" b="1" i="0" u="none" strike="noStrike">
                          <a:solidFill>
                            <a:srgbClr val="17365D"/>
                          </a:solidFill>
                          <a:effectLst/>
                          <a:latin typeface="Calibri" panose="020F0502020204030204" pitchFamily="34" charset="0"/>
                        </a:rPr>
                        <a:t>Public-health policy</a:t>
                      </a:r>
                      <a:endParaRPr lang="en-US" sz="16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algn="l" defTabSz="914400" rtl="0" eaLnBrk="1" fontAlgn="ctr" latinLnBrk="0" hangingPunct="1">
                        <a:buNone/>
                      </a:pPr>
                      <a:r>
                        <a:rPr lang="en-US" sz="1600" b="1" i="0" u="none" strike="noStrike" kern="1200" dirty="0">
                          <a:solidFill>
                            <a:srgbClr val="17365D"/>
                          </a:solidFill>
                          <a:effectLst/>
                          <a:latin typeface="Calibri" panose="020F0502020204030204" pitchFamily="34" charset="0"/>
                          <a:ea typeface="+mn-ea"/>
                          <a:cs typeface="+mn-cs"/>
                        </a:rPr>
                        <a:t>Deaths averted</a:t>
                      </a:r>
                      <a:br>
                        <a:rPr lang="en-US" sz="1600" b="1" i="0" u="none" strike="noStrike" kern="1200" dirty="0">
                          <a:solidFill>
                            <a:srgbClr val="17365D"/>
                          </a:solidFill>
                          <a:effectLst/>
                          <a:latin typeface="Calibri" panose="020F0502020204030204" pitchFamily="34" charset="0"/>
                          <a:ea typeface="+mn-ea"/>
                          <a:cs typeface="+mn-cs"/>
                        </a:rPr>
                      </a:br>
                      <a:r>
                        <a:rPr lang="en-US" sz="1600" b="1" i="0" u="none" strike="noStrike" kern="1200" dirty="0">
                          <a:solidFill>
                            <a:srgbClr val="17365D"/>
                          </a:solidFill>
                          <a:effectLst/>
                          <a:latin typeface="Calibri" panose="020F0502020204030204" pitchFamily="34" charset="0"/>
                          <a:ea typeface="+mn-ea"/>
                          <a:cs typeface="+mn-cs"/>
                        </a:rPr>
                        <a:t>(cumulative)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algn="l" defTabSz="914400" rtl="0" eaLnBrk="1" fontAlgn="ctr" latinLnBrk="0" hangingPunct="1">
                        <a:buNone/>
                      </a:pPr>
                      <a:r>
                        <a:rPr lang="en-US" sz="1600" b="1" i="0" u="none" strike="noStrike" kern="1200" dirty="0">
                          <a:solidFill>
                            <a:srgbClr val="17365D"/>
                          </a:solidFill>
                          <a:effectLst/>
                          <a:latin typeface="Calibri" panose="020F0502020204030204" pitchFamily="34" charset="0"/>
                          <a:ea typeface="+mn-ea"/>
                          <a:cs typeface="+mn-cs"/>
                        </a:rPr>
                        <a:t>Reduction in Prob. of CVD death</a:t>
                      </a:r>
                      <a:br>
                        <a:rPr lang="en-US" sz="1600" b="1" i="0" u="none" strike="noStrike" kern="1200" dirty="0">
                          <a:solidFill>
                            <a:srgbClr val="17365D"/>
                          </a:solidFill>
                          <a:effectLst/>
                          <a:latin typeface="Calibri" panose="020F0502020204030204" pitchFamily="34" charset="0"/>
                          <a:ea typeface="+mn-ea"/>
                          <a:cs typeface="+mn-cs"/>
                        </a:rPr>
                      </a:br>
                      <a:r>
                        <a:rPr lang="en-US" sz="1600" b="1" i="0" u="none" strike="noStrike" kern="1200" dirty="0">
                          <a:solidFill>
                            <a:srgbClr val="17365D"/>
                          </a:solidFill>
                          <a:effectLst/>
                          <a:latin typeface="Calibri" panose="020F0502020204030204" pitchFamily="34" charset="0"/>
                          <a:ea typeface="+mn-ea"/>
                          <a:cs typeface="+mn-cs"/>
                        </a:rPr>
                        <a:t>before age 70, 2050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l" rtl="0" fontAlgn="ctr">
                        <a:buNone/>
                      </a:pPr>
                      <a:r>
                        <a:rPr lang="en-US" sz="1600" b="1" i="0" u="none" strike="noStrike" dirty="0">
                          <a:solidFill>
                            <a:srgbClr val="17365D"/>
                          </a:solidFill>
                          <a:effectLst/>
                          <a:latin typeface="Calibri" panose="020F0502020204030204" pitchFamily="34" charset="0"/>
                        </a:rPr>
                        <a:t>Deaths reduction</a:t>
                      </a:r>
                      <a:br>
                        <a:rPr lang="en-US" sz="1600" b="1" i="0" u="none" strike="noStrike" dirty="0">
                          <a:solidFill>
                            <a:srgbClr val="17365D"/>
                          </a:solidFill>
                          <a:effectLst/>
                          <a:latin typeface="Calibri" panose="020F0502020204030204" pitchFamily="34" charset="0"/>
                        </a:rPr>
                      </a:br>
                      <a:r>
                        <a:rPr lang="en-US" sz="1600" b="1" i="0" u="none" strike="noStrike" dirty="0">
                          <a:solidFill>
                            <a:srgbClr val="17365D"/>
                          </a:solidFill>
                          <a:effectLst/>
                          <a:latin typeface="Calibri" panose="020F0502020204030204" pitchFamily="34" charset="0"/>
                        </a:rPr>
                        <a:t>2050</a:t>
                      </a:r>
                      <a:endParaRPr lang="en-US" sz="1600" b="1" i="0" u="none" strike="noStrike" dirty="0">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658567448"/>
                  </a:ext>
                </a:extLst>
              </a:tr>
              <a:tr h="746760">
                <a:tc>
                  <a:txBody>
                    <a:bodyPr/>
                    <a:lstStyle/>
                    <a:p>
                      <a:pPr algn="l" rtl="0" fontAlgn="ctr">
                        <a:buNone/>
                      </a:pPr>
                      <a:r>
                        <a:rPr lang="en-US" sz="1600" b="1" i="0" u="none" strike="noStrike">
                          <a:solidFill>
                            <a:srgbClr val="222222"/>
                          </a:solidFill>
                          <a:effectLst/>
                          <a:latin typeface="Calibri" panose="020F0502020204030204" pitchFamily="34" charset="0"/>
                        </a:rPr>
                        <a:t>Sodium policy package</a:t>
                      </a:r>
                      <a:endParaRPr lang="en-US" sz="16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772,000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4.00%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2.90%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6395463"/>
                  </a:ext>
                </a:extLst>
              </a:tr>
              <a:tr h="255740">
                <a:tc>
                  <a:txBody>
                    <a:bodyPr/>
                    <a:lstStyle/>
                    <a:p>
                      <a:pPr algn="l" rtl="0" fontAlgn="ctr">
                        <a:buNone/>
                      </a:pPr>
                      <a:r>
                        <a:rPr lang="en-US" sz="1600" b="1" i="0" u="none" strike="noStrike">
                          <a:solidFill>
                            <a:srgbClr val="222222"/>
                          </a:solidFill>
                          <a:effectLst/>
                          <a:latin typeface="Calibri" panose="020F0502020204030204" pitchFamily="34" charset="0"/>
                        </a:rPr>
                        <a:t>Tobacco tax</a:t>
                      </a:r>
                      <a:endParaRPr lang="en-US" sz="16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718,000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3.90%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2.50%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7615804"/>
                  </a:ext>
                </a:extLst>
              </a:tr>
              <a:tr h="746760">
                <a:tc>
                  <a:txBody>
                    <a:bodyPr/>
                    <a:lstStyle/>
                    <a:p>
                      <a:pPr algn="l" rtl="0" fontAlgn="ctr">
                        <a:buNone/>
                      </a:pPr>
                      <a:r>
                        <a:rPr lang="en-US" sz="1600" b="1" i="0" u="none" strike="noStrike">
                          <a:solidFill>
                            <a:srgbClr val="222222"/>
                          </a:solidFill>
                          <a:effectLst/>
                          <a:latin typeface="Calibri" panose="020F0502020204030204" pitchFamily="34" charset="0"/>
                        </a:rPr>
                        <a:t>Tobacco policy package</a:t>
                      </a:r>
                      <a:endParaRPr lang="en-US" sz="1600" b="0" i="0" u="none" strike="noStrike">
                        <a:solidFill>
                          <a:srgbClr val="222222"/>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650,000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3.60%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ctr">
                        <a:buNone/>
                      </a:pPr>
                      <a:r>
                        <a:rPr lang="en-US" sz="1600" b="0" i="0" u="none" strike="noStrike">
                          <a:solidFill>
                            <a:srgbClr val="222222"/>
                          </a:solidFill>
                          <a:effectLst/>
                          <a:latin typeface="Arial" panose="020B0604020202020204" pitchFamily="34" charset="0"/>
                        </a:rPr>
                        <a:t>2.20%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203643"/>
                  </a:ext>
                </a:extLst>
              </a:tr>
              <a:tr h="746760">
                <a:tc>
                  <a:txBody>
                    <a:bodyPr/>
                    <a:lstStyle/>
                    <a:p>
                      <a:pPr algn="l" rtl="0" fontAlgn="ctr">
                        <a:buNone/>
                      </a:pPr>
                      <a:r>
                        <a:rPr lang="en-US" sz="1600" b="1" i="0" u="none" strike="noStrike">
                          <a:solidFill>
                            <a:srgbClr val="17365D"/>
                          </a:solidFill>
                          <a:effectLst/>
                          <a:latin typeface="Calibri" panose="020F0502020204030204" pitchFamily="34" charset="0"/>
                        </a:rPr>
                        <a:t>All public health (combined)</a:t>
                      </a:r>
                      <a:endParaRPr lang="en-US" sz="1600" b="1" i="0" u="none" strike="noStrike">
                        <a:solidFill>
                          <a:srgbClr val="17365D"/>
                        </a:solidFill>
                        <a:effectLst/>
                        <a:latin typeface="Arial" panose="020B060402020202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a:solidFill>
                            <a:srgbClr val="244062"/>
                          </a:solidFill>
                          <a:effectLst/>
                          <a:latin typeface="Arial" panose="020B0604020202020204" pitchFamily="34" charset="0"/>
                        </a:rPr>
                        <a:t>2,084,000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a:solidFill>
                            <a:srgbClr val="244062"/>
                          </a:solidFill>
                          <a:effectLst/>
                          <a:latin typeface="Arial" panose="020B0604020202020204" pitchFamily="34" charset="0"/>
                        </a:rPr>
                        <a:t>11.10%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l" rtl="0" fontAlgn="ctr">
                        <a:buNone/>
                      </a:pPr>
                      <a:r>
                        <a:rPr lang="en-US" sz="1600" b="1" i="0" u="none" strike="noStrike" dirty="0">
                          <a:solidFill>
                            <a:srgbClr val="244062"/>
                          </a:solidFill>
                          <a:effectLst/>
                          <a:latin typeface="Arial" panose="020B0604020202020204" pitchFamily="34" charset="0"/>
                        </a:rPr>
                        <a:t>7.40%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2421637564"/>
                  </a:ext>
                </a:extLst>
              </a:tr>
            </a:tbl>
          </a:graphicData>
        </a:graphic>
      </p:graphicFrame>
    </p:spTree>
    <p:extLst>
      <p:ext uri="{BB962C8B-B14F-4D97-AF65-F5344CB8AC3E}">
        <p14:creationId xmlns:p14="http://schemas.microsoft.com/office/powerpoint/2010/main" val="876686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7309" y="198967"/>
            <a:ext cx="9038591" cy="1129350"/>
          </a:xfrm>
          <a:prstGeom prst="rect">
            <a:avLst/>
          </a:prstGeom>
        </p:spPr>
        <p:txBody>
          <a:bodyPr vert="horz" wrap="square" lIns="0" tIns="21148" rIns="0" bIns="0" rtlCol="0" anchor="ctr">
            <a:spAutoFit/>
          </a:bodyPr>
          <a:lstStyle/>
          <a:p>
            <a:pPr marL="20141" algn="ctr">
              <a:spcBef>
                <a:spcPts val="167"/>
              </a:spcBef>
            </a:pPr>
            <a:r>
              <a:rPr lang="en-US" sz="3600" b="1" spc="-10" dirty="0"/>
              <a:t>Indonesia’s</a:t>
            </a:r>
            <a:r>
              <a:rPr lang="en-US" sz="3600" b="1" spc="-5" dirty="0"/>
              <a:t> </a:t>
            </a:r>
            <a:r>
              <a:rPr lang="en-US" sz="3600" b="1" dirty="0"/>
              <a:t>premature </a:t>
            </a:r>
            <a:r>
              <a:rPr lang="en-US" sz="3600" b="1" spc="-10" dirty="0"/>
              <a:t>cardiovascular </a:t>
            </a:r>
            <a:r>
              <a:rPr lang="en-US" sz="3600" b="1" dirty="0"/>
              <a:t>mortality can</a:t>
            </a:r>
            <a:r>
              <a:rPr lang="en-US" sz="3600" b="1" spc="-5" dirty="0"/>
              <a:t> </a:t>
            </a:r>
            <a:r>
              <a:rPr lang="en-US" sz="3600" b="1" dirty="0"/>
              <a:t>fall toward its</a:t>
            </a:r>
            <a:r>
              <a:rPr lang="en-US" sz="3600" b="1" spc="-5" dirty="0"/>
              <a:t> </a:t>
            </a:r>
            <a:r>
              <a:rPr lang="en-US" sz="3600" b="1" spc="-10" dirty="0"/>
              <a:t>neighbors</a:t>
            </a:r>
            <a:endParaRPr sz="3600" b="1" spc="-16" dirty="0"/>
          </a:p>
        </p:txBody>
      </p:sp>
      <p:sp>
        <p:nvSpPr>
          <p:cNvPr id="51" name="TextBox 50">
            <a:extLst>
              <a:ext uri="{FF2B5EF4-FFF2-40B4-BE49-F238E27FC236}">
                <a16:creationId xmlns:a16="http://schemas.microsoft.com/office/drawing/2014/main" id="{AC75F4D4-BBCE-E436-4D46-E18AAFAC5DD4}"/>
              </a:ext>
            </a:extLst>
          </p:cNvPr>
          <p:cNvSpPr txBox="1"/>
          <p:nvPr/>
        </p:nvSpPr>
        <p:spPr>
          <a:xfrm>
            <a:off x="457200" y="5529682"/>
            <a:ext cx="8305800" cy="641329"/>
          </a:xfrm>
          <a:prstGeom prst="rect">
            <a:avLst/>
          </a:prstGeom>
          <a:noFill/>
        </p:spPr>
        <p:txBody>
          <a:bodyPr wrap="square">
            <a:spAutoFit/>
          </a:bodyPr>
          <a:lstStyle/>
          <a:p>
            <a:pPr marL="36830" marR="0">
              <a:lnSpc>
                <a:spcPct val="100000"/>
              </a:lnSpc>
              <a:spcBef>
                <a:spcPts val="320"/>
              </a:spcBef>
              <a:spcAft>
                <a:spcPts val="800"/>
              </a:spcAft>
              <a:buNone/>
            </a:pPr>
            <a:r>
              <a:rPr lang="en-US" sz="1189" i="1" dirty="0">
                <a:solidFill>
                  <a:srgbClr val="5B6B7A"/>
                </a:solidFill>
                <a:latin typeface="Calibri"/>
                <a:cs typeface="Calibri"/>
              </a:rPr>
              <a:t>Indonesia observed history (solid, to 2023) and ASEAN comparators are WPP-scaled reference series. Modeled Indonesia scenarios (dashed, 2025-2050) use the GBD-calibrated model baseline, which sits somewhat higher. ASEAN comparators trend correspond to a linear extrapolation for illustrative reference.</a:t>
            </a:r>
          </a:p>
        </p:txBody>
      </p:sp>
      <p:sp>
        <p:nvSpPr>
          <p:cNvPr id="5" name="Oval 4">
            <a:extLst>
              <a:ext uri="{FF2B5EF4-FFF2-40B4-BE49-F238E27FC236}">
                <a16:creationId xmlns:a16="http://schemas.microsoft.com/office/drawing/2014/main" id="{BB89D659-BAD1-8591-0B27-4E4030963B6E}"/>
              </a:ext>
            </a:extLst>
          </p:cNvPr>
          <p:cNvSpPr/>
          <p:nvPr/>
        </p:nvSpPr>
        <p:spPr>
          <a:xfrm>
            <a:off x="7239000" y="3429000"/>
            <a:ext cx="533400" cy="3048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88C3E8CE-472B-0C1B-6313-325427353E67}"/>
              </a:ext>
            </a:extLst>
          </p:cNvPr>
          <p:cNvPicPr>
            <a:picLocks noChangeAspect="1"/>
          </p:cNvPicPr>
          <p:nvPr/>
        </p:nvPicPr>
        <p:blipFill>
          <a:blip r:embed="rId2"/>
          <a:stretch>
            <a:fillRect/>
          </a:stretch>
        </p:blipFill>
        <p:spPr>
          <a:xfrm>
            <a:off x="0" y="1680723"/>
            <a:ext cx="9144000" cy="3496553"/>
          </a:xfrm>
          <a:prstGeom prst="rect">
            <a:avLst/>
          </a:prstGeom>
        </p:spPr>
      </p:pic>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4504"/>
            <a:ext cx="9038591" cy="1129350"/>
          </a:xfrm>
          <a:prstGeom prst="rect">
            <a:avLst/>
          </a:prstGeom>
        </p:spPr>
        <p:txBody>
          <a:bodyPr vert="horz" wrap="square" lIns="0" tIns="21148" rIns="0" bIns="0" rtlCol="0" anchor="ctr">
            <a:spAutoFit/>
          </a:bodyPr>
          <a:lstStyle/>
          <a:p>
            <a:pPr marL="20141" algn="ctr">
              <a:spcBef>
                <a:spcPts val="167"/>
              </a:spcBef>
            </a:pPr>
            <a:r>
              <a:rPr sz="3600" b="1" spc="-16" dirty="0"/>
              <a:t>Indonesia’s </a:t>
            </a:r>
            <a:r>
              <a:rPr sz="3600" b="1" dirty="0"/>
              <a:t>hypertension</a:t>
            </a:r>
            <a:r>
              <a:rPr sz="3600" b="1" spc="-16" dirty="0"/>
              <a:t> </a:t>
            </a:r>
            <a:r>
              <a:rPr sz="3600" b="1" dirty="0"/>
              <a:t>cascade</a:t>
            </a:r>
            <a:r>
              <a:rPr sz="3600" b="1" spc="-8" dirty="0"/>
              <a:t> </a:t>
            </a:r>
            <a:r>
              <a:rPr sz="3600" b="1" dirty="0"/>
              <a:t>can</a:t>
            </a:r>
            <a:r>
              <a:rPr sz="3600" b="1" spc="-16" dirty="0"/>
              <a:t> </a:t>
            </a:r>
            <a:r>
              <a:rPr sz="3600" b="1" dirty="0"/>
              <a:t>progress</a:t>
            </a:r>
            <a:r>
              <a:rPr sz="3600" b="1" spc="-8" dirty="0"/>
              <a:t> </a:t>
            </a:r>
            <a:r>
              <a:rPr sz="3600" b="1" dirty="0"/>
              <a:t>in</a:t>
            </a:r>
            <a:r>
              <a:rPr sz="3600" b="1" spc="-16" dirty="0"/>
              <a:t> </a:t>
            </a:r>
            <a:r>
              <a:rPr sz="3600" b="1" dirty="0"/>
              <a:t>two</a:t>
            </a:r>
            <a:r>
              <a:rPr sz="3600" b="1" spc="-16" dirty="0"/>
              <a:t> </a:t>
            </a:r>
            <a:r>
              <a:rPr sz="3600" b="1" dirty="0"/>
              <a:t>achievable</a:t>
            </a:r>
            <a:r>
              <a:rPr sz="3600" b="1" spc="-8" dirty="0"/>
              <a:t> </a:t>
            </a:r>
            <a:r>
              <a:rPr sz="3600" b="1" spc="-16" dirty="0"/>
              <a:t>stages</a:t>
            </a:r>
          </a:p>
        </p:txBody>
      </p:sp>
      <p:sp>
        <p:nvSpPr>
          <p:cNvPr id="17" name="object 17"/>
          <p:cNvSpPr/>
          <p:nvPr/>
        </p:nvSpPr>
        <p:spPr>
          <a:xfrm>
            <a:off x="1267516" y="2566835"/>
            <a:ext cx="6995966" cy="0"/>
          </a:xfrm>
          <a:custGeom>
            <a:avLst/>
            <a:gdLst/>
            <a:ahLst/>
            <a:cxnLst/>
            <a:rect l="l" t="t" r="r" b="b"/>
            <a:pathLst>
              <a:path w="4411345">
                <a:moveTo>
                  <a:pt x="0" y="0"/>
                </a:moveTo>
                <a:lnTo>
                  <a:pt x="4411112" y="0"/>
                </a:lnTo>
              </a:path>
            </a:pathLst>
          </a:custGeom>
          <a:ln w="7477">
            <a:solidFill>
              <a:srgbClr val="EBEBEB"/>
            </a:solidFill>
          </a:ln>
        </p:spPr>
        <p:txBody>
          <a:bodyPr wrap="square" lIns="0" tIns="0" rIns="0" bIns="0" rtlCol="0"/>
          <a:lstStyle/>
          <a:p>
            <a:endParaRPr sz="2855"/>
          </a:p>
        </p:txBody>
      </p:sp>
      <p:sp>
        <p:nvSpPr>
          <p:cNvPr id="38" name="object 38"/>
          <p:cNvSpPr txBox="1"/>
          <p:nvPr/>
        </p:nvSpPr>
        <p:spPr>
          <a:xfrm>
            <a:off x="609600" y="5638800"/>
            <a:ext cx="7833830" cy="592253"/>
          </a:xfrm>
          <a:prstGeom prst="rect">
            <a:avLst/>
          </a:prstGeom>
        </p:spPr>
        <p:txBody>
          <a:bodyPr vert="horz" wrap="square" lIns="0" tIns="17120" rIns="0" bIns="0" rtlCol="0">
            <a:spAutoFit/>
          </a:bodyPr>
          <a:lstStyle/>
          <a:p>
            <a:pPr marL="20141" marR="8056" algn="just">
              <a:lnSpc>
                <a:spcPct val="102400"/>
              </a:lnSpc>
              <a:spcBef>
                <a:spcPts val="135"/>
              </a:spcBef>
            </a:pPr>
            <a:r>
              <a:rPr lang="en-US" sz="1189" b="1" i="1" dirty="0">
                <a:solidFill>
                  <a:srgbClr val="5B6B7A"/>
                </a:solidFill>
                <a:cs typeface="Calibri"/>
              </a:rPr>
              <a:t>Source: </a:t>
            </a:r>
            <a:r>
              <a:rPr lang="en-US" sz="1189" i="1" dirty="0">
                <a:solidFill>
                  <a:srgbClr val="5B6B7A"/>
                </a:solidFill>
                <a:cs typeface="Calibri"/>
              </a:rPr>
              <a:t>NCD Risk factors Collaborators 2024.</a:t>
            </a:r>
            <a:r>
              <a:rPr lang="en-US" sz="1189" b="1" i="1" dirty="0">
                <a:solidFill>
                  <a:srgbClr val="5B6B7A"/>
                </a:solidFill>
                <a:cs typeface="Calibri"/>
              </a:rPr>
              <a:t> Method: </a:t>
            </a:r>
            <a:r>
              <a:rPr lang="en-US" sz="1189" i="1" dirty="0">
                <a:solidFill>
                  <a:srgbClr val="5B6B7A"/>
                </a:solidFill>
                <a:cs typeface="Calibri"/>
              </a:rPr>
              <a:t>baseline (2025) shows only measured treated/controlled — diagnosis is not modeled</a:t>
            </a:r>
            <a:r>
              <a:rPr sz="1189" i="1" spc="-8" dirty="0">
                <a:solidFill>
                  <a:srgbClr val="5B6B7A"/>
                </a:solidFill>
                <a:latin typeface="Calibri"/>
                <a:cs typeface="Calibri"/>
              </a:rPr>
              <a:t> </a:t>
            </a:r>
            <a:r>
              <a:rPr sz="1189" i="1" dirty="0">
                <a:solidFill>
                  <a:srgbClr val="5B6B7A"/>
                </a:solidFill>
                <a:latin typeface="Calibri"/>
                <a:cs typeface="Calibri"/>
              </a:rPr>
              <a:t>at</a:t>
            </a:r>
            <a:r>
              <a:rPr sz="1189" i="1" spc="-8" dirty="0">
                <a:solidFill>
                  <a:srgbClr val="5B6B7A"/>
                </a:solidFill>
                <a:latin typeface="Calibri"/>
                <a:cs typeface="Calibri"/>
              </a:rPr>
              <a:t> </a:t>
            </a:r>
            <a:r>
              <a:rPr sz="1189" i="1" dirty="0">
                <a:solidFill>
                  <a:srgbClr val="5B6B7A"/>
                </a:solidFill>
                <a:latin typeface="Calibri"/>
                <a:cs typeface="Calibri"/>
              </a:rPr>
              <a:t>baseline,</a:t>
            </a:r>
            <a:r>
              <a:rPr sz="1189" i="1" spc="-8" dirty="0">
                <a:solidFill>
                  <a:srgbClr val="5B6B7A"/>
                </a:solidFill>
                <a:latin typeface="Calibri"/>
                <a:cs typeface="Calibri"/>
              </a:rPr>
              <a:t> </a:t>
            </a:r>
            <a:r>
              <a:rPr sz="1189" i="1" dirty="0">
                <a:solidFill>
                  <a:srgbClr val="5B6B7A"/>
                </a:solidFill>
                <a:latin typeface="Calibri"/>
                <a:cs typeface="Calibri"/>
              </a:rPr>
              <a:t>so</a:t>
            </a:r>
            <a:r>
              <a:rPr sz="1189" i="1" spc="-8" dirty="0">
                <a:solidFill>
                  <a:srgbClr val="5B6B7A"/>
                </a:solidFill>
                <a:latin typeface="Calibri"/>
                <a:cs typeface="Calibri"/>
              </a:rPr>
              <a:t> </a:t>
            </a:r>
            <a:r>
              <a:rPr sz="1189" i="1" dirty="0">
                <a:solidFill>
                  <a:srgbClr val="5B6B7A"/>
                </a:solidFill>
                <a:latin typeface="Calibri"/>
                <a:cs typeface="Calibri"/>
              </a:rPr>
              <a:t>no</a:t>
            </a:r>
            <a:r>
              <a:rPr sz="1189" i="1" spc="-8" dirty="0">
                <a:solidFill>
                  <a:srgbClr val="5B6B7A"/>
                </a:solidFill>
                <a:latin typeface="Calibri"/>
                <a:cs typeface="Calibri"/>
              </a:rPr>
              <a:t> </a:t>
            </a:r>
            <a:r>
              <a:rPr sz="1189" i="1" dirty="0">
                <a:solidFill>
                  <a:srgbClr val="5B6B7A"/>
                </a:solidFill>
                <a:latin typeface="Calibri"/>
                <a:cs typeface="Calibri"/>
              </a:rPr>
              <a:t>diagnosed</a:t>
            </a:r>
            <a:r>
              <a:rPr sz="1189" i="1" spc="-8" dirty="0">
                <a:solidFill>
                  <a:srgbClr val="5B6B7A"/>
                </a:solidFill>
                <a:latin typeface="Calibri"/>
                <a:cs typeface="Calibri"/>
              </a:rPr>
              <a:t> </a:t>
            </a:r>
            <a:r>
              <a:rPr sz="1189" i="1" dirty="0">
                <a:solidFill>
                  <a:srgbClr val="5B6B7A"/>
                </a:solidFill>
                <a:latin typeface="Calibri"/>
                <a:cs typeface="Calibri"/>
              </a:rPr>
              <a:t>bar.</a:t>
            </a:r>
            <a:r>
              <a:rPr sz="1189" i="1" spc="79" dirty="0">
                <a:solidFill>
                  <a:srgbClr val="5B6B7A"/>
                </a:solidFill>
                <a:latin typeface="Calibri"/>
                <a:cs typeface="Calibri"/>
              </a:rPr>
              <a:t> </a:t>
            </a:r>
            <a:r>
              <a:rPr sz="1189" i="1" spc="-16" dirty="0">
                <a:solidFill>
                  <a:srgbClr val="5B6B7A"/>
                </a:solidFill>
                <a:latin typeface="Calibri"/>
                <a:cs typeface="Calibri"/>
              </a:rPr>
              <a:t>Type-</a:t>
            </a:r>
            <a:r>
              <a:rPr sz="1189" i="1" dirty="0">
                <a:solidFill>
                  <a:srgbClr val="5B6B7A"/>
                </a:solidFill>
                <a:latin typeface="Calibri"/>
                <a:cs typeface="Calibri"/>
              </a:rPr>
              <a:t>2</a:t>
            </a:r>
            <a:r>
              <a:rPr sz="1189" i="1" spc="-8" dirty="0">
                <a:solidFill>
                  <a:srgbClr val="5B6B7A"/>
                </a:solidFill>
                <a:latin typeface="Calibri"/>
                <a:cs typeface="Calibri"/>
              </a:rPr>
              <a:t> </a:t>
            </a:r>
            <a:r>
              <a:rPr sz="1189" i="1" spc="-16" dirty="0">
                <a:solidFill>
                  <a:srgbClr val="5B6B7A"/>
                </a:solidFill>
                <a:latin typeface="Calibri"/>
                <a:cs typeface="Calibri"/>
              </a:rPr>
              <a:t>diabetes</a:t>
            </a:r>
            <a:r>
              <a:rPr sz="1189" i="1" spc="793" dirty="0">
                <a:solidFill>
                  <a:srgbClr val="5B6B7A"/>
                </a:solidFill>
                <a:latin typeface="Calibri"/>
                <a:cs typeface="Calibri"/>
              </a:rPr>
              <a:t> </a:t>
            </a:r>
            <a:r>
              <a:rPr sz="1189" i="1" dirty="0">
                <a:solidFill>
                  <a:srgbClr val="5B6B7A"/>
                </a:solidFill>
                <a:latin typeface="Calibri"/>
                <a:cs typeface="Calibri"/>
              </a:rPr>
              <a:t>follows the same targets</a:t>
            </a:r>
            <a:r>
              <a:rPr sz="1189" i="1" spc="8" dirty="0">
                <a:solidFill>
                  <a:srgbClr val="5B6B7A"/>
                </a:solidFill>
                <a:latin typeface="Calibri"/>
                <a:cs typeface="Calibri"/>
              </a:rPr>
              <a:t> </a:t>
            </a:r>
            <a:r>
              <a:rPr sz="1189" i="1" dirty="0">
                <a:solidFill>
                  <a:srgbClr val="5B6B7A"/>
                </a:solidFill>
                <a:latin typeface="Calibri"/>
                <a:cs typeface="Calibri"/>
              </a:rPr>
              <a:t>(baseline treated</a:t>
            </a:r>
            <a:r>
              <a:rPr sz="1189" i="1" spc="-8" dirty="0">
                <a:solidFill>
                  <a:srgbClr val="5B6B7A"/>
                </a:solidFill>
                <a:latin typeface="Calibri"/>
                <a:cs typeface="Calibri"/>
              </a:rPr>
              <a:t> </a:t>
            </a:r>
            <a:r>
              <a:rPr sz="1269" spc="309" dirty="0">
                <a:solidFill>
                  <a:srgbClr val="5B6B7A"/>
                </a:solidFill>
                <a:latin typeface="Cambria"/>
                <a:cs typeface="Cambria"/>
              </a:rPr>
              <a:t>≈</a:t>
            </a:r>
            <a:r>
              <a:rPr sz="1269" dirty="0">
                <a:solidFill>
                  <a:srgbClr val="5B6B7A"/>
                </a:solidFill>
                <a:latin typeface="Cambria"/>
                <a:cs typeface="Cambria"/>
              </a:rPr>
              <a:t> </a:t>
            </a:r>
            <a:r>
              <a:rPr sz="1189" i="1" dirty="0">
                <a:solidFill>
                  <a:srgbClr val="5B6B7A"/>
                </a:solidFill>
                <a:latin typeface="Calibri"/>
                <a:cs typeface="Calibri"/>
              </a:rPr>
              <a:t>22.0%, </a:t>
            </a:r>
            <a:r>
              <a:rPr sz="1189" i="1" spc="-16" dirty="0">
                <a:solidFill>
                  <a:srgbClr val="5B6B7A"/>
                </a:solidFill>
                <a:latin typeface="Calibri"/>
                <a:cs typeface="Calibri"/>
              </a:rPr>
              <a:t>controlled</a:t>
            </a:r>
            <a:r>
              <a:rPr sz="1189" i="1" dirty="0">
                <a:solidFill>
                  <a:srgbClr val="5B6B7A"/>
                </a:solidFill>
                <a:latin typeface="Calibri"/>
                <a:cs typeface="Calibri"/>
              </a:rPr>
              <a:t> </a:t>
            </a:r>
            <a:r>
              <a:rPr sz="1269" spc="309" dirty="0">
                <a:solidFill>
                  <a:srgbClr val="5B6B7A"/>
                </a:solidFill>
                <a:latin typeface="Cambria"/>
                <a:cs typeface="Cambria"/>
              </a:rPr>
              <a:t>≈</a:t>
            </a:r>
            <a:r>
              <a:rPr sz="1269" dirty="0">
                <a:solidFill>
                  <a:srgbClr val="5B6B7A"/>
                </a:solidFill>
                <a:latin typeface="Cambria"/>
                <a:cs typeface="Cambria"/>
              </a:rPr>
              <a:t> </a:t>
            </a:r>
            <a:r>
              <a:rPr sz="1189" i="1" spc="-16" dirty="0">
                <a:solidFill>
                  <a:srgbClr val="5B6B7A"/>
                </a:solidFill>
                <a:latin typeface="Calibri"/>
                <a:cs typeface="Calibri"/>
              </a:rPr>
              <a:t>7.5%).</a:t>
            </a:r>
            <a:endParaRPr sz="1189" dirty="0">
              <a:latin typeface="Calibri"/>
              <a:cs typeface="Calibri"/>
            </a:endParaRPr>
          </a:p>
        </p:txBody>
      </p:sp>
      <p:pic>
        <p:nvPicPr>
          <p:cNvPr id="43" name="Picture 42">
            <a:extLst>
              <a:ext uri="{FF2B5EF4-FFF2-40B4-BE49-F238E27FC236}">
                <a16:creationId xmlns:a16="http://schemas.microsoft.com/office/drawing/2014/main" id="{ADB8FF0A-1E67-55F5-DAAA-613F25CEF013}"/>
              </a:ext>
            </a:extLst>
          </p:cNvPr>
          <p:cNvPicPr>
            <a:picLocks noChangeAspect="1"/>
          </p:cNvPicPr>
          <p:nvPr/>
        </p:nvPicPr>
        <p:blipFill>
          <a:blip r:embed="rId2"/>
          <a:stretch>
            <a:fillRect/>
          </a:stretch>
        </p:blipFill>
        <p:spPr>
          <a:xfrm>
            <a:off x="7219" y="1711514"/>
            <a:ext cx="9144000" cy="3696832"/>
          </a:xfrm>
          <a:prstGeom prst="rect">
            <a:avLst/>
          </a:prstGeom>
        </p:spPr>
      </p:pic>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2400"/>
            <a:ext cx="9038591" cy="1129350"/>
          </a:xfrm>
          <a:prstGeom prst="rect">
            <a:avLst/>
          </a:prstGeom>
        </p:spPr>
        <p:txBody>
          <a:bodyPr vert="horz" wrap="square" lIns="0" tIns="21148" rIns="0" bIns="0" rtlCol="0" anchor="ctr">
            <a:spAutoFit/>
          </a:bodyPr>
          <a:lstStyle/>
          <a:p>
            <a:pPr marL="20141" algn="ctr">
              <a:spcBef>
                <a:spcPts val="167"/>
              </a:spcBef>
            </a:pPr>
            <a:r>
              <a:rPr sz="3600" b="1" spc="-16" dirty="0"/>
              <a:t>Stronger prevention lowers premature deaths at a rising but bounded cost</a:t>
            </a:r>
          </a:p>
        </p:txBody>
      </p:sp>
      <p:sp>
        <p:nvSpPr>
          <p:cNvPr id="57" name="object 57"/>
          <p:cNvSpPr txBox="1"/>
          <p:nvPr/>
        </p:nvSpPr>
        <p:spPr>
          <a:xfrm>
            <a:off x="550775" y="4945133"/>
            <a:ext cx="7865048" cy="773117"/>
          </a:xfrm>
          <a:prstGeom prst="rect">
            <a:avLst/>
          </a:prstGeom>
        </p:spPr>
        <p:txBody>
          <a:bodyPr vert="horz" wrap="square" lIns="0" tIns="12085" rIns="0" bIns="0" rtlCol="0">
            <a:spAutoFit/>
          </a:bodyPr>
          <a:lstStyle/>
          <a:p>
            <a:pPr marL="20141" marR="8056">
              <a:lnSpc>
                <a:spcPct val="105200"/>
              </a:lnSpc>
              <a:spcBef>
                <a:spcPts val="95"/>
              </a:spcBef>
            </a:pPr>
            <a:r>
              <a:rPr sz="1189" b="1" i="1" dirty="0">
                <a:solidFill>
                  <a:srgbClr val="5B6B7A"/>
                </a:solidFill>
                <a:latin typeface="Calibri"/>
                <a:cs typeface="Calibri"/>
              </a:rPr>
              <a:t>Source:</a:t>
            </a:r>
            <a:r>
              <a:rPr sz="1189" b="1" i="1" spc="119" dirty="0">
                <a:solidFill>
                  <a:srgbClr val="5B6B7A"/>
                </a:solidFill>
                <a:latin typeface="Calibri"/>
                <a:cs typeface="Calibri"/>
              </a:rPr>
              <a:t> </a:t>
            </a:r>
            <a:r>
              <a:rPr lang="en-US" sz="1189" i="1" dirty="0">
                <a:solidFill>
                  <a:srgbClr val="5B6B7A"/>
                </a:solidFill>
                <a:latin typeface="Calibri"/>
                <a:cs typeface="Calibri"/>
              </a:rPr>
              <a:t>GBD 2023, UNWPP 2024, and Fair Choices costs (Watkins et al., 2020). </a:t>
            </a:r>
            <a:r>
              <a:rPr sz="1189" b="1" i="1" dirty="0">
                <a:solidFill>
                  <a:srgbClr val="5B6B7A"/>
                </a:solidFill>
                <a:latin typeface="Calibri"/>
                <a:cs typeface="Calibri"/>
              </a:rPr>
              <a:t>Method:</a:t>
            </a:r>
            <a:r>
              <a:rPr sz="1189" b="1" i="1" spc="111" dirty="0">
                <a:solidFill>
                  <a:srgbClr val="5B6B7A"/>
                </a:solidFill>
                <a:latin typeface="Calibri"/>
                <a:cs typeface="Calibri"/>
              </a:rPr>
              <a:t> </a:t>
            </a:r>
            <a:r>
              <a:rPr sz="1189" i="1" spc="-16" dirty="0">
                <a:solidFill>
                  <a:srgbClr val="5B6B7A"/>
                </a:solidFill>
                <a:latin typeface="Calibri"/>
                <a:cs typeface="Calibri"/>
              </a:rPr>
              <a:t>probability</a:t>
            </a:r>
            <a:r>
              <a:rPr sz="1189" i="1" spc="16" dirty="0">
                <a:solidFill>
                  <a:srgbClr val="5B6B7A"/>
                </a:solidFill>
                <a:latin typeface="Calibri"/>
                <a:cs typeface="Calibri"/>
              </a:rPr>
              <a:t> </a:t>
            </a:r>
            <a:r>
              <a:rPr sz="1189" i="1" dirty="0">
                <a:solidFill>
                  <a:srgbClr val="5B6B7A"/>
                </a:solidFill>
                <a:latin typeface="Calibri"/>
                <a:cs typeface="Calibri"/>
              </a:rPr>
              <a:t>over</a:t>
            </a:r>
            <a:r>
              <a:rPr sz="1189" i="1" spc="16" dirty="0">
                <a:solidFill>
                  <a:srgbClr val="5B6B7A"/>
                </a:solidFill>
                <a:latin typeface="Calibri"/>
                <a:cs typeface="Calibri"/>
              </a:rPr>
              <a:t> </a:t>
            </a:r>
            <a:r>
              <a:rPr sz="1189" i="1" dirty="0">
                <a:solidFill>
                  <a:srgbClr val="5B6B7A"/>
                </a:solidFill>
                <a:latin typeface="Calibri"/>
                <a:cs typeface="Calibri"/>
              </a:rPr>
              <a:t>the</a:t>
            </a:r>
            <a:r>
              <a:rPr sz="1189" i="1" spc="24" dirty="0">
                <a:solidFill>
                  <a:srgbClr val="5B6B7A"/>
                </a:solidFill>
                <a:latin typeface="Calibri"/>
                <a:cs typeface="Calibri"/>
              </a:rPr>
              <a:t> </a:t>
            </a:r>
            <a:r>
              <a:rPr sz="1189" i="1" dirty="0">
                <a:solidFill>
                  <a:srgbClr val="5B6B7A"/>
                </a:solidFill>
                <a:latin typeface="Calibri"/>
                <a:cs typeface="Calibri"/>
              </a:rPr>
              <a:t>six</a:t>
            </a:r>
            <a:r>
              <a:rPr sz="1189" i="1" spc="16" dirty="0">
                <a:solidFill>
                  <a:srgbClr val="5B6B7A"/>
                </a:solidFill>
                <a:latin typeface="Calibri"/>
                <a:cs typeface="Calibri"/>
              </a:rPr>
              <a:t> </a:t>
            </a:r>
            <a:r>
              <a:rPr sz="1189" i="1" dirty="0">
                <a:solidFill>
                  <a:srgbClr val="5B6B7A"/>
                </a:solidFill>
                <a:latin typeface="Calibri"/>
                <a:cs typeface="Calibri"/>
              </a:rPr>
              <a:t>CVD</a:t>
            </a:r>
            <a:r>
              <a:rPr sz="1189" i="1" spc="16" dirty="0">
                <a:solidFill>
                  <a:srgbClr val="5B6B7A"/>
                </a:solidFill>
                <a:latin typeface="Calibri"/>
                <a:cs typeface="Calibri"/>
              </a:rPr>
              <a:t> </a:t>
            </a:r>
            <a:r>
              <a:rPr sz="1189" i="1" dirty="0">
                <a:solidFill>
                  <a:srgbClr val="5B6B7A"/>
                </a:solidFill>
                <a:latin typeface="Calibri"/>
                <a:cs typeface="Calibri"/>
              </a:rPr>
              <a:t>causes,</a:t>
            </a:r>
            <a:r>
              <a:rPr sz="1189" i="1" spc="16" dirty="0">
                <a:solidFill>
                  <a:srgbClr val="5B6B7A"/>
                </a:solidFill>
                <a:latin typeface="Calibri"/>
                <a:cs typeface="Calibri"/>
              </a:rPr>
              <a:t> </a:t>
            </a:r>
            <a:r>
              <a:rPr sz="1189" i="1" dirty="0">
                <a:solidFill>
                  <a:srgbClr val="5B6B7A"/>
                </a:solidFill>
                <a:latin typeface="Calibri"/>
                <a:cs typeface="Calibri"/>
              </a:rPr>
              <a:t>ages</a:t>
            </a:r>
            <a:r>
              <a:rPr sz="1189" i="1" spc="16" dirty="0">
                <a:solidFill>
                  <a:srgbClr val="5B6B7A"/>
                </a:solidFill>
                <a:latin typeface="Calibri"/>
                <a:cs typeface="Calibri"/>
              </a:rPr>
              <a:t> </a:t>
            </a:r>
            <a:r>
              <a:rPr sz="1189" i="1" dirty="0">
                <a:solidFill>
                  <a:srgbClr val="5B6B7A"/>
                </a:solidFill>
                <a:latin typeface="Calibri"/>
                <a:cs typeface="Calibri"/>
              </a:rPr>
              <a:t>30–70;</a:t>
            </a:r>
            <a:r>
              <a:rPr sz="1189" i="1" spc="24" dirty="0">
                <a:solidFill>
                  <a:srgbClr val="5B6B7A"/>
                </a:solidFill>
                <a:latin typeface="Calibri"/>
                <a:cs typeface="Calibri"/>
              </a:rPr>
              <a:t> </a:t>
            </a:r>
            <a:r>
              <a:rPr sz="1189" i="1" dirty="0">
                <a:solidFill>
                  <a:srgbClr val="5B6B7A"/>
                </a:solidFill>
                <a:latin typeface="Calibri"/>
                <a:cs typeface="Calibri"/>
              </a:rPr>
              <a:t>cumulative</a:t>
            </a:r>
            <a:r>
              <a:rPr sz="1189" i="1" spc="16" dirty="0">
                <a:solidFill>
                  <a:srgbClr val="5B6B7A"/>
                </a:solidFill>
                <a:latin typeface="Calibri"/>
                <a:cs typeface="Calibri"/>
              </a:rPr>
              <a:t> </a:t>
            </a:r>
            <a:r>
              <a:rPr sz="1189" i="1" dirty="0">
                <a:solidFill>
                  <a:srgbClr val="5B6B7A"/>
                </a:solidFill>
                <a:latin typeface="Calibri"/>
                <a:cs typeface="Calibri"/>
              </a:rPr>
              <a:t>discounted</a:t>
            </a:r>
            <a:r>
              <a:rPr sz="1189" i="1" spc="16" dirty="0">
                <a:solidFill>
                  <a:srgbClr val="5B6B7A"/>
                </a:solidFill>
                <a:latin typeface="Calibri"/>
                <a:cs typeface="Calibri"/>
              </a:rPr>
              <a:t> </a:t>
            </a:r>
            <a:r>
              <a:rPr sz="1189" i="1" spc="-16" dirty="0">
                <a:solidFill>
                  <a:srgbClr val="5B6B7A"/>
                </a:solidFill>
                <a:latin typeface="Calibri"/>
                <a:cs typeface="Calibri"/>
              </a:rPr>
              <a:t>health-system</a:t>
            </a:r>
            <a:r>
              <a:rPr sz="1189" i="1" spc="793" dirty="0">
                <a:solidFill>
                  <a:srgbClr val="5B6B7A"/>
                </a:solidFill>
                <a:latin typeface="Calibri"/>
                <a:cs typeface="Calibri"/>
              </a:rPr>
              <a:t> </a:t>
            </a:r>
            <a:r>
              <a:rPr sz="1189" i="1" dirty="0">
                <a:solidFill>
                  <a:srgbClr val="5B6B7A"/>
                </a:solidFill>
                <a:latin typeface="Calibri"/>
                <a:cs typeface="Calibri"/>
              </a:rPr>
              <a:t>cost</a:t>
            </a:r>
            <a:r>
              <a:rPr sz="1189" i="1" spc="-8" dirty="0">
                <a:solidFill>
                  <a:srgbClr val="5B6B7A"/>
                </a:solidFill>
                <a:latin typeface="Calibri"/>
                <a:cs typeface="Calibri"/>
              </a:rPr>
              <a:t> </a:t>
            </a:r>
            <a:r>
              <a:rPr sz="1189" i="1" dirty="0">
                <a:solidFill>
                  <a:srgbClr val="5B6B7A"/>
                </a:solidFill>
                <a:latin typeface="Calibri"/>
                <a:cs typeface="Calibri"/>
              </a:rPr>
              <a:t>(3%/yr to 2025, 2023 US$)</a:t>
            </a:r>
            <a:r>
              <a:rPr sz="1189" i="1" spc="-8" dirty="0">
                <a:solidFill>
                  <a:srgbClr val="5B6B7A"/>
                </a:solidFill>
                <a:latin typeface="Calibri"/>
                <a:cs typeface="Calibri"/>
              </a:rPr>
              <a:t> </a:t>
            </a:r>
            <a:r>
              <a:rPr sz="1189" i="1" dirty="0">
                <a:solidFill>
                  <a:srgbClr val="5B6B7A"/>
                </a:solidFill>
                <a:latin typeface="Calibri"/>
                <a:cs typeface="Calibri"/>
              </a:rPr>
              <a:t>of the CVD primary-care</a:t>
            </a:r>
            <a:r>
              <a:rPr sz="1189" i="1" spc="-8" dirty="0">
                <a:solidFill>
                  <a:srgbClr val="5B6B7A"/>
                </a:solidFill>
                <a:latin typeface="Calibri"/>
                <a:cs typeface="Calibri"/>
              </a:rPr>
              <a:t> </a:t>
            </a:r>
            <a:r>
              <a:rPr sz="1189" i="1" dirty="0">
                <a:solidFill>
                  <a:srgbClr val="5B6B7A"/>
                </a:solidFill>
                <a:latin typeface="Calibri"/>
                <a:cs typeface="Calibri"/>
              </a:rPr>
              <a:t>and type-2 diabetes cascades.</a:t>
            </a:r>
            <a:r>
              <a:rPr sz="1189" i="1" spc="79" dirty="0">
                <a:solidFill>
                  <a:srgbClr val="5B6B7A"/>
                </a:solidFill>
                <a:latin typeface="Calibri"/>
                <a:cs typeface="Calibri"/>
              </a:rPr>
              <a:t> </a:t>
            </a:r>
            <a:r>
              <a:rPr sz="1189" b="1" i="1" dirty="0">
                <a:solidFill>
                  <a:srgbClr val="5B6B7A"/>
                </a:solidFill>
                <a:latin typeface="Calibri"/>
                <a:cs typeface="Calibri"/>
              </a:rPr>
              <a:t>Preliminary</a:t>
            </a:r>
            <a:r>
              <a:rPr sz="1189" b="1" i="1" spc="-8" dirty="0">
                <a:solidFill>
                  <a:srgbClr val="5B6B7A"/>
                </a:solidFill>
                <a:latin typeface="Calibri"/>
                <a:cs typeface="Calibri"/>
              </a:rPr>
              <a:t> </a:t>
            </a:r>
            <a:r>
              <a:rPr sz="1189" b="1" i="1" dirty="0">
                <a:solidFill>
                  <a:srgbClr val="5B6B7A"/>
                </a:solidFill>
                <a:latin typeface="Calibri"/>
                <a:cs typeface="Calibri"/>
              </a:rPr>
              <a:t>costing results:</a:t>
            </a:r>
            <a:r>
              <a:rPr sz="1189" b="1" i="1" spc="87" dirty="0">
                <a:solidFill>
                  <a:srgbClr val="5B6B7A"/>
                </a:solidFill>
                <a:latin typeface="Calibri"/>
                <a:cs typeface="Calibri"/>
              </a:rPr>
              <a:t> </a:t>
            </a:r>
            <a:r>
              <a:rPr sz="1189" i="1" dirty="0">
                <a:solidFill>
                  <a:srgbClr val="5B6B7A"/>
                </a:solidFill>
                <a:latin typeface="Calibri"/>
                <a:cs typeface="Calibri"/>
              </a:rPr>
              <a:t>unit </a:t>
            </a:r>
            <a:r>
              <a:rPr sz="1189" i="1" spc="-16" dirty="0">
                <a:solidFill>
                  <a:srgbClr val="5B6B7A"/>
                </a:solidFill>
                <a:latin typeface="Calibri"/>
                <a:cs typeface="Calibri"/>
              </a:rPr>
              <a:t>costs,</a:t>
            </a:r>
            <a:r>
              <a:rPr lang="en-US" sz="1189" i="1" spc="793" dirty="0">
                <a:solidFill>
                  <a:srgbClr val="5B6B7A"/>
                </a:solidFill>
                <a:latin typeface="Calibri"/>
                <a:cs typeface="Calibri"/>
              </a:rPr>
              <a:t> </a:t>
            </a:r>
            <a:r>
              <a:rPr sz="1189" i="1" dirty="0">
                <a:solidFill>
                  <a:srgbClr val="5B6B7A"/>
                </a:solidFill>
                <a:latin typeface="Calibri"/>
                <a:cs typeface="Calibri"/>
              </a:rPr>
              <a:t>service</a:t>
            </a:r>
            <a:r>
              <a:rPr sz="1189" i="1" spc="-24" dirty="0">
                <a:solidFill>
                  <a:srgbClr val="5B6B7A"/>
                </a:solidFill>
                <a:latin typeface="Calibri"/>
                <a:cs typeface="Calibri"/>
              </a:rPr>
              <a:t> </a:t>
            </a:r>
            <a:r>
              <a:rPr sz="1189" i="1" dirty="0">
                <a:solidFill>
                  <a:srgbClr val="5B6B7A"/>
                </a:solidFill>
                <a:latin typeface="Calibri"/>
                <a:cs typeface="Calibri"/>
              </a:rPr>
              <a:t>use,</a:t>
            </a:r>
            <a:r>
              <a:rPr sz="1189" i="1" spc="-16" dirty="0">
                <a:solidFill>
                  <a:srgbClr val="5B6B7A"/>
                </a:solidFill>
                <a:latin typeface="Calibri"/>
                <a:cs typeface="Calibri"/>
              </a:rPr>
              <a:t> </a:t>
            </a:r>
            <a:r>
              <a:rPr sz="1189" i="1" dirty="0">
                <a:solidFill>
                  <a:srgbClr val="5B6B7A"/>
                </a:solidFill>
                <a:latin typeface="Calibri"/>
                <a:cs typeface="Calibri"/>
              </a:rPr>
              <a:t>and</a:t>
            </a:r>
            <a:r>
              <a:rPr sz="1189" i="1" spc="-16" dirty="0">
                <a:solidFill>
                  <a:srgbClr val="5B6B7A"/>
                </a:solidFill>
                <a:latin typeface="Calibri"/>
                <a:cs typeface="Calibri"/>
              </a:rPr>
              <a:t> </a:t>
            </a:r>
            <a:r>
              <a:rPr sz="1189" i="1" dirty="0">
                <a:solidFill>
                  <a:srgbClr val="5B6B7A"/>
                </a:solidFill>
                <a:latin typeface="Calibri"/>
                <a:cs typeface="Calibri"/>
              </a:rPr>
              <a:t>delivery</a:t>
            </a:r>
            <a:r>
              <a:rPr sz="1189" i="1" spc="-16" dirty="0">
                <a:solidFill>
                  <a:srgbClr val="5B6B7A"/>
                </a:solidFill>
                <a:latin typeface="Calibri"/>
                <a:cs typeface="Calibri"/>
              </a:rPr>
              <a:t> </a:t>
            </a:r>
            <a:r>
              <a:rPr sz="1189" i="1" dirty="0">
                <a:solidFill>
                  <a:srgbClr val="5B6B7A"/>
                </a:solidFill>
                <a:latin typeface="Calibri"/>
                <a:cs typeface="Calibri"/>
              </a:rPr>
              <a:t>assumptions</a:t>
            </a:r>
            <a:r>
              <a:rPr sz="1189" i="1" spc="-16" dirty="0">
                <a:solidFill>
                  <a:srgbClr val="5B6B7A"/>
                </a:solidFill>
                <a:latin typeface="Calibri"/>
                <a:cs typeface="Calibri"/>
              </a:rPr>
              <a:t> </a:t>
            </a:r>
            <a:r>
              <a:rPr sz="1189" i="1" dirty="0">
                <a:solidFill>
                  <a:srgbClr val="5B6B7A"/>
                </a:solidFill>
                <a:latin typeface="Calibri"/>
                <a:cs typeface="Calibri"/>
              </a:rPr>
              <a:t>require</a:t>
            </a:r>
            <a:r>
              <a:rPr sz="1189" i="1" spc="-16" dirty="0">
                <a:solidFill>
                  <a:srgbClr val="5B6B7A"/>
                </a:solidFill>
                <a:latin typeface="Calibri"/>
                <a:cs typeface="Calibri"/>
              </a:rPr>
              <a:t> </a:t>
            </a:r>
            <a:r>
              <a:rPr sz="1189" i="1" dirty="0">
                <a:solidFill>
                  <a:srgbClr val="5B6B7A"/>
                </a:solidFill>
                <a:latin typeface="Calibri"/>
                <a:cs typeface="Calibri"/>
              </a:rPr>
              <a:t>further</a:t>
            </a:r>
            <a:r>
              <a:rPr sz="1189" i="1" spc="-16" dirty="0">
                <a:solidFill>
                  <a:srgbClr val="5B6B7A"/>
                </a:solidFill>
                <a:latin typeface="Calibri"/>
                <a:cs typeface="Calibri"/>
              </a:rPr>
              <a:t> validation </a:t>
            </a:r>
            <a:r>
              <a:rPr sz="1189" i="1" dirty="0">
                <a:solidFill>
                  <a:srgbClr val="5B6B7A"/>
                </a:solidFill>
                <a:latin typeface="Calibri"/>
                <a:cs typeface="Calibri"/>
              </a:rPr>
              <a:t>against</a:t>
            </a:r>
            <a:r>
              <a:rPr sz="1189" i="1" spc="-16" dirty="0">
                <a:solidFill>
                  <a:srgbClr val="5B6B7A"/>
                </a:solidFill>
                <a:latin typeface="Calibri"/>
                <a:cs typeface="Calibri"/>
              </a:rPr>
              <a:t> BPJS </a:t>
            </a:r>
            <a:r>
              <a:rPr sz="1189" i="1" dirty="0">
                <a:solidFill>
                  <a:srgbClr val="5B6B7A"/>
                </a:solidFill>
                <a:latin typeface="Calibri"/>
                <a:cs typeface="Calibri"/>
              </a:rPr>
              <a:t>and</a:t>
            </a:r>
            <a:r>
              <a:rPr sz="1189" i="1" spc="-16" dirty="0">
                <a:solidFill>
                  <a:srgbClr val="5B6B7A"/>
                </a:solidFill>
                <a:latin typeface="Calibri"/>
                <a:cs typeface="Calibri"/>
              </a:rPr>
              <a:t> </a:t>
            </a:r>
            <a:r>
              <a:rPr sz="1189" i="1" dirty="0">
                <a:solidFill>
                  <a:srgbClr val="5B6B7A"/>
                </a:solidFill>
                <a:latin typeface="Calibri"/>
                <a:cs typeface="Calibri"/>
              </a:rPr>
              <a:t>Ministry</a:t>
            </a:r>
            <a:r>
              <a:rPr sz="1189" i="1" spc="-16" dirty="0">
                <a:solidFill>
                  <a:srgbClr val="5B6B7A"/>
                </a:solidFill>
                <a:latin typeface="Calibri"/>
                <a:cs typeface="Calibri"/>
              </a:rPr>
              <a:t> </a:t>
            </a:r>
            <a:r>
              <a:rPr sz="1189" i="1" dirty="0">
                <a:solidFill>
                  <a:srgbClr val="5B6B7A"/>
                </a:solidFill>
                <a:latin typeface="Calibri"/>
                <a:cs typeface="Calibri"/>
              </a:rPr>
              <a:t>of</a:t>
            </a:r>
            <a:r>
              <a:rPr sz="1189" i="1" spc="-24" dirty="0">
                <a:solidFill>
                  <a:srgbClr val="5B6B7A"/>
                </a:solidFill>
                <a:latin typeface="Calibri"/>
                <a:cs typeface="Calibri"/>
              </a:rPr>
              <a:t> </a:t>
            </a:r>
            <a:r>
              <a:rPr sz="1189" i="1" dirty="0">
                <a:solidFill>
                  <a:srgbClr val="5B6B7A"/>
                </a:solidFill>
                <a:latin typeface="Calibri"/>
                <a:cs typeface="Calibri"/>
              </a:rPr>
              <a:t>Health</a:t>
            </a:r>
            <a:r>
              <a:rPr sz="1189" i="1" spc="-16" dirty="0">
                <a:solidFill>
                  <a:srgbClr val="5B6B7A"/>
                </a:solidFill>
                <a:latin typeface="Calibri"/>
                <a:cs typeface="Calibri"/>
              </a:rPr>
              <a:t> </a:t>
            </a:r>
            <a:r>
              <a:rPr sz="1189" i="1" dirty="0">
                <a:solidFill>
                  <a:srgbClr val="5B6B7A"/>
                </a:solidFill>
                <a:latin typeface="Calibri"/>
                <a:cs typeface="Calibri"/>
              </a:rPr>
              <a:t>data</a:t>
            </a:r>
            <a:r>
              <a:rPr sz="1189" i="1" spc="-16" dirty="0">
                <a:solidFill>
                  <a:srgbClr val="5B6B7A"/>
                </a:solidFill>
                <a:latin typeface="Calibri"/>
                <a:cs typeface="Calibri"/>
              </a:rPr>
              <a:t> </a:t>
            </a:r>
            <a:r>
              <a:rPr sz="1189" i="1" dirty="0">
                <a:solidFill>
                  <a:srgbClr val="5B6B7A"/>
                </a:solidFill>
                <a:latin typeface="Calibri"/>
                <a:cs typeface="Calibri"/>
              </a:rPr>
              <a:t>before</a:t>
            </a:r>
            <a:r>
              <a:rPr sz="1189" i="1" spc="-16" dirty="0">
                <a:solidFill>
                  <a:srgbClr val="5B6B7A"/>
                </a:solidFill>
                <a:latin typeface="Calibri"/>
                <a:cs typeface="Calibri"/>
              </a:rPr>
              <a:t> </a:t>
            </a:r>
            <a:r>
              <a:rPr sz="1189" i="1" dirty="0">
                <a:solidFill>
                  <a:srgbClr val="5B6B7A"/>
                </a:solidFill>
                <a:latin typeface="Calibri"/>
                <a:cs typeface="Calibri"/>
              </a:rPr>
              <a:t>policy</a:t>
            </a:r>
            <a:r>
              <a:rPr sz="1189" i="1" spc="-16" dirty="0">
                <a:solidFill>
                  <a:srgbClr val="5B6B7A"/>
                </a:solidFill>
                <a:latin typeface="Calibri"/>
                <a:cs typeface="Calibri"/>
              </a:rPr>
              <a:t> </a:t>
            </a:r>
            <a:r>
              <a:rPr sz="1189" i="1" spc="-32" dirty="0">
                <a:solidFill>
                  <a:srgbClr val="5B6B7A"/>
                </a:solidFill>
                <a:latin typeface="Calibri"/>
                <a:cs typeface="Calibri"/>
              </a:rPr>
              <a:t>use.</a:t>
            </a:r>
            <a:endParaRPr sz="1189" dirty="0">
              <a:latin typeface="Calibri"/>
              <a:cs typeface="Calibri"/>
            </a:endParaRPr>
          </a:p>
        </p:txBody>
      </p:sp>
      <p:pic>
        <p:nvPicPr>
          <p:cNvPr id="59" name="Picture 58">
            <a:extLst>
              <a:ext uri="{FF2B5EF4-FFF2-40B4-BE49-F238E27FC236}">
                <a16:creationId xmlns:a16="http://schemas.microsoft.com/office/drawing/2014/main" id="{27DE9DF9-6C1C-3D51-E3EA-BEFE5E738B00}"/>
              </a:ext>
            </a:extLst>
          </p:cNvPr>
          <p:cNvPicPr>
            <a:picLocks noChangeAspect="1"/>
          </p:cNvPicPr>
          <p:nvPr/>
        </p:nvPicPr>
        <p:blipFill>
          <a:blip r:embed="rId2"/>
          <a:stretch>
            <a:fillRect/>
          </a:stretch>
        </p:blipFill>
        <p:spPr>
          <a:xfrm>
            <a:off x="0" y="1424716"/>
            <a:ext cx="9144000" cy="3439019"/>
          </a:xfrm>
          <a:prstGeom prst="rect">
            <a:avLst/>
          </a:prstGeom>
        </p:spPr>
      </p:pic>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704" y="152400"/>
            <a:ext cx="9038591" cy="1129350"/>
          </a:xfrm>
          <a:prstGeom prst="rect">
            <a:avLst/>
          </a:prstGeom>
        </p:spPr>
        <p:txBody>
          <a:bodyPr vert="horz" wrap="square" lIns="0" tIns="21148" rIns="0" bIns="0" rtlCol="0" anchor="ctr">
            <a:spAutoFit/>
          </a:bodyPr>
          <a:lstStyle/>
          <a:p>
            <a:pPr marL="20141" algn="ctr">
              <a:spcBef>
                <a:spcPts val="167"/>
              </a:spcBef>
            </a:pPr>
            <a:r>
              <a:rPr sz="3600" b="1" spc="-16" dirty="0"/>
              <a:t>A stronger cascade could prevent about 1.6 million deaths by 2050</a:t>
            </a:r>
          </a:p>
        </p:txBody>
      </p:sp>
      <p:graphicFrame>
        <p:nvGraphicFramePr>
          <p:cNvPr id="3" name="object 3"/>
          <p:cNvGraphicFramePr>
            <a:graphicFrameLocks noGrp="1"/>
          </p:cNvGraphicFramePr>
          <p:nvPr>
            <p:extLst>
              <p:ext uri="{D42A27DB-BD31-4B8C-83A1-F6EECF244321}">
                <p14:modId xmlns:p14="http://schemas.microsoft.com/office/powerpoint/2010/main" val="3706584906"/>
              </p:ext>
            </p:extLst>
          </p:nvPr>
        </p:nvGraphicFramePr>
        <p:xfrm>
          <a:off x="381000" y="1752600"/>
          <a:ext cx="8498480" cy="2694856"/>
        </p:xfrm>
        <a:graphic>
          <a:graphicData uri="http://schemas.openxmlformats.org/drawingml/2006/table">
            <a:tbl>
              <a:tblPr firstRow="1" bandRow="1">
                <a:tableStyleId>{2D5ABB26-0587-4C30-8999-92F81FD0307C}</a:tableStyleId>
              </a:tblPr>
              <a:tblGrid>
                <a:gridCol w="4481366">
                  <a:extLst>
                    <a:ext uri="{9D8B030D-6E8A-4147-A177-3AD203B41FA5}">
                      <a16:colId xmlns:a16="http://schemas.microsoft.com/office/drawing/2014/main" val="20000"/>
                    </a:ext>
                  </a:extLst>
                </a:gridCol>
                <a:gridCol w="1392746">
                  <a:extLst>
                    <a:ext uri="{9D8B030D-6E8A-4147-A177-3AD203B41FA5}">
                      <a16:colId xmlns:a16="http://schemas.microsoft.com/office/drawing/2014/main" val="20001"/>
                    </a:ext>
                  </a:extLst>
                </a:gridCol>
                <a:gridCol w="1496474">
                  <a:extLst>
                    <a:ext uri="{9D8B030D-6E8A-4147-A177-3AD203B41FA5}">
                      <a16:colId xmlns:a16="http://schemas.microsoft.com/office/drawing/2014/main" val="20002"/>
                    </a:ext>
                  </a:extLst>
                </a:gridCol>
                <a:gridCol w="1127894">
                  <a:extLst>
                    <a:ext uri="{9D8B030D-6E8A-4147-A177-3AD203B41FA5}">
                      <a16:colId xmlns:a16="http://schemas.microsoft.com/office/drawing/2014/main" val="20003"/>
                    </a:ext>
                  </a:extLst>
                </a:gridCol>
              </a:tblGrid>
              <a:tr h="316213">
                <a:tc>
                  <a:txBody>
                    <a:bodyPr/>
                    <a:lstStyle/>
                    <a:p>
                      <a:pPr marL="75565">
                        <a:lnSpc>
                          <a:spcPct val="100000"/>
                        </a:lnSpc>
                        <a:spcBef>
                          <a:spcPts val="305"/>
                        </a:spcBef>
                      </a:pPr>
                      <a:r>
                        <a:rPr sz="1200" b="1" dirty="0">
                          <a:latin typeface="Calibri"/>
                          <a:cs typeface="Calibri"/>
                        </a:rPr>
                        <a:t>Cumulative</a:t>
                      </a:r>
                      <a:r>
                        <a:rPr sz="1200" b="1" spc="-5" dirty="0">
                          <a:latin typeface="Calibri"/>
                          <a:cs typeface="Calibri"/>
                        </a:rPr>
                        <a:t> </a:t>
                      </a:r>
                      <a:r>
                        <a:rPr sz="1200" b="1" dirty="0">
                          <a:latin typeface="Calibri"/>
                          <a:cs typeface="Calibri"/>
                        </a:rPr>
                        <a:t>from</a:t>
                      </a:r>
                      <a:r>
                        <a:rPr sz="1200" b="1" spc="-10" dirty="0">
                          <a:latin typeface="Calibri"/>
                          <a:cs typeface="Calibri"/>
                        </a:rPr>
                        <a:t> </a:t>
                      </a:r>
                      <a:r>
                        <a:rPr sz="1200" b="1" dirty="0">
                          <a:latin typeface="Calibri"/>
                          <a:cs typeface="Calibri"/>
                        </a:rPr>
                        <a:t>2025</a:t>
                      </a:r>
                      <a:r>
                        <a:rPr sz="1200" b="1" spc="-5" dirty="0">
                          <a:latin typeface="Calibri"/>
                          <a:cs typeface="Calibri"/>
                        </a:rPr>
                        <a:t> </a:t>
                      </a:r>
                      <a:r>
                        <a:rPr sz="1200" b="1" dirty="0">
                          <a:latin typeface="Calibri"/>
                          <a:cs typeface="Calibri"/>
                        </a:rPr>
                        <a:t>through</a:t>
                      </a:r>
                      <a:r>
                        <a:rPr sz="1200" b="1" spc="-5" dirty="0">
                          <a:latin typeface="Calibri"/>
                          <a:cs typeface="Calibri"/>
                        </a:rPr>
                        <a:t> </a:t>
                      </a:r>
                      <a:r>
                        <a:rPr sz="1200" b="1" dirty="0">
                          <a:latin typeface="Calibri"/>
                          <a:cs typeface="Calibri"/>
                        </a:rPr>
                        <a:t>year</a:t>
                      </a:r>
                      <a:r>
                        <a:rPr sz="1200" b="1" spc="-10" dirty="0">
                          <a:latin typeface="Calibri"/>
                          <a:cs typeface="Calibri"/>
                        </a:rPr>
                        <a:t> </a:t>
                      </a:r>
                      <a:r>
                        <a:rPr sz="1200" b="1" dirty="0">
                          <a:latin typeface="Calibri"/>
                          <a:cs typeface="Calibri"/>
                        </a:rPr>
                        <a:t>(unless</a:t>
                      </a:r>
                      <a:r>
                        <a:rPr sz="1200" b="1" spc="-5" dirty="0">
                          <a:latin typeface="Calibri"/>
                          <a:cs typeface="Calibri"/>
                        </a:rPr>
                        <a:t> </a:t>
                      </a:r>
                      <a:r>
                        <a:rPr sz="1200" b="1" spc="-10" dirty="0">
                          <a:latin typeface="Calibri"/>
                          <a:cs typeface="Calibri"/>
                        </a:rPr>
                        <a:t>noted)</a:t>
                      </a:r>
                      <a:endParaRPr sz="1200">
                        <a:latin typeface="Calibri"/>
                        <a:cs typeface="Calibri"/>
                      </a:endParaRPr>
                    </a:p>
                  </a:txBody>
                  <a:tcPr marL="0" marR="0" marT="61430" marB="0">
                    <a:lnT w="12700">
                      <a:solidFill>
                        <a:srgbClr val="000000"/>
                      </a:solidFill>
                      <a:prstDash val="solid"/>
                    </a:lnT>
                    <a:lnB w="9525">
                      <a:solidFill>
                        <a:srgbClr val="000000"/>
                      </a:solidFill>
                      <a:prstDash val="solid"/>
                    </a:lnB>
                  </a:tcPr>
                </a:tc>
                <a:tc>
                  <a:txBody>
                    <a:bodyPr/>
                    <a:lstStyle/>
                    <a:p>
                      <a:pPr marR="300355" algn="r">
                        <a:lnSpc>
                          <a:spcPct val="100000"/>
                        </a:lnSpc>
                        <a:spcBef>
                          <a:spcPts val="305"/>
                        </a:spcBef>
                      </a:pPr>
                      <a:r>
                        <a:rPr sz="1200" b="1" spc="-20" dirty="0">
                          <a:latin typeface="Calibri"/>
                          <a:cs typeface="Calibri"/>
                        </a:rPr>
                        <a:t>2030</a:t>
                      </a:r>
                      <a:endParaRPr sz="1200" dirty="0">
                        <a:latin typeface="Calibri"/>
                        <a:cs typeface="Calibri"/>
                      </a:endParaRPr>
                    </a:p>
                  </a:txBody>
                  <a:tcPr marL="0" marR="0" marT="61430" marB="0">
                    <a:lnT w="12700">
                      <a:solidFill>
                        <a:srgbClr val="000000"/>
                      </a:solidFill>
                      <a:prstDash val="solid"/>
                    </a:lnT>
                    <a:lnB w="9525">
                      <a:solidFill>
                        <a:srgbClr val="000000"/>
                      </a:solidFill>
                      <a:prstDash val="solid"/>
                    </a:lnB>
                  </a:tcPr>
                </a:tc>
                <a:tc>
                  <a:txBody>
                    <a:bodyPr/>
                    <a:lstStyle/>
                    <a:p>
                      <a:pPr marR="300355" algn="r">
                        <a:lnSpc>
                          <a:spcPct val="100000"/>
                        </a:lnSpc>
                        <a:spcBef>
                          <a:spcPts val="305"/>
                        </a:spcBef>
                      </a:pPr>
                      <a:r>
                        <a:rPr sz="1200" b="1" spc="-20" dirty="0">
                          <a:latin typeface="Calibri"/>
                          <a:cs typeface="Calibri"/>
                        </a:rPr>
                        <a:t>2040</a:t>
                      </a:r>
                      <a:endParaRPr sz="1200">
                        <a:latin typeface="Calibri"/>
                        <a:cs typeface="Calibri"/>
                      </a:endParaRPr>
                    </a:p>
                  </a:txBody>
                  <a:tcPr marL="0" marR="0" marT="61430" marB="0">
                    <a:lnT w="12700">
                      <a:solidFill>
                        <a:srgbClr val="000000"/>
                      </a:solidFill>
                      <a:prstDash val="solid"/>
                    </a:lnT>
                    <a:lnB w="9525">
                      <a:solidFill>
                        <a:srgbClr val="000000"/>
                      </a:solidFill>
                      <a:prstDash val="solid"/>
                    </a:lnB>
                  </a:tcPr>
                </a:tc>
                <a:tc>
                  <a:txBody>
                    <a:bodyPr/>
                    <a:lstStyle/>
                    <a:p>
                      <a:pPr marR="67945" algn="r">
                        <a:lnSpc>
                          <a:spcPct val="100000"/>
                        </a:lnSpc>
                        <a:spcBef>
                          <a:spcPts val="305"/>
                        </a:spcBef>
                      </a:pPr>
                      <a:r>
                        <a:rPr sz="1200" b="1" spc="-20" dirty="0">
                          <a:latin typeface="Calibri"/>
                          <a:cs typeface="Calibri"/>
                        </a:rPr>
                        <a:t>2050</a:t>
                      </a:r>
                      <a:endParaRPr sz="1200">
                        <a:latin typeface="Calibri"/>
                        <a:cs typeface="Calibri"/>
                      </a:endParaRPr>
                    </a:p>
                  </a:txBody>
                  <a:tcPr marL="0" marR="0" marT="61430" marB="0">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438066">
                <a:tc>
                  <a:txBody>
                    <a:bodyPr/>
                    <a:lstStyle/>
                    <a:p>
                      <a:pPr marL="75565">
                        <a:lnSpc>
                          <a:spcPct val="100000"/>
                        </a:lnSpc>
                        <a:spcBef>
                          <a:spcPts val="125"/>
                        </a:spcBef>
                      </a:pPr>
                      <a:r>
                        <a:rPr sz="1200" b="1" dirty="0">
                          <a:latin typeface="Calibri"/>
                          <a:cs typeface="Calibri"/>
                        </a:rPr>
                        <a:t>Projected</a:t>
                      </a:r>
                      <a:r>
                        <a:rPr sz="1200" b="1" spc="-10" dirty="0">
                          <a:latin typeface="Calibri"/>
                          <a:cs typeface="Calibri"/>
                        </a:rPr>
                        <a:t> </a:t>
                      </a:r>
                      <a:r>
                        <a:rPr sz="1200" b="1" dirty="0">
                          <a:latin typeface="Calibri"/>
                          <a:cs typeface="Calibri"/>
                        </a:rPr>
                        <a:t>deaths</a:t>
                      </a:r>
                      <a:r>
                        <a:rPr sz="1200" b="1" spc="-5" dirty="0">
                          <a:latin typeface="Calibri"/>
                          <a:cs typeface="Calibri"/>
                        </a:rPr>
                        <a:t> </a:t>
                      </a:r>
                      <a:r>
                        <a:rPr sz="1200" b="1" dirty="0">
                          <a:latin typeface="Calibri"/>
                          <a:cs typeface="Calibri"/>
                        </a:rPr>
                        <a:t>—</a:t>
                      </a:r>
                      <a:r>
                        <a:rPr sz="1200" b="1" spc="-5" dirty="0">
                          <a:latin typeface="Calibri"/>
                          <a:cs typeface="Calibri"/>
                        </a:rPr>
                        <a:t> </a:t>
                      </a:r>
                      <a:r>
                        <a:rPr sz="1200" b="1" dirty="0">
                          <a:latin typeface="Calibri"/>
                          <a:cs typeface="Calibri"/>
                        </a:rPr>
                        <a:t>CVD</a:t>
                      </a:r>
                      <a:r>
                        <a:rPr sz="1200" b="1" spc="-5" dirty="0">
                          <a:latin typeface="Calibri"/>
                          <a:cs typeface="Calibri"/>
                        </a:rPr>
                        <a:t> </a:t>
                      </a:r>
                      <a:r>
                        <a:rPr sz="1200" b="1" dirty="0">
                          <a:latin typeface="Calibri"/>
                          <a:cs typeface="Calibri"/>
                        </a:rPr>
                        <a:t>(six</a:t>
                      </a:r>
                      <a:r>
                        <a:rPr sz="1200" b="1" spc="-5" dirty="0">
                          <a:latin typeface="Calibri"/>
                          <a:cs typeface="Calibri"/>
                        </a:rPr>
                        <a:t> </a:t>
                      </a:r>
                      <a:r>
                        <a:rPr sz="1200" b="1" dirty="0">
                          <a:latin typeface="Calibri"/>
                          <a:cs typeface="Calibri"/>
                        </a:rPr>
                        <a:t>causes)</a:t>
                      </a:r>
                      <a:r>
                        <a:rPr sz="1200" b="1" spc="-10" dirty="0">
                          <a:latin typeface="Calibri"/>
                          <a:cs typeface="Calibri"/>
                        </a:rPr>
                        <a:t> </a:t>
                      </a:r>
                      <a:r>
                        <a:rPr sz="1200" b="1" dirty="0">
                          <a:latin typeface="Calibri"/>
                          <a:cs typeface="Calibri"/>
                        </a:rPr>
                        <a:t>+</a:t>
                      </a:r>
                      <a:r>
                        <a:rPr sz="1200" b="1" spc="-5" dirty="0">
                          <a:latin typeface="Calibri"/>
                          <a:cs typeface="Calibri"/>
                        </a:rPr>
                        <a:t> </a:t>
                      </a:r>
                      <a:r>
                        <a:rPr sz="1200" b="1" dirty="0">
                          <a:latin typeface="Calibri"/>
                          <a:cs typeface="Calibri"/>
                        </a:rPr>
                        <a:t>type-2</a:t>
                      </a:r>
                      <a:r>
                        <a:rPr sz="1200" b="1" spc="-5" dirty="0">
                          <a:latin typeface="Calibri"/>
                          <a:cs typeface="Calibri"/>
                        </a:rPr>
                        <a:t> </a:t>
                      </a:r>
                      <a:r>
                        <a:rPr sz="1200" b="1" dirty="0">
                          <a:latin typeface="Calibri"/>
                          <a:cs typeface="Calibri"/>
                        </a:rPr>
                        <a:t>diabetes</a:t>
                      </a:r>
                      <a:r>
                        <a:rPr sz="1200" b="1" spc="-5" dirty="0">
                          <a:latin typeface="Calibri"/>
                          <a:cs typeface="Calibri"/>
                        </a:rPr>
                        <a:t> </a:t>
                      </a:r>
                      <a:r>
                        <a:rPr sz="1200" b="1" spc="-10" dirty="0">
                          <a:latin typeface="Calibri"/>
                          <a:cs typeface="Calibri"/>
                        </a:rPr>
                        <a:t>(million)</a:t>
                      </a:r>
                      <a:endParaRPr sz="1200" dirty="0">
                        <a:latin typeface="Calibri"/>
                        <a:cs typeface="Calibri"/>
                      </a:endParaRPr>
                    </a:p>
                    <a:p>
                      <a:pPr marL="269240">
                        <a:lnSpc>
                          <a:spcPct val="100000"/>
                        </a:lnSpc>
                        <a:spcBef>
                          <a:spcPts val="95"/>
                        </a:spcBef>
                      </a:pPr>
                      <a:r>
                        <a:rPr sz="1200" dirty="0">
                          <a:latin typeface="Calibri"/>
                          <a:cs typeface="Calibri"/>
                        </a:rPr>
                        <a:t>Baseline</a:t>
                      </a:r>
                      <a:r>
                        <a:rPr sz="1200" spc="-5" dirty="0">
                          <a:latin typeface="Calibri"/>
                          <a:cs typeface="Calibri"/>
                        </a:rPr>
                        <a:t> </a:t>
                      </a:r>
                      <a:r>
                        <a:rPr sz="1200" dirty="0">
                          <a:latin typeface="Calibri"/>
                          <a:cs typeface="Calibri"/>
                        </a:rPr>
                        <a:t>(current</a:t>
                      </a:r>
                      <a:r>
                        <a:rPr sz="1200" spc="-5" dirty="0">
                          <a:latin typeface="Calibri"/>
                          <a:cs typeface="Calibri"/>
                        </a:rPr>
                        <a:t> </a:t>
                      </a:r>
                      <a:r>
                        <a:rPr sz="1200" spc="-10" dirty="0">
                          <a:latin typeface="Calibri"/>
                          <a:cs typeface="Calibri"/>
                        </a:rPr>
                        <a:t>course)</a:t>
                      </a:r>
                      <a:endParaRPr sz="1200" dirty="0">
                        <a:latin typeface="Calibri"/>
                        <a:cs typeface="Calibri"/>
                      </a:endParaRPr>
                    </a:p>
                  </a:txBody>
                  <a:tcPr marL="0" marR="0" marT="25176" marB="0">
                    <a:lnT w="9525">
                      <a:solidFill>
                        <a:srgbClr val="000000"/>
                      </a:solidFill>
                      <a:prstDash val="solid"/>
                    </a:lnT>
                  </a:tcPr>
                </a:tc>
                <a:tc>
                  <a:txBody>
                    <a:bodyPr/>
                    <a:lstStyle/>
                    <a:p>
                      <a:pPr>
                        <a:lnSpc>
                          <a:spcPct val="100000"/>
                        </a:lnSpc>
                        <a:spcBef>
                          <a:spcPts val="254"/>
                        </a:spcBef>
                      </a:pPr>
                      <a:endParaRPr sz="1200">
                        <a:latin typeface="Times New Roman"/>
                        <a:cs typeface="Times New Roman"/>
                      </a:endParaRPr>
                    </a:p>
                    <a:p>
                      <a:pPr marR="300355" algn="r">
                        <a:lnSpc>
                          <a:spcPct val="100000"/>
                        </a:lnSpc>
                        <a:spcBef>
                          <a:spcPts val="5"/>
                        </a:spcBef>
                      </a:pPr>
                      <a:r>
                        <a:rPr sz="1200" spc="-10" dirty="0">
                          <a:latin typeface="Calibri"/>
                          <a:cs typeface="Calibri"/>
                        </a:rPr>
                        <a:t>6.106</a:t>
                      </a:r>
                      <a:endParaRPr sz="1200">
                        <a:latin typeface="Calibri"/>
                        <a:cs typeface="Calibri"/>
                      </a:endParaRPr>
                    </a:p>
                  </a:txBody>
                  <a:tcPr marL="0" marR="0" marT="51358" marB="0">
                    <a:lnT w="9525">
                      <a:solidFill>
                        <a:srgbClr val="000000"/>
                      </a:solidFill>
                      <a:prstDash val="solid"/>
                    </a:lnT>
                  </a:tcPr>
                </a:tc>
                <a:tc>
                  <a:txBody>
                    <a:bodyPr/>
                    <a:lstStyle/>
                    <a:p>
                      <a:pPr>
                        <a:lnSpc>
                          <a:spcPct val="100000"/>
                        </a:lnSpc>
                        <a:spcBef>
                          <a:spcPts val="254"/>
                        </a:spcBef>
                      </a:pPr>
                      <a:endParaRPr sz="1200">
                        <a:latin typeface="Times New Roman"/>
                        <a:cs typeface="Times New Roman"/>
                      </a:endParaRPr>
                    </a:p>
                    <a:p>
                      <a:pPr marR="300355" algn="r">
                        <a:lnSpc>
                          <a:spcPct val="100000"/>
                        </a:lnSpc>
                        <a:spcBef>
                          <a:spcPts val="5"/>
                        </a:spcBef>
                      </a:pPr>
                      <a:r>
                        <a:rPr sz="1200" spc="-10" dirty="0">
                          <a:latin typeface="Calibri"/>
                          <a:cs typeface="Calibri"/>
                        </a:rPr>
                        <a:t>18.396</a:t>
                      </a:r>
                      <a:endParaRPr sz="1200">
                        <a:latin typeface="Calibri"/>
                        <a:cs typeface="Calibri"/>
                      </a:endParaRPr>
                    </a:p>
                  </a:txBody>
                  <a:tcPr marL="0" marR="0" marT="51358" marB="0">
                    <a:lnT w="9525">
                      <a:solidFill>
                        <a:srgbClr val="000000"/>
                      </a:solidFill>
                      <a:prstDash val="solid"/>
                    </a:lnT>
                  </a:tcPr>
                </a:tc>
                <a:tc>
                  <a:txBody>
                    <a:bodyPr/>
                    <a:lstStyle/>
                    <a:p>
                      <a:pPr>
                        <a:lnSpc>
                          <a:spcPct val="100000"/>
                        </a:lnSpc>
                        <a:spcBef>
                          <a:spcPts val="254"/>
                        </a:spcBef>
                      </a:pPr>
                      <a:endParaRPr sz="1200">
                        <a:latin typeface="Times New Roman"/>
                        <a:cs typeface="Times New Roman"/>
                      </a:endParaRPr>
                    </a:p>
                    <a:p>
                      <a:pPr marR="67945" algn="r">
                        <a:lnSpc>
                          <a:spcPct val="100000"/>
                        </a:lnSpc>
                        <a:spcBef>
                          <a:spcPts val="5"/>
                        </a:spcBef>
                      </a:pPr>
                      <a:r>
                        <a:rPr sz="1200" spc="-10" dirty="0">
                          <a:latin typeface="Calibri"/>
                          <a:cs typeface="Calibri"/>
                        </a:rPr>
                        <a:t>33.345</a:t>
                      </a:r>
                      <a:endParaRPr sz="1200">
                        <a:latin typeface="Calibri"/>
                        <a:cs typeface="Calibri"/>
                      </a:endParaRPr>
                    </a:p>
                  </a:txBody>
                  <a:tcPr marL="0" marR="0" marT="51358" marB="0">
                    <a:lnT w="9525">
                      <a:solidFill>
                        <a:srgbClr val="000000"/>
                      </a:solidFill>
                      <a:prstDash val="solid"/>
                    </a:lnT>
                  </a:tcPr>
                </a:tc>
                <a:extLst>
                  <a:ext uri="{0D108BD9-81ED-4DB2-BD59-A6C34878D82A}">
                    <a16:rowId xmlns:a16="http://schemas.microsoft.com/office/drawing/2014/main" val="10001"/>
                  </a:ext>
                </a:extLst>
              </a:tr>
              <a:tr h="216515">
                <a:tc>
                  <a:txBody>
                    <a:bodyPr/>
                    <a:lstStyle/>
                    <a:p>
                      <a:pPr marL="269240">
                        <a:lnSpc>
                          <a:spcPts val="840"/>
                        </a:lnSpc>
                      </a:pPr>
                      <a:r>
                        <a:rPr sz="1200" spc="-10" dirty="0">
                          <a:latin typeface="Calibri"/>
                          <a:cs typeface="Calibri"/>
                        </a:rPr>
                        <a:t>Intervention</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6.100</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18.002</a:t>
                      </a:r>
                      <a:endParaRPr sz="1200">
                        <a:latin typeface="Calibri"/>
                        <a:cs typeface="Calibri"/>
                      </a:endParaRPr>
                    </a:p>
                  </a:txBody>
                  <a:tcPr marL="0" marR="0" marT="0" marB="0"/>
                </a:tc>
                <a:tc>
                  <a:txBody>
                    <a:bodyPr/>
                    <a:lstStyle/>
                    <a:p>
                      <a:pPr marR="67945" algn="r">
                        <a:lnSpc>
                          <a:spcPts val="840"/>
                        </a:lnSpc>
                      </a:pPr>
                      <a:r>
                        <a:rPr sz="1200" spc="-10" dirty="0">
                          <a:latin typeface="Calibri"/>
                          <a:cs typeface="Calibri"/>
                        </a:rPr>
                        <a:t>31.768</a:t>
                      </a:r>
                      <a:endParaRPr sz="1200">
                        <a:latin typeface="Calibri"/>
                        <a:cs typeface="Calibri"/>
                      </a:endParaRPr>
                    </a:p>
                  </a:txBody>
                  <a:tcPr marL="0" marR="0" marT="0" marB="0"/>
                </a:tc>
                <a:extLst>
                  <a:ext uri="{0D108BD9-81ED-4DB2-BD59-A6C34878D82A}">
                    <a16:rowId xmlns:a16="http://schemas.microsoft.com/office/drawing/2014/main" val="10002"/>
                  </a:ext>
                </a:extLst>
              </a:tr>
              <a:tr h="214501">
                <a:tc gridSpan="4">
                  <a:txBody>
                    <a:bodyPr/>
                    <a:lstStyle/>
                    <a:p>
                      <a:pPr marL="75565">
                        <a:lnSpc>
                          <a:spcPct val="100000"/>
                        </a:lnSpc>
                        <a:spcBef>
                          <a:spcPts val="10"/>
                        </a:spcBef>
                      </a:pPr>
                      <a:r>
                        <a:rPr sz="1200" b="1" dirty="0">
                          <a:latin typeface="Calibri"/>
                          <a:cs typeface="Calibri"/>
                        </a:rPr>
                        <a:t>Projected</a:t>
                      </a:r>
                      <a:r>
                        <a:rPr sz="1200" b="1" spc="5" dirty="0">
                          <a:latin typeface="Calibri"/>
                          <a:cs typeface="Calibri"/>
                        </a:rPr>
                        <a:t> </a:t>
                      </a:r>
                      <a:r>
                        <a:rPr sz="1200" b="1" dirty="0">
                          <a:latin typeface="Calibri"/>
                          <a:cs typeface="Calibri"/>
                        </a:rPr>
                        <a:t>health-</a:t>
                      </a:r>
                      <a:r>
                        <a:rPr sz="1200" b="1" spc="-10" dirty="0">
                          <a:latin typeface="Calibri"/>
                          <a:cs typeface="Calibri"/>
                        </a:rPr>
                        <a:t>system</a:t>
                      </a:r>
                      <a:r>
                        <a:rPr sz="1200" b="1" dirty="0">
                          <a:latin typeface="Calibri"/>
                          <a:cs typeface="Calibri"/>
                        </a:rPr>
                        <a:t> cost</a:t>
                      </a:r>
                      <a:r>
                        <a:rPr sz="1200" b="1" spc="5" dirty="0">
                          <a:latin typeface="Calibri"/>
                          <a:cs typeface="Calibri"/>
                        </a:rPr>
                        <a:t> </a:t>
                      </a:r>
                      <a:r>
                        <a:rPr sz="1200" b="1" dirty="0">
                          <a:latin typeface="Calibri"/>
                          <a:cs typeface="Calibri"/>
                        </a:rPr>
                        <a:t>(US$</a:t>
                      </a:r>
                      <a:r>
                        <a:rPr sz="1200" b="1" spc="5" dirty="0">
                          <a:latin typeface="Calibri"/>
                          <a:cs typeface="Calibri"/>
                        </a:rPr>
                        <a:t> </a:t>
                      </a:r>
                      <a:r>
                        <a:rPr sz="1200" b="1" dirty="0">
                          <a:latin typeface="Calibri"/>
                          <a:cs typeface="Calibri"/>
                        </a:rPr>
                        <a:t>billion,</a:t>
                      </a:r>
                      <a:r>
                        <a:rPr sz="1200" b="1" spc="10" dirty="0">
                          <a:latin typeface="Calibri"/>
                          <a:cs typeface="Calibri"/>
                        </a:rPr>
                        <a:t> </a:t>
                      </a:r>
                      <a:r>
                        <a:rPr sz="1200" b="1" spc="-10" dirty="0">
                          <a:latin typeface="Calibri"/>
                          <a:cs typeface="Calibri"/>
                        </a:rPr>
                        <a:t>discounted)</a:t>
                      </a:r>
                      <a:endParaRPr sz="1200">
                        <a:latin typeface="Calibri"/>
                        <a:cs typeface="Calibri"/>
                      </a:endParaRPr>
                    </a:p>
                  </a:txBody>
                  <a:tcPr marL="0" marR="0" marT="2014"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200401">
                <a:tc>
                  <a:txBody>
                    <a:bodyPr/>
                    <a:lstStyle/>
                    <a:p>
                      <a:pPr marL="269240">
                        <a:lnSpc>
                          <a:spcPts val="840"/>
                        </a:lnSpc>
                      </a:pPr>
                      <a:r>
                        <a:rPr sz="1200" dirty="0">
                          <a:latin typeface="Calibri"/>
                          <a:cs typeface="Calibri"/>
                        </a:rPr>
                        <a:t>Baseline</a:t>
                      </a:r>
                      <a:r>
                        <a:rPr sz="1200" spc="-5" dirty="0">
                          <a:latin typeface="Calibri"/>
                          <a:cs typeface="Calibri"/>
                        </a:rPr>
                        <a:t> </a:t>
                      </a:r>
                      <a:r>
                        <a:rPr sz="1200" dirty="0">
                          <a:latin typeface="Calibri"/>
                          <a:cs typeface="Calibri"/>
                        </a:rPr>
                        <a:t>(current</a:t>
                      </a:r>
                      <a:r>
                        <a:rPr sz="1200" spc="-5" dirty="0">
                          <a:latin typeface="Calibri"/>
                          <a:cs typeface="Calibri"/>
                        </a:rPr>
                        <a:t> </a:t>
                      </a:r>
                      <a:r>
                        <a:rPr sz="1200" spc="-10" dirty="0">
                          <a:latin typeface="Calibri"/>
                          <a:cs typeface="Calibri"/>
                        </a:rPr>
                        <a:t>course)</a:t>
                      </a:r>
                      <a:endParaRPr sz="1200">
                        <a:latin typeface="Calibri"/>
                        <a:cs typeface="Calibri"/>
                      </a:endParaRPr>
                    </a:p>
                  </a:txBody>
                  <a:tcPr marL="0" marR="0" marT="0" marB="0"/>
                </a:tc>
                <a:tc>
                  <a:txBody>
                    <a:bodyPr/>
                    <a:lstStyle/>
                    <a:p>
                      <a:pPr marR="300355" algn="r">
                        <a:lnSpc>
                          <a:spcPts val="840"/>
                        </a:lnSpc>
                      </a:pPr>
                      <a:r>
                        <a:rPr sz="1200" spc="-20" dirty="0">
                          <a:latin typeface="Calibri"/>
                          <a:cs typeface="Calibri"/>
                        </a:rPr>
                        <a:t>9.18</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23.88</a:t>
                      </a:r>
                      <a:endParaRPr sz="1200">
                        <a:latin typeface="Calibri"/>
                        <a:cs typeface="Calibri"/>
                      </a:endParaRPr>
                    </a:p>
                  </a:txBody>
                  <a:tcPr marL="0" marR="0" marT="0" marB="0"/>
                </a:tc>
                <a:tc>
                  <a:txBody>
                    <a:bodyPr/>
                    <a:lstStyle/>
                    <a:p>
                      <a:pPr marR="67945" algn="r">
                        <a:lnSpc>
                          <a:spcPts val="840"/>
                        </a:lnSpc>
                      </a:pPr>
                      <a:r>
                        <a:rPr sz="1200" spc="-10" dirty="0">
                          <a:latin typeface="Calibri"/>
                          <a:cs typeface="Calibri"/>
                        </a:rPr>
                        <a:t>37.12</a:t>
                      </a:r>
                      <a:endParaRPr sz="1200">
                        <a:latin typeface="Calibri"/>
                        <a:cs typeface="Calibri"/>
                      </a:endParaRPr>
                    </a:p>
                  </a:txBody>
                  <a:tcPr marL="0" marR="0" marT="0" marB="0"/>
                </a:tc>
                <a:extLst>
                  <a:ext uri="{0D108BD9-81ED-4DB2-BD59-A6C34878D82A}">
                    <a16:rowId xmlns:a16="http://schemas.microsoft.com/office/drawing/2014/main" val="10004"/>
                  </a:ext>
                </a:extLst>
              </a:tr>
              <a:tr h="216515">
                <a:tc>
                  <a:txBody>
                    <a:bodyPr/>
                    <a:lstStyle/>
                    <a:p>
                      <a:pPr marL="269240">
                        <a:lnSpc>
                          <a:spcPts val="840"/>
                        </a:lnSpc>
                      </a:pPr>
                      <a:r>
                        <a:rPr sz="1200" spc="-10" dirty="0">
                          <a:latin typeface="Calibri"/>
                          <a:cs typeface="Calibri"/>
                        </a:rPr>
                        <a:t>Intervention</a:t>
                      </a:r>
                      <a:endParaRPr sz="1200">
                        <a:latin typeface="Calibri"/>
                        <a:cs typeface="Calibri"/>
                      </a:endParaRPr>
                    </a:p>
                  </a:txBody>
                  <a:tcPr marL="0" marR="0" marT="0" marB="0"/>
                </a:tc>
                <a:tc>
                  <a:txBody>
                    <a:bodyPr/>
                    <a:lstStyle/>
                    <a:p>
                      <a:pPr marR="300355" algn="r">
                        <a:lnSpc>
                          <a:spcPts val="840"/>
                        </a:lnSpc>
                      </a:pPr>
                      <a:r>
                        <a:rPr sz="1200" spc="-20" dirty="0">
                          <a:latin typeface="Calibri"/>
                          <a:cs typeface="Calibri"/>
                        </a:rPr>
                        <a:t>9.30</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38.95</a:t>
                      </a:r>
                      <a:endParaRPr sz="1200">
                        <a:latin typeface="Calibri"/>
                        <a:cs typeface="Calibri"/>
                      </a:endParaRPr>
                    </a:p>
                  </a:txBody>
                  <a:tcPr marL="0" marR="0" marT="0" marB="0"/>
                </a:tc>
                <a:tc>
                  <a:txBody>
                    <a:bodyPr/>
                    <a:lstStyle/>
                    <a:p>
                      <a:pPr marR="67945" algn="r">
                        <a:lnSpc>
                          <a:spcPts val="840"/>
                        </a:lnSpc>
                      </a:pPr>
                      <a:r>
                        <a:rPr sz="1200" spc="-10" dirty="0">
                          <a:latin typeface="Calibri"/>
                          <a:cs typeface="Calibri"/>
                        </a:rPr>
                        <a:t>76.73</a:t>
                      </a:r>
                      <a:endParaRPr sz="1200">
                        <a:latin typeface="Calibri"/>
                        <a:cs typeface="Calibri"/>
                      </a:endParaRPr>
                    </a:p>
                  </a:txBody>
                  <a:tcPr marL="0" marR="0" marT="0" marB="0"/>
                </a:tc>
                <a:extLst>
                  <a:ext uri="{0D108BD9-81ED-4DB2-BD59-A6C34878D82A}">
                    <a16:rowId xmlns:a16="http://schemas.microsoft.com/office/drawing/2014/main" val="10005"/>
                  </a:ext>
                </a:extLst>
              </a:tr>
              <a:tr h="214501">
                <a:tc gridSpan="4">
                  <a:txBody>
                    <a:bodyPr/>
                    <a:lstStyle/>
                    <a:p>
                      <a:pPr marL="75565">
                        <a:lnSpc>
                          <a:spcPct val="100000"/>
                        </a:lnSpc>
                        <a:spcBef>
                          <a:spcPts val="10"/>
                        </a:spcBef>
                      </a:pPr>
                      <a:r>
                        <a:rPr sz="1200" b="1" dirty="0">
                          <a:latin typeface="Calibri"/>
                          <a:cs typeface="Calibri"/>
                        </a:rPr>
                        <a:t>Net</a:t>
                      </a:r>
                      <a:r>
                        <a:rPr sz="1200" b="1" spc="-5" dirty="0">
                          <a:latin typeface="Calibri"/>
                          <a:cs typeface="Calibri"/>
                        </a:rPr>
                        <a:t> </a:t>
                      </a:r>
                      <a:r>
                        <a:rPr sz="1200" b="1" spc="-10" dirty="0">
                          <a:latin typeface="Calibri"/>
                          <a:cs typeface="Calibri"/>
                        </a:rPr>
                        <a:t>effect</a:t>
                      </a:r>
                      <a:r>
                        <a:rPr sz="1200" b="1" dirty="0">
                          <a:latin typeface="Calibri"/>
                          <a:cs typeface="Calibri"/>
                        </a:rPr>
                        <a:t> of the</a:t>
                      </a:r>
                      <a:r>
                        <a:rPr sz="1200" b="1" spc="-5" dirty="0">
                          <a:latin typeface="Calibri"/>
                          <a:cs typeface="Calibri"/>
                        </a:rPr>
                        <a:t> </a:t>
                      </a:r>
                      <a:r>
                        <a:rPr sz="1200" b="1" spc="-10" dirty="0">
                          <a:latin typeface="Calibri"/>
                          <a:cs typeface="Calibri"/>
                        </a:rPr>
                        <a:t>strategy</a:t>
                      </a:r>
                      <a:endParaRPr sz="1200">
                        <a:latin typeface="Calibri"/>
                        <a:cs typeface="Calibri"/>
                      </a:endParaRPr>
                    </a:p>
                  </a:txBody>
                  <a:tcPr marL="0" marR="0" marT="2014"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r h="200401">
                <a:tc>
                  <a:txBody>
                    <a:bodyPr/>
                    <a:lstStyle/>
                    <a:p>
                      <a:pPr marL="172085">
                        <a:lnSpc>
                          <a:spcPts val="840"/>
                        </a:lnSpc>
                      </a:pPr>
                      <a:r>
                        <a:rPr sz="1200" spc="-10" dirty="0">
                          <a:latin typeface="Calibri"/>
                          <a:cs typeface="Calibri"/>
                        </a:rPr>
                        <a:t>Additional</a:t>
                      </a:r>
                      <a:r>
                        <a:rPr sz="1200" spc="15" dirty="0">
                          <a:latin typeface="Calibri"/>
                          <a:cs typeface="Calibri"/>
                        </a:rPr>
                        <a:t> </a:t>
                      </a:r>
                      <a:r>
                        <a:rPr sz="1200" dirty="0">
                          <a:latin typeface="Calibri"/>
                          <a:cs typeface="Calibri"/>
                        </a:rPr>
                        <a:t>cost</a:t>
                      </a:r>
                      <a:r>
                        <a:rPr sz="1200" spc="20" dirty="0">
                          <a:latin typeface="Calibri"/>
                          <a:cs typeface="Calibri"/>
                        </a:rPr>
                        <a:t> </a:t>
                      </a:r>
                      <a:r>
                        <a:rPr sz="1200" dirty="0">
                          <a:latin typeface="Calibri"/>
                          <a:cs typeface="Calibri"/>
                        </a:rPr>
                        <a:t>(US$</a:t>
                      </a:r>
                      <a:r>
                        <a:rPr sz="1200" spc="20" dirty="0">
                          <a:latin typeface="Calibri"/>
                          <a:cs typeface="Calibri"/>
                        </a:rPr>
                        <a:t> </a:t>
                      </a:r>
                      <a:r>
                        <a:rPr sz="1200" dirty="0">
                          <a:latin typeface="Calibri"/>
                          <a:cs typeface="Calibri"/>
                        </a:rPr>
                        <a:t>billion,</a:t>
                      </a:r>
                      <a:r>
                        <a:rPr sz="1200" spc="20" dirty="0">
                          <a:latin typeface="Calibri"/>
                          <a:cs typeface="Calibri"/>
                        </a:rPr>
                        <a:t> </a:t>
                      </a:r>
                      <a:r>
                        <a:rPr sz="1200" spc="-10" dirty="0">
                          <a:latin typeface="Calibri"/>
                          <a:cs typeface="Calibri"/>
                        </a:rPr>
                        <a:t>discounted)</a:t>
                      </a:r>
                      <a:endParaRPr sz="1200">
                        <a:latin typeface="Calibri"/>
                        <a:cs typeface="Calibri"/>
                      </a:endParaRPr>
                    </a:p>
                  </a:txBody>
                  <a:tcPr marL="0" marR="0" marT="0" marB="0"/>
                </a:tc>
                <a:tc>
                  <a:txBody>
                    <a:bodyPr/>
                    <a:lstStyle/>
                    <a:p>
                      <a:pPr marR="300355" algn="r">
                        <a:lnSpc>
                          <a:spcPts val="840"/>
                        </a:lnSpc>
                      </a:pPr>
                      <a:r>
                        <a:rPr sz="1200" spc="-20" dirty="0">
                          <a:latin typeface="Calibri"/>
                          <a:cs typeface="Calibri"/>
                        </a:rPr>
                        <a:t>0.12</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15.06</a:t>
                      </a:r>
                      <a:endParaRPr sz="1200">
                        <a:latin typeface="Calibri"/>
                        <a:cs typeface="Calibri"/>
                      </a:endParaRPr>
                    </a:p>
                  </a:txBody>
                  <a:tcPr marL="0" marR="0" marT="0" marB="0"/>
                </a:tc>
                <a:tc>
                  <a:txBody>
                    <a:bodyPr/>
                    <a:lstStyle/>
                    <a:p>
                      <a:pPr marR="67945" algn="r">
                        <a:lnSpc>
                          <a:spcPts val="840"/>
                        </a:lnSpc>
                      </a:pPr>
                      <a:r>
                        <a:rPr sz="1200" spc="-10" dirty="0">
                          <a:latin typeface="Calibri"/>
                          <a:cs typeface="Calibri"/>
                        </a:rPr>
                        <a:t>39.61</a:t>
                      </a:r>
                      <a:endParaRPr sz="1200">
                        <a:latin typeface="Calibri"/>
                        <a:cs typeface="Calibri"/>
                      </a:endParaRPr>
                    </a:p>
                  </a:txBody>
                  <a:tcPr marL="0" marR="0" marT="0" marB="0"/>
                </a:tc>
                <a:extLst>
                  <a:ext uri="{0D108BD9-81ED-4DB2-BD59-A6C34878D82A}">
                    <a16:rowId xmlns:a16="http://schemas.microsoft.com/office/drawing/2014/main" val="10007"/>
                  </a:ext>
                </a:extLst>
              </a:tr>
              <a:tr h="216515">
                <a:tc>
                  <a:txBody>
                    <a:bodyPr/>
                    <a:lstStyle/>
                    <a:p>
                      <a:pPr marL="172085">
                        <a:lnSpc>
                          <a:spcPts val="840"/>
                        </a:lnSpc>
                      </a:pPr>
                      <a:r>
                        <a:rPr sz="1200" dirty="0">
                          <a:latin typeface="Calibri"/>
                          <a:cs typeface="Calibri"/>
                        </a:rPr>
                        <a:t>Deaths</a:t>
                      </a:r>
                      <a:r>
                        <a:rPr sz="1200" spc="-25" dirty="0">
                          <a:latin typeface="Calibri"/>
                          <a:cs typeface="Calibri"/>
                        </a:rPr>
                        <a:t> </a:t>
                      </a:r>
                      <a:r>
                        <a:rPr sz="1200" dirty="0">
                          <a:latin typeface="Calibri"/>
                          <a:cs typeface="Calibri"/>
                        </a:rPr>
                        <a:t>prevented</a:t>
                      </a:r>
                      <a:r>
                        <a:rPr sz="1200" spc="-20" dirty="0">
                          <a:latin typeface="Calibri"/>
                          <a:cs typeface="Calibri"/>
                        </a:rPr>
                        <a:t> </a:t>
                      </a:r>
                      <a:r>
                        <a:rPr sz="1200" spc="-10" dirty="0">
                          <a:latin typeface="Calibri"/>
                          <a:cs typeface="Calibri"/>
                        </a:rPr>
                        <a:t>(million)</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0.006</a:t>
                      </a:r>
                      <a:endParaRPr sz="1200">
                        <a:latin typeface="Calibri"/>
                        <a:cs typeface="Calibri"/>
                      </a:endParaRPr>
                    </a:p>
                  </a:txBody>
                  <a:tcPr marL="0" marR="0" marT="0" marB="0"/>
                </a:tc>
                <a:tc>
                  <a:txBody>
                    <a:bodyPr/>
                    <a:lstStyle/>
                    <a:p>
                      <a:pPr marR="300355" algn="r">
                        <a:lnSpc>
                          <a:spcPts val="840"/>
                        </a:lnSpc>
                      </a:pPr>
                      <a:r>
                        <a:rPr sz="1200" spc="-10" dirty="0">
                          <a:latin typeface="Calibri"/>
                          <a:cs typeface="Calibri"/>
                        </a:rPr>
                        <a:t>0.394</a:t>
                      </a:r>
                      <a:endParaRPr sz="1200">
                        <a:latin typeface="Calibri"/>
                        <a:cs typeface="Calibri"/>
                      </a:endParaRPr>
                    </a:p>
                  </a:txBody>
                  <a:tcPr marL="0" marR="0" marT="0" marB="0"/>
                </a:tc>
                <a:tc>
                  <a:txBody>
                    <a:bodyPr/>
                    <a:lstStyle/>
                    <a:p>
                      <a:pPr marR="67945" algn="r">
                        <a:lnSpc>
                          <a:spcPts val="840"/>
                        </a:lnSpc>
                      </a:pPr>
                      <a:r>
                        <a:rPr sz="1200" spc="-10" dirty="0">
                          <a:latin typeface="Calibri"/>
                          <a:cs typeface="Calibri"/>
                        </a:rPr>
                        <a:t>1.577</a:t>
                      </a:r>
                      <a:endParaRPr sz="1200">
                        <a:latin typeface="Calibri"/>
                        <a:cs typeface="Calibri"/>
                      </a:endParaRPr>
                    </a:p>
                  </a:txBody>
                  <a:tcPr marL="0" marR="0" marT="0" marB="0"/>
                </a:tc>
                <a:extLst>
                  <a:ext uri="{0D108BD9-81ED-4DB2-BD59-A6C34878D82A}">
                    <a16:rowId xmlns:a16="http://schemas.microsoft.com/office/drawing/2014/main" val="10008"/>
                  </a:ext>
                </a:extLst>
              </a:tr>
              <a:tr h="461228">
                <a:tc>
                  <a:txBody>
                    <a:bodyPr/>
                    <a:lstStyle/>
                    <a:p>
                      <a:pPr marR="430530" algn="r">
                        <a:lnSpc>
                          <a:spcPct val="100000"/>
                        </a:lnSpc>
                        <a:spcBef>
                          <a:spcPts val="10"/>
                        </a:spcBef>
                      </a:pPr>
                      <a:r>
                        <a:rPr sz="1200" b="1" dirty="0">
                          <a:latin typeface="Calibri"/>
                          <a:cs typeface="Calibri"/>
                        </a:rPr>
                        <a:t>Annual</a:t>
                      </a:r>
                      <a:r>
                        <a:rPr sz="1200" b="1" spc="-20" dirty="0">
                          <a:latin typeface="Calibri"/>
                          <a:cs typeface="Calibri"/>
                        </a:rPr>
                        <a:t> </a:t>
                      </a:r>
                      <a:r>
                        <a:rPr sz="1200" b="1" dirty="0">
                          <a:latin typeface="Calibri"/>
                          <a:cs typeface="Calibri"/>
                        </a:rPr>
                        <a:t>financing</a:t>
                      </a:r>
                      <a:r>
                        <a:rPr sz="1200" b="1" spc="-20" dirty="0">
                          <a:latin typeface="Calibri"/>
                          <a:cs typeface="Calibri"/>
                        </a:rPr>
                        <a:t> </a:t>
                      </a:r>
                      <a:r>
                        <a:rPr sz="1200" b="1" dirty="0">
                          <a:latin typeface="Calibri"/>
                          <a:cs typeface="Calibri"/>
                        </a:rPr>
                        <a:t>intensity</a:t>
                      </a:r>
                      <a:r>
                        <a:rPr sz="1200" b="1" spc="-15" dirty="0">
                          <a:latin typeface="Calibri"/>
                          <a:cs typeface="Calibri"/>
                        </a:rPr>
                        <a:t> </a:t>
                      </a:r>
                      <a:r>
                        <a:rPr sz="1200" b="1" dirty="0">
                          <a:latin typeface="Calibri"/>
                          <a:cs typeface="Calibri"/>
                        </a:rPr>
                        <a:t>(that</a:t>
                      </a:r>
                      <a:r>
                        <a:rPr sz="1200" b="1" spc="-20" dirty="0">
                          <a:latin typeface="Calibri"/>
                          <a:cs typeface="Calibri"/>
                        </a:rPr>
                        <a:t> </a:t>
                      </a:r>
                      <a:r>
                        <a:rPr sz="1200" b="1" dirty="0">
                          <a:latin typeface="Calibri"/>
                          <a:cs typeface="Calibri"/>
                        </a:rPr>
                        <a:t>year</a:t>
                      </a:r>
                      <a:r>
                        <a:rPr sz="1200" b="1" spc="-25" dirty="0">
                          <a:latin typeface="Calibri"/>
                          <a:cs typeface="Calibri"/>
                        </a:rPr>
                        <a:t> </a:t>
                      </a:r>
                      <a:r>
                        <a:rPr sz="1200" b="1" dirty="0">
                          <a:latin typeface="Calibri"/>
                          <a:cs typeface="Calibri"/>
                        </a:rPr>
                        <a:t>only,</a:t>
                      </a:r>
                      <a:r>
                        <a:rPr sz="1200" b="1" spc="-15" dirty="0">
                          <a:latin typeface="Calibri"/>
                          <a:cs typeface="Calibri"/>
                        </a:rPr>
                        <a:t> </a:t>
                      </a:r>
                      <a:r>
                        <a:rPr sz="1200" b="1" dirty="0">
                          <a:latin typeface="Calibri"/>
                          <a:cs typeface="Calibri"/>
                        </a:rPr>
                        <a:t>not</a:t>
                      </a:r>
                      <a:r>
                        <a:rPr sz="1200" b="1" spc="-20" dirty="0">
                          <a:latin typeface="Calibri"/>
                          <a:cs typeface="Calibri"/>
                        </a:rPr>
                        <a:t> </a:t>
                      </a:r>
                      <a:r>
                        <a:rPr sz="1200" b="1" spc="-10" dirty="0">
                          <a:latin typeface="Calibri"/>
                          <a:cs typeface="Calibri"/>
                        </a:rPr>
                        <a:t>cumulative)</a:t>
                      </a:r>
                      <a:endParaRPr sz="1200">
                        <a:latin typeface="Calibri"/>
                        <a:cs typeface="Calibri"/>
                      </a:endParaRPr>
                    </a:p>
                    <a:p>
                      <a:pPr marR="459105" algn="r">
                        <a:lnSpc>
                          <a:spcPct val="100000"/>
                        </a:lnSpc>
                        <a:spcBef>
                          <a:spcPts val="95"/>
                        </a:spcBef>
                      </a:pPr>
                      <a:r>
                        <a:rPr sz="1200" spc="-10" dirty="0">
                          <a:latin typeface="Calibri"/>
                          <a:cs typeface="Calibri"/>
                        </a:rPr>
                        <a:t>Additional</a:t>
                      </a:r>
                      <a:r>
                        <a:rPr sz="1200" spc="5" dirty="0">
                          <a:latin typeface="Calibri"/>
                          <a:cs typeface="Calibri"/>
                        </a:rPr>
                        <a:t> </a:t>
                      </a:r>
                      <a:r>
                        <a:rPr sz="1200" dirty="0">
                          <a:latin typeface="Calibri"/>
                          <a:cs typeface="Calibri"/>
                        </a:rPr>
                        <a:t>cost</a:t>
                      </a:r>
                      <a:r>
                        <a:rPr sz="1200" spc="5" dirty="0">
                          <a:latin typeface="Calibri"/>
                          <a:cs typeface="Calibri"/>
                        </a:rPr>
                        <a:t> </a:t>
                      </a:r>
                      <a:r>
                        <a:rPr sz="1200" dirty="0">
                          <a:latin typeface="Calibri"/>
                          <a:cs typeface="Calibri"/>
                        </a:rPr>
                        <a:t>per</a:t>
                      </a:r>
                      <a:r>
                        <a:rPr sz="1200" spc="10" dirty="0">
                          <a:latin typeface="Calibri"/>
                          <a:cs typeface="Calibri"/>
                        </a:rPr>
                        <a:t> </a:t>
                      </a:r>
                      <a:r>
                        <a:rPr sz="1200" dirty="0">
                          <a:latin typeface="Calibri"/>
                          <a:cs typeface="Calibri"/>
                        </a:rPr>
                        <a:t>capita</a:t>
                      </a:r>
                      <a:r>
                        <a:rPr sz="1200" spc="5" dirty="0">
                          <a:latin typeface="Calibri"/>
                          <a:cs typeface="Calibri"/>
                        </a:rPr>
                        <a:t> </a:t>
                      </a:r>
                      <a:r>
                        <a:rPr sz="1200" dirty="0">
                          <a:latin typeface="Calibri"/>
                          <a:cs typeface="Calibri"/>
                        </a:rPr>
                        <a:t>in</a:t>
                      </a:r>
                      <a:r>
                        <a:rPr sz="1200" spc="10" dirty="0">
                          <a:latin typeface="Calibri"/>
                          <a:cs typeface="Calibri"/>
                        </a:rPr>
                        <a:t> </a:t>
                      </a:r>
                      <a:r>
                        <a:rPr sz="1200" dirty="0">
                          <a:latin typeface="Calibri"/>
                          <a:cs typeface="Calibri"/>
                        </a:rPr>
                        <a:t>that</a:t>
                      </a:r>
                      <a:r>
                        <a:rPr sz="1200" spc="5" dirty="0">
                          <a:latin typeface="Calibri"/>
                          <a:cs typeface="Calibri"/>
                        </a:rPr>
                        <a:t> </a:t>
                      </a:r>
                      <a:r>
                        <a:rPr sz="1200" dirty="0">
                          <a:latin typeface="Calibri"/>
                          <a:cs typeface="Calibri"/>
                        </a:rPr>
                        <a:t>year</a:t>
                      </a:r>
                      <a:r>
                        <a:rPr sz="1200" spc="10" dirty="0">
                          <a:latin typeface="Calibri"/>
                          <a:cs typeface="Calibri"/>
                        </a:rPr>
                        <a:t> </a:t>
                      </a:r>
                      <a:r>
                        <a:rPr sz="1200" dirty="0">
                          <a:latin typeface="Calibri"/>
                          <a:cs typeface="Calibri"/>
                        </a:rPr>
                        <a:t>(US$,</a:t>
                      </a:r>
                      <a:r>
                        <a:rPr sz="1200" spc="5" dirty="0">
                          <a:latin typeface="Calibri"/>
                          <a:cs typeface="Calibri"/>
                        </a:rPr>
                        <a:t> </a:t>
                      </a:r>
                      <a:r>
                        <a:rPr sz="1200" spc="-10" dirty="0">
                          <a:latin typeface="Calibri"/>
                          <a:cs typeface="Calibri"/>
                        </a:rPr>
                        <a:t>discounted)</a:t>
                      </a:r>
                      <a:endParaRPr sz="1200">
                        <a:latin typeface="Calibri"/>
                        <a:cs typeface="Calibri"/>
                      </a:endParaRPr>
                    </a:p>
                  </a:txBody>
                  <a:tcPr marL="0" marR="0" marT="2014" marB="0">
                    <a:lnB w="12700">
                      <a:solidFill>
                        <a:srgbClr val="000000"/>
                      </a:solidFill>
                      <a:prstDash val="solid"/>
                    </a:lnB>
                  </a:tcPr>
                </a:tc>
                <a:tc>
                  <a:txBody>
                    <a:bodyPr/>
                    <a:lstStyle/>
                    <a:p>
                      <a:pPr>
                        <a:lnSpc>
                          <a:spcPct val="100000"/>
                        </a:lnSpc>
                        <a:spcBef>
                          <a:spcPts val="145"/>
                        </a:spcBef>
                      </a:pPr>
                      <a:endParaRPr sz="1200" dirty="0">
                        <a:latin typeface="Times New Roman"/>
                        <a:cs typeface="Times New Roman"/>
                      </a:endParaRPr>
                    </a:p>
                    <a:p>
                      <a:pPr marR="300355" algn="r">
                        <a:lnSpc>
                          <a:spcPct val="100000"/>
                        </a:lnSpc>
                      </a:pPr>
                      <a:r>
                        <a:rPr sz="1200" spc="-10" dirty="0">
                          <a:latin typeface="Calibri"/>
                          <a:cs typeface="Calibri"/>
                        </a:rPr>
                        <a:t>US$0.14</a:t>
                      </a:r>
                      <a:endParaRPr sz="1200" dirty="0">
                        <a:latin typeface="Calibri"/>
                        <a:cs typeface="Calibri"/>
                      </a:endParaRPr>
                    </a:p>
                  </a:txBody>
                  <a:tcPr marL="0" marR="0" marT="29204" marB="0">
                    <a:lnB w="12700">
                      <a:solidFill>
                        <a:srgbClr val="000000"/>
                      </a:solidFill>
                      <a:prstDash val="solid"/>
                    </a:lnB>
                  </a:tcPr>
                </a:tc>
                <a:tc>
                  <a:txBody>
                    <a:bodyPr/>
                    <a:lstStyle/>
                    <a:p>
                      <a:pPr>
                        <a:lnSpc>
                          <a:spcPct val="100000"/>
                        </a:lnSpc>
                        <a:spcBef>
                          <a:spcPts val="145"/>
                        </a:spcBef>
                      </a:pPr>
                      <a:endParaRPr sz="1200">
                        <a:latin typeface="Times New Roman"/>
                        <a:cs typeface="Times New Roman"/>
                      </a:endParaRPr>
                    </a:p>
                    <a:p>
                      <a:pPr marR="300355" algn="r">
                        <a:lnSpc>
                          <a:spcPct val="100000"/>
                        </a:lnSpc>
                      </a:pPr>
                      <a:r>
                        <a:rPr sz="1200" spc="-10" dirty="0">
                          <a:latin typeface="Calibri"/>
                          <a:cs typeface="Calibri"/>
                        </a:rPr>
                        <a:t>US$8.32</a:t>
                      </a:r>
                      <a:endParaRPr sz="1200">
                        <a:latin typeface="Calibri"/>
                        <a:cs typeface="Calibri"/>
                      </a:endParaRPr>
                    </a:p>
                  </a:txBody>
                  <a:tcPr marL="0" marR="0" marT="29204" marB="0">
                    <a:lnB w="12700">
                      <a:solidFill>
                        <a:srgbClr val="000000"/>
                      </a:solidFill>
                      <a:prstDash val="solid"/>
                    </a:lnB>
                  </a:tcPr>
                </a:tc>
                <a:tc>
                  <a:txBody>
                    <a:bodyPr/>
                    <a:lstStyle/>
                    <a:p>
                      <a:pPr>
                        <a:lnSpc>
                          <a:spcPct val="100000"/>
                        </a:lnSpc>
                        <a:spcBef>
                          <a:spcPts val="145"/>
                        </a:spcBef>
                      </a:pPr>
                      <a:endParaRPr sz="1200" dirty="0">
                        <a:latin typeface="Times New Roman"/>
                        <a:cs typeface="Times New Roman"/>
                      </a:endParaRPr>
                    </a:p>
                    <a:p>
                      <a:pPr marR="67945" algn="r">
                        <a:lnSpc>
                          <a:spcPct val="100000"/>
                        </a:lnSpc>
                      </a:pPr>
                      <a:r>
                        <a:rPr sz="1200" spc="-10" dirty="0">
                          <a:latin typeface="Calibri"/>
                          <a:cs typeface="Calibri"/>
                        </a:rPr>
                        <a:t>US$7.13</a:t>
                      </a:r>
                      <a:endParaRPr sz="1200" dirty="0">
                        <a:latin typeface="Calibri"/>
                        <a:cs typeface="Calibri"/>
                      </a:endParaRPr>
                    </a:p>
                  </a:txBody>
                  <a:tcPr marL="0" marR="0" marT="29204" marB="0">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4" name="object 4"/>
          <p:cNvSpPr txBox="1"/>
          <p:nvPr/>
        </p:nvSpPr>
        <p:spPr>
          <a:xfrm>
            <a:off x="533400" y="4800600"/>
            <a:ext cx="7955683" cy="584485"/>
          </a:xfrm>
          <a:prstGeom prst="rect">
            <a:avLst/>
          </a:prstGeom>
        </p:spPr>
        <p:txBody>
          <a:bodyPr vert="horz" wrap="square" lIns="0" tIns="18127" rIns="0" bIns="0" rtlCol="0">
            <a:spAutoFit/>
          </a:bodyPr>
          <a:lstStyle/>
          <a:p>
            <a:pPr marL="20141" marR="8056">
              <a:lnSpc>
                <a:spcPct val="101699"/>
              </a:lnSpc>
              <a:spcBef>
                <a:spcPts val="143"/>
              </a:spcBef>
            </a:pPr>
            <a:r>
              <a:rPr sz="1189" b="1" i="1" dirty="0">
                <a:solidFill>
                  <a:srgbClr val="5B6B7A"/>
                </a:solidFill>
                <a:latin typeface="Calibri"/>
                <a:cs typeface="Calibri"/>
              </a:rPr>
              <a:t>Method:</a:t>
            </a:r>
            <a:r>
              <a:rPr sz="1189" b="1" i="1" spc="135" dirty="0">
                <a:solidFill>
                  <a:srgbClr val="5B6B7A"/>
                </a:solidFill>
                <a:latin typeface="Calibri"/>
                <a:cs typeface="Calibri"/>
              </a:rPr>
              <a:t> </a:t>
            </a:r>
            <a:r>
              <a:rPr sz="1189" i="1" dirty="0">
                <a:solidFill>
                  <a:srgbClr val="5B6B7A"/>
                </a:solidFill>
                <a:latin typeface="Calibri"/>
                <a:cs typeface="Calibri"/>
              </a:rPr>
              <a:t>deaths/cost</a:t>
            </a:r>
            <a:r>
              <a:rPr sz="1189" i="1" spc="40" dirty="0">
                <a:solidFill>
                  <a:srgbClr val="5B6B7A"/>
                </a:solidFill>
                <a:latin typeface="Calibri"/>
                <a:cs typeface="Calibri"/>
              </a:rPr>
              <a:t> </a:t>
            </a:r>
            <a:r>
              <a:rPr sz="1189" i="1" dirty="0">
                <a:solidFill>
                  <a:srgbClr val="5B6B7A"/>
                </a:solidFill>
                <a:latin typeface="Calibri"/>
                <a:cs typeface="Calibri"/>
              </a:rPr>
              <a:t>columns</a:t>
            </a:r>
            <a:r>
              <a:rPr sz="1189" i="1" spc="32" dirty="0">
                <a:solidFill>
                  <a:srgbClr val="5B6B7A"/>
                </a:solidFill>
                <a:latin typeface="Calibri"/>
                <a:cs typeface="Calibri"/>
              </a:rPr>
              <a:t> </a:t>
            </a:r>
            <a:r>
              <a:rPr sz="1189" i="1" dirty="0">
                <a:solidFill>
                  <a:srgbClr val="5B6B7A"/>
                </a:solidFill>
                <a:latin typeface="Calibri"/>
                <a:cs typeface="Calibri"/>
              </a:rPr>
              <a:t>cumulative</a:t>
            </a:r>
            <a:r>
              <a:rPr sz="1189" i="1" spc="40" dirty="0">
                <a:solidFill>
                  <a:srgbClr val="5B6B7A"/>
                </a:solidFill>
                <a:latin typeface="Calibri"/>
                <a:cs typeface="Calibri"/>
              </a:rPr>
              <a:t> </a:t>
            </a:r>
            <a:r>
              <a:rPr sz="1189" i="1" dirty="0">
                <a:solidFill>
                  <a:srgbClr val="5B6B7A"/>
                </a:solidFill>
                <a:latin typeface="Calibri"/>
                <a:cs typeface="Calibri"/>
              </a:rPr>
              <a:t>from</a:t>
            </a:r>
            <a:r>
              <a:rPr sz="1189" i="1" spc="32" dirty="0">
                <a:solidFill>
                  <a:srgbClr val="5B6B7A"/>
                </a:solidFill>
                <a:latin typeface="Calibri"/>
                <a:cs typeface="Calibri"/>
              </a:rPr>
              <a:t> </a:t>
            </a:r>
            <a:r>
              <a:rPr sz="1189" i="1" spc="-32" dirty="0">
                <a:solidFill>
                  <a:srgbClr val="5B6B7A"/>
                </a:solidFill>
                <a:latin typeface="Calibri"/>
                <a:cs typeface="Calibri"/>
              </a:rPr>
              <a:t>2025</a:t>
            </a:r>
            <a:r>
              <a:rPr sz="1189" i="1" spc="793" dirty="0">
                <a:solidFill>
                  <a:srgbClr val="5B6B7A"/>
                </a:solidFill>
                <a:latin typeface="Calibri"/>
                <a:cs typeface="Calibri"/>
              </a:rPr>
              <a:t> </a:t>
            </a:r>
            <a:r>
              <a:rPr sz="1189" i="1" dirty="0">
                <a:solidFill>
                  <a:srgbClr val="5B6B7A"/>
                </a:solidFill>
                <a:latin typeface="Calibri"/>
                <a:cs typeface="Calibri"/>
              </a:rPr>
              <a:t>through</a:t>
            </a:r>
            <a:r>
              <a:rPr sz="1189" i="1" spc="-8" dirty="0">
                <a:solidFill>
                  <a:srgbClr val="5B6B7A"/>
                </a:solidFill>
                <a:latin typeface="Calibri"/>
                <a:cs typeface="Calibri"/>
              </a:rPr>
              <a:t> </a:t>
            </a:r>
            <a:r>
              <a:rPr sz="1189" i="1" dirty="0">
                <a:solidFill>
                  <a:srgbClr val="5B6B7A"/>
                </a:solidFill>
                <a:latin typeface="Calibri"/>
                <a:cs typeface="Calibri"/>
              </a:rPr>
              <a:t>that year</a:t>
            </a:r>
            <a:r>
              <a:rPr sz="1189" i="1" spc="-8" dirty="0">
                <a:solidFill>
                  <a:srgbClr val="5B6B7A"/>
                </a:solidFill>
                <a:latin typeface="Calibri"/>
                <a:cs typeface="Calibri"/>
              </a:rPr>
              <a:t> </a:t>
            </a:r>
            <a:r>
              <a:rPr sz="1189" i="1" dirty="0">
                <a:solidFill>
                  <a:srgbClr val="5B6B7A"/>
                </a:solidFill>
                <a:latin typeface="Calibri"/>
                <a:cs typeface="Calibri"/>
              </a:rPr>
              <a:t>(six CVD causes</a:t>
            </a:r>
            <a:r>
              <a:rPr sz="1189" i="1" spc="-8"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type-2 diabetes;</a:t>
            </a:r>
            <a:r>
              <a:rPr sz="1189" i="1" spc="-8" dirty="0">
                <a:solidFill>
                  <a:srgbClr val="5B6B7A"/>
                </a:solidFill>
                <a:latin typeface="Calibri"/>
                <a:cs typeface="Calibri"/>
              </a:rPr>
              <a:t> </a:t>
            </a:r>
            <a:r>
              <a:rPr sz="1189" i="1" dirty="0">
                <a:solidFill>
                  <a:srgbClr val="5B6B7A"/>
                </a:solidFill>
                <a:latin typeface="Calibri"/>
                <a:cs typeface="Calibri"/>
              </a:rPr>
              <a:t>discounted 3% to</a:t>
            </a:r>
            <a:r>
              <a:rPr sz="1189" i="1" spc="-8" dirty="0">
                <a:solidFill>
                  <a:srgbClr val="5B6B7A"/>
                </a:solidFill>
                <a:latin typeface="Calibri"/>
                <a:cs typeface="Calibri"/>
              </a:rPr>
              <a:t> </a:t>
            </a:r>
            <a:r>
              <a:rPr sz="1189" i="1" dirty="0">
                <a:solidFill>
                  <a:srgbClr val="5B6B7A"/>
                </a:solidFill>
                <a:latin typeface="Calibri"/>
                <a:cs typeface="Calibri"/>
              </a:rPr>
              <a:t>2025, 2023 US$);</a:t>
            </a:r>
            <a:r>
              <a:rPr sz="1189" i="1" spc="-8" dirty="0">
                <a:solidFill>
                  <a:srgbClr val="5B6B7A"/>
                </a:solidFill>
                <a:latin typeface="Calibri"/>
                <a:cs typeface="Calibri"/>
              </a:rPr>
              <a:t> </a:t>
            </a:r>
            <a:r>
              <a:rPr sz="1189" i="1" dirty="0">
                <a:solidFill>
                  <a:srgbClr val="5B6B7A"/>
                </a:solidFill>
                <a:latin typeface="Calibri"/>
                <a:cs typeface="Calibri"/>
              </a:rPr>
              <a:t>the </a:t>
            </a:r>
            <a:r>
              <a:rPr sz="1189" i="1" spc="-16" dirty="0">
                <a:solidFill>
                  <a:srgbClr val="5B6B7A"/>
                </a:solidFill>
                <a:latin typeface="Calibri"/>
                <a:cs typeface="Calibri"/>
              </a:rPr>
              <a:t>per-</a:t>
            </a:r>
            <a:r>
              <a:rPr sz="1189" i="1" dirty="0">
                <a:solidFill>
                  <a:srgbClr val="5B6B7A"/>
                </a:solidFill>
                <a:latin typeface="Calibri"/>
                <a:cs typeface="Calibri"/>
              </a:rPr>
              <a:t>capita row</a:t>
            </a:r>
            <a:r>
              <a:rPr sz="1189" i="1" spc="-8" dirty="0">
                <a:solidFill>
                  <a:srgbClr val="5B6B7A"/>
                </a:solidFill>
                <a:latin typeface="Calibri"/>
                <a:cs typeface="Calibri"/>
              </a:rPr>
              <a:t> </a:t>
            </a:r>
            <a:r>
              <a:rPr sz="1189" i="1" dirty="0">
                <a:solidFill>
                  <a:srgbClr val="5B6B7A"/>
                </a:solidFill>
                <a:latin typeface="Calibri"/>
                <a:cs typeface="Calibri"/>
              </a:rPr>
              <a:t>is that year</a:t>
            </a:r>
            <a:r>
              <a:rPr sz="1189" i="1" spc="-8" dirty="0">
                <a:solidFill>
                  <a:srgbClr val="5B6B7A"/>
                </a:solidFill>
                <a:latin typeface="Calibri"/>
                <a:cs typeface="Calibri"/>
              </a:rPr>
              <a:t> </a:t>
            </a:r>
            <a:r>
              <a:rPr sz="1189" i="1" spc="-16" dirty="0">
                <a:solidFill>
                  <a:srgbClr val="5B6B7A"/>
                </a:solidFill>
                <a:latin typeface="Calibri"/>
                <a:cs typeface="Calibri"/>
              </a:rPr>
              <a:t>only,</a:t>
            </a:r>
            <a:r>
              <a:rPr sz="1189" i="1" dirty="0">
                <a:solidFill>
                  <a:srgbClr val="5B6B7A"/>
                </a:solidFill>
                <a:latin typeface="Calibri"/>
                <a:cs typeface="Calibri"/>
              </a:rPr>
              <a:t> </a:t>
            </a:r>
            <a:r>
              <a:rPr sz="1189" i="1" spc="-40" dirty="0">
                <a:solidFill>
                  <a:srgbClr val="5B6B7A"/>
                </a:solidFill>
                <a:latin typeface="Calibri"/>
                <a:cs typeface="Calibri"/>
              </a:rPr>
              <a:t>not</a:t>
            </a:r>
            <a:r>
              <a:rPr sz="1189" i="1" spc="793" dirty="0">
                <a:solidFill>
                  <a:srgbClr val="5B6B7A"/>
                </a:solidFill>
                <a:latin typeface="Calibri"/>
                <a:cs typeface="Calibri"/>
              </a:rPr>
              <a:t> </a:t>
            </a:r>
            <a:r>
              <a:rPr sz="1189" i="1" dirty="0">
                <a:solidFill>
                  <a:srgbClr val="5B6B7A"/>
                </a:solidFill>
                <a:latin typeface="Calibri"/>
                <a:cs typeface="Calibri"/>
              </a:rPr>
              <a:t>cumulative.</a:t>
            </a:r>
            <a:r>
              <a:rPr sz="1189" i="1" spc="63" dirty="0">
                <a:solidFill>
                  <a:srgbClr val="5B6B7A"/>
                </a:solidFill>
                <a:latin typeface="Calibri"/>
                <a:cs typeface="Calibri"/>
              </a:rPr>
              <a:t> </a:t>
            </a:r>
            <a:r>
              <a:rPr sz="1189" b="1" i="1" dirty="0">
                <a:solidFill>
                  <a:srgbClr val="5B6B7A"/>
                </a:solidFill>
                <a:latin typeface="Calibri"/>
                <a:cs typeface="Calibri"/>
              </a:rPr>
              <a:t>Preliminary</a:t>
            </a:r>
            <a:r>
              <a:rPr sz="1189" b="1" i="1" spc="-16" dirty="0">
                <a:solidFill>
                  <a:srgbClr val="5B6B7A"/>
                </a:solidFill>
                <a:latin typeface="Calibri"/>
                <a:cs typeface="Calibri"/>
              </a:rPr>
              <a:t> </a:t>
            </a:r>
            <a:r>
              <a:rPr sz="1189" b="1" i="1" dirty="0">
                <a:solidFill>
                  <a:srgbClr val="5B6B7A"/>
                </a:solidFill>
                <a:latin typeface="Calibri"/>
                <a:cs typeface="Calibri"/>
              </a:rPr>
              <a:t>costing</a:t>
            </a:r>
            <a:r>
              <a:rPr sz="1189" b="1" i="1" spc="-16" dirty="0">
                <a:solidFill>
                  <a:srgbClr val="5B6B7A"/>
                </a:solidFill>
                <a:latin typeface="Calibri"/>
                <a:cs typeface="Calibri"/>
              </a:rPr>
              <a:t> </a:t>
            </a:r>
            <a:r>
              <a:rPr sz="1189" b="1" i="1" dirty="0">
                <a:solidFill>
                  <a:srgbClr val="5B6B7A"/>
                </a:solidFill>
                <a:latin typeface="Calibri"/>
                <a:cs typeface="Calibri"/>
              </a:rPr>
              <a:t>results:</a:t>
            </a:r>
            <a:r>
              <a:rPr sz="1189" b="1" i="1" spc="63" dirty="0">
                <a:solidFill>
                  <a:srgbClr val="5B6B7A"/>
                </a:solidFill>
                <a:latin typeface="Calibri"/>
                <a:cs typeface="Calibri"/>
              </a:rPr>
              <a:t> </a:t>
            </a:r>
            <a:r>
              <a:rPr sz="1189" i="1" dirty="0">
                <a:solidFill>
                  <a:srgbClr val="5B6B7A"/>
                </a:solidFill>
                <a:latin typeface="Calibri"/>
                <a:cs typeface="Calibri"/>
              </a:rPr>
              <a:t>unit</a:t>
            </a:r>
            <a:r>
              <a:rPr sz="1189" i="1" spc="-24" dirty="0">
                <a:solidFill>
                  <a:srgbClr val="5B6B7A"/>
                </a:solidFill>
                <a:latin typeface="Calibri"/>
                <a:cs typeface="Calibri"/>
              </a:rPr>
              <a:t> </a:t>
            </a:r>
            <a:r>
              <a:rPr sz="1189" i="1" dirty="0">
                <a:solidFill>
                  <a:srgbClr val="5B6B7A"/>
                </a:solidFill>
                <a:latin typeface="Calibri"/>
                <a:cs typeface="Calibri"/>
              </a:rPr>
              <a:t>costs,</a:t>
            </a:r>
            <a:r>
              <a:rPr sz="1189" i="1" spc="-16" dirty="0">
                <a:solidFill>
                  <a:srgbClr val="5B6B7A"/>
                </a:solidFill>
                <a:latin typeface="Calibri"/>
                <a:cs typeface="Calibri"/>
              </a:rPr>
              <a:t> </a:t>
            </a:r>
            <a:r>
              <a:rPr sz="1189" i="1" dirty="0">
                <a:solidFill>
                  <a:srgbClr val="5B6B7A"/>
                </a:solidFill>
                <a:latin typeface="Calibri"/>
                <a:cs typeface="Calibri"/>
              </a:rPr>
              <a:t>service</a:t>
            </a:r>
            <a:r>
              <a:rPr sz="1189" i="1" spc="-16" dirty="0">
                <a:solidFill>
                  <a:srgbClr val="5B6B7A"/>
                </a:solidFill>
                <a:latin typeface="Calibri"/>
                <a:cs typeface="Calibri"/>
              </a:rPr>
              <a:t> </a:t>
            </a:r>
            <a:r>
              <a:rPr sz="1189" i="1" dirty="0">
                <a:solidFill>
                  <a:srgbClr val="5B6B7A"/>
                </a:solidFill>
                <a:latin typeface="Calibri"/>
                <a:cs typeface="Calibri"/>
              </a:rPr>
              <a:t>use,</a:t>
            </a:r>
            <a:r>
              <a:rPr sz="1189" i="1" spc="-24" dirty="0">
                <a:solidFill>
                  <a:srgbClr val="5B6B7A"/>
                </a:solidFill>
                <a:latin typeface="Calibri"/>
                <a:cs typeface="Calibri"/>
              </a:rPr>
              <a:t> </a:t>
            </a:r>
            <a:r>
              <a:rPr sz="1189" i="1" dirty="0">
                <a:solidFill>
                  <a:srgbClr val="5B6B7A"/>
                </a:solidFill>
                <a:latin typeface="Calibri"/>
                <a:cs typeface="Calibri"/>
              </a:rPr>
              <a:t>and</a:t>
            </a:r>
            <a:r>
              <a:rPr sz="1189" i="1" spc="-16" dirty="0">
                <a:solidFill>
                  <a:srgbClr val="5B6B7A"/>
                </a:solidFill>
                <a:latin typeface="Calibri"/>
                <a:cs typeface="Calibri"/>
              </a:rPr>
              <a:t> </a:t>
            </a:r>
            <a:r>
              <a:rPr sz="1189" i="1" dirty="0">
                <a:solidFill>
                  <a:srgbClr val="5B6B7A"/>
                </a:solidFill>
                <a:latin typeface="Calibri"/>
                <a:cs typeface="Calibri"/>
              </a:rPr>
              <a:t>delivery</a:t>
            </a:r>
            <a:r>
              <a:rPr sz="1189" i="1" spc="-16" dirty="0">
                <a:solidFill>
                  <a:srgbClr val="5B6B7A"/>
                </a:solidFill>
                <a:latin typeface="Calibri"/>
                <a:cs typeface="Calibri"/>
              </a:rPr>
              <a:t> </a:t>
            </a:r>
            <a:r>
              <a:rPr sz="1189" i="1" dirty="0">
                <a:solidFill>
                  <a:srgbClr val="5B6B7A"/>
                </a:solidFill>
                <a:latin typeface="Calibri"/>
                <a:cs typeface="Calibri"/>
              </a:rPr>
              <a:t>assumptions</a:t>
            </a:r>
            <a:r>
              <a:rPr sz="1189" i="1" spc="-24" dirty="0">
                <a:solidFill>
                  <a:srgbClr val="5B6B7A"/>
                </a:solidFill>
                <a:latin typeface="Calibri"/>
                <a:cs typeface="Calibri"/>
              </a:rPr>
              <a:t> </a:t>
            </a:r>
            <a:r>
              <a:rPr sz="1189" i="1" dirty="0">
                <a:solidFill>
                  <a:srgbClr val="5B6B7A"/>
                </a:solidFill>
                <a:latin typeface="Calibri"/>
                <a:cs typeface="Calibri"/>
              </a:rPr>
              <a:t>require</a:t>
            </a:r>
            <a:r>
              <a:rPr sz="1189" i="1" spc="-16" dirty="0">
                <a:solidFill>
                  <a:srgbClr val="5B6B7A"/>
                </a:solidFill>
                <a:latin typeface="Calibri"/>
                <a:cs typeface="Calibri"/>
              </a:rPr>
              <a:t> </a:t>
            </a:r>
            <a:r>
              <a:rPr sz="1189" i="1" dirty="0">
                <a:solidFill>
                  <a:srgbClr val="5B6B7A"/>
                </a:solidFill>
                <a:latin typeface="Calibri"/>
                <a:cs typeface="Calibri"/>
              </a:rPr>
              <a:t>further</a:t>
            </a:r>
            <a:r>
              <a:rPr sz="1189" i="1" spc="-24" dirty="0">
                <a:solidFill>
                  <a:srgbClr val="5B6B7A"/>
                </a:solidFill>
                <a:latin typeface="Calibri"/>
                <a:cs typeface="Calibri"/>
              </a:rPr>
              <a:t> </a:t>
            </a:r>
            <a:r>
              <a:rPr sz="1189" i="1" spc="-16" dirty="0">
                <a:solidFill>
                  <a:srgbClr val="5B6B7A"/>
                </a:solidFill>
                <a:latin typeface="Calibri"/>
                <a:cs typeface="Calibri"/>
              </a:rPr>
              <a:t>validation </a:t>
            </a:r>
            <a:r>
              <a:rPr sz="1189" i="1" dirty="0">
                <a:solidFill>
                  <a:srgbClr val="5B6B7A"/>
                </a:solidFill>
                <a:latin typeface="Calibri"/>
                <a:cs typeface="Calibri"/>
              </a:rPr>
              <a:t>against</a:t>
            </a:r>
            <a:r>
              <a:rPr sz="1189" i="1" spc="-16" dirty="0">
                <a:solidFill>
                  <a:srgbClr val="5B6B7A"/>
                </a:solidFill>
                <a:latin typeface="Calibri"/>
                <a:cs typeface="Calibri"/>
              </a:rPr>
              <a:t> </a:t>
            </a:r>
            <a:r>
              <a:rPr sz="1189" i="1" spc="-32" dirty="0">
                <a:solidFill>
                  <a:srgbClr val="5B6B7A"/>
                </a:solidFill>
                <a:latin typeface="Calibri"/>
                <a:cs typeface="Calibri"/>
              </a:rPr>
              <a:t>BPJS</a:t>
            </a:r>
            <a:endParaRPr sz="1189" dirty="0">
              <a:latin typeface="Calibri"/>
              <a:cs typeface="Calibri"/>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471" y="160091"/>
            <a:ext cx="9069058" cy="1217341"/>
          </a:xfrm>
          <a:prstGeom prst="rect">
            <a:avLst/>
          </a:prstGeom>
        </p:spPr>
        <p:txBody>
          <a:bodyPr vert="horz" wrap="square" lIns="0" tIns="19134" rIns="0" bIns="0" rtlCol="0" anchor="ctr">
            <a:spAutoFit/>
          </a:bodyPr>
          <a:lstStyle/>
          <a:p>
            <a:pPr marL="20141" marR="8056" algn="ctr">
              <a:lnSpc>
                <a:spcPct val="110700"/>
              </a:lnSpc>
              <a:spcBef>
                <a:spcPts val="167"/>
              </a:spcBef>
            </a:pPr>
            <a:r>
              <a:rPr sz="3600" b="1" spc="-16" dirty="0"/>
              <a:t>Care cascade, tobacco tax, and the full package all move Indonesia toward its neighbours</a:t>
            </a:r>
          </a:p>
        </p:txBody>
      </p:sp>
      <p:sp>
        <p:nvSpPr>
          <p:cNvPr id="48" name="TextBox 47">
            <a:extLst>
              <a:ext uri="{FF2B5EF4-FFF2-40B4-BE49-F238E27FC236}">
                <a16:creationId xmlns:a16="http://schemas.microsoft.com/office/drawing/2014/main" id="{6FAAB776-B566-1B8C-512E-89F5FE61D184}"/>
              </a:ext>
            </a:extLst>
          </p:cNvPr>
          <p:cNvSpPr txBox="1"/>
          <p:nvPr/>
        </p:nvSpPr>
        <p:spPr>
          <a:xfrm>
            <a:off x="457200" y="5529682"/>
            <a:ext cx="8305800" cy="641329"/>
          </a:xfrm>
          <a:prstGeom prst="rect">
            <a:avLst/>
          </a:prstGeom>
          <a:noFill/>
        </p:spPr>
        <p:txBody>
          <a:bodyPr wrap="square">
            <a:spAutoFit/>
          </a:bodyPr>
          <a:lstStyle/>
          <a:p>
            <a:pPr marL="36830">
              <a:spcBef>
                <a:spcPts val="320"/>
              </a:spcBef>
              <a:spcAft>
                <a:spcPts val="800"/>
              </a:spcAft>
            </a:pPr>
            <a:r>
              <a:rPr lang="en-US" sz="1189" i="1" dirty="0">
                <a:solidFill>
                  <a:srgbClr val="5B6B7A"/>
                </a:solidFill>
                <a:latin typeface="Calibri"/>
                <a:cs typeface="Calibri"/>
              </a:rPr>
              <a:t>Indonesia observed history (solid, to 2023) and ASEAN comparators are WPP-scaled reference series. Modeled Indonesia scenarios (dashed, 2025-2050) use the GBD-calibrated model baseline, which sits somewhat higher. ASEAN comparator trends correspond to a linear extrapolation for illustrative reference.</a:t>
            </a:r>
          </a:p>
        </p:txBody>
      </p:sp>
      <p:pic>
        <p:nvPicPr>
          <p:cNvPr id="52" name="Picture 51">
            <a:extLst>
              <a:ext uri="{FF2B5EF4-FFF2-40B4-BE49-F238E27FC236}">
                <a16:creationId xmlns:a16="http://schemas.microsoft.com/office/drawing/2014/main" id="{F30FDFA9-2386-DEBE-A701-45FEFD273068}"/>
              </a:ext>
            </a:extLst>
          </p:cNvPr>
          <p:cNvPicPr>
            <a:picLocks noChangeAspect="1"/>
          </p:cNvPicPr>
          <p:nvPr/>
        </p:nvPicPr>
        <p:blipFill>
          <a:blip r:embed="rId3"/>
          <a:stretch>
            <a:fillRect/>
          </a:stretch>
        </p:blipFill>
        <p:spPr>
          <a:xfrm>
            <a:off x="0" y="1655800"/>
            <a:ext cx="9144000" cy="3546400"/>
          </a:xfrm>
          <a:prstGeom prst="rect">
            <a:avLst/>
          </a:prstGeom>
        </p:spPr>
      </p:pic>
    </p:spTree>
  </p:cSld>
  <p:clrMapOvr>
    <a:overrideClrMapping bg1="lt1" tx1="dk1" bg2="lt2" tx2="dk2" accent1="accent1" accent2="accent2" accent3="accent3" accent4="accent4" accent5="accent5" accent6="accent6" hlink="hlink" folHlink="folHlink"/>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7762" y="157247"/>
            <a:ext cx="9038591" cy="1129350"/>
          </a:xfrm>
          <a:prstGeom prst="rect">
            <a:avLst/>
          </a:prstGeom>
        </p:spPr>
        <p:txBody>
          <a:bodyPr vert="horz" wrap="square" lIns="0" tIns="21148" rIns="0" bIns="0" rtlCol="0" anchor="ctr">
            <a:spAutoFit/>
          </a:bodyPr>
          <a:lstStyle/>
          <a:p>
            <a:pPr marL="20141" algn="ctr">
              <a:spcBef>
                <a:spcPts val="167"/>
              </a:spcBef>
            </a:pPr>
            <a:r>
              <a:rPr sz="3600" b="1" spc="-16" dirty="0"/>
              <a:t>About half of averted deaths come from just 3 of Indonesia’s 38 provinces</a:t>
            </a:r>
          </a:p>
        </p:txBody>
      </p:sp>
      <p:sp>
        <p:nvSpPr>
          <p:cNvPr id="137" name="object 137"/>
          <p:cNvSpPr txBox="1"/>
          <p:nvPr/>
        </p:nvSpPr>
        <p:spPr>
          <a:xfrm>
            <a:off x="601904" y="5740950"/>
            <a:ext cx="8033226" cy="957792"/>
          </a:xfrm>
          <a:prstGeom prst="rect">
            <a:avLst/>
          </a:prstGeom>
        </p:spPr>
        <p:txBody>
          <a:bodyPr vert="horz" wrap="square" lIns="0" tIns="18127" rIns="0" bIns="0" rtlCol="0">
            <a:spAutoFit/>
          </a:bodyPr>
          <a:lstStyle/>
          <a:p>
            <a:pPr marL="20141" marR="42296">
              <a:lnSpc>
                <a:spcPct val="101699"/>
              </a:lnSpc>
              <a:spcBef>
                <a:spcPts val="143"/>
              </a:spcBef>
            </a:pPr>
            <a:r>
              <a:rPr sz="1189" b="1" i="1" dirty="0">
                <a:solidFill>
                  <a:srgbClr val="5B6B7A"/>
                </a:solidFill>
                <a:latin typeface="Calibri"/>
                <a:cs typeface="Calibri"/>
              </a:rPr>
              <a:t>Method:</a:t>
            </a:r>
            <a:r>
              <a:rPr sz="1189" b="1" i="1" spc="167" dirty="0">
                <a:solidFill>
                  <a:srgbClr val="5B6B7A"/>
                </a:solidFill>
                <a:latin typeface="Calibri"/>
                <a:cs typeface="Calibri"/>
              </a:rPr>
              <a:t> </a:t>
            </a:r>
            <a:r>
              <a:rPr sz="1189" i="1" spc="-32" dirty="0">
                <a:solidFill>
                  <a:srgbClr val="5B6B7A"/>
                </a:solidFill>
                <a:latin typeface="Calibri"/>
                <a:cs typeface="Calibri"/>
              </a:rPr>
              <a:t>bars</a:t>
            </a:r>
            <a:r>
              <a:rPr sz="1189" i="1" spc="793" dirty="0">
                <a:solidFill>
                  <a:srgbClr val="5B6B7A"/>
                </a:solidFill>
                <a:latin typeface="Calibri"/>
                <a:cs typeface="Calibri"/>
              </a:rPr>
              <a:t> </a:t>
            </a:r>
            <a:r>
              <a:rPr sz="1189" i="1" dirty="0">
                <a:solidFill>
                  <a:srgbClr val="5B6B7A"/>
                </a:solidFill>
                <a:latin typeface="Calibri"/>
                <a:cs typeface="Calibri"/>
              </a:rPr>
              <a:t>are cumulative deaths averted 2025–2050 per province </a:t>
            </a:r>
            <a:r>
              <a:rPr sz="1189" i="1" spc="-16" dirty="0">
                <a:solidFill>
                  <a:srgbClr val="5B6B7A"/>
                </a:solidFill>
                <a:latin typeface="Calibri"/>
                <a:cs typeface="Calibri"/>
              </a:rPr>
              <a:t>(official</a:t>
            </a:r>
            <a:r>
              <a:rPr sz="1189" i="1" dirty="0">
                <a:solidFill>
                  <a:srgbClr val="5B6B7A"/>
                </a:solidFill>
                <a:latin typeface="Calibri"/>
                <a:cs typeface="Calibri"/>
              </a:rPr>
              <a:t> cascade scope:</a:t>
            </a:r>
            <a:r>
              <a:rPr sz="1189" i="1" spc="87" dirty="0">
                <a:solidFill>
                  <a:srgbClr val="5B6B7A"/>
                </a:solidFill>
                <a:latin typeface="Calibri"/>
                <a:cs typeface="Calibri"/>
              </a:rPr>
              <a:t> </a:t>
            </a:r>
            <a:r>
              <a:rPr sz="1189" i="1" dirty="0">
                <a:solidFill>
                  <a:srgbClr val="5B6B7A"/>
                </a:solidFill>
                <a:latin typeface="Calibri"/>
                <a:cs typeface="Calibri"/>
              </a:rPr>
              <a:t>six CVD causes</a:t>
            </a:r>
            <a:r>
              <a:rPr sz="1189" i="1" spc="-8" dirty="0">
                <a:solidFill>
                  <a:srgbClr val="5B6B7A"/>
                </a:solidFill>
                <a:latin typeface="Calibri"/>
                <a:cs typeface="Calibri"/>
              </a:rPr>
              <a:t> </a:t>
            </a:r>
            <a:r>
              <a:rPr sz="1269" spc="317" dirty="0">
                <a:solidFill>
                  <a:srgbClr val="5B6B7A"/>
                </a:solidFill>
                <a:latin typeface="Cambria"/>
                <a:cs typeface="Cambria"/>
              </a:rPr>
              <a:t>+</a:t>
            </a:r>
            <a:r>
              <a:rPr sz="1269" dirty="0">
                <a:solidFill>
                  <a:srgbClr val="5B6B7A"/>
                </a:solidFill>
                <a:latin typeface="Cambria"/>
                <a:cs typeface="Cambria"/>
              </a:rPr>
              <a:t> </a:t>
            </a:r>
            <a:r>
              <a:rPr sz="1189" i="1" dirty="0">
                <a:solidFill>
                  <a:srgbClr val="5B6B7A"/>
                </a:solidFill>
                <a:latin typeface="Calibri"/>
                <a:cs typeface="Calibri"/>
              </a:rPr>
              <a:t>type-2 diabetes); the line is </a:t>
            </a:r>
            <a:r>
              <a:rPr sz="1189" i="1" spc="-40" dirty="0">
                <a:solidFill>
                  <a:srgbClr val="5B6B7A"/>
                </a:solidFill>
                <a:latin typeface="Calibri"/>
                <a:cs typeface="Calibri"/>
              </a:rPr>
              <a:t>the</a:t>
            </a:r>
            <a:r>
              <a:rPr sz="1189" i="1" spc="793" dirty="0">
                <a:solidFill>
                  <a:srgbClr val="5B6B7A"/>
                </a:solidFill>
                <a:latin typeface="Calibri"/>
                <a:cs typeface="Calibri"/>
              </a:rPr>
              <a:t> </a:t>
            </a:r>
            <a:r>
              <a:rPr sz="1189" i="1" dirty="0">
                <a:solidFill>
                  <a:srgbClr val="5B6B7A"/>
                </a:solidFill>
                <a:latin typeface="Calibri"/>
                <a:cs typeface="Calibri"/>
              </a:rPr>
              <a:t>running</a:t>
            </a:r>
            <a:r>
              <a:rPr sz="1189" i="1" spc="8" dirty="0">
                <a:solidFill>
                  <a:srgbClr val="5B6B7A"/>
                </a:solidFill>
                <a:latin typeface="Calibri"/>
                <a:cs typeface="Calibri"/>
              </a:rPr>
              <a:t> </a:t>
            </a:r>
            <a:r>
              <a:rPr sz="1189" i="1" dirty="0">
                <a:solidFill>
                  <a:srgbClr val="5B6B7A"/>
                </a:solidFill>
                <a:latin typeface="Calibri"/>
                <a:cs typeface="Calibri"/>
              </a:rPr>
              <a:t>share</a:t>
            </a:r>
            <a:r>
              <a:rPr sz="1189" i="1" spc="8" dirty="0">
                <a:solidFill>
                  <a:srgbClr val="5B6B7A"/>
                </a:solidFill>
                <a:latin typeface="Calibri"/>
                <a:cs typeface="Calibri"/>
              </a:rPr>
              <a:t> </a:t>
            </a:r>
            <a:r>
              <a:rPr sz="1189" i="1" dirty="0">
                <a:solidFill>
                  <a:srgbClr val="5B6B7A"/>
                </a:solidFill>
                <a:latin typeface="Calibri"/>
                <a:cs typeface="Calibri"/>
              </a:rPr>
              <a:t>of the</a:t>
            </a:r>
            <a:r>
              <a:rPr sz="1189" i="1" spc="8" dirty="0">
                <a:solidFill>
                  <a:srgbClr val="5B6B7A"/>
                </a:solidFill>
                <a:latin typeface="Calibri"/>
                <a:cs typeface="Calibri"/>
              </a:rPr>
              <a:t> </a:t>
            </a:r>
            <a:r>
              <a:rPr sz="1189" i="1" dirty="0">
                <a:solidFill>
                  <a:srgbClr val="5B6B7A"/>
                </a:solidFill>
                <a:latin typeface="Calibri"/>
                <a:cs typeface="Calibri"/>
              </a:rPr>
              <a:t>national</a:t>
            </a:r>
            <a:r>
              <a:rPr sz="1189" i="1" spc="8" dirty="0">
                <a:solidFill>
                  <a:srgbClr val="5B6B7A"/>
                </a:solidFill>
                <a:latin typeface="Calibri"/>
                <a:cs typeface="Calibri"/>
              </a:rPr>
              <a:t> </a:t>
            </a:r>
            <a:r>
              <a:rPr sz="1189" i="1" dirty="0">
                <a:solidFill>
                  <a:srgbClr val="5B6B7A"/>
                </a:solidFill>
                <a:latin typeface="Calibri"/>
                <a:cs typeface="Calibri"/>
              </a:rPr>
              <a:t>total.</a:t>
            </a:r>
            <a:r>
              <a:rPr sz="1189" i="1" spc="103" dirty="0">
                <a:solidFill>
                  <a:srgbClr val="5B6B7A"/>
                </a:solidFill>
                <a:latin typeface="Calibri"/>
                <a:cs typeface="Calibri"/>
              </a:rPr>
              <a:t> </a:t>
            </a:r>
            <a:r>
              <a:rPr sz="1189" b="1" i="1" dirty="0">
                <a:solidFill>
                  <a:srgbClr val="5B6B7A"/>
                </a:solidFill>
                <a:latin typeface="Calibri"/>
                <a:cs typeface="Calibri"/>
              </a:rPr>
              <a:t>Preliminary—validate before</a:t>
            </a:r>
            <a:r>
              <a:rPr sz="1189" b="1" i="1" spc="-8" dirty="0">
                <a:solidFill>
                  <a:srgbClr val="5B6B7A"/>
                </a:solidFill>
                <a:latin typeface="Calibri"/>
                <a:cs typeface="Calibri"/>
              </a:rPr>
              <a:t> </a:t>
            </a:r>
            <a:r>
              <a:rPr sz="1189" b="1" i="1" dirty="0">
                <a:solidFill>
                  <a:srgbClr val="5B6B7A"/>
                </a:solidFill>
                <a:latin typeface="Calibri"/>
                <a:cs typeface="Calibri"/>
              </a:rPr>
              <a:t>use:</a:t>
            </a:r>
            <a:r>
              <a:rPr sz="1189" b="1" i="1" spc="87" dirty="0">
                <a:solidFill>
                  <a:srgbClr val="5B6B7A"/>
                </a:solidFill>
                <a:latin typeface="Calibri"/>
                <a:cs typeface="Calibri"/>
              </a:rPr>
              <a:t> </a:t>
            </a:r>
            <a:r>
              <a:rPr lang="en-US" sz="1189" i="1" spc="-16" dirty="0">
                <a:solidFill>
                  <a:srgbClr val="5B6B7A"/>
                </a:solidFill>
                <a:cs typeface="Calibri"/>
              </a:rPr>
              <a:t>Indonesia's Ministry of Health and BPJS must validate provincial baseline cascade estimates and province-adjusted costs</a:t>
            </a:r>
            <a:r>
              <a:rPr sz="1189" i="1" spc="-16" dirty="0">
                <a:solidFill>
                  <a:srgbClr val="5B6B7A"/>
                </a:solidFill>
                <a:latin typeface="Calibri"/>
                <a:cs typeface="Calibri"/>
              </a:rPr>
              <a:t>. Provincial </a:t>
            </a:r>
            <a:r>
              <a:rPr sz="1189" i="1" dirty="0">
                <a:solidFill>
                  <a:srgbClr val="5B6B7A"/>
                </a:solidFill>
                <a:latin typeface="Calibri"/>
                <a:cs typeface="Calibri"/>
              </a:rPr>
              <a:t>CVD</a:t>
            </a:r>
            <a:r>
              <a:rPr sz="1189" i="1" spc="-16" dirty="0">
                <a:solidFill>
                  <a:srgbClr val="5B6B7A"/>
                </a:solidFill>
                <a:latin typeface="Calibri"/>
                <a:cs typeface="Calibri"/>
              </a:rPr>
              <a:t> </a:t>
            </a:r>
            <a:r>
              <a:rPr sz="1189" i="1" dirty="0">
                <a:solidFill>
                  <a:srgbClr val="5B6B7A"/>
                </a:solidFill>
                <a:latin typeface="Calibri"/>
                <a:cs typeface="Calibri"/>
              </a:rPr>
              <a:t>treatment</a:t>
            </a:r>
            <a:r>
              <a:rPr sz="1189" i="1" spc="-8" dirty="0">
                <a:solidFill>
                  <a:srgbClr val="5B6B7A"/>
                </a:solidFill>
                <a:latin typeface="Calibri"/>
                <a:cs typeface="Calibri"/>
              </a:rPr>
              <a:t> </a:t>
            </a:r>
            <a:r>
              <a:rPr sz="1189" i="1" dirty="0">
                <a:solidFill>
                  <a:srgbClr val="5B6B7A"/>
                </a:solidFill>
                <a:latin typeface="Calibri"/>
                <a:cs typeface="Calibri"/>
              </a:rPr>
              <a:t>coverage</a:t>
            </a:r>
            <a:r>
              <a:rPr sz="1189" i="1" spc="-16" dirty="0">
                <a:solidFill>
                  <a:srgbClr val="5B6B7A"/>
                </a:solidFill>
                <a:latin typeface="Calibri"/>
                <a:cs typeface="Calibri"/>
              </a:rPr>
              <a:t> </a:t>
            </a:r>
            <a:r>
              <a:rPr sz="1189" i="1" dirty="0">
                <a:solidFill>
                  <a:srgbClr val="5B6B7A"/>
                </a:solidFill>
                <a:latin typeface="Calibri"/>
                <a:cs typeface="Calibri"/>
              </a:rPr>
              <a:t>is</a:t>
            </a:r>
            <a:r>
              <a:rPr sz="1189" i="1" spc="-8" dirty="0">
                <a:solidFill>
                  <a:srgbClr val="5B6B7A"/>
                </a:solidFill>
                <a:latin typeface="Calibri"/>
                <a:cs typeface="Calibri"/>
              </a:rPr>
              <a:t> </a:t>
            </a:r>
            <a:r>
              <a:rPr sz="1189" i="1" dirty="0">
                <a:solidFill>
                  <a:srgbClr val="5B6B7A"/>
                </a:solidFill>
                <a:latin typeface="Calibri"/>
                <a:cs typeface="Calibri"/>
              </a:rPr>
              <a:t>a</a:t>
            </a:r>
            <a:r>
              <a:rPr sz="1189" i="1" spc="-16" dirty="0">
                <a:solidFill>
                  <a:srgbClr val="5B6B7A"/>
                </a:solidFill>
                <a:latin typeface="Calibri"/>
                <a:cs typeface="Calibri"/>
              </a:rPr>
              <a:t> </a:t>
            </a:r>
            <a:r>
              <a:rPr sz="1189" i="1" dirty="0">
                <a:solidFill>
                  <a:srgbClr val="5B6B7A"/>
                </a:solidFill>
                <a:latin typeface="Calibri"/>
                <a:cs typeface="Calibri"/>
              </a:rPr>
              <a:t>crude</a:t>
            </a:r>
            <a:r>
              <a:rPr sz="1189" i="1" spc="-16" dirty="0">
                <a:solidFill>
                  <a:srgbClr val="5B6B7A"/>
                </a:solidFill>
                <a:latin typeface="Calibri"/>
                <a:cs typeface="Calibri"/>
              </a:rPr>
              <a:t> </a:t>
            </a:r>
            <a:r>
              <a:rPr sz="1189" i="1" dirty="0">
                <a:solidFill>
                  <a:srgbClr val="5B6B7A"/>
                </a:solidFill>
                <a:latin typeface="Calibri"/>
                <a:cs typeface="Calibri"/>
              </a:rPr>
              <a:t>anchor</a:t>
            </a:r>
            <a:r>
              <a:rPr sz="1189" i="1" spc="-8" dirty="0">
                <a:solidFill>
                  <a:srgbClr val="5B6B7A"/>
                </a:solidFill>
                <a:latin typeface="Calibri"/>
                <a:cs typeface="Calibri"/>
              </a:rPr>
              <a:t> </a:t>
            </a:r>
            <a:r>
              <a:rPr lang="en-US" sz="1189" i="1" dirty="0">
                <a:solidFill>
                  <a:srgbClr val="5B6B7A"/>
                </a:solidFill>
                <a:cs typeface="Calibri"/>
              </a:rPr>
              <a:t>based on observed CVD mortality and the modeled coverage-effect relationship (extreme values capped); provincial diabetes coverage is scaled proportionally</a:t>
            </a:r>
            <a:r>
              <a:rPr sz="1189" i="1" spc="-16" dirty="0">
                <a:solidFill>
                  <a:srgbClr val="5B6B7A"/>
                </a:solidFill>
                <a:latin typeface="Calibri"/>
                <a:cs typeface="Calibri"/>
              </a:rPr>
              <a:t>.</a:t>
            </a:r>
            <a:endParaRPr sz="1189" dirty="0">
              <a:latin typeface="Calibri"/>
              <a:cs typeface="Calibri"/>
            </a:endParaRPr>
          </a:p>
        </p:txBody>
      </p:sp>
      <p:pic>
        <p:nvPicPr>
          <p:cNvPr id="142" name="Picture 141">
            <a:extLst>
              <a:ext uri="{FF2B5EF4-FFF2-40B4-BE49-F238E27FC236}">
                <a16:creationId xmlns:a16="http://schemas.microsoft.com/office/drawing/2014/main" id="{CACE63A1-D707-555C-A48F-174FDE03D8D5}"/>
              </a:ext>
            </a:extLst>
          </p:cNvPr>
          <p:cNvPicPr>
            <a:picLocks noChangeAspect="1"/>
          </p:cNvPicPr>
          <p:nvPr/>
        </p:nvPicPr>
        <p:blipFill>
          <a:blip r:embed="rId2"/>
          <a:stretch>
            <a:fillRect/>
          </a:stretch>
        </p:blipFill>
        <p:spPr>
          <a:xfrm>
            <a:off x="0" y="1739747"/>
            <a:ext cx="9144000" cy="3378506"/>
          </a:xfrm>
          <a:prstGeom prst="rect">
            <a:avLst/>
          </a:prstGeom>
        </p:spPr>
      </p:pic>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79959" y="159181"/>
            <a:ext cx="8584081" cy="1217341"/>
          </a:xfrm>
          <a:prstGeom prst="rect">
            <a:avLst/>
          </a:prstGeom>
        </p:spPr>
        <p:txBody>
          <a:bodyPr vert="horz" wrap="square" lIns="0" tIns="19134" rIns="0" bIns="0" rtlCol="0" anchor="ctr">
            <a:spAutoFit/>
          </a:bodyPr>
          <a:lstStyle/>
          <a:p>
            <a:pPr marL="20141" marR="8056" algn="ctr">
              <a:lnSpc>
                <a:spcPct val="110700"/>
              </a:lnSpc>
              <a:spcBef>
                <a:spcPts val="167"/>
              </a:spcBef>
            </a:pPr>
            <a:r>
              <a:rPr sz="3600" b="1" spc="-16" dirty="0"/>
              <a:t>CVD primary-care coverage rises toward a common target in every province by 2040</a:t>
            </a:r>
          </a:p>
        </p:txBody>
      </p:sp>
      <p:pic>
        <p:nvPicPr>
          <p:cNvPr id="3" name="object 3"/>
          <p:cNvPicPr/>
          <p:nvPr/>
        </p:nvPicPr>
        <p:blipFill>
          <a:blip r:embed="rId2" cstate="print"/>
          <a:stretch>
            <a:fillRect/>
          </a:stretch>
        </p:blipFill>
        <p:spPr>
          <a:xfrm>
            <a:off x="594480" y="2235116"/>
            <a:ext cx="7947254" cy="1447014"/>
          </a:xfrm>
          <a:prstGeom prst="rect">
            <a:avLst/>
          </a:prstGeom>
        </p:spPr>
      </p:pic>
      <p:sp>
        <p:nvSpPr>
          <p:cNvPr id="4" name="object 4"/>
          <p:cNvSpPr txBox="1"/>
          <p:nvPr/>
        </p:nvSpPr>
        <p:spPr>
          <a:xfrm>
            <a:off x="2414491" y="2078398"/>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2025</a:t>
            </a:r>
            <a:endParaRPr sz="872">
              <a:latin typeface="Arial"/>
              <a:cs typeface="Arial"/>
            </a:endParaRPr>
          </a:p>
        </p:txBody>
      </p:sp>
      <p:sp>
        <p:nvSpPr>
          <p:cNvPr id="5" name="object 5"/>
          <p:cNvSpPr txBox="1"/>
          <p:nvPr/>
        </p:nvSpPr>
        <p:spPr>
          <a:xfrm>
            <a:off x="6416833" y="2078398"/>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2040</a:t>
            </a:r>
            <a:endParaRPr sz="872">
              <a:latin typeface="Arial"/>
              <a:cs typeface="Arial"/>
            </a:endParaRPr>
          </a:p>
        </p:txBody>
      </p:sp>
      <p:grpSp>
        <p:nvGrpSpPr>
          <p:cNvPr id="6" name="object 6"/>
          <p:cNvGrpSpPr/>
          <p:nvPr/>
        </p:nvGrpSpPr>
        <p:grpSpPr>
          <a:xfrm>
            <a:off x="4975772" y="3747633"/>
            <a:ext cx="1592144" cy="94663"/>
            <a:chOff x="3137500" y="1823341"/>
            <a:chExt cx="1003935" cy="59690"/>
          </a:xfrm>
        </p:grpSpPr>
        <p:pic>
          <p:nvPicPr>
            <p:cNvPr id="7" name="object 7"/>
            <p:cNvPicPr/>
            <p:nvPr/>
          </p:nvPicPr>
          <p:blipFill>
            <a:blip r:embed="rId3" cstate="print"/>
            <a:stretch>
              <a:fillRect/>
            </a:stretch>
          </p:blipFill>
          <p:spPr>
            <a:xfrm>
              <a:off x="3137500" y="1823341"/>
              <a:ext cx="1003850" cy="59182"/>
            </a:xfrm>
            <a:prstGeom prst="rect">
              <a:avLst/>
            </a:prstGeom>
          </p:spPr>
        </p:pic>
        <p:sp>
          <p:nvSpPr>
            <p:cNvPr id="8" name="object 8"/>
            <p:cNvSpPr/>
            <p:nvPr/>
          </p:nvSpPr>
          <p:spPr>
            <a:xfrm>
              <a:off x="3139193" y="1823341"/>
              <a:ext cx="961390" cy="59690"/>
            </a:xfrm>
            <a:custGeom>
              <a:avLst/>
              <a:gdLst/>
              <a:ahLst/>
              <a:cxnLst/>
              <a:rect l="l" t="t" r="r" b="b"/>
              <a:pathLst>
                <a:path w="961389" h="59689">
                  <a:moveTo>
                    <a:pt x="0" y="33400"/>
                  </a:moveTo>
                  <a:lnTo>
                    <a:pt x="0" y="59174"/>
                  </a:lnTo>
                </a:path>
                <a:path w="961389" h="59689">
                  <a:moveTo>
                    <a:pt x="240202" y="33400"/>
                  </a:moveTo>
                  <a:lnTo>
                    <a:pt x="240202" y="59174"/>
                  </a:lnTo>
                </a:path>
                <a:path w="961389" h="59689">
                  <a:moveTo>
                    <a:pt x="480442" y="33400"/>
                  </a:moveTo>
                  <a:lnTo>
                    <a:pt x="480442" y="59174"/>
                  </a:lnTo>
                </a:path>
                <a:path w="961389" h="59689">
                  <a:moveTo>
                    <a:pt x="720652" y="33400"/>
                  </a:moveTo>
                  <a:lnTo>
                    <a:pt x="720652" y="59174"/>
                  </a:lnTo>
                </a:path>
                <a:path w="961389" h="59689">
                  <a:moveTo>
                    <a:pt x="960854" y="33400"/>
                  </a:moveTo>
                  <a:lnTo>
                    <a:pt x="960854" y="59174"/>
                  </a:lnTo>
                </a:path>
                <a:path w="961389" h="59689">
                  <a:moveTo>
                    <a:pt x="0" y="25773"/>
                  </a:moveTo>
                  <a:lnTo>
                    <a:pt x="0" y="0"/>
                  </a:lnTo>
                </a:path>
                <a:path w="961389" h="59689">
                  <a:moveTo>
                    <a:pt x="240202" y="25773"/>
                  </a:moveTo>
                  <a:lnTo>
                    <a:pt x="240202" y="0"/>
                  </a:lnTo>
                </a:path>
                <a:path w="961389" h="59689">
                  <a:moveTo>
                    <a:pt x="480442" y="25773"/>
                  </a:moveTo>
                  <a:lnTo>
                    <a:pt x="480442" y="0"/>
                  </a:lnTo>
                </a:path>
                <a:path w="961389" h="59689">
                  <a:moveTo>
                    <a:pt x="720652" y="25773"/>
                  </a:moveTo>
                  <a:lnTo>
                    <a:pt x="720652" y="0"/>
                  </a:lnTo>
                </a:path>
                <a:path w="961389" h="59689">
                  <a:moveTo>
                    <a:pt x="960854" y="25773"/>
                  </a:moveTo>
                  <a:lnTo>
                    <a:pt x="960854" y="0"/>
                  </a:lnTo>
                </a:path>
              </a:pathLst>
            </a:custGeom>
            <a:ln w="3175">
              <a:solidFill>
                <a:srgbClr val="FFFFFF"/>
              </a:solidFill>
            </a:ln>
          </p:spPr>
          <p:txBody>
            <a:bodyPr wrap="square" lIns="0" tIns="0" rIns="0" bIns="0" rtlCol="0"/>
            <a:lstStyle/>
            <a:p>
              <a:endParaRPr sz="2855"/>
            </a:p>
          </p:txBody>
        </p:sp>
      </p:grpSp>
      <p:sp>
        <p:nvSpPr>
          <p:cNvPr id="9" name="object 9"/>
          <p:cNvSpPr txBox="1"/>
          <p:nvPr/>
        </p:nvSpPr>
        <p:spPr>
          <a:xfrm>
            <a:off x="2506443" y="3799217"/>
            <a:ext cx="2593150" cy="134307"/>
          </a:xfrm>
          <a:prstGeom prst="rect">
            <a:avLst/>
          </a:prstGeom>
        </p:spPr>
        <p:txBody>
          <a:bodyPr vert="horz" wrap="square" lIns="0" tIns="24169" rIns="0" bIns="0" rtlCol="0">
            <a:spAutoFit/>
          </a:bodyPr>
          <a:lstStyle/>
          <a:p>
            <a:pPr marL="60423">
              <a:spcBef>
                <a:spcPts val="190"/>
              </a:spcBef>
            </a:pPr>
            <a:r>
              <a:rPr sz="714" dirty="0">
                <a:solidFill>
                  <a:srgbClr val="0E2A56"/>
                </a:solidFill>
                <a:latin typeface="Arial MT"/>
                <a:cs typeface="Arial MT"/>
              </a:rPr>
              <a:t>CVD</a:t>
            </a:r>
            <a:r>
              <a:rPr sz="714" spc="87" dirty="0">
                <a:solidFill>
                  <a:srgbClr val="0E2A56"/>
                </a:solidFill>
                <a:latin typeface="Arial MT"/>
                <a:cs typeface="Arial MT"/>
              </a:rPr>
              <a:t> </a:t>
            </a:r>
            <a:r>
              <a:rPr sz="714" dirty="0">
                <a:solidFill>
                  <a:srgbClr val="0E2A56"/>
                </a:solidFill>
                <a:latin typeface="Arial MT"/>
                <a:cs typeface="Arial MT"/>
              </a:rPr>
              <a:t>primary-care</a:t>
            </a:r>
            <a:r>
              <a:rPr sz="714" spc="87" dirty="0">
                <a:solidFill>
                  <a:srgbClr val="0E2A56"/>
                </a:solidFill>
                <a:latin typeface="Arial MT"/>
                <a:cs typeface="Arial MT"/>
              </a:rPr>
              <a:t> </a:t>
            </a:r>
            <a:r>
              <a:rPr sz="714" dirty="0">
                <a:solidFill>
                  <a:srgbClr val="0E2A56"/>
                </a:solidFill>
                <a:latin typeface="Arial MT"/>
                <a:cs typeface="Arial MT"/>
              </a:rPr>
              <a:t>effective</a:t>
            </a:r>
            <a:r>
              <a:rPr sz="714" spc="95" dirty="0">
                <a:solidFill>
                  <a:srgbClr val="0E2A56"/>
                </a:solidFill>
                <a:latin typeface="Arial MT"/>
                <a:cs typeface="Arial MT"/>
              </a:rPr>
              <a:t> </a:t>
            </a:r>
            <a:r>
              <a:rPr sz="714" dirty="0">
                <a:solidFill>
                  <a:srgbClr val="0E2A56"/>
                </a:solidFill>
                <a:latin typeface="Arial MT"/>
                <a:cs typeface="Arial MT"/>
              </a:rPr>
              <a:t>coverage</a:t>
            </a:r>
            <a:r>
              <a:rPr sz="714" spc="87" dirty="0">
                <a:solidFill>
                  <a:srgbClr val="0E2A56"/>
                </a:solidFill>
                <a:latin typeface="Arial MT"/>
                <a:cs typeface="Arial MT"/>
              </a:rPr>
              <a:t> </a:t>
            </a:r>
            <a:r>
              <a:rPr sz="714" dirty="0">
                <a:solidFill>
                  <a:srgbClr val="0E2A56"/>
                </a:solidFill>
                <a:latin typeface="Arial MT"/>
                <a:cs typeface="Arial MT"/>
              </a:rPr>
              <a:t>used</a:t>
            </a:r>
            <a:r>
              <a:rPr sz="714" spc="87" dirty="0">
                <a:solidFill>
                  <a:srgbClr val="0E2A56"/>
                </a:solidFill>
                <a:latin typeface="Arial MT"/>
                <a:cs typeface="Arial MT"/>
              </a:rPr>
              <a:t> </a:t>
            </a:r>
            <a:r>
              <a:rPr sz="714" dirty="0">
                <a:solidFill>
                  <a:srgbClr val="0E2A56"/>
                </a:solidFill>
                <a:latin typeface="Arial MT"/>
                <a:cs typeface="Arial MT"/>
              </a:rPr>
              <a:t>by</a:t>
            </a:r>
            <a:r>
              <a:rPr sz="714" spc="95" dirty="0">
                <a:solidFill>
                  <a:srgbClr val="0E2A56"/>
                </a:solidFill>
                <a:latin typeface="Arial MT"/>
                <a:cs typeface="Arial MT"/>
              </a:rPr>
              <a:t> </a:t>
            </a:r>
            <a:r>
              <a:rPr sz="714" dirty="0">
                <a:solidFill>
                  <a:srgbClr val="0E2A56"/>
                </a:solidFill>
                <a:latin typeface="Arial MT"/>
                <a:cs typeface="Arial MT"/>
              </a:rPr>
              <a:t>the</a:t>
            </a:r>
            <a:r>
              <a:rPr sz="714" spc="87" dirty="0">
                <a:solidFill>
                  <a:srgbClr val="0E2A56"/>
                </a:solidFill>
                <a:latin typeface="Arial MT"/>
                <a:cs typeface="Arial MT"/>
              </a:rPr>
              <a:t> </a:t>
            </a:r>
            <a:r>
              <a:rPr sz="714" spc="-16" dirty="0">
                <a:solidFill>
                  <a:srgbClr val="0E2A56"/>
                </a:solidFill>
                <a:latin typeface="Arial MT"/>
                <a:cs typeface="Arial MT"/>
              </a:rPr>
              <a:t>model</a:t>
            </a:r>
            <a:r>
              <a:rPr sz="952" spc="-24" baseline="-41666" dirty="0">
                <a:latin typeface="Arial MT"/>
                <a:cs typeface="Arial MT"/>
              </a:rPr>
              <a:t>0%</a:t>
            </a:r>
            <a:endParaRPr sz="952" baseline="-41666">
              <a:latin typeface="Arial MT"/>
              <a:cs typeface="Arial MT"/>
            </a:endParaRPr>
          </a:p>
        </p:txBody>
      </p:sp>
      <p:sp>
        <p:nvSpPr>
          <p:cNvPr id="10" name="object 10"/>
          <p:cNvSpPr txBox="1"/>
          <p:nvPr/>
        </p:nvSpPr>
        <p:spPr>
          <a:xfrm>
            <a:off x="5256404" y="3868542"/>
            <a:ext cx="1349445" cy="119962"/>
          </a:xfrm>
          <a:prstGeom prst="rect">
            <a:avLst/>
          </a:prstGeom>
        </p:spPr>
        <p:txBody>
          <a:bodyPr vert="horz" wrap="square" lIns="0" tIns="22155" rIns="0" bIns="0" rtlCol="0">
            <a:spAutoFit/>
          </a:bodyPr>
          <a:lstStyle/>
          <a:p>
            <a:pPr marL="20141">
              <a:spcBef>
                <a:spcPts val="174"/>
              </a:spcBef>
              <a:tabLst>
                <a:tab pos="400803" algn="l"/>
                <a:tab pos="781466" algn="l"/>
                <a:tab pos="1162132" algn="l"/>
              </a:tabLst>
            </a:pPr>
            <a:r>
              <a:rPr sz="634" spc="-40" dirty="0">
                <a:latin typeface="Arial MT"/>
                <a:cs typeface="Arial MT"/>
              </a:rPr>
              <a:t>10%</a:t>
            </a:r>
            <a:r>
              <a:rPr sz="634" dirty="0">
                <a:latin typeface="Arial MT"/>
                <a:cs typeface="Arial MT"/>
              </a:rPr>
              <a:t>	</a:t>
            </a:r>
            <a:r>
              <a:rPr sz="634" spc="-40" dirty="0">
                <a:latin typeface="Arial MT"/>
                <a:cs typeface="Arial MT"/>
              </a:rPr>
              <a:t>20%</a:t>
            </a:r>
            <a:r>
              <a:rPr sz="634" dirty="0">
                <a:latin typeface="Arial MT"/>
                <a:cs typeface="Arial MT"/>
              </a:rPr>
              <a:t>	</a:t>
            </a:r>
            <a:r>
              <a:rPr sz="634" spc="-40" dirty="0">
                <a:latin typeface="Arial MT"/>
                <a:cs typeface="Arial MT"/>
              </a:rPr>
              <a:t>30%</a:t>
            </a:r>
            <a:r>
              <a:rPr sz="634" dirty="0">
                <a:latin typeface="Arial MT"/>
                <a:cs typeface="Arial MT"/>
              </a:rPr>
              <a:t>	</a:t>
            </a:r>
            <a:r>
              <a:rPr sz="634" spc="-40" dirty="0">
                <a:latin typeface="Arial MT"/>
                <a:cs typeface="Arial MT"/>
              </a:rPr>
              <a:t>40%</a:t>
            </a:r>
            <a:endParaRPr sz="634">
              <a:latin typeface="Arial MT"/>
              <a:cs typeface="Arial MT"/>
            </a:endParaRPr>
          </a:p>
        </p:txBody>
      </p:sp>
      <p:sp>
        <p:nvSpPr>
          <p:cNvPr id="14" name="object 12">
            <a:extLst>
              <a:ext uri="{FF2B5EF4-FFF2-40B4-BE49-F238E27FC236}">
                <a16:creationId xmlns:a16="http://schemas.microsoft.com/office/drawing/2014/main" id="{BAE6FB27-8006-9DA4-40B6-474AADB5F310}"/>
              </a:ext>
            </a:extLst>
          </p:cNvPr>
          <p:cNvSpPr txBox="1"/>
          <p:nvPr/>
        </p:nvSpPr>
        <p:spPr>
          <a:xfrm>
            <a:off x="532009" y="5322993"/>
            <a:ext cx="8079982" cy="758669"/>
          </a:xfrm>
          <a:prstGeom prst="rect">
            <a:avLst/>
          </a:prstGeom>
        </p:spPr>
        <p:txBody>
          <a:bodyPr vert="horz" wrap="square" lIns="0" tIns="11430" rIns="0" bIns="0" rtlCol="0">
            <a:spAutoFit/>
          </a:bodyPr>
          <a:lstStyle/>
          <a:p>
            <a:pPr marL="12700" marR="31750" algn="just">
              <a:lnSpc>
                <a:spcPct val="101699"/>
              </a:lnSpc>
              <a:spcBef>
                <a:spcPts val="90"/>
              </a:spcBef>
            </a:pPr>
            <a:r>
              <a:rPr lang="en-US" sz="1200" b="1" i="1" dirty="0">
                <a:solidFill>
                  <a:srgbClr val="5B6B7A"/>
                </a:solidFill>
                <a:latin typeface="Calibri"/>
                <a:cs typeface="Calibri"/>
              </a:rPr>
              <a:t>Method:</a:t>
            </a:r>
            <a:r>
              <a:rPr lang="en-US" sz="1200" i="1" dirty="0">
                <a:solidFill>
                  <a:srgbClr val="5B6B7A"/>
                </a:solidFill>
                <a:latin typeface="Calibri"/>
                <a:cs typeface="Calibri"/>
              </a:rPr>
              <a:t> CVD primary-care effective coverage (the model’s own effect/cost driver) for 2025 and 2040. </a:t>
            </a:r>
            <a:r>
              <a:rPr sz="1200" b="1" i="1" dirty="0">
                <a:solidFill>
                  <a:srgbClr val="5B6B7A"/>
                </a:solidFill>
                <a:latin typeface="Calibri"/>
                <a:cs typeface="Calibri"/>
              </a:rPr>
              <a:t>Preliminary—validate</a:t>
            </a:r>
            <a:r>
              <a:rPr sz="1200" b="1" i="1" spc="-15" dirty="0">
                <a:solidFill>
                  <a:srgbClr val="5B6B7A"/>
                </a:solidFill>
                <a:latin typeface="Calibri"/>
                <a:cs typeface="Calibri"/>
              </a:rPr>
              <a:t> </a:t>
            </a:r>
            <a:r>
              <a:rPr sz="1200" b="1" i="1" dirty="0">
                <a:solidFill>
                  <a:srgbClr val="5B6B7A"/>
                </a:solidFill>
                <a:latin typeface="Calibri"/>
                <a:cs typeface="Calibri"/>
              </a:rPr>
              <a:t>before</a:t>
            </a:r>
            <a:r>
              <a:rPr sz="1200" b="1" i="1" spc="-10" dirty="0">
                <a:solidFill>
                  <a:srgbClr val="5B6B7A"/>
                </a:solidFill>
                <a:latin typeface="Calibri"/>
                <a:cs typeface="Calibri"/>
              </a:rPr>
              <a:t> </a:t>
            </a:r>
            <a:r>
              <a:rPr sz="1200" b="1" i="1" dirty="0">
                <a:solidFill>
                  <a:srgbClr val="5B6B7A"/>
                </a:solidFill>
                <a:latin typeface="Calibri"/>
                <a:cs typeface="Calibri"/>
              </a:rPr>
              <a:t>use:</a:t>
            </a:r>
            <a:r>
              <a:rPr sz="1200" b="1" i="1" spc="40" dirty="0">
                <a:solidFill>
                  <a:srgbClr val="5B6B7A"/>
                </a:solidFill>
                <a:latin typeface="Calibri"/>
                <a:cs typeface="Calibri"/>
              </a:rPr>
              <a:t> </a:t>
            </a:r>
            <a:r>
              <a:rPr lang="en-US" sz="1200" i="1" spc="-10" dirty="0">
                <a:solidFill>
                  <a:srgbClr val="5B6B7A"/>
                </a:solidFill>
                <a:cs typeface="Calibri"/>
              </a:rPr>
              <a:t>Indonesia's Ministry of Health and BPJS must validate provincial baseline cascade estimates and province-adjusted costs</a:t>
            </a:r>
            <a:r>
              <a:rPr sz="1200" i="1" spc="-10" dirty="0">
                <a:solidFill>
                  <a:srgbClr val="5B6B7A"/>
                </a:solidFill>
                <a:latin typeface="Calibri"/>
                <a:cs typeface="Calibri"/>
              </a:rPr>
              <a:t>.</a:t>
            </a:r>
            <a:r>
              <a:rPr sz="1200" i="1" spc="-5" dirty="0">
                <a:solidFill>
                  <a:srgbClr val="5B6B7A"/>
                </a:solidFill>
                <a:latin typeface="Calibri"/>
                <a:cs typeface="Calibri"/>
              </a:rPr>
              <a:t> </a:t>
            </a:r>
            <a:r>
              <a:rPr sz="1200" i="1" spc="-10" dirty="0">
                <a:solidFill>
                  <a:srgbClr val="5B6B7A"/>
                </a:solidFill>
                <a:latin typeface="Calibri"/>
                <a:cs typeface="Calibri"/>
              </a:rPr>
              <a:t>Provincial</a:t>
            </a:r>
            <a:r>
              <a:rPr sz="1200" i="1" spc="500" dirty="0">
                <a:solidFill>
                  <a:srgbClr val="5B6B7A"/>
                </a:solidFill>
                <a:latin typeface="Calibri"/>
                <a:cs typeface="Calibri"/>
              </a:rPr>
              <a:t> </a:t>
            </a:r>
            <a:r>
              <a:rPr sz="1200" i="1" dirty="0">
                <a:solidFill>
                  <a:srgbClr val="5B6B7A"/>
                </a:solidFill>
                <a:latin typeface="Calibri"/>
                <a:cs typeface="Calibri"/>
              </a:rPr>
              <a:t>CVD</a:t>
            </a:r>
            <a:r>
              <a:rPr sz="1200" i="1" spc="-5" dirty="0">
                <a:solidFill>
                  <a:srgbClr val="5B6B7A"/>
                </a:solidFill>
                <a:latin typeface="Calibri"/>
                <a:cs typeface="Calibri"/>
              </a:rPr>
              <a:t> </a:t>
            </a:r>
            <a:r>
              <a:rPr sz="1200" i="1" dirty="0">
                <a:solidFill>
                  <a:srgbClr val="5B6B7A"/>
                </a:solidFill>
                <a:latin typeface="Calibri"/>
                <a:cs typeface="Calibri"/>
              </a:rPr>
              <a:t>treatment coverage</a:t>
            </a:r>
            <a:r>
              <a:rPr sz="1200" i="1" spc="-5" dirty="0">
                <a:solidFill>
                  <a:srgbClr val="5B6B7A"/>
                </a:solidFill>
                <a:latin typeface="Calibri"/>
                <a:cs typeface="Calibri"/>
              </a:rPr>
              <a:t> </a:t>
            </a:r>
            <a:r>
              <a:rPr sz="1200" i="1" dirty="0">
                <a:solidFill>
                  <a:srgbClr val="5B6B7A"/>
                </a:solidFill>
                <a:latin typeface="Calibri"/>
                <a:cs typeface="Calibri"/>
              </a:rPr>
              <a:t>is a</a:t>
            </a:r>
            <a:r>
              <a:rPr sz="1200" i="1" spc="-5" dirty="0">
                <a:solidFill>
                  <a:srgbClr val="5B6B7A"/>
                </a:solidFill>
                <a:latin typeface="Calibri"/>
                <a:cs typeface="Calibri"/>
              </a:rPr>
              <a:t> </a:t>
            </a:r>
            <a:r>
              <a:rPr sz="1200" i="1" dirty="0">
                <a:solidFill>
                  <a:srgbClr val="5B6B7A"/>
                </a:solidFill>
                <a:latin typeface="Calibri"/>
                <a:cs typeface="Calibri"/>
              </a:rPr>
              <a:t>crude anchor</a:t>
            </a:r>
            <a:r>
              <a:rPr sz="1200" i="1" spc="-5" dirty="0">
                <a:solidFill>
                  <a:srgbClr val="5B6B7A"/>
                </a:solidFill>
                <a:latin typeface="Calibri"/>
                <a:cs typeface="Calibri"/>
              </a:rPr>
              <a:t> </a:t>
            </a:r>
            <a:r>
              <a:rPr lang="en-US" sz="1200" i="1" dirty="0">
                <a:solidFill>
                  <a:srgbClr val="5B6B7A"/>
                </a:solidFill>
                <a:cs typeface="Calibri"/>
              </a:rPr>
              <a:t>based on observed CVD mortality and the modeled coverage-effect relationship (extreme values capped); provincial diabetes coverage is scaled proportionally</a:t>
            </a:r>
            <a:r>
              <a:rPr sz="1200" i="1" spc="-10" dirty="0">
                <a:solidFill>
                  <a:srgbClr val="5B6B7A"/>
                </a:solidFill>
                <a:latin typeface="Calibri"/>
                <a:cs typeface="Calibri"/>
              </a:rPr>
              <a:t>.</a:t>
            </a:r>
            <a:endParaRPr sz="1200" dirty="0">
              <a:latin typeface="Calibri"/>
              <a:cs typeface="Calibri"/>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5055" y="137292"/>
            <a:ext cx="8191332" cy="1217341"/>
          </a:xfrm>
          <a:prstGeom prst="rect">
            <a:avLst/>
          </a:prstGeom>
        </p:spPr>
        <p:txBody>
          <a:bodyPr vert="horz" wrap="square" lIns="0" tIns="19134" rIns="0" bIns="0" rtlCol="0" anchor="ctr">
            <a:spAutoFit/>
          </a:bodyPr>
          <a:lstStyle/>
          <a:p>
            <a:pPr marL="20141" marR="8056" algn="ctr">
              <a:lnSpc>
                <a:spcPct val="110700"/>
              </a:lnSpc>
              <a:spcBef>
                <a:spcPts val="167"/>
              </a:spcBef>
            </a:pPr>
            <a:r>
              <a:rPr sz="3600" b="1" spc="-16" dirty="0"/>
              <a:t>Cardiovascular deaths fall most where the baseline gaps and burden are largest</a:t>
            </a:r>
          </a:p>
        </p:txBody>
      </p:sp>
      <p:pic>
        <p:nvPicPr>
          <p:cNvPr id="3" name="object 3"/>
          <p:cNvPicPr/>
          <p:nvPr/>
        </p:nvPicPr>
        <p:blipFill>
          <a:blip r:embed="rId2" cstate="print"/>
          <a:stretch>
            <a:fillRect/>
          </a:stretch>
        </p:blipFill>
        <p:spPr>
          <a:xfrm>
            <a:off x="594480" y="2253536"/>
            <a:ext cx="7947254" cy="1447014"/>
          </a:xfrm>
          <a:prstGeom prst="rect">
            <a:avLst/>
          </a:prstGeom>
        </p:spPr>
      </p:pic>
      <p:sp>
        <p:nvSpPr>
          <p:cNvPr id="4" name="object 4"/>
          <p:cNvSpPr txBox="1"/>
          <p:nvPr/>
        </p:nvSpPr>
        <p:spPr>
          <a:xfrm>
            <a:off x="2414491" y="2096818"/>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2030</a:t>
            </a:r>
            <a:endParaRPr sz="872">
              <a:latin typeface="Arial"/>
              <a:cs typeface="Arial"/>
            </a:endParaRPr>
          </a:p>
        </p:txBody>
      </p:sp>
      <p:sp>
        <p:nvSpPr>
          <p:cNvPr id="5" name="object 5"/>
          <p:cNvSpPr txBox="1"/>
          <p:nvPr/>
        </p:nvSpPr>
        <p:spPr>
          <a:xfrm>
            <a:off x="6416833" y="2096818"/>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2040</a:t>
            </a:r>
            <a:endParaRPr sz="872">
              <a:latin typeface="Arial"/>
              <a:cs typeface="Arial"/>
            </a:endParaRPr>
          </a:p>
        </p:txBody>
      </p:sp>
      <p:sp>
        <p:nvSpPr>
          <p:cNvPr id="6" name="object 6"/>
          <p:cNvSpPr txBox="1"/>
          <p:nvPr/>
        </p:nvSpPr>
        <p:spPr>
          <a:xfrm>
            <a:off x="2854235" y="3817638"/>
            <a:ext cx="1775426" cy="134307"/>
          </a:xfrm>
          <a:prstGeom prst="rect">
            <a:avLst/>
          </a:prstGeom>
        </p:spPr>
        <p:txBody>
          <a:bodyPr vert="horz" wrap="square" lIns="0" tIns="24169" rIns="0" bIns="0" rtlCol="0">
            <a:spAutoFit/>
          </a:bodyPr>
          <a:lstStyle/>
          <a:p>
            <a:pPr marL="20141">
              <a:spcBef>
                <a:spcPts val="190"/>
              </a:spcBef>
            </a:pPr>
            <a:r>
              <a:rPr sz="714" dirty="0">
                <a:solidFill>
                  <a:srgbClr val="0E2A56"/>
                </a:solidFill>
                <a:latin typeface="Arial MT"/>
                <a:cs typeface="Arial MT"/>
              </a:rPr>
              <a:t>Reduction</a:t>
            </a:r>
            <a:r>
              <a:rPr sz="714" spc="79" dirty="0">
                <a:solidFill>
                  <a:srgbClr val="0E2A56"/>
                </a:solidFill>
                <a:latin typeface="Arial MT"/>
                <a:cs typeface="Arial MT"/>
              </a:rPr>
              <a:t> </a:t>
            </a:r>
            <a:r>
              <a:rPr sz="714" dirty="0">
                <a:solidFill>
                  <a:srgbClr val="0E2A56"/>
                </a:solidFill>
                <a:latin typeface="Arial MT"/>
                <a:cs typeface="Arial MT"/>
              </a:rPr>
              <a:t>in</a:t>
            </a:r>
            <a:r>
              <a:rPr sz="714" spc="79" dirty="0">
                <a:solidFill>
                  <a:srgbClr val="0E2A56"/>
                </a:solidFill>
                <a:latin typeface="Arial MT"/>
                <a:cs typeface="Arial MT"/>
              </a:rPr>
              <a:t> </a:t>
            </a:r>
            <a:r>
              <a:rPr sz="714" dirty="0">
                <a:solidFill>
                  <a:srgbClr val="0E2A56"/>
                </a:solidFill>
                <a:latin typeface="Arial MT"/>
                <a:cs typeface="Arial MT"/>
              </a:rPr>
              <a:t>CVD</a:t>
            </a:r>
            <a:r>
              <a:rPr sz="714" spc="79" dirty="0">
                <a:solidFill>
                  <a:srgbClr val="0E2A56"/>
                </a:solidFill>
                <a:latin typeface="Arial MT"/>
                <a:cs typeface="Arial MT"/>
              </a:rPr>
              <a:t> </a:t>
            </a:r>
            <a:r>
              <a:rPr sz="714" dirty="0">
                <a:solidFill>
                  <a:srgbClr val="0E2A56"/>
                </a:solidFill>
                <a:latin typeface="Arial MT"/>
                <a:cs typeface="Arial MT"/>
              </a:rPr>
              <a:t>deaths</a:t>
            </a:r>
            <a:r>
              <a:rPr sz="714" spc="79" dirty="0">
                <a:solidFill>
                  <a:srgbClr val="0E2A56"/>
                </a:solidFill>
                <a:latin typeface="Arial MT"/>
                <a:cs typeface="Arial MT"/>
              </a:rPr>
              <a:t> </a:t>
            </a:r>
            <a:r>
              <a:rPr sz="714" dirty="0">
                <a:solidFill>
                  <a:srgbClr val="0E2A56"/>
                </a:solidFill>
                <a:latin typeface="Arial MT"/>
                <a:cs typeface="Arial MT"/>
              </a:rPr>
              <a:t>vs</a:t>
            </a:r>
            <a:r>
              <a:rPr sz="714" spc="79" dirty="0">
                <a:solidFill>
                  <a:srgbClr val="0E2A56"/>
                </a:solidFill>
                <a:latin typeface="Arial MT"/>
                <a:cs typeface="Arial MT"/>
              </a:rPr>
              <a:t> </a:t>
            </a:r>
            <a:r>
              <a:rPr sz="714" dirty="0">
                <a:solidFill>
                  <a:srgbClr val="0E2A56"/>
                </a:solidFill>
                <a:latin typeface="Arial MT"/>
                <a:cs typeface="Arial MT"/>
              </a:rPr>
              <a:t>baseline</a:t>
            </a:r>
            <a:r>
              <a:rPr sz="714" spc="79" dirty="0">
                <a:solidFill>
                  <a:srgbClr val="0E2A56"/>
                </a:solidFill>
                <a:latin typeface="Arial MT"/>
                <a:cs typeface="Arial MT"/>
              </a:rPr>
              <a:t> </a:t>
            </a:r>
            <a:r>
              <a:rPr sz="714" spc="-40" dirty="0">
                <a:solidFill>
                  <a:srgbClr val="0E2A56"/>
                </a:solidFill>
                <a:latin typeface="Arial MT"/>
                <a:cs typeface="Arial MT"/>
              </a:rPr>
              <a:t>(%)</a:t>
            </a:r>
            <a:endParaRPr sz="714">
              <a:latin typeface="Arial MT"/>
              <a:cs typeface="Arial MT"/>
            </a:endParaRPr>
          </a:p>
        </p:txBody>
      </p:sp>
      <p:grpSp>
        <p:nvGrpSpPr>
          <p:cNvPr id="7" name="object 7"/>
          <p:cNvGrpSpPr/>
          <p:nvPr/>
        </p:nvGrpSpPr>
        <p:grpSpPr>
          <a:xfrm>
            <a:off x="4668260" y="3766053"/>
            <a:ext cx="1592144" cy="94663"/>
            <a:chOff x="2943597" y="1834956"/>
            <a:chExt cx="1003935" cy="59690"/>
          </a:xfrm>
        </p:grpSpPr>
        <p:pic>
          <p:nvPicPr>
            <p:cNvPr id="8" name="object 8"/>
            <p:cNvPicPr/>
            <p:nvPr/>
          </p:nvPicPr>
          <p:blipFill>
            <a:blip r:embed="rId3" cstate="print"/>
            <a:stretch>
              <a:fillRect/>
            </a:stretch>
          </p:blipFill>
          <p:spPr>
            <a:xfrm>
              <a:off x="2943597" y="1834956"/>
              <a:ext cx="1003850" cy="59182"/>
            </a:xfrm>
            <a:prstGeom prst="rect">
              <a:avLst/>
            </a:prstGeom>
          </p:spPr>
        </p:pic>
        <p:sp>
          <p:nvSpPr>
            <p:cNvPr id="9" name="object 9"/>
            <p:cNvSpPr/>
            <p:nvPr/>
          </p:nvSpPr>
          <p:spPr>
            <a:xfrm>
              <a:off x="2945289" y="1834956"/>
              <a:ext cx="777875" cy="59690"/>
            </a:xfrm>
            <a:custGeom>
              <a:avLst/>
              <a:gdLst/>
              <a:ahLst/>
              <a:cxnLst/>
              <a:rect l="l" t="t" r="r" b="b"/>
              <a:pathLst>
                <a:path w="777875" h="59689">
                  <a:moveTo>
                    <a:pt x="0" y="33400"/>
                  </a:moveTo>
                  <a:lnTo>
                    <a:pt x="0" y="59174"/>
                  </a:lnTo>
                </a:path>
                <a:path w="777875" h="59689">
                  <a:moveTo>
                    <a:pt x="259221" y="33400"/>
                  </a:moveTo>
                  <a:lnTo>
                    <a:pt x="259221" y="59174"/>
                  </a:lnTo>
                </a:path>
                <a:path w="777875" h="59689">
                  <a:moveTo>
                    <a:pt x="518420" y="33400"/>
                  </a:moveTo>
                  <a:lnTo>
                    <a:pt x="518420" y="59174"/>
                  </a:lnTo>
                </a:path>
                <a:path w="777875" h="59689">
                  <a:moveTo>
                    <a:pt x="777642" y="33400"/>
                  </a:moveTo>
                  <a:lnTo>
                    <a:pt x="777642" y="59174"/>
                  </a:lnTo>
                </a:path>
                <a:path w="777875" h="59689">
                  <a:moveTo>
                    <a:pt x="0" y="25773"/>
                  </a:moveTo>
                  <a:lnTo>
                    <a:pt x="0" y="0"/>
                  </a:lnTo>
                </a:path>
                <a:path w="777875" h="59689">
                  <a:moveTo>
                    <a:pt x="259221" y="25773"/>
                  </a:moveTo>
                  <a:lnTo>
                    <a:pt x="259221" y="0"/>
                  </a:lnTo>
                </a:path>
                <a:path w="777875" h="59689">
                  <a:moveTo>
                    <a:pt x="518420" y="25773"/>
                  </a:moveTo>
                  <a:lnTo>
                    <a:pt x="518420" y="0"/>
                  </a:lnTo>
                </a:path>
                <a:path w="777875" h="59689">
                  <a:moveTo>
                    <a:pt x="777642" y="25773"/>
                  </a:moveTo>
                  <a:lnTo>
                    <a:pt x="777642" y="0"/>
                  </a:lnTo>
                </a:path>
              </a:pathLst>
            </a:custGeom>
            <a:ln w="3175">
              <a:solidFill>
                <a:srgbClr val="FFFFFF"/>
              </a:solidFill>
            </a:ln>
          </p:spPr>
          <p:txBody>
            <a:bodyPr wrap="square" lIns="0" tIns="0" rIns="0" bIns="0" rtlCol="0"/>
            <a:lstStyle/>
            <a:p>
              <a:endParaRPr sz="2855"/>
            </a:p>
          </p:txBody>
        </p:sp>
      </p:grpSp>
      <p:sp>
        <p:nvSpPr>
          <p:cNvPr id="10" name="object 10"/>
          <p:cNvSpPr txBox="1"/>
          <p:nvPr/>
        </p:nvSpPr>
        <p:spPr>
          <a:xfrm>
            <a:off x="4556486" y="3886962"/>
            <a:ext cx="1462233" cy="119962"/>
          </a:xfrm>
          <a:prstGeom prst="rect">
            <a:avLst/>
          </a:prstGeom>
        </p:spPr>
        <p:txBody>
          <a:bodyPr vert="horz" wrap="square" lIns="0" tIns="22155" rIns="0" bIns="0" rtlCol="0">
            <a:spAutoFit/>
          </a:bodyPr>
          <a:lstStyle/>
          <a:p>
            <a:pPr marL="20141">
              <a:spcBef>
                <a:spcPts val="174"/>
              </a:spcBef>
              <a:tabLst>
                <a:tab pos="431016" algn="l"/>
                <a:tab pos="841891" algn="l"/>
                <a:tab pos="1252766" algn="l"/>
              </a:tabLst>
            </a:pPr>
            <a:r>
              <a:rPr sz="634" spc="-32" dirty="0">
                <a:latin typeface="Arial MT"/>
                <a:cs typeface="Arial MT"/>
              </a:rPr>
              <a:t>0.0%</a:t>
            </a:r>
            <a:r>
              <a:rPr sz="634" dirty="0">
                <a:latin typeface="Arial MT"/>
                <a:cs typeface="Arial MT"/>
              </a:rPr>
              <a:t>	</a:t>
            </a:r>
            <a:r>
              <a:rPr sz="634" spc="-32" dirty="0">
                <a:latin typeface="Arial MT"/>
                <a:cs typeface="Arial MT"/>
              </a:rPr>
              <a:t>2.5%</a:t>
            </a:r>
            <a:r>
              <a:rPr sz="634" dirty="0">
                <a:latin typeface="Arial MT"/>
                <a:cs typeface="Arial MT"/>
              </a:rPr>
              <a:t>	</a:t>
            </a:r>
            <a:r>
              <a:rPr sz="634" spc="-32" dirty="0">
                <a:latin typeface="Arial MT"/>
                <a:cs typeface="Arial MT"/>
              </a:rPr>
              <a:t>5.0%</a:t>
            </a:r>
            <a:r>
              <a:rPr sz="634" dirty="0">
                <a:latin typeface="Arial MT"/>
                <a:cs typeface="Arial MT"/>
              </a:rPr>
              <a:t>	</a:t>
            </a:r>
            <a:r>
              <a:rPr sz="634" spc="-32" dirty="0">
                <a:latin typeface="Arial MT"/>
                <a:cs typeface="Arial MT"/>
              </a:rPr>
              <a:t>7.5%</a:t>
            </a:r>
            <a:endParaRPr sz="634">
              <a:latin typeface="Arial MT"/>
              <a:cs typeface="Arial MT"/>
            </a:endParaRPr>
          </a:p>
        </p:txBody>
      </p:sp>
      <p:sp>
        <p:nvSpPr>
          <p:cNvPr id="11" name="object 11"/>
          <p:cNvSpPr txBox="1"/>
          <p:nvPr/>
        </p:nvSpPr>
        <p:spPr>
          <a:xfrm>
            <a:off x="550775" y="4587390"/>
            <a:ext cx="7945612" cy="971551"/>
          </a:xfrm>
          <a:prstGeom prst="rect">
            <a:avLst/>
          </a:prstGeom>
        </p:spPr>
        <p:txBody>
          <a:bodyPr vert="horz" wrap="square" lIns="0" tIns="21148" rIns="0" bIns="0" rtlCol="0">
            <a:spAutoFit/>
          </a:bodyPr>
          <a:lstStyle/>
          <a:p>
            <a:pPr marL="20141" marR="259818">
              <a:spcBef>
                <a:spcPts val="167"/>
              </a:spcBef>
            </a:pPr>
            <a:r>
              <a:rPr sz="1189" b="1" i="1" dirty="0">
                <a:solidFill>
                  <a:srgbClr val="5B6B7A"/>
                </a:solidFill>
                <a:latin typeface="Calibri"/>
                <a:cs typeface="Calibri"/>
              </a:rPr>
              <a:t>Method:</a:t>
            </a:r>
            <a:r>
              <a:rPr sz="1189" b="1" i="1" spc="95" dirty="0">
                <a:solidFill>
                  <a:srgbClr val="5B6B7A"/>
                </a:solidFill>
                <a:latin typeface="Calibri"/>
                <a:cs typeface="Calibri"/>
              </a:rPr>
              <a:t> </a:t>
            </a:r>
            <a:r>
              <a:rPr sz="1189" i="1" dirty="0">
                <a:solidFill>
                  <a:srgbClr val="5B6B7A"/>
                </a:solidFill>
                <a:latin typeface="Calibri"/>
                <a:cs typeface="Calibri"/>
              </a:rPr>
              <a:t>percentage</a:t>
            </a:r>
            <a:r>
              <a:rPr sz="1189" i="1" spc="8" dirty="0">
                <a:solidFill>
                  <a:srgbClr val="5B6B7A"/>
                </a:solidFill>
                <a:latin typeface="Calibri"/>
                <a:cs typeface="Calibri"/>
              </a:rPr>
              <a:t> </a:t>
            </a:r>
            <a:r>
              <a:rPr sz="1189" i="1" dirty="0">
                <a:solidFill>
                  <a:srgbClr val="5B6B7A"/>
                </a:solidFill>
                <a:latin typeface="Calibri"/>
                <a:cs typeface="Calibri"/>
              </a:rPr>
              <a:t>reduction</a:t>
            </a:r>
            <a:r>
              <a:rPr sz="1189" i="1" spc="8" dirty="0">
                <a:solidFill>
                  <a:srgbClr val="5B6B7A"/>
                </a:solidFill>
                <a:latin typeface="Calibri"/>
                <a:cs typeface="Calibri"/>
              </a:rPr>
              <a:t> </a:t>
            </a:r>
            <a:r>
              <a:rPr sz="1189" i="1" dirty="0">
                <a:solidFill>
                  <a:srgbClr val="5B6B7A"/>
                </a:solidFill>
                <a:latin typeface="Calibri"/>
                <a:cs typeface="Calibri"/>
              </a:rPr>
              <a:t>in deaths</a:t>
            </a:r>
            <a:r>
              <a:rPr sz="1189" i="1" spc="8" dirty="0">
                <a:solidFill>
                  <a:srgbClr val="5B6B7A"/>
                </a:solidFill>
                <a:latin typeface="Calibri"/>
                <a:cs typeface="Calibri"/>
              </a:rPr>
              <a:t> </a:t>
            </a:r>
            <a:r>
              <a:rPr sz="1189" i="1" dirty="0">
                <a:solidFill>
                  <a:srgbClr val="5B6B7A"/>
                </a:solidFill>
                <a:latin typeface="Calibri"/>
                <a:cs typeface="Calibri"/>
              </a:rPr>
              <a:t>from</a:t>
            </a:r>
            <a:r>
              <a:rPr sz="1189" i="1" spc="8" dirty="0">
                <a:solidFill>
                  <a:srgbClr val="5B6B7A"/>
                </a:solidFill>
                <a:latin typeface="Calibri"/>
                <a:cs typeface="Calibri"/>
              </a:rPr>
              <a:t> </a:t>
            </a:r>
            <a:r>
              <a:rPr sz="1189" i="1" dirty="0">
                <a:solidFill>
                  <a:srgbClr val="5B6B7A"/>
                </a:solidFill>
                <a:latin typeface="Calibri"/>
                <a:cs typeface="Calibri"/>
              </a:rPr>
              <a:t>the</a:t>
            </a:r>
            <a:r>
              <a:rPr sz="1189" i="1" spc="8" dirty="0">
                <a:solidFill>
                  <a:srgbClr val="5B6B7A"/>
                </a:solidFill>
                <a:latin typeface="Calibri"/>
                <a:cs typeface="Calibri"/>
              </a:rPr>
              <a:t> </a:t>
            </a:r>
            <a:r>
              <a:rPr sz="1189" i="1" spc="-40" dirty="0">
                <a:solidFill>
                  <a:srgbClr val="5B6B7A"/>
                </a:solidFill>
                <a:latin typeface="Calibri"/>
                <a:cs typeface="Calibri"/>
              </a:rPr>
              <a:t>six</a:t>
            </a:r>
            <a:r>
              <a:rPr sz="1189" i="1" spc="793" dirty="0">
                <a:solidFill>
                  <a:srgbClr val="5B6B7A"/>
                </a:solidFill>
                <a:latin typeface="Calibri"/>
                <a:cs typeface="Calibri"/>
              </a:rPr>
              <a:t> </a:t>
            </a:r>
            <a:r>
              <a:rPr lang="en-US" sz="1189" i="1" dirty="0">
                <a:solidFill>
                  <a:srgbClr val="5B6B7A"/>
                </a:solidFill>
                <a:latin typeface="Calibri"/>
                <a:cs typeface="Calibri"/>
              </a:rPr>
              <a:t>modeled</a:t>
            </a:r>
            <a:r>
              <a:rPr sz="1189" i="1" spc="-8" dirty="0">
                <a:solidFill>
                  <a:srgbClr val="5B6B7A"/>
                </a:solidFill>
                <a:latin typeface="Calibri"/>
                <a:cs typeface="Calibri"/>
              </a:rPr>
              <a:t> </a:t>
            </a:r>
            <a:r>
              <a:rPr sz="1189" i="1" dirty="0">
                <a:solidFill>
                  <a:srgbClr val="5B6B7A"/>
                </a:solidFill>
                <a:latin typeface="Calibri"/>
                <a:cs typeface="Calibri"/>
              </a:rPr>
              <a:t>CVD causes (type-2 diabetes </a:t>
            </a:r>
            <a:r>
              <a:rPr sz="1189" i="1" spc="-16" dirty="0">
                <a:solidFill>
                  <a:srgbClr val="5B6B7A"/>
                </a:solidFill>
                <a:latin typeface="Calibri"/>
                <a:cs typeface="Calibri"/>
              </a:rPr>
              <a:t>excluded)</a:t>
            </a:r>
            <a:r>
              <a:rPr sz="1189" i="1"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(baseline</a:t>
            </a:r>
            <a:r>
              <a:rPr sz="1189" i="1" spc="-8"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scenario)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baseline, for 2030 and 2040; one common </a:t>
            </a:r>
            <a:r>
              <a:rPr sz="1189" i="1" spc="-16" dirty="0">
                <a:solidFill>
                  <a:srgbClr val="5B6B7A"/>
                </a:solidFill>
                <a:latin typeface="Calibri"/>
                <a:cs typeface="Calibri"/>
              </a:rPr>
              <a:t>scale.</a:t>
            </a:r>
            <a:r>
              <a:rPr sz="1189" dirty="0">
                <a:latin typeface="Calibri"/>
                <a:cs typeface="Calibri"/>
              </a:rPr>
              <a:t> </a:t>
            </a:r>
            <a:r>
              <a:rPr sz="1189" b="1" i="1" dirty="0">
                <a:solidFill>
                  <a:srgbClr val="5B6B7A"/>
                </a:solidFill>
                <a:latin typeface="Calibri"/>
                <a:cs typeface="Calibri"/>
              </a:rPr>
              <a:t>Preliminary—validate before use:</a:t>
            </a:r>
            <a:r>
              <a:rPr sz="1189" b="1" i="1" spc="95" dirty="0">
                <a:solidFill>
                  <a:srgbClr val="5B6B7A"/>
                </a:solidFill>
                <a:latin typeface="Calibri"/>
                <a:cs typeface="Calibri"/>
              </a:rPr>
              <a:t> </a:t>
            </a:r>
            <a:r>
              <a:rPr sz="1189" i="1" spc="-16" dirty="0">
                <a:solidFill>
                  <a:srgbClr val="5B6B7A"/>
                </a:solidFill>
                <a:latin typeface="Calibri"/>
                <a:cs typeface="Calibri"/>
              </a:rPr>
              <a:t>provincial</a:t>
            </a:r>
            <a:r>
              <a:rPr sz="1189" i="1" spc="8" dirty="0">
                <a:solidFill>
                  <a:srgbClr val="5B6B7A"/>
                </a:solidFill>
                <a:latin typeface="Calibri"/>
                <a:cs typeface="Calibri"/>
              </a:rPr>
              <a:t> </a:t>
            </a:r>
            <a:r>
              <a:rPr sz="1189" i="1" dirty="0">
                <a:solidFill>
                  <a:srgbClr val="5B6B7A"/>
                </a:solidFill>
                <a:latin typeface="Calibri"/>
                <a:cs typeface="Calibri"/>
              </a:rPr>
              <a:t>baseline cascade</a:t>
            </a:r>
            <a:r>
              <a:rPr sz="1189" i="1" spc="8" dirty="0">
                <a:solidFill>
                  <a:srgbClr val="5B6B7A"/>
                </a:solidFill>
                <a:latin typeface="Calibri"/>
                <a:cs typeface="Calibri"/>
              </a:rPr>
              <a:t> </a:t>
            </a:r>
            <a:r>
              <a:rPr sz="1189" i="1" dirty="0">
                <a:solidFill>
                  <a:srgbClr val="5B6B7A"/>
                </a:solidFill>
                <a:latin typeface="Calibri"/>
                <a:cs typeface="Calibri"/>
              </a:rPr>
              <a:t>estimates and </a:t>
            </a:r>
            <a:r>
              <a:rPr sz="1189" i="1" spc="-16" dirty="0">
                <a:solidFill>
                  <a:srgbClr val="5B6B7A"/>
                </a:solidFill>
                <a:latin typeface="Calibri"/>
                <a:cs typeface="Calibri"/>
              </a:rPr>
              <a:t>province-</a:t>
            </a:r>
            <a:r>
              <a:rPr sz="1189" i="1" dirty="0">
                <a:solidFill>
                  <a:srgbClr val="5B6B7A"/>
                </a:solidFill>
                <a:latin typeface="Calibri"/>
                <a:cs typeface="Calibri"/>
              </a:rPr>
              <a:t>adjusted</a:t>
            </a:r>
            <a:r>
              <a:rPr sz="1189" i="1" spc="8" dirty="0">
                <a:solidFill>
                  <a:srgbClr val="5B6B7A"/>
                </a:solidFill>
                <a:latin typeface="Calibri"/>
                <a:cs typeface="Calibri"/>
              </a:rPr>
              <a:t> </a:t>
            </a:r>
            <a:r>
              <a:rPr sz="1189" i="1" dirty="0">
                <a:solidFill>
                  <a:srgbClr val="5B6B7A"/>
                </a:solidFill>
                <a:latin typeface="Calibri"/>
                <a:cs typeface="Calibri"/>
              </a:rPr>
              <a:t>costs require</a:t>
            </a:r>
            <a:r>
              <a:rPr sz="1189" i="1" spc="8" dirty="0">
                <a:solidFill>
                  <a:srgbClr val="5B6B7A"/>
                </a:solidFill>
                <a:latin typeface="Calibri"/>
                <a:cs typeface="Calibri"/>
              </a:rPr>
              <a:t> </a:t>
            </a:r>
            <a:r>
              <a:rPr sz="1189" i="1" spc="-16" dirty="0">
                <a:solidFill>
                  <a:srgbClr val="5B6B7A"/>
                </a:solidFill>
                <a:latin typeface="Calibri"/>
                <a:cs typeface="Calibri"/>
              </a:rPr>
              <a:t>validation</a:t>
            </a:r>
            <a:r>
              <a:rPr sz="1189" i="1" dirty="0">
                <a:solidFill>
                  <a:srgbClr val="5B6B7A"/>
                </a:solidFill>
                <a:latin typeface="Calibri"/>
                <a:cs typeface="Calibri"/>
              </a:rPr>
              <a:t> </a:t>
            </a:r>
            <a:r>
              <a:rPr sz="1189" i="1" spc="-40" dirty="0">
                <a:solidFill>
                  <a:srgbClr val="5B6B7A"/>
                </a:solidFill>
                <a:latin typeface="Calibri"/>
                <a:cs typeface="Calibri"/>
              </a:rPr>
              <a:t>by</a:t>
            </a:r>
            <a:r>
              <a:rPr lang="en-US" sz="1189" spc="-40" dirty="0">
                <a:latin typeface="Calibri"/>
                <a:cs typeface="Calibri"/>
              </a:rPr>
              <a:t> </a:t>
            </a:r>
            <a:r>
              <a:rPr sz="1189" i="1" dirty="0">
                <a:solidFill>
                  <a:srgbClr val="5B6B7A"/>
                </a:solidFill>
                <a:latin typeface="Calibri"/>
                <a:cs typeface="Calibri"/>
              </a:rPr>
              <a:t>Indonesia’s</a:t>
            </a:r>
            <a:r>
              <a:rPr sz="1189" i="1" spc="-16" dirty="0">
                <a:solidFill>
                  <a:srgbClr val="5B6B7A"/>
                </a:solidFill>
                <a:latin typeface="Calibri"/>
                <a:cs typeface="Calibri"/>
              </a:rPr>
              <a:t> </a:t>
            </a:r>
            <a:r>
              <a:rPr sz="1189" i="1" dirty="0">
                <a:solidFill>
                  <a:srgbClr val="5B6B7A"/>
                </a:solidFill>
                <a:latin typeface="Calibri"/>
                <a:cs typeface="Calibri"/>
              </a:rPr>
              <a:t>Ministry</a:t>
            </a:r>
            <a:r>
              <a:rPr sz="1189" i="1" spc="-16" dirty="0">
                <a:solidFill>
                  <a:srgbClr val="5B6B7A"/>
                </a:solidFill>
                <a:latin typeface="Calibri"/>
                <a:cs typeface="Calibri"/>
              </a:rPr>
              <a:t> </a:t>
            </a:r>
            <a:r>
              <a:rPr sz="1189" i="1" dirty="0">
                <a:solidFill>
                  <a:srgbClr val="5B6B7A"/>
                </a:solidFill>
                <a:latin typeface="Calibri"/>
                <a:cs typeface="Calibri"/>
              </a:rPr>
              <a:t>of</a:t>
            </a:r>
            <a:r>
              <a:rPr sz="1189" i="1" spc="-8" dirty="0">
                <a:solidFill>
                  <a:srgbClr val="5B6B7A"/>
                </a:solidFill>
                <a:latin typeface="Calibri"/>
                <a:cs typeface="Calibri"/>
              </a:rPr>
              <a:t> </a:t>
            </a:r>
            <a:r>
              <a:rPr sz="1189" i="1" dirty="0">
                <a:solidFill>
                  <a:srgbClr val="5B6B7A"/>
                </a:solidFill>
                <a:latin typeface="Calibri"/>
                <a:cs typeface="Calibri"/>
              </a:rPr>
              <a:t>Health</a:t>
            </a:r>
            <a:r>
              <a:rPr sz="1189" i="1" spc="-16" dirty="0">
                <a:solidFill>
                  <a:srgbClr val="5B6B7A"/>
                </a:solidFill>
                <a:latin typeface="Calibri"/>
                <a:cs typeface="Calibri"/>
              </a:rPr>
              <a:t> </a:t>
            </a:r>
            <a:r>
              <a:rPr sz="1189" i="1" dirty="0">
                <a:solidFill>
                  <a:srgbClr val="5B6B7A"/>
                </a:solidFill>
                <a:latin typeface="Calibri"/>
                <a:cs typeface="Calibri"/>
              </a:rPr>
              <a:t>and</a:t>
            </a:r>
            <a:r>
              <a:rPr sz="1189" i="1" spc="-8" dirty="0">
                <a:solidFill>
                  <a:srgbClr val="5B6B7A"/>
                </a:solidFill>
                <a:latin typeface="Calibri"/>
                <a:cs typeface="Calibri"/>
              </a:rPr>
              <a:t> </a:t>
            </a:r>
            <a:r>
              <a:rPr sz="1189" i="1" spc="-16" dirty="0">
                <a:solidFill>
                  <a:srgbClr val="5B6B7A"/>
                </a:solidFill>
                <a:latin typeface="Calibri"/>
                <a:cs typeface="Calibri"/>
              </a:rPr>
              <a:t>BPJS. Provincial</a:t>
            </a:r>
            <a:r>
              <a:rPr sz="1189" i="1" spc="-8" dirty="0">
                <a:solidFill>
                  <a:srgbClr val="5B6B7A"/>
                </a:solidFill>
                <a:latin typeface="Calibri"/>
                <a:cs typeface="Calibri"/>
              </a:rPr>
              <a:t> </a:t>
            </a:r>
            <a:r>
              <a:rPr sz="1189" i="1" dirty="0">
                <a:solidFill>
                  <a:srgbClr val="5B6B7A"/>
                </a:solidFill>
                <a:latin typeface="Calibri"/>
                <a:cs typeface="Calibri"/>
              </a:rPr>
              <a:t>CVD</a:t>
            </a:r>
            <a:r>
              <a:rPr sz="1189" i="1" spc="-16" dirty="0">
                <a:solidFill>
                  <a:srgbClr val="5B6B7A"/>
                </a:solidFill>
                <a:latin typeface="Calibri"/>
                <a:cs typeface="Calibri"/>
              </a:rPr>
              <a:t> </a:t>
            </a:r>
            <a:r>
              <a:rPr sz="1189" i="1" dirty="0">
                <a:solidFill>
                  <a:srgbClr val="5B6B7A"/>
                </a:solidFill>
                <a:latin typeface="Calibri"/>
                <a:cs typeface="Calibri"/>
              </a:rPr>
              <a:t>treatment</a:t>
            </a:r>
            <a:r>
              <a:rPr sz="1189" i="1" spc="-8" dirty="0">
                <a:solidFill>
                  <a:srgbClr val="5B6B7A"/>
                </a:solidFill>
                <a:latin typeface="Calibri"/>
                <a:cs typeface="Calibri"/>
              </a:rPr>
              <a:t> </a:t>
            </a:r>
            <a:r>
              <a:rPr sz="1189" i="1" dirty="0">
                <a:solidFill>
                  <a:srgbClr val="5B6B7A"/>
                </a:solidFill>
                <a:latin typeface="Calibri"/>
                <a:cs typeface="Calibri"/>
              </a:rPr>
              <a:t>coverage</a:t>
            </a:r>
            <a:r>
              <a:rPr sz="1189" i="1" spc="-16" dirty="0">
                <a:solidFill>
                  <a:srgbClr val="5B6B7A"/>
                </a:solidFill>
                <a:latin typeface="Calibri"/>
                <a:cs typeface="Calibri"/>
              </a:rPr>
              <a:t> </a:t>
            </a:r>
            <a:r>
              <a:rPr sz="1189" i="1" dirty="0">
                <a:solidFill>
                  <a:srgbClr val="5B6B7A"/>
                </a:solidFill>
                <a:latin typeface="Calibri"/>
                <a:cs typeface="Calibri"/>
              </a:rPr>
              <a:t>is</a:t>
            </a:r>
            <a:r>
              <a:rPr sz="1189" i="1" spc="-8" dirty="0">
                <a:solidFill>
                  <a:srgbClr val="5B6B7A"/>
                </a:solidFill>
                <a:latin typeface="Calibri"/>
                <a:cs typeface="Calibri"/>
              </a:rPr>
              <a:t> </a:t>
            </a:r>
            <a:r>
              <a:rPr sz="1189" i="1" dirty="0">
                <a:solidFill>
                  <a:srgbClr val="5B6B7A"/>
                </a:solidFill>
                <a:latin typeface="Calibri"/>
                <a:cs typeface="Calibri"/>
              </a:rPr>
              <a:t>a</a:t>
            </a:r>
            <a:r>
              <a:rPr sz="1189" i="1" spc="-16" dirty="0">
                <a:solidFill>
                  <a:srgbClr val="5B6B7A"/>
                </a:solidFill>
                <a:latin typeface="Calibri"/>
                <a:cs typeface="Calibri"/>
              </a:rPr>
              <a:t> </a:t>
            </a:r>
            <a:r>
              <a:rPr sz="1189" i="1" dirty="0">
                <a:solidFill>
                  <a:srgbClr val="5B6B7A"/>
                </a:solidFill>
                <a:latin typeface="Calibri"/>
                <a:cs typeface="Calibri"/>
              </a:rPr>
              <a:t>crude</a:t>
            </a:r>
            <a:r>
              <a:rPr sz="1189" i="1" spc="-8" dirty="0">
                <a:solidFill>
                  <a:srgbClr val="5B6B7A"/>
                </a:solidFill>
                <a:latin typeface="Calibri"/>
                <a:cs typeface="Calibri"/>
              </a:rPr>
              <a:t> </a:t>
            </a:r>
            <a:r>
              <a:rPr sz="1189" i="1" dirty="0">
                <a:solidFill>
                  <a:srgbClr val="5B6B7A"/>
                </a:solidFill>
                <a:latin typeface="Calibri"/>
                <a:cs typeface="Calibri"/>
              </a:rPr>
              <a:t>anchor</a:t>
            </a:r>
            <a:r>
              <a:rPr sz="1189" i="1" spc="-16" dirty="0">
                <a:solidFill>
                  <a:srgbClr val="5B6B7A"/>
                </a:solidFill>
                <a:latin typeface="Calibri"/>
                <a:cs typeface="Calibri"/>
              </a:rPr>
              <a:t> </a:t>
            </a:r>
            <a:r>
              <a:rPr lang="en-US" sz="1189" i="1" dirty="0">
                <a:solidFill>
                  <a:srgbClr val="5B6B7A"/>
                </a:solidFill>
                <a:cs typeface="Calibri"/>
              </a:rPr>
              <a:t>based on observed CVD mortality and the modeled coverage-effect relationship (extreme values capped); provincial diabetes coverage is scaled proportionally</a:t>
            </a:r>
            <a:r>
              <a:rPr sz="1189" i="1" spc="-16" dirty="0">
                <a:solidFill>
                  <a:srgbClr val="5B6B7A"/>
                </a:solidFill>
                <a:latin typeface="Calibri"/>
                <a:cs typeface="Calibri"/>
              </a:rPr>
              <a:t>.</a:t>
            </a:r>
            <a:endParaRPr sz="1189" dirty="0">
              <a:latin typeface="Calibri"/>
              <a:cs typeface="Calibri"/>
            </a:endParaRP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2860" y="134902"/>
            <a:ext cx="9038591" cy="1219375"/>
          </a:xfrm>
          <a:prstGeom prst="rect">
            <a:avLst/>
          </a:prstGeom>
        </p:spPr>
        <p:txBody>
          <a:bodyPr vert="horz" wrap="square" lIns="0" tIns="21148" rIns="0" bIns="0" rtlCol="0" anchor="ctr">
            <a:spAutoFit/>
          </a:bodyPr>
          <a:lstStyle/>
          <a:p>
            <a:pPr marL="20141" marR="8056" algn="ctr">
              <a:lnSpc>
                <a:spcPct val="110700"/>
              </a:lnSpc>
              <a:spcBef>
                <a:spcPts val="167"/>
              </a:spcBef>
            </a:pPr>
            <a:r>
              <a:rPr sz="3600" b="1" spc="-16" dirty="0"/>
              <a:t>Premature cardiovascular mortality falls in every province by 2040</a:t>
            </a:r>
          </a:p>
        </p:txBody>
      </p:sp>
      <p:pic>
        <p:nvPicPr>
          <p:cNvPr id="3" name="object 3"/>
          <p:cNvPicPr/>
          <p:nvPr/>
        </p:nvPicPr>
        <p:blipFill>
          <a:blip r:embed="rId2" cstate="print"/>
          <a:stretch>
            <a:fillRect/>
          </a:stretch>
        </p:blipFill>
        <p:spPr>
          <a:xfrm>
            <a:off x="594480" y="1969870"/>
            <a:ext cx="7947254" cy="1447014"/>
          </a:xfrm>
          <a:prstGeom prst="rect">
            <a:avLst/>
          </a:prstGeom>
        </p:spPr>
      </p:pic>
      <p:sp>
        <p:nvSpPr>
          <p:cNvPr id="4" name="object 4"/>
          <p:cNvSpPr txBox="1"/>
          <p:nvPr/>
        </p:nvSpPr>
        <p:spPr>
          <a:xfrm>
            <a:off x="2414491" y="1813153"/>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2030</a:t>
            </a:r>
            <a:endParaRPr sz="872">
              <a:latin typeface="Arial"/>
              <a:cs typeface="Arial"/>
            </a:endParaRPr>
          </a:p>
        </p:txBody>
      </p:sp>
      <p:sp>
        <p:nvSpPr>
          <p:cNvPr id="5" name="object 5"/>
          <p:cNvSpPr txBox="1"/>
          <p:nvPr/>
        </p:nvSpPr>
        <p:spPr>
          <a:xfrm>
            <a:off x="6416833" y="1813153"/>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2040</a:t>
            </a:r>
            <a:endParaRPr sz="872">
              <a:latin typeface="Arial"/>
              <a:cs typeface="Arial"/>
            </a:endParaRPr>
          </a:p>
        </p:txBody>
      </p:sp>
      <p:sp>
        <p:nvSpPr>
          <p:cNvPr id="6" name="object 6"/>
          <p:cNvSpPr txBox="1"/>
          <p:nvPr/>
        </p:nvSpPr>
        <p:spPr>
          <a:xfrm>
            <a:off x="2354681" y="3533972"/>
            <a:ext cx="2774419" cy="134307"/>
          </a:xfrm>
          <a:prstGeom prst="rect">
            <a:avLst/>
          </a:prstGeom>
        </p:spPr>
        <p:txBody>
          <a:bodyPr vert="horz" wrap="square" lIns="0" tIns="24169" rIns="0" bIns="0" rtlCol="0">
            <a:spAutoFit/>
          </a:bodyPr>
          <a:lstStyle/>
          <a:p>
            <a:pPr marL="20141">
              <a:spcBef>
                <a:spcPts val="190"/>
              </a:spcBef>
            </a:pPr>
            <a:r>
              <a:rPr sz="714" dirty="0">
                <a:solidFill>
                  <a:srgbClr val="0E2A56"/>
                </a:solidFill>
                <a:latin typeface="Arial MT"/>
                <a:cs typeface="Arial MT"/>
              </a:rPr>
              <a:t>Reduction</a:t>
            </a:r>
            <a:r>
              <a:rPr sz="714" spc="63" dirty="0">
                <a:solidFill>
                  <a:srgbClr val="0E2A56"/>
                </a:solidFill>
                <a:latin typeface="Arial MT"/>
                <a:cs typeface="Arial MT"/>
              </a:rPr>
              <a:t> </a:t>
            </a:r>
            <a:r>
              <a:rPr sz="714" dirty="0">
                <a:solidFill>
                  <a:srgbClr val="0E2A56"/>
                </a:solidFill>
                <a:latin typeface="Arial MT"/>
                <a:cs typeface="Arial MT"/>
              </a:rPr>
              <a:t>in</a:t>
            </a:r>
            <a:r>
              <a:rPr sz="714" spc="71" dirty="0">
                <a:solidFill>
                  <a:srgbClr val="0E2A56"/>
                </a:solidFill>
                <a:latin typeface="Arial MT"/>
                <a:cs typeface="Arial MT"/>
              </a:rPr>
              <a:t> </a:t>
            </a:r>
            <a:r>
              <a:rPr sz="714" dirty="0">
                <a:solidFill>
                  <a:srgbClr val="0E2A56"/>
                </a:solidFill>
                <a:latin typeface="Arial MT"/>
                <a:cs typeface="Arial MT"/>
              </a:rPr>
              <a:t>the</a:t>
            </a:r>
            <a:r>
              <a:rPr sz="714" spc="71" dirty="0">
                <a:solidFill>
                  <a:srgbClr val="0E2A56"/>
                </a:solidFill>
                <a:latin typeface="Arial MT"/>
                <a:cs typeface="Arial MT"/>
              </a:rPr>
              <a:t> </a:t>
            </a:r>
            <a:r>
              <a:rPr sz="714" dirty="0">
                <a:solidFill>
                  <a:srgbClr val="0E2A56"/>
                </a:solidFill>
                <a:latin typeface="Arial MT"/>
                <a:cs typeface="Arial MT"/>
              </a:rPr>
              <a:t>probability</a:t>
            </a:r>
            <a:r>
              <a:rPr sz="714" spc="71" dirty="0">
                <a:solidFill>
                  <a:srgbClr val="0E2A56"/>
                </a:solidFill>
                <a:latin typeface="Arial MT"/>
                <a:cs typeface="Arial MT"/>
              </a:rPr>
              <a:t> </a:t>
            </a:r>
            <a:r>
              <a:rPr sz="714" dirty="0">
                <a:solidFill>
                  <a:srgbClr val="0E2A56"/>
                </a:solidFill>
                <a:latin typeface="Arial MT"/>
                <a:cs typeface="Arial MT"/>
              </a:rPr>
              <a:t>of</a:t>
            </a:r>
            <a:r>
              <a:rPr sz="714" spc="71" dirty="0">
                <a:solidFill>
                  <a:srgbClr val="0E2A56"/>
                </a:solidFill>
                <a:latin typeface="Arial MT"/>
                <a:cs typeface="Arial MT"/>
              </a:rPr>
              <a:t> </a:t>
            </a:r>
            <a:r>
              <a:rPr sz="714" dirty="0">
                <a:solidFill>
                  <a:srgbClr val="0E2A56"/>
                </a:solidFill>
                <a:latin typeface="Arial MT"/>
                <a:cs typeface="Arial MT"/>
              </a:rPr>
              <a:t>death</a:t>
            </a:r>
            <a:r>
              <a:rPr sz="714" spc="71" dirty="0">
                <a:solidFill>
                  <a:srgbClr val="0E2A56"/>
                </a:solidFill>
                <a:latin typeface="Arial MT"/>
                <a:cs typeface="Arial MT"/>
              </a:rPr>
              <a:t> </a:t>
            </a:r>
            <a:r>
              <a:rPr sz="714" dirty="0">
                <a:solidFill>
                  <a:srgbClr val="0E2A56"/>
                </a:solidFill>
                <a:latin typeface="Arial MT"/>
                <a:cs typeface="Arial MT"/>
              </a:rPr>
              <a:t>from</a:t>
            </a:r>
            <a:r>
              <a:rPr sz="714" spc="71" dirty="0">
                <a:solidFill>
                  <a:srgbClr val="0E2A56"/>
                </a:solidFill>
                <a:latin typeface="Arial MT"/>
                <a:cs typeface="Arial MT"/>
              </a:rPr>
              <a:t> </a:t>
            </a:r>
            <a:r>
              <a:rPr sz="714" dirty="0">
                <a:solidFill>
                  <a:srgbClr val="0E2A56"/>
                </a:solidFill>
                <a:latin typeface="Arial MT"/>
                <a:cs typeface="Arial MT"/>
              </a:rPr>
              <a:t>CVD</a:t>
            </a:r>
            <a:r>
              <a:rPr sz="714" spc="71" dirty="0">
                <a:solidFill>
                  <a:srgbClr val="0E2A56"/>
                </a:solidFill>
                <a:latin typeface="Arial MT"/>
                <a:cs typeface="Arial MT"/>
              </a:rPr>
              <a:t> </a:t>
            </a:r>
            <a:r>
              <a:rPr sz="714" dirty="0">
                <a:solidFill>
                  <a:srgbClr val="0E2A56"/>
                </a:solidFill>
                <a:latin typeface="Arial MT"/>
                <a:cs typeface="Arial MT"/>
              </a:rPr>
              <a:t>before</a:t>
            </a:r>
            <a:r>
              <a:rPr sz="714" spc="71" dirty="0">
                <a:solidFill>
                  <a:srgbClr val="0E2A56"/>
                </a:solidFill>
                <a:latin typeface="Arial MT"/>
                <a:cs typeface="Arial MT"/>
              </a:rPr>
              <a:t> </a:t>
            </a:r>
            <a:r>
              <a:rPr sz="714" dirty="0">
                <a:solidFill>
                  <a:srgbClr val="0E2A56"/>
                </a:solidFill>
                <a:latin typeface="Arial MT"/>
                <a:cs typeface="Arial MT"/>
              </a:rPr>
              <a:t>age</a:t>
            </a:r>
            <a:r>
              <a:rPr sz="714" spc="71" dirty="0">
                <a:solidFill>
                  <a:srgbClr val="0E2A56"/>
                </a:solidFill>
                <a:latin typeface="Arial MT"/>
                <a:cs typeface="Arial MT"/>
              </a:rPr>
              <a:t> </a:t>
            </a:r>
            <a:r>
              <a:rPr sz="714" dirty="0">
                <a:solidFill>
                  <a:srgbClr val="0E2A56"/>
                </a:solidFill>
                <a:latin typeface="Arial MT"/>
                <a:cs typeface="Arial MT"/>
              </a:rPr>
              <a:t>70</a:t>
            </a:r>
            <a:r>
              <a:rPr sz="714" spc="71" dirty="0">
                <a:solidFill>
                  <a:srgbClr val="0E2A56"/>
                </a:solidFill>
                <a:latin typeface="Arial MT"/>
                <a:cs typeface="Arial MT"/>
              </a:rPr>
              <a:t> </a:t>
            </a:r>
            <a:r>
              <a:rPr sz="714" spc="-40" dirty="0">
                <a:solidFill>
                  <a:srgbClr val="0E2A56"/>
                </a:solidFill>
                <a:latin typeface="Arial MT"/>
                <a:cs typeface="Arial MT"/>
              </a:rPr>
              <a:t>(%)</a:t>
            </a:r>
            <a:endParaRPr sz="714">
              <a:latin typeface="Arial MT"/>
              <a:cs typeface="Arial MT"/>
            </a:endParaRPr>
          </a:p>
        </p:txBody>
      </p:sp>
      <p:grpSp>
        <p:nvGrpSpPr>
          <p:cNvPr id="7" name="object 7"/>
          <p:cNvGrpSpPr/>
          <p:nvPr/>
        </p:nvGrpSpPr>
        <p:grpSpPr>
          <a:xfrm>
            <a:off x="5167813" y="3482388"/>
            <a:ext cx="1592144" cy="94663"/>
            <a:chOff x="3258593" y="1656089"/>
            <a:chExt cx="1003935" cy="59690"/>
          </a:xfrm>
        </p:grpSpPr>
        <p:pic>
          <p:nvPicPr>
            <p:cNvPr id="8" name="object 8"/>
            <p:cNvPicPr/>
            <p:nvPr/>
          </p:nvPicPr>
          <p:blipFill>
            <a:blip r:embed="rId3" cstate="print"/>
            <a:stretch>
              <a:fillRect/>
            </a:stretch>
          </p:blipFill>
          <p:spPr>
            <a:xfrm>
              <a:off x="3258593" y="1656089"/>
              <a:ext cx="1003850" cy="59182"/>
            </a:xfrm>
            <a:prstGeom prst="rect">
              <a:avLst/>
            </a:prstGeom>
          </p:spPr>
        </p:pic>
        <p:sp>
          <p:nvSpPr>
            <p:cNvPr id="9" name="object 9"/>
            <p:cNvSpPr/>
            <p:nvPr/>
          </p:nvSpPr>
          <p:spPr>
            <a:xfrm>
              <a:off x="3260285" y="1656089"/>
              <a:ext cx="977900" cy="59690"/>
            </a:xfrm>
            <a:custGeom>
              <a:avLst/>
              <a:gdLst/>
              <a:ahLst/>
              <a:cxnLst/>
              <a:rect l="l" t="t" r="r" b="b"/>
              <a:pathLst>
                <a:path w="977900" h="59689">
                  <a:moveTo>
                    <a:pt x="0" y="33400"/>
                  </a:moveTo>
                  <a:lnTo>
                    <a:pt x="0" y="59174"/>
                  </a:lnTo>
                </a:path>
                <a:path w="977900" h="59689">
                  <a:moveTo>
                    <a:pt x="244429" y="33400"/>
                  </a:moveTo>
                  <a:lnTo>
                    <a:pt x="244429" y="59174"/>
                  </a:lnTo>
                </a:path>
                <a:path w="977900" h="59689">
                  <a:moveTo>
                    <a:pt x="488829" y="33400"/>
                  </a:moveTo>
                  <a:lnTo>
                    <a:pt x="488829" y="59174"/>
                  </a:lnTo>
                </a:path>
                <a:path w="977900" h="59689">
                  <a:moveTo>
                    <a:pt x="733259" y="33400"/>
                  </a:moveTo>
                  <a:lnTo>
                    <a:pt x="733259" y="59174"/>
                  </a:lnTo>
                </a:path>
                <a:path w="977900" h="59689">
                  <a:moveTo>
                    <a:pt x="977689" y="33400"/>
                  </a:moveTo>
                  <a:lnTo>
                    <a:pt x="977689" y="59174"/>
                  </a:lnTo>
                </a:path>
                <a:path w="977900" h="59689">
                  <a:moveTo>
                    <a:pt x="0" y="25773"/>
                  </a:moveTo>
                  <a:lnTo>
                    <a:pt x="0" y="0"/>
                  </a:lnTo>
                </a:path>
                <a:path w="977900" h="59689">
                  <a:moveTo>
                    <a:pt x="244429" y="25773"/>
                  </a:moveTo>
                  <a:lnTo>
                    <a:pt x="244429" y="0"/>
                  </a:lnTo>
                </a:path>
                <a:path w="977900" h="59689">
                  <a:moveTo>
                    <a:pt x="488829" y="25773"/>
                  </a:moveTo>
                  <a:lnTo>
                    <a:pt x="488829" y="0"/>
                  </a:lnTo>
                </a:path>
                <a:path w="977900" h="59689">
                  <a:moveTo>
                    <a:pt x="733259" y="25773"/>
                  </a:moveTo>
                  <a:lnTo>
                    <a:pt x="733259" y="0"/>
                  </a:lnTo>
                </a:path>
                <a:path w="977900" h="59689">
                  <a:moveTo>
                    <a:pt x="977689" y="25773"/>
                  </a:moveTo>
                  <a:lnTo>
                    <a:pt x="977689" y="0"/>
                  </a:lnTo>
                </a:path>
              </a:pathLst>
            </a:custGeom>
            <a:ln w="3175">
              <a:solidFill>
                <a:srgbClr val="FFFFFF"/>
              </a:solidFill>
            </a:ln>
          </p:spPr>
          <p:txBody>
            <a:bodyPr wrap="square" lIns="0" tIns="0" rIns="0" bIns="0" rtlCol="0"/>
            <a:lstStyle/>
            <a:p>
              <a:endParaRPr sz="2855"/>
            </a:p>
          </p:txBody>
        </p:sp>
      </p:grpSp>
      <p:sp>
        <p:nvSpPr>
          <p:cNvPr id="10" name="object 10"/>
          <p:cNvSpPr txBox="1"/>
          <p:nvPr/>
        </p:nvSpPr>
        <p:spPr>
          <a:xfrm>
            <a:off x="5056040" y="3603296"/>
            <a:ext cx="229607" cy="119962"/>
          </a:xfrm>
          <a:prstGeom prst="rect">
            <a:avLst/>
          </a:prstGeom>
        </p:spPr>
        <p:txBody>
          <a:bodyPr vert="horz" wrap="square" lIns="0" tIns="22155" rIns="0" bIns="0" rtlCol="0">
            <a:spAutoFit/>
          </a:bodyPr>
          <a:lstStyle/>
          <a:p>
            <a:pPr marL="20141">
              <a:spcBef>
                <a:spcPts val="174"/>
              </a:spcBef>
            </a:pPr>
            <a:r>
              <a:rPr sz="634" spc="-32" dirty="0">
                <a:latin typeface="Arial MT"/>
                <a:cs typeface="Arial MT"/>
              </a:rPr>
              <a:t>0.0%</a:t>
            </a:r>
            <a:endParaRPr sz="634">
              <a:latin typeface="Arial MT"/>
              <a:cs typeface="Arial MT"/>
            </a:endParaRPr>
          </a:p>
        </p:txBody>
      </p:sp>
      <p:sp>
        <p:nvSpPr>
          <p:cNvPr id="11" name="object 11"/>
          <p:cNvSpPr txBox="1"/>
          <p:nvPr/>
        </p:nvSpPr>
        <p:spPr>
          <a:xfrm>
            <a:off x="5443659" y="3603296"/>
            <a:ext cx="1414903" cy="119962"/>
          </a:xfrm>
          <a:prstGeom prst="rect">
            <a:avLst/>
          </a:prstGeom>
        </p:spPr>
        <p:txBody>
          <a:bodyPr vert="horz" wrap="square" lIns="0" tIns="22155" rIns="0" bIns="0" rtlCol="0">
            <a:spAutoFit/>
          </a:bodyPr>
          <a:lstStyle/>
          <a:p>
            <a:pPr marL="20141">
              <a:spcBef>
                <a:spcPts val="174"/>
              </a:spcBef>
            </a:pPr>
            <a:r>
              <a:rPr sz="634" dirty="0">
                <a:latin typeface="Arial MT"/>
                <a:cs typeface="Arial MT"/>
              </a:rPr>
              <a:t>2.5%</a:t>
            </a:r>
            <a:r>
              <a:rPr sz="634" spc="626" dirty="0">
                <a:latin typeface="Arial MT"/>
                <a:cs typeface="Arial MT"/>
              </a:rPr>
              <a:t>  </a:t>
            </a:r>
            <a:r>
              <a:rPr sz="634" dirty="0">
                <a:latin typeface="Arial MT"/>
                <a:cs typeface="Arial MT"/>
              </a:rPr>
              <a:t>5.0%</a:t>
            </a:r>
            <a:r>
              <a:rPr sz="634" spc="626" dirty="0">
                <a:latin typeface="Arial MT"/>
                <a:cs typeface="Arial MT"/>
              </a:rPr>
              <a:t>  </a:t>
            </a:r>
            <a:r>
              <a:rPr sz="634" dirty="0">
                <a:latin typeface="Arial MT"/>
                <a:cs typeface="Arial MT"/>
              </a:rPr>
              <a:t>7.5%</a:t>
            </a:r>
            <a:r>
              <a:rPr sz="634" spc="531" dirty="0">
                <a:latin typeface="Arial MT"/>
                <a:cs typeface="Arial MT"/>
              </a:rPr>
              <a:t>  </a:t>
            </a:r>
            <a:r>
              <a:rPr sz="634" spc="-16" dirty="0">
                <a:latin typeface="Arial MT"/>
                <a:cs typeface="Arial MT"/>
              </a:rPr>
              <a:t>10.0%</a:t>
            </a:r>
            <a:endParaRPr sz="634">
              <a:latin typeface="Arial MT"/>
              <a:cs typeface="Arial MT"/>
            </a:endParaRPr>
          </a:p>
        </p:txBody>
      </p:sp>
      <p:sp>
        <p:nvSpPr>
          <p:cNvPr id="12" name="object 12"/>
          <p:cNvSpPr txBox="1"/>
          <p:nvPr/>
        </p:nvSpPr>
        <p:spPr>
          <a:xfrm>
            <a:off x="550775" y="4396776"/>
            <a:ext cx="8021141" cy="957792"/>
          </a:xfrm>
          <a:prstGeom prst="rect">
            <a:avLst/>
          </a:prstGeom>
        </p:spPr>
        <p:txBody>
          <a:bodyPr vert="horz" wrap="square" lIns="0" tIns="18127" rIns="0" bIns="0" rtlCol="0">
            <a:spAutoFit/>
          </a:bodyPr>
          <a:lstStyle/>
          <a:p>
            <a:pPr marL="20141" marR="50352">
              <a:lnSpc>
                <a:spcPct val="101699"/>
              </a:lnSpc>
              <a:spcBef>
                <a:spcPts val="143"/>
              </a:spcBef>
            </a:pPr>
            <a:r>
              <a:rPr sz="1189" b="1" i="1" spc="-16" dirty="0">
                <a:solidFill>
                  <a:srgbClr val="5B6B7A"/>
                </a:solidFill>
                <a:latin typeface="Calibri"/>
                <a:cs typeface="Calibri"/>
              </a:rPr>
              <a:t>Method:</a:t>
            </a:r>
            <a:r>
              <a:rPr sz="1189" b="1" i="1" spc="793" dirty="0">
                <a:solidFill>
                  <a:srgbClr val="5B6B7A"/>
                </a:solidFill>
                <a:latin typeface="Calibri"/>
                <a:cs typeface="Calibri"/>
              </a:rPr>
              <a:t> </a:t>
            </a:r>
            <a:r>
              <a:rPr sz="1189" i="1" dirty="0">
                <a:solidFill>
                  <a:srgbClr val="5B6B7A"/>
                </a:solidFill>
                <a:latin typeface="Calibri"/>
                <a:cs typeface="Calibri"/>
              </a:rPr>
              <a:t>percentage</a:t>
            </a:r>
            <a:r>
              <a:rPr sz="1189" i="1" spc="-8" dirty="0">
                <a:solidFill>
                  <a:srgbClr val="5B6B7A"/>
                </a:solidFill>
                <a:latin typeface="Calibri"/>
                <a:cs typeface="Calibri"/>
              </a:rPr>
              <a:t> </a:t>
            </a:r>
            <a:r>
              <a:rPr sz="1189" i="1" dirty="0">
                <a:solidFill>
                  <a:srgbClr val="5B6B7A"/>
                </a:solidFill>
                <a:latin typeface="Calibri"/>
                <a:cs typeface="Calibri"/>
              </a:rPr>
              <a:t>reduction in</a:t>
            </a:r>
            <a:r>
              <a:rPr sz="1189" i="1" spc="-8" dirty="0">
                <a:solidFill>
                  <a:srgbClr val="5B6B7A"/>
                </a:solidFill>
                <a:latin typeface="Calibri"/>
                <a:cs typeface="Calibri"/>
              </a:rPr>
              <a:t> </a:t>
            </a:r>
            <a:r>
              <a:rPr sz="1189" i="1" dirty="0">
                <a:solidFill>
                  <a:srgbClr val="5B6B7A"/>
                </a:solidFill>
                <a:latin typeface="Calibri"/>
                <a:cs typeface="Calibri"/>
              </a:rPr>
              <a:t>the </a:t>
            </a:r>
            <a:r>
              <a:rPr sz="1189" i="1" spc="-16" dirty="0">
                <a:solidFill>
                  <a:srgbClr val="5B6B7A"/>
                </a:solidFill>
                <a:latin typeface="Calibri"/>
                <a:cs typeface="Calibri"/>
              </a:rPr>
              <a:t>probability</a:t>
            </a:r>
            <a:r>
              <a:rPr sz="1189" i="1" spc="-8" dirty="0">
                <a:solidFill>
                  <a:srgbClr val="5B6B7A"/>
                </a:solidFill>
                <a:latin typeface="Calibri"/>
                <a:cs typeface="Calibri"/>
              </a:rPr>
              <a:t> </a:t>
            </a:r>
            <a:r>
              <a:rPr sz="1189" i="1" dirty="0">
                <a:solidFill>
                  <a:srgbClr val="5B6B7A"/>
                </a:solidFill>
                <a:latin typeface="Calibri"/>
                <a:cs typeface="Calibri"/>
              </a:rPr>
              <a:t>of death</a:t>
            </a:r>
            <a:r>
              <a:rPr sz="1189" i="1" spc="-8" dirty="0">
                <a:solidFill>
                  <a:srgbClr val="5B6B7A"/>
                </a:solidFill>
                <a:latin typeface="Calibri"/>
                <a:cs typeface="Calibri"/>
              </a:rPr>
              <a:t> </a:t>
            </a:r>
            <a:r>
              <a:rPr sz="1189" i="1" dirty="0">
                <a:solidFill>
                  <a:srgbClr val="5B6B7A"/>
                </a:solidFill>
                <a:latin typeface="Calibri"/>
                <a:cs typeface="Calibri"/>
              </a:rPr>
              <a:t>from CVD before</a:t>
            </a:r>
            <a:r>
              <a:rPr sz="1189" i="1" spc="-8" dirty="0">
                <a:solidFill>
                  <a:srgbClr val="5B6B7A"/>
                </a:solidFill>
                <a:latin typeface="Calibri"/>
                <a:cs typeface="Calibri"/>
              </a:rPr>
              <a:t> </a:t>
            </a:r>
            <a:r>
              <a:rPr sz="1189" i="1" dirty="0">
                <a:solidFill>
                  <a:srgbClr val="5B6B7A"/>
                </a:solidFill>
                <a:latin typeface="Calibri"/>
                <a:cs typeface="Calibri"/>
              </a:rPr>
              <a:t>age 70</a:t>
            </a:r>
            <a:r>
              <a:rPr sz="1189" i="1" spc="-8"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(baseline</a:t>
            </a:r>
            <a:r>
              <a:rPr sz="1189" i="1" spc="-16"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scenario)</a:t>
            </a:r>
            <a:r>
              <a:rPr sz="1189" i="1" spc="-8" dirty="0">
                <a:solidFill>
                  <a:srgbClr val="5B6B7A"/>
                </a:solidFill>
                <a:latin typeface="Calibri"/>
                <a:cs typeface="Calibri"/>
              </a:rPr>
              <a:t> </a:t>
            </a:r>
            <a:r>
              <a:rPr sz="1269" spc="317" dirty="0">
                <a:solidFill>
                  <a:srgbClr val="5B6B7A"/>
                </a:solidFill>
                <a:latin typeface="Cambria"/>
                <a:cs typeface="Cambria"/>
              </a:rPr>
              <a:t>÷</a:t>
            </a:r>
            <a:r>
              <a:rPr sz="1269" spc="-8" dirty="0">
                <a:solidFill>
                  <a:srgbClr val="5B6B7A"/>
                </a:solidFill>
                <a:latin typeface="Cambria"/>
                <a:cs typeface="Cambria"/>
              </a:rPr>
              <a:t> </a:t>
            </a:r>
            <a:r>
              <a:rPr sz="1189" i="1" dirty="0">
                <a:solidFill>
                  <a:srgbClr val="5B6B7A"/>
                </a:solidFill>
                <a:latin typeface="Calibri"/>
                <a:cs typeface="Calibri"/>
              </a:rPr>
              <a:t>baseline, for</a:t>
            </a:r>
            <a:r>
              <a:rPr sz="1189" i="1" spc="-8" dirty="0">
                <a:solidFill>
                  <a:srgbClr val="5B6B7A"/>
                </a:solidFill>
                <a:latin typeface="Calibri"/>
                <a:cs typeface="Calibri"/>
              </a:rPr>
              <a:t> </a:t>
            </a:r>
            <a:r>
              <a:rPr sz="1189" i="1" dirty="0">
                <a:solidFill>
                  <a:srgbClr val="5B6B7A"/>
                </a:solidFill>
                <a:latin typeface="Calibri"/>
                <a:cs typeface="Calibri"/>
              </a:rPr>
              <a:t>2030 and</a:t>
            </a:r>
            <a:r>
              <a:rPr sz="1189" i="1" spc="-8" dirty="0">
                <a:solidFill>
                  <a:srgbClr val="5B6B7A"/>
                </a:solidFill>
                <a:latin typeface="Calibri"/>
                <a:cs typeface="Calibri"/>
              </a:rPr>
              <a:t> </a:t>
            </a:r>
            <a:r>
              <a:rPr sz="1189" i="1" spc="-16" dirty="0">
                <a:solidFill>
                  <a:srgbClr val="5B6B7A"/>
                </a:solidFill>
                <a:latin typeface="Calibri"/>
                <a:cs typeface="Calibri"/>
              </a:rPr>
              <a:t>2040,</a:t>
            </a:r>
            <a:r>
              <a:rPr sz="1189" i="1" spc="793" dirty="0">
                <a:solidFill>
                  <a:srgbClr val="5B6B7A"/>
                </a:solidFill>
                <a:latin typeface="Calibri"/>
                <a:cs typeface="Calibri"/>
              </a:rPr>
              <a:t> </a:t>
            </a:r>
            <a:r>
              <a:rPr sz="1189" i="1" dirty="0">
                <a:solidFill>
                  <a:srgbClr val="5B6B7A"/>
                </a:solidFill>
                <a:latin typeface="Calibri"/>
                <a:cs typeface="Calibri"/>
              </a:rPr>
              <a:t>pooled</a:t>
            </a:r>
            <a:r>
              <a:rPr sz="1189" i="1" spc="8" dirty="0">
                <a:solidFill>
                  <a:srgbClr val="5B6B7A"/>
                </a:solidFill>
                <a:latin typeface="Calibri"/>
                <a:cs typeface="Calibri"/>
              </a:rPr>
              <a:t> </a:t>
            </a:r>
            <a:r>
              <a:rPr sz="1189" i="1" dirty="0">
                <a:solidFill>
                  <a:srgbClr val="5B6B7A"/>
                </a:solidFill>
                <a:latin typeface="Calibri"/>
                <a:cs typeface="Calibri"/>
              </a:rPr>
              <a:t>to</a:t>
            </a:r>
            <a:r>
              <a:rPr sz="1189" i="1" spc="8" dirty="0">
                <a:solidFill>
                  <a:srgbClr val="5B6B7A"/>
                </a:solidFill>
                <a:latin typeface="Calibri"/>
                <a:cs typeface="Calibri"/>
              </a:rPr>
              <a:t> </a:t>
            </a:r>
            <a:r>
              <a:rPr sz="1189" i="1" dirty="0">
                <a:solidFill>
                  <a:srgbClr val="5B6B7A"/>
                </a:solidFill>
                <a:latin typeface="Calibri"/>
                <a:cs typeface="Calibri"/>
              </a:rPr>
              <a:t>the</a:t>
            </a:r>
            <a:r>
              <a:rPr sz="1189" i="1" spc="16" dirty="0">
                <a:solidFill>
                  <a:srgbClr val="5B6B7A"/>
                </a:solidFill>
                <a:latin typeface="Calibri"/>
                <a:cs typeface="Calibri"/>
              </a:rPr>
              <a:t> </a:t>
            </a:r>
            <a:r>
              <a:rPr sz="1189" i="1" dirty="0">
                <a:solidFill>
                  <a:srgbClr val="5B6B7A"/>
                </a:solidFill>
                <a:latin typeface="Calibri"/>
                <a:cs typeface="Calibri"/>
              </a:rPr>
              <a:t>boundary</a:t>
            </a:r>
            <a:r>
              <a:rPr sz="1189" i="1" spc="8" dirty="0">
                <a:solidFill>
                  <a:srgbClr val="5B6B7A"/>
                </a:solidFill>
                <a:latin typeface="Calibri"/>
                <a:cs typeface="Calibri"/>
              </a:rPr>
              <a:t> </a:t>
            </a:r>
            <a:r>
              <a:rPr sz="1189" i="1" dirty="0">
                <a:solidFill>
                  <a:srgbClr val="5B6B7A"/>
                </a:solidFill>
                <a:latin typeface="Calibri"/>
                <a:cs typeface="Calibri"/>
              </a:rPr>
              <a:t>polygon</a:t>
            </a:r>
            <a:r>
              <a:rPr sz="1189" i="1" spc="16" dirty="0">
                <a:solidFill>
                  <a:srgbClr val="5B6B7A"/>
                </a:solidFill>
                <a:latin typeface="Calibri"/>
                <a:cs typeface="Calibri"/>
              </a:rPr>
              <a:t> </a:t>
            </a:r>
            <a:r>
              <a:rPr sz="1189" i="1" dirty="0">
                <a:solidFill>
                  <a:srgbClr val="5B6B7A"/>
                </a:solidFill>
                <a:latin typeface="Calibri"/>
                <a:cs typeface="Calibri"/>
              </a:rPr>
              <a:t>with</a:t>
            </a:r>
            <a:r>
              <a:rPr sz="1189" i="1" spc="8" dirty="0">
                <a:solidFill>
                  <a:srgbClr val="5B6B7A"/>
                </a:solidFill>
                <a:latin typeface="Calibri"/>
                <a:cs typeface="Calibri"/>
              </a:rPr>
              <a:t> </a:t>
            </a:r>
            <a:r>
              <a:rPr sz="1189" i="1" spc="-16" dirty="0">
                <a:solidFill>
                  <a:srgbClr val="5B6B7A"/>
                </a:solidFill>
                <a:latin typeface="Calibri"/>
                <a:cs typeface="Calibri"/>
              </a:rPr>
              <a:t>population</a:t>
            </a:r>
            <a:r>
              <a:rPr sz="1189" i="1" spc="8" dirty="0">
                <a:solidFill>
                  <a:srgbClr val="5B6B7A"/>
                </a:solidFill>
                <a:latin typeface="Calibri"/>
                <a:cs typeface="Calibri"/>
              </a:rPr>
              <a:t> </a:t>
            </a:r>
            <a:r>
              <a:rPr sz="1189" i="1" dirty="0">
                <a:solidFill>
                  <a:srgbClr val="5B6B7A"/>
                </a:solidFill>
                <a:latin typeface="Calibri"/>
                <a:cs typeface="Calibri"/>
              </a:rPr>
              <a:t>weights;</a:t>
            </a:r>
            <a:r>
              <a:rPr sz="1189" i="1" spc="16" dirty="0">
                <a:solidFill>
                  <a:srgbClr val="5B6B7A"/>
                </a:solidFill>
                <a:latin typeface="Calibri"/>
                <a:cs typeface="Calibri"/>
              </a:rPr>
              <a:t> </a:t>
            </a:r>
            <a:r>
              <a:rPr sz="1189" i="1" dirty="0">
                <a:solidFill>
                  <a:srgbClr val="5B6B7A"/>
                </a:solidFill>
                <a:latin typeface="Calibri"/>
                <a:cs typeface="Calibri"/>
              </a:rPr>
              <a:t>one</a:t>
            </a:r>
            <a:r>
              <a:rPr sz="1189" i="1" spc="8" dirty="0">
                <a:solidFill>
                  <a:srgbClr val="5B6B7A"/>
                </a:solidFill>
                <a:latin typeface="Calibri"/>
                <a:cs typeface="Calibri"/>
              </a:rPr>
              <a:t> </a:t>
            </a:r>
            <a:r>
              <a:rPr sz="1189" i="1" dirty="0">
                <a:solidFill>
                  <a:srgbClr val="5B6B7A"/>
                </a:solidFill>
                <a:latin typeface="Calibri"/>
                <a:cs typeface="Calibri"/>
              </a:rPr>
              <a:t>common</a:t>
            </a:r>
            <a:r>
              <a:rPr sz="1189" i="1" spc="16" dirty="0">
                <a:solidFill>
                  <a:srgbClr val="5B6B7A"/>
                </a:solidFill>
                <a:latin typeface="Calibri"/>
                <a:cs typeface="Calibri"/>
              </a:rPr>
              <a:t> </a:t>
            </a:r>
            <a:r>
              <a:rPr sz="1189" i="1" dirty="0">
                <a:solidFill>
                  <a:srgbClr val="5B6B7A"/>
                </a:solidFill>
                <a:latin typeface="Calibri"/>
                <a:cs typeface="Calibri"/>
              </a:rPr>
              <a:t>scale.</a:t>
            </a:r>
            <a:r>
              <a:rPr sz="1189" i="1" spc="103" dirty="0">
                <a:solidFill>
                  <a:srgbClr val="5B6B7A"/>
                </a:solidFill>
                <a:latin typeface="Calibri"/>
                <a:cs typeface="Calibri"/>
              </a:rPr>
              <a:t> </a:t>
            </a:r>
            <a:r>
              <a:rPr sz="1189" b="1" i="1" dirty="0">
                <a:solidFill>
                  <a:srgbClr val="5B6B7A"/>
                </a:solidFill>
                <a:latin typeface="Calibri"/>
                <a:cs typeface="Calibri"/>
              </a:rPr>
              <a:t>Preliminary—validate</a:t>
            </a:r>
            <a:r>
              <a:rPr sz="1189" b="1" i="1" spc="-24" dirty="0">
                <a:solidFill>
                  <a:srgbClr val="5B6B7A"/>
                </a:solidFill>
                <a:latin typeface="Calibri"/>
                <a:cs typeface="Calibri"/>
              </a:rPr>
              <a:t> </a:t>
            </a:r>
            <a:r>
              <a:rPr sz="1189" b="1" i="1" dirty="0">
                <a:solidFill>
                  <a:srgbClr val="5B6B7A"/>
                </a:solidFill>
                <a:latin typeface="Calibri"/>
                <a:cs typeface="Calibri"/>
              </a:rPr>
              <a:t>before</a:t>
            </a:r>
            <a:r>
              <a:rPr sz="1189" b="1" i="1" spc="-16" dirty="0">
                <a:solidFill>
                  <a:srgbClr val="5B6B7A"/>
                </a:solidFill>
                <a:latin typeface="Calibri"/>
                <a:cs typeface="Calibri"/>
              </a:rPr>
              <a:t> </a:t>
            </a:r>
            <a:r>
              <a:rPr sz="1189" b="1" i="1" dirty="0">
                <a:solidFill>
                  <a:srgbClr val="5B6B7A"/>
                </a:solidFill>
                <a:latin typeface="Calibri"/>
                <a:cs typeface="Calibri"/>
              </a:rPr>
              <a:t>use:</a:t>
            </a:r>
            <a:r>
              <a:rPr sz="1189" b="1" i="1" spc="63" dirty="0">
                <a:solidFill>
                  <a:srgbClr val="5B6B7A"/>
                </a:solidFill>
                <a:latin typeface="Calibri"/>
                <a:cs typeface="Calibri"/>
              </a:rPr>
              <a:t> </a:t>
            </a:r>
            <a:r>
              <a:rPr lang="en-US" sz="1189" i="1" spc="-16" dirty="0">
                <a:solidFill>
                  <a:srgbClr val="5B6B7A"/>
                </a:solidFill>
                <a:cs typeface="Calibri"/>
              </a:rPr>
              <a:t>Indonesia's Ministry of Health and BPJS must validate provincial baseline cascade estimates and province-adjusted costs</a:t>
            </a:r>
            <a:r>
              <a:rPr sz="1189" i="1" spc="-16" dirty="0">
                <a:solidFill>
                  <a:srgbClr val="5B6B7A"/>
                </a:solidFill>
                <a:latin typeface="Calibri"/>
                <a:cs typeface="Calibri"/>
              </a:rPr>
              <a:t>.</a:t>
            </a:r>
            <a:r>
              <a:rPr sz="1189" i="1" spc="-8" dirty="0">
                <a:solidFill>
                  <a:srgbClr val="5B6B7A"/>
                </a:solidFill>
                <a:latin typeface="Calibri"/>
                <a:cs typeface="Calibri"/>
              </a:rPr>
              <a:t> </a:t>
            </a:r>
            <a:r>
              <a:rPr sz="1189" i="1" spc="-16" dirty="0">
                <a:solidFill>
                  <a:srgbClr val="5B6B7A"/>
                </a:solidFill>
                <a:latin typeface="Calibri"/>
                <a:cs typeface="Calibri"/>
              </a:rPr>
              <a:t>Provincial</a:t>
            </a:r>
            <a:r>
              <a:rPr sz="1189" i="1" spc="793" dirty="0">
                <a:solidFill>
                  <a:srgbClr val="5B6B7A"/>
                </a:solidFill>
                <a:latin typeface="Calibri"/>
                <a:cs typeface="Calibri"/>
              </a:rPr>
              <a:t> </a:t>
            </a:r>
            <a:r>
              <a:rPr sz="1189" i="1" dirty="0">
                <a:solidFill>
                  <a:srgbClr val="5B6B7A"/>
                </a:solidFill>
                <a:latin typeface="Calibri"/>
                <a:cs typeface="Calibri"/>
              </a:rPr>
              <a:t>CVD</a:t>
            </a:r>
            <a:r>
              <a:rPr sz="1189" i="1" spc="-8" dirty="0">
                <a:solidFill>
                  <a:srgbClr val="5B6B7A"/>
                </a:solidFill>
                <a:latin typeface="Calibri"/>
                <a:cs typeface="Calibri"/>
              </a:rPr>
              <a:t> </a:t>
            </a:r>
            <a:r>
              <a:rPr sz="1189" i="1" dirty="0">
                <a:solidFill>
                  <a:srgbClr val="5B6B7A"/>
                </a:solidFill>
                <a:latin typeface="Calibri"/>
                <a:cs typeface="Calibri"/>
              </a:rPr>
              <a:t>treatment coverage</a:t>
            </a:r>
            <a:r>
              <a:rPr sz="1189" i="1" spc="-8" dirty="0">
                <a:solidFill>
                  <a:srgbClr val="5B6B7A"/>
                </a:solidFill>
                <a:latin typeface="Calibri"/>
                <a:cs typeface="Calibri"/>
              </a:rPr>
              <a:t> </a:t>
            </a:r>
            <a:r>
              <a:rPr sz="1189" i="1" dirty="0">
                <a:solidFill>
                  <a:srgbClr val="5B6B7A"/>
                </a:solidFill>
                <a:latin typeface="Calibri"/>
                <a:cs typeface="Calibri"/>
              </a:rPr>
              <a:t>is a</a:t>
            </a:r>
            <a:r>
              <a:rPr sz="1189" i="1" spc="-8" dirty="0">
                <a:solidFill>
                  <a:srgbClr val="5B6B7A"/>
                </a:solidFill>
                <a:latin typeface="Calibri"/>
                <a:cs typeface="Calibri"/>
              </a:rPr>
              <a:t> </a:t>
            </a:r>
            <a:r>
              <a:rPr sz="1189" i="1" dirty="0">
                <a:solidFill>
                  <a:srgbClr val="5B6B7A"/>
                </a:solidFill>
                <a:latin typeface="Calibri"/>
                <a:cs typeface="Calibri"/>
              </a:rPr>
              <a:t>crude anchor</a:t>
            </a:r>
            <a:r>
              <a:rPr sz="1189" i="1" spc="-8" dirty="0">
                <a:solidFill>
                  <a:srgbClr val="5B6B7A"/>
                </a:solidFill>
                <a:latin typeface="Calibri"/>
                <a:cs typeface="Calibri"/>
              </a:rPr>
              <a:t> </a:t>
            </a:r>
            <a:r>
              <a:rPr lang="en-US" sz="1189" i="1" dirty="0">
                <a:solidFill>
                  <a:srgbClr val="5B6B7A"/>
                </a:solidFill>
                <a:cs typeface="Calibri"/>
              </a:rPr>
              <a:t>based on observed CVD mortality and the modeled coverage-effect relationship (extreme values capped); provincial diabetes coverage is scaled proportionally</a:t>
            </a:r>
            <a:r>
              <a:rPr sz="1189" i="1" spc="-16" dirty="0">
                <a:solidFill>
                  <a:srgbClr val="5B6B7A"/>
                </a:solidFill>
                <a:latin typeface="Calibri"/>
                <a:cs typeface="Calibri"/>
              </a:rPr>
              <a:t>.</a:t>
            </a:r>
            <a:endParaRPr sz="1189" dirty="0">
              <a:latin typeface="Calibri"/>
              <a:cs typeface="Calibri"/>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937" y="158916"/>
            <a:ext cx="9038591" cy="1219375"/>
          </a:xfrm>
          <a:prstGeom prst="rect">
            <a:avLst/>
          </a:prstGeom>
        </p:spPr>
        <p:txBody>
          <a:bodyPr vert="horz" wrap="square" lIns="0" tIns="21148" rIns="0" bIns="0" rtlCol="0" anchor="ctr">
            <a:spAutoFit/>
          </a:bodyPr>
          <a:lstStyle/>
          <a:p>
            <a:pPr marL="20141" marR="8056" algn="ctr">
              <a:lnSpc>
                <a:spcPct val="110700"/>
              </a:lnSpc>
              <a:spcBef>
                <a:spcPts val="167"/>
              </a:spcBef>
            </a:pPr>
            <a:r>
              <a:rPr sz="3600" b="1" spc="-16" dirty="0"/>
              <a:t>The provincial financing requirement grows as coverage scales up</a:t>
            </a:r>
          </a:p>
        </p:txBody>
      </p:sp>
      <p:pic>
        <p:nvPicPr>
          <p:cNvPr id="3" name="object 3"/>
          <p:cNvPicPr/>
          <p:nvPr/>
        </p:nvPicPr>
        <p:blipFill>
          <a:blip r:embed="rId2" cstate="print"/>
          <a:stretch>
            <a:fillRect/>
          </a:stretch>
        </p:blipFill>
        <p:spPr>
          <a:xfrm>
            <a:off x="594480" y="1969915"/>
            <a:ext cx="7947254" cy="1447014"/>
          </a:xfrm>
          <a:prstGeom prst="rect">
            <a:avLst/>
          </a:prstGeom>
        </p:spPr>
      </p:pic>
      <p:sp>
        <p:nvSpPr>
          <p:cNvPr id="4" name="object 4"/>
          <p:cNvSpPr txBox="1"/>
          <p:nvPr/>
        </p:nvSpPr>
        <p:spPr>
          <a:xfrm>
            <a:off x="2414491" y="1813197"/>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2030</a:t>
            </a:r>
            <a:endParaRPr sz="872">
              <a:latin typeface="Arial"/>
              <a:cs typeface="Arial"/>
            </a:endParaRPr>
          </a:p>
        </p:txBody>
      </p:sp>
      <p:sp>
        <p:nvSpPr>
          <p:cNvPr id="5" name="object 5"/>
          <p:cNvSpPr txBox="1"/>
          <p:nvPr/>
        </p:nvSpPr>
        <p:spPr>
          <a:xfrm>
            <a:off x="6416833" y="1813197"/>
            <a:ext cx="304129" cy="161659"/>
          </a:xfrm>
          <a:prstGeom prst="rect">
            <a:avLst/>
          </a:prstGeom>
        </p:spPr>
        <p:txBody>
          <a:bodyPr vert="horz" wrap="square" lIns="0" tIns="27190" rIns="0" bIns="0" rtlCol="0">
            <a:spAutoFit/>
          </a:bodyPr>
          <a:lstStyle/>
          <a:p>
            <a:pPr marL="20141">
              <a:spcBef>
                <a:spcPts val="214"/>
              </a:spcBef>
            </a:pPr>
            <a:r>
              <a:rPr sz="872" b="1" spc="-32" dirty="0">
                <a:solidFill>
                  <a:srgbClr val="0E2A56"/>
                </a:solidFill>
                <a:latin typeface="Arial"/>
                <a:cs typeface="Arial"/>
              </a:rPr>
              <a:t>2040</a:t>
            </a:r>
            <a:endParaRPr sz="872">
              <a:latin typeface="Arial"/>
              <a:cs typeface="Arial"/>
            </a:endParaRPr>
          </a:p>
        </p:txBody>
      </p:sp>
      <p:sp>
        <p:nvSpPr>
          <p:cNvPr id="6" name="object 6"/>
          <p:cNvSpPr txBox="1"/>
          <p:nvPr/>
        </p:nvSpPr>
        <p:spPr>
          <a:xfrm>
            <a:off x="2407196" y="3534015"/>
            <a:ext cx="2669685" cy="134307"/>
          </a:xfrm>
          <a:prstGeom prst="rect">
            <a:avLst/>
          </a:prstGeom>
        </p:spPr>
        <p:txBody>
          <a:bodyPr vert="horz" wrap="square" lIns="0" tIns="24169" rIns="0" bIns="0" rtlCol="0">
            <a:spAutoFit/>
          </a:bodyPr>
          <a:lstStyle/>
          <a:p>
            <a:pPr marL="20141">
              <a:spcBef>
                <a:spcPts val="190"/>
              </a:spcBef>
            </a:pPr>
            <a:r>
              <a:rPr sz="714" dirty="0">
                <a:solidFill>
                  <a:srgbClr val="0E2A56"/>
                </a:solidFill>
                <a:latin typeface="Arial MT"/>
                <a:cs typeface="Arial MT"/>
              </a:rPr>
              <a:t>Annual</a:t>
            </a:r>
            <a:r>
              <a:rPr sz="714" spc="79" dirty="0">
                <a:solidFill>
                  <a:srgbClr val="0E2A56"/>
                </a:solidFill>
                <a:latin typeface="Arial MT"/>
                <a:cs typeface="Arial MT"/>
              </a:rPr>
              <a:t> </a:t>
            </a:r>
            <a:r>
              <a:rPr sz="714" dirty="0">
                <a:solidFill>
                  <a:srgbClr val="0E2A56"/>
                </a:solidFill>
                <a:latin typeface="Arial MT"/>
                <a:cs typeface="Arial MT"/>
              </a:rPr>
              <a:t>additional</a:t>
            </a:r>
            <a:r>
              <a:rPr sz="714" spc="79" dirty="0">
                <a:solidFill>
                  <a:srgbClr val="0E2A56"/>
                </a:solidFill>
                <a:latin typeface="Arial MT"/>
                <a:cs typeface="Arial MT"/>
              </a:rPr>
              <a:t> </a:t>
            </a:r>
            <a:r>
              <a:rPr sz="714" dirty="0">
                <a:solidFill>
                  <a:srgbClr val="0E2A56"/>
                </a:solidFill>
                <a:latin typeface="Arial MT"/>
                <a:cs typeface="Arial MT"/>
              </a:rPr>
              <a:t>cost</a:t>
            </a:r>
            <a:r>
              <a:rPr sz="714" spc="79" dirty="0">
                <a:solidFill>
                  <a:srgbClr val="0E2A56"/>
                </a:solidFill>
                <a:latin typeface="Arial MT"/>
                <a:cs typeface="Arial MT"/>
              </a:rPr>
              <a:t> </a:t>
            </a:r>
            <a:r>
              <a:rPr sz="714" dirty="0">
                <a:solidFill>
                  <a:srgbClr val="0E2A56"/>
                </a:solidFill>
                <a:latin typeface="Arial MT"/>
                <a:cs typeface="Arial MT"/>
              </a:rPr>
              <a:t>per</a:t>
            </a:r>
            <a:r>
              <a:rPr sz="714" spc="79" dirty="0">
                <a:solidFill>
                  <a:srgbClr val="0E2A56"/>
                </a:solidFill>
                <a:latin typeface="Arial MT"/>
                <a:cs typeface="Arial MT"/>
              </a:rPr>
              <a:t> </a:t>
            </a:r>
            <a:r>
              <a:rPr sz="714" dirty="0">
                <a:solidFill>
                  <a:srgbClr val="0E2A56"/>
                </a:solidFill>
                <a:latin typeface="Arial MT"/>
                <a:cs typeface="Arial MT"/>
              </a:rPr>
              <a:t>capita</a:t>
            </a:r>
            <a:r>
              <a:rPr sz="714" spc="79" dirty="0">
                <a:solidFill>
                  <a:srgbClr val="0E2A56"/>
                </a:solidFill>
                <a:latin typeface="Arial MT"/>
                <a:cs typeface="Arial MT"/>
              </a:rPr>
              <a:t> </a:t>
            </a:r>
            <a:r>
              <a:rPr sz="714" dirty="0">
                <a:solidFill>
                  <a:srgbClr val="0E2A56"/>
                </a:solidFill>
                <a:latin typeface="Arial MT"/>
                <a:cs typeface="Arial MT"/>
              </a:rPr>
              <a:t>(US$</a:t>
            </a:r>
            <a:r>
              <a:rPr sz="714" spc="87" dirty="0">
                <a:solidFill>
                  <a:srgbClr val="0E2A56"/>
                </a:solidFill>
                <a:latin typeface="Arial MT"/>
                <a:cs typeface="Arial MT"/>
              </a:rPr>
              <a:t> </a:t>
            </a:r>
            <a:r>
              <a:rPr sz="714" dirty="0">
                <a:solidFill>
                  <a:srgbClr val="0E2A56"/>
                </a:solidFill>
                <a:latin typeface="Arial MT"/>
                <a:cs typeface="Arial MT"/>
              </a:rPr>
              <a:t>per</a:t>
            </a:r>
            <a:r>
              <a:rPr sz="714" spc="79" dirty="0">
                <a:solidFill>
                  <a:srgbClr val="0E2A56"/>
                </a:solidFill>
                <a:latin typeface="Arial MT"/>
                <a:cs typeface="Arial MT"/>
              </a:rPr>
              <a:t> </a:t>
            </a:r>
            <a:r>
              <a:rPr sz="714" dirty="0">
                <a:solidFill>
                  <a:srgbClr val="0E2A56"/>
                </a:solidFill>
                <a:latin typeface="Arial MT"/>
                <a:cs typeface="Arial MT"/>
              </a:rPr>
              <a:t>person,</a:t>
            </a:r>
            <a:r>
              <a:rPr sz="714" spc="79" dirty="0">
                <a:solidFill>
                  <a:srgbClr val="0E2A56"/>
                </a:solidFill>
                <a:latin typeface="Arial MT"/>
                <a:cs typeface="Arial MT"/>
              </a:rPr>
              <a:t> </a:t>
            </a:r>
            <a:r>
              <a:rPr sz="714" spc="-16" dirty="0">
                <a:solidFill>
                  <a:srgbClr val="0E2A56"/>
                </a:solidFill>
                <a:latin typeface="Arial MT"/>
                <a:cs typeface="Arial MT"/>
              </a:rPr>
              <a:t>discounted)</a:t>
            </a:r>
            <a:endParaRPr sz="714">
              <a:latin typeface="Arial MT"/>
              <a:cs typeface="Arial MT"/>
            </a:endParaRPr>
          </a:p>
        </p:txBody>
      </p:sp>
      <p:grpSp>
        <p:nvGrpSpPr>
          <p:cNvPr id="7" name="object 7"/>
          <p:cNvGrpSpPr/>
          <p:nvPr/>
        </p:nvGrpSpPr>
        <p:grpSpPr>
          <a:xfrm>
            <a:off x="5115321" y="3482432"/>
            <a:ext cx="1592144" cy="94663"/>
            <a:chOff x="3225494" y="1656117"/>
            <a:chExt cx="1003935" cy="59690"/>
          </a:xfrm>
        </p:grpSpPr>
        <p:pic>
          <p:nvPicPr>
            <p:cNvPr id="8" name="object 8"/>
            <p:cNvPicPr/>
            <p:nvPr/>
          </p:nvPicPr>
          <p:blipFill>
            <a:blip r:embed="rId3" cstate="print"/>
            <a:stretch>
              <a:fillRect/>
            </a:stretch>
          </p:blipFill>
          <p:spPr>
            <a:xfrm>
              <a:off x="3225494" y="1656121"/>
              <a:ext cx="1003839" cy="59174"/>
            </a:xfrm>
            <a:prstGeom prst="rect">
              <a:avLst/>
            </a:prstGeom>
          </p:spPr>
        </p:pic>
        <p:sp>
          <p:nvSpPr>
            <p:cNvPr id="9" name="object 9"/>
            <p:cNvSpPr/>
            <p:nvPr/>
          </p:nvSpPr>
          <p:spPr>
            <a:xfrm>
              <a:off x="3227168" y="1656117"/>
              <a:ext cx="787400" cy="59690"/>
            </a:xfrm>
            <a:custGeom>
              <a:avLst/>
              <a:gdLst/>
              <a:ahLst/>
              <a:cxnLst/>
              <a:rect l="l" t="t" r="r" b="b"/>
              <a:pathLst>
                <a:path w="787400" h="59689">
                  <a:moveTo>
                    <a:pt x="0" y="33400"/>
                  </a:moveTo>
                  <a:lnTo>
                    <a:pt x="0" y="59174"/>
                  </a:lnTo>
                </a:path>
                <a:path w="787400" h="59689">
                  <a:moveTo>
                    <a:pt x="393398" y="33400"/>
                  </a:moveTo>
                  <a:lnTo>
                    <a:pt x="393398" y="59174"/>
                  </a:lnTo>
                </a:path>
                <a:path w="787400" h="59689">
                  <a:moveTo>
                    <a:pt x="786819" y="33400"/>
                  </a:moveTo>
                  <a:lnTo>
                    <a:pt x="786819" y="59174"/>
                  </a:lnTo>
                </a:path>
                <a:path w="787400" h="59689">
                  <a:moveTo>
                    <a:pt x="0" y="25773"/>
                  </a:moveTo>
                  <a:lnTo>
                    <a:pt x="0" y="0"/>
                  </a:lnTo>
                </a:path>
                <a:path w="787400" h="59689">
                  <a:moveTo>
                    <a:pt x="393398" y="25773"/>
                  </a:moveTo>
                  <a:lnTo>
                    <a:pt x="393398" y="0"/>
                  </a:lnTo>
                </a:path>
                <a:path w="787400" h="59689">
                  <a:moveTo>
                    <a:pt x="786819" y="25773"/>
                  </a:moveTo>
                  <a:lnTo>
                    <a:pt x="786819" y="0"/>
                  </a:lnTo>
                </a:path>
              </a:pathLst>
            </a:custGeom>
            <a:ln w="3175">
              <a:solidFill>
                <a:srgbClr val="FFFFFF"/>
              </a:solidFill>
            </a:ln>
          </p:spPr>
          <p:txBody>
            <a:bodyPr wrap="square" lIns="0" tIns="0" rIns="0" bIns="0" rtlCol="0"/>
            <a:lstStyle/>
            <a:p>
              <a:endParaRPr sz="2855"/>
            </a:p>
          </p:txBody>
        </p:sp>
      </p:grpSp>
      <p:sp>
        <p:nvSpPr>
          <p:cNvPr id="10" name="object 10"/>
          <p:cNvSpPr txBox="1"/>
          <p:nvPr/>
        </p:nvSpPr>
        <p:spPr>
          <a:xfrm>
            <a:off x="5017288" y="3603340"/>
            <a:ext cx="201410" cy="119962"/>
          </a:xfrm>
          <a:prstGeom prst="rect">
            <a:avLst/>
          </a:prstGeom>
        </p:spPr>
        <p:txBody>
          <a:bodyPr vert="horz" wrap="square" lIns="0" tIns="22155" rIns="0" bIns="0" rtlCol="0">
            <a:spAutoFit/>
          </a:bodyPr>
          <a:lstStyle/>
          <a:p>
            <a:pPr marL="20141">
              <a:spcBef>
                <a:spcPts val="174"/>
              </a:spcBef>
            </a:pPr>
            <a:r>
              <a:rPr sz="634" spc="-32" dirty="0">
                <a:latin typeface="Arial MT"/>
                <a:cs typeface="Arial MT"/>
              </a:rPr>
              <a:t>0.00</a:t>
            </a:r>
            <a:endParaRPr sz="634">
              <a:latin typeface="Arial MT"/>
              <a:cs typeface="Arial MT"/>
            </a:endParaRPr>
          </a:p>
        </p:txBody>
      </p:sp>
      <p:sp>
        <p:nvSpPr>
          <p:cNvPr id="11" name="object 11"/>
          <p:cNvSpPr txBox="1"/>
          <p:nvPr/>
        </p:nvSpPr>
        <p:spPr>
          <a:xfrm>
            <a:off x="5641205" y="3603340"/>
            <a:ext cx="201410" cy="119962"/>
          </a:xfrm>
          <a:prstGeom prst="rect">
            <a:avLst/>
          </a:prstGeom>
        </p:spPr>
        <p:txBody>
          <a:bodyPr vert="horz" wrap="square" lIns="0" tIns="22155" rIns="0" bIns="0" rtlCol="0">
            <a:spAutoFit/>
          </a:bodyPr>
          <a:lstStyle/>
          <a:p>
            <a:pPr marL="20141">
              <a:spcBef>
                <a:spcPts val="174"/>
              </a:spcBef>
            </a:pPr>
            <a:r>
              <a:rPr sz="634" spc="-32" dirty="0">
                <a:latin typeface="Arial MT"/>
                <a:cs typeface="Arial MT"/>
              </a:rPr>
              <a:t>5.00</a:t>
            </a:r>
            <a:endParaRPr sz="634">
              <a:latin typeface="Arial MT"/>
              <a:cs typeface="Arial MT"/>
            </a:endParaRPr>
          </a:p>
        </p:txBody>
      </p:sp>
      <p:sp>
        <p:nvSpPr>
          <p:cNvPr id="12" name="object 12"/>
          <p:cNvSpPr txBox="1"/>
          <p:nvPr/>
        </p:nvSpPr>
        <p:spPr>
          <a:xfrm>
            <a:off x="6242110" y="3603340"/>
            <a:ext cx="247734" cy="119962"/>
          </a:xfrm>
          <a:prstGeom prst="rect">
            <a:avLst/>
          </a:prstGeom>
        </p:spPr>
        <p:txBody>
          <a:bodyPr vert="horz" wrap="square" lIns="0" tIns="22155" rIns="0" bIns="0" rtlCol="0">
            <a:spAutoFit/>
          </a:bodyPr>
          <a:lstStyle/>
          <a:p>
            <a:pPr marL="20141">
              <a:spcBef>
                <a:spcPts val="174"/>
              </a:spcBef>
            </a:pPr>
            <a:r>
              <a:rPr sz="634" spc="-16" dirty="0">
                <a:latin typeface="Arial MT"/>
                <a:cs typeface="Arial MT"/>
              </a:rPr>
              <a:t>10.00</a:t>
            </a:r>
            <a:endParaRPr sz="634">
              <a:latin typeface="Arial MT"/>
              <a:cs typeface="Arial MT"/>
            </a:endParaRPr>
          </a:p>
        </p:txBody>
      </p:sp>
      <p:sp>
        <p:nvSpPr>
          <p:cNvPr id="13" name="object 13"/>
          <p:cNvSpPr txBox="1"/>
          <p:nvPr/>
        </p:nvSpPr>
        <p:spPr>
          <a:xfrm>
            <a:off x="594480" y="4114800"/>
            <a:ext cx="7988915" cy="965284"/>
          </a:xfrm>
          <a:prstGeom prst="rect">
            <a:avLst/>
          </a:prstGeom>
        </p:spPr>
        <p:txBody>
          <a:bodyPr vert="horz" wrap="square" lIns="0" tIns="12085" rIns="0" bIns="0" rtlCol="0">
            <a:spAutoFit/>
          </a:bodyPr>
          <a:lstStyle/>
          <a:p>
            <a:pPr marL="20141" marR="8056">
              <a:lnSpc>
                <a:spcPct val="105200"/>
              </a:lnSpc>
              <a:spcBef>
                <a:spcPts val="95"/>
              </a:spcBef>
            </a:pPr>
            <a:r>
              <a:rPr sz="1189" b="1" i="1" dirty="0">
                <a:solidFill>
                  <a:srgbClr val="5B6B7A"/>
                </a:solidFill>
                <a:latin typeface="Calibri"/>
                <a:cs typeface="Calibri"/>
              </a:rPr>
              <a:t>Method:</a:t>
            </a:r>
            <a:r>
              <a:rPr sz="1189" b="1" i="1" spc="127" dirty="0">
                <a:solidFill>
                  <a:srgbClr val="5B6B7A"/>
                </a:solidFill>
                <a:latin typeface="Calibri"/>
                <a:cs typeface="Calibri"/>
              </a:rPr>
              <a:t> </a:t>
            </a:r>
            <a:r>
              <a:rPr sz="1189" i="1" dirty="0">
                <a:solidFill>
                  <a:srgbClr val="5B6B7A"/>
                </a:solidFill>
                <a:latin typeface="Calibri"/>
                <a:cs typeface="Calibri"/>
              </a:rPr>
              <a:t>annual</a:t>
            </a:r>
            <a:r>
              <a:rPr sz="1189" i="1" spc="32" dirty="0">
                <a:solidFill>
                  <a:srgbClr val="5B6B7A"/>
                </a:solidFill>
                <a:latin typeface="Calibri"/>
                <a:cs typeface="Calibri"/>
              </a:rPr>
              <a:t> </a:t>
            </a:r>
            <a:r>
              <a:rPr sz="1189" i="1" dirty="0">
                <a:solidFill>
                  <a:srgbClr val="5B6B7A"/>
                </a:solidFill>
                <a:latin typeface="Calibri"/>
                <a:cs typeface="Calibri"/>
              </a:rPr>
              <a:t>(not</a:t>
            </a:r>
            <a:r>
              <a:rPr sz="1189" i="1" spc="32" dirty="0">
                <a:solidFill>
                  <a:srgbClr val="5B6B7A"/>
                </a:solidFill>
                <a:latin typeface="Calibri"/>
                <a:cs typeface="Calibri"/>
              </a:rPr>
              <a:t> </a:t>
            </a:r>
            <a:r>
              <a:rPr sz="1189" i="1" spc="-16" dirty="0">
                <a:solidFill>
                  <a:srgbClr val="5B6B7A"/>
                </a:solidFill>
                <a:latin typeface="Calibri"/>
                <a:cs typeface="Calibri"/>
              </a:rPr>
              <a:t>cumulative)</a:t>
            </a:r>
            <a:r>
              <a:rPr sz="1189" i="1" spc="32" dirty="0">
                <a:solidFill>
                  <a:srgbClr val="5B6B7A"/>
                </a:solidFill>
                <a:latin typeface="Calibri"/>
                <a:cs typeface="Calibri"/>
              </a:rPr>
              <a:t> </a:t>
            </a:r>
            <a:r>
              <a:rPr lang="en-US" sz="1189" i="1" spc="-16" dirty="0">
                <a:solidFill>
                  <a:srgbClr val="5B6B7A"/>
                </a:solidFill>
                <a:latin typeface="Calibri"/>
                <a:cs typeface="Calibri"/>
              </a:rPr>
              <a:t>discounted additional</a:t>
            </a:r>
            <a:r>
              <a:rPr sz="1189" i="1" dirty="0">
                <a:solidFill>
                  <a:srgbClr val="5B6B7A"/>
                </a:solidFill>
                <a:latin typeface="Calibri"/>
                <a:cs typeface="Calibri"/>
              </a:rPr>
              <a:t> cost</a:t>
            </a:r>
            <a:r>
              <a:rPr sz="1189" i="1" spc="8" dirty="0">
                <a:solidFill>
                  <a:srgbClr val="5B6B7A"/>
                </a:solidFill>
                <a:latin typeface="Calibri"/>
                <a:cs typeface="Calibri"/>
              </a:rPr>
              <a:t> </a:t>
            </a:r>
            <a:r>
              <a:rPr sz="1189" i="1" dirty="0">
                <a:solidFill>
                  <a:srgbClr val="5B6B7A"/>
                </a:solidFill>
                <a:latin typeface="Calibri"/>
                <a:cs typeface="Calibri"/>
              </a:rPr>
              <a:t>in each</a:t>
            </a:r>
            <a:r>
              <a:rPr sz="1189" i="1" spc="8" dirty="0">
                <a:solidFill>
                  <a:srgbClr val="5B6B7A"/>
                </a:solidFill>
                <a:latin typeface="Calibri"/>
                <a:cs typeface="Calibri"/>
              </a:rPr>
              <a:t> </a:t>
            </a:r>
            <a:r>
              <a:rPr sz="1189" i="1" dirty="0">
                <a:solidFill>
                  <a:srgbClr val="5B6B7A"/>
                </a:solidFill>
                <a:latin typeface="Calibri"/>
                <a:cs typeface="Calibri"/>
              </a:rPr>
              <a:t>province</a:t>
            </a:r>
            <a:r>
              <a:rPr sz="1189" i="1" spc="8" dirty="0">
                <a:solidFill>
                  <a:srgbClr val="5B6B7A"/>
                </a:solidFill>
                <a:latin typeface="Calibri"/>
                <a:cs typeface="Calibri"/>
              </a:rPr>
              <a:t> </a:t>
            </a:r>
            <a:r>
              <a:rPr sz="1189" i="1" dirty="0">
                <a:solidFill>
                  <a:srgbClr val="5B6B7A"/>
                </a:solidFill>
                <a:latin typeface="Calibri"/>
                <a:cs typeface="Calibri"/>
              </a:rPr>
              <a:t>divided by</a:t>
            </a:r>
            <a:r>
              <a:rPr sz="1189" i="1" spc="8" dirty="0">
                <a:solidFill>
                  <a:srgbClr val="5B6B7A"/>
                </a:solidFill>
                <a:latin typeface="Calibri"/>
                <a:cs typeface="Calibri"/>
              </a:rPr>
              <a:t> </a:t>
            </a:r>
            <a:r>
              <a:rPr sz="1189" i="1" dirty="0">
                <a:solidFill>
                  <a:srgbClr val="5B6B7A"/>
                </a:solidFill>
                <a:latin typeface="Calibri"/>
                <a:cs typeface="Calibri"/>
              </a:rPr>
              <a:t>that</a:t>
            </a:r>
            <a:r>
              <a:rPr sz="1189" i="1" spc="8" dirty="0">
                <a:solidFill>
                  <a:srgbClr val="5B6B7A"/>
                </a:solidFill>
                <a:latin typeface="Calibri"/>
                <a:cs typeface="Calibri"/>
              </a:rPr>
              <a:t> </a:t>
            </a:r>
            <a:r>
              <a:rPr sz="1189" i="1" spc="-16" dirty="0">
                <a:solidFill>
                  <a:srgbClr val="5B6B7A"/>
                </a:solidFill>
                <a:latin typeface="Calibri"/>
                <a:cs typeface="Calibri"/>
              </a:rPr>
              <a:t>province’s</a:t>
            </a:r>
            <a:r>
              <a:rPr sz="1189" i="1" dirty="0">
                <a:solidFill>
                  <a:srgbClr val="5B6B7A"/>
                </a:solidFill>
                <a:latin typeface="Calibri"/>
                <a:cs typeface="Calibri"/>
              </a:rPr>
              <a:t> population,</a:t>
            </a:r>
            <a:r>
              <a:rPr sz="1189" i="1" spc="8" dirty="0">
                <a:solidFill>
                  <a:srgbClr val="5B6B7A"/>
                </a:solidFill>
                <a:latin typeface="Calibri"/>
                <a:cs typeface="Calibri"/>
              </a:rPr>
              <a:t> </a:t>
            </a:r>
            <a:r>
              <a:rPr sz="1189" i="1" dirty="0">
                <a:solidFill>
                  <a:srgbClr val="5B6B7A"/>
                </a:solidFill>
                <a:latin typeface="Calibri"/>
                <a:cs typeface="Calibri"/>
              </a:rPr>
              <a:t>for</a:t>
            </a:r>
            <a:r>
              <a:rPr sz="1189" i="1" spc="8" dirty="0">
                <a:solidFill>
                  <a:srgbClr val="5B6B7A"/>
                </a:solidFill>
                <a:latin typeface="Calibri"/>
                <a:cs typeface="Calibri"/>
              </a:rPr>
              <a:t> </a:t>
            </a:r>
            <a:r>
              <a:rPr sz="1189" i="1" dirty="0">
                <a:solidFill>
                  <a:srgbClr val="5B6B7A"/>
                </a:solidFill>
                <a:latin typeface="Calibri"/>
                <a:cs typeface="Calibri"/>
              </a:rPr>
              <a:t>2030 and</a:t>
            </a:r>
            <a:r>
              <a:rPr sz="1189" i="1" spc="8" dirty="0">
                <a:solidFill>
                  <a:srgbClr val="5B6B7A"/>
                </a:solidFill>
                <a:latin typeface="Calibri"/>
                <a:cs typeface="Calibri"/>
              </a:rPr>
              <a:t> </a:t>
            </a:r>
            <a:r>
              <a:rPr sz="1189" i="1" dirty="0">
                <a:solidFill>
                  <a:srgbClr val="5B6B7A"/>
                </a:solidFill>
                <a:latin typeface="Calibri"/>
                <a:cs typeface="Calibri"/>
              </a:rPr>
              <a:t>2040</a:t>
            </a:r>
            <a:r>
              <a:rPr sz="1189" i="1" spc="8" dirty="0">
                <a:solidFill>
                  <a:srgbClr val="5B6B7A"/>
                </a:solidFill>
                <a:latin typeface="Calibri"/>
                <a:cs typeface="Calibri"/>
              </a:rPr>
              <a:t> </a:t>
            </a:r>
            <a:r>
              <a:rPr sz="1189" i="1" dirty="0">
                <a:solidFill>
                  <a:srgbClr val="5B6B7A"/>
                </a:solidFill>
                <a:latin typeface="Calibri"/>
                <a:cs typeface="Calibri"/>
              </a:rPr>
              <a:t>(discounted 3%/yr</a:t>
            </a:r>
            <a:r>
              <a:rPr sz="1189" i="1" spc="8" dirty="0">
                <a:solidFill>
                  <a:srgbClr val="5B6B7A"/>
                </a:solidFill>
                <a:latin typeface="Calibri"/>
                <a:cs typeface="Calibri"/>
              </a:rPr>
              <a:t> </a:t>
            </a:r>
            <a:r>
              <a:rPr sz="1189" i="1" dirty="0">
                <a:solidFill>
                  <a:srgbClr val="5B6B7A"/>
                </a:solidFill>
                <a:latin typeface="Calibri"/>
                <a:cs typeface="Calibri"/>
              </a:rPr>
              <a:t>to</a:t>
            </a:r>
            <a:r>
              <a:rPr sz="1189" i="1" spc="8" dirty="0">
                <a:solidFill>
                  <a:srgbClr val="5B6B7A"/>
                </a:solidFill>
                <a:latin typeface="Calibri"/>
                <a:cs typeface="Calibri"/>
              </a:rPr>
              <a:t> </a:t>
            </a:r>
            <a:r>
              <a:rPr sz="1189" i="1" dirty="0">
                <a:solidFill>
                  <a:srgbClr val="5B6B7A"/>
                </a:solidFill>
                <a:latin typeface="Calibri"/>
                <a:cs typeface="Calibri"/>
              </a:rPr>
              <a:t>2025, 2023</a:t>
            </a:r>
            <a:r>
              <a:rPr sz="1189" i="1" spc="8" dirty="0">
                <a:solidFill>
                  <a:srgbClr val="5B6B7A"/>
                </a:solidFill>
                <a:latin typeface="Calibri"/>
                <a:cs typeface="Calibri"/>
              </a:rPr>
              <a:t> </a:t>
            </a:r>
            <a:r>
              <a:rPr sz="1189" i="1" spc="-16" dirty="0">
                <a:solidFill>
                  <a:srgbClr val="5B6B7A"/>
                </a:solidFill>
                <a:latin typeface="Calibri"/>
                <a:cs typeface="Calibri"/>
              </a:rPr>
              <a:t>US$);</a:t>
            </a:r>
            <a:r>
              <a:rPr sz="1189" i="1" spc="793" dirty="0">
                <a:solidFill>
                  <a:srgbClr val="5B6B7A"/>
                </a:solidFill>
                <a:latin typeface="Calibri"/>
                <a:cs typeface="Calibri"/>
              </a:rPr>
              <a:t> </a:t>
            </a:r>
            <a:r>
              <a:rPr sz="1189" i="1" dirty="0">
                <a:solidFill>
                  <a:srgbClr val="5B6B7A"/>
                </a:solidFill>
                <a:latin typeface="Calibri"/>
                <a:cs typeface="Calibri"/>
              </a:rPr>
              <a:t>one</a:t>
            </a:r>
            <a:r>
              <a:rPr sz="1189" i="1" spc="8" dirty="0">
                <a:solidFill>
                  <a:srgbClr val="5B6B7A"/>
                </a:solidFill>
                <a:latin typeface="Calibri"/>
                <a:cs typeface="Calibri"/>
              </a:rPr>
              <a:t> </a:t>
            </a:r>
            <a:r>
              <a:rPr sz="1189" i="1" dirty="0">
                <a:solidFill>
                  <a:srgbClr val="5B6B7A"/>
                </a:solidFill>
                <a:latin typeface="Calibri"/>
                <a:cs typeface="Calibri"/>
              </a:rPr>
              <a:t>common</a:t>
            </a:r>
            <a:r>
              <a:rPr sz="1189" i="1" spc="8" dirty="0">
                <a:solidFill>
                  <a:srgbClr val="5B6B7A"/>
                </a:solidFill>
                <a:latin typeface="Calibri"/>
                <a:cs typeface="Calibri"/>
              </a:rPr>
              <a:t> </a:t>
            </a:r>
            <a:r>
              <a:rPr sz="1189" i="1" dirty="0">
                <a:solidFill>
                  <a:srgbClr val="5B6B7A"/>
                </a:solidFill>
                <a:latin typeface="Calibri"/>
                <a:cs typeface="Calibri"/>
              </a:rPr>
              <a:t>scale.</a:t>
            </a:r>
            <a:r>
              <a:rPr sz="1189" i="1" spc="95" dirty="0">
                <a:solidFill>
                  <a:srgbClr val="5B6B7A"/>
                </a:solidFill>
                <a:latin typeface="Calibri"/>
                <a:cs typeface="Calibri"/>
              </a:rPr>
              <a:t> </a:t>
            </a:r>
            <a:r>
              <a:rPr sz="1189" b="1" i="1" dirty="0">
                <a:solidFill>
                  <a:srgbClr val="5B6B7A"/>
                </a:solidFill>
                <a:latin typeface="Calibri"/>
                <a:cs typeface="Calibri"/>
              </a:rPr>
              <a:t>Preliminary—validate before</a:t>
            </a:r>
            <a:r>
              <a:rPr sz="1189" b="1" i="1" spc="-8" dirty="0">
                <a:solidFill>
                  <a:srgbClr val="5B6B7A"/>
                </a:solidFill>
                <a:latin typeface="Calibri"/>
                <a:cs typeface="Calibri"/>
              </a:rPr>
              <a:t> </a:t>
            </a:r>
            <a:r>
              <a:rPr sz="1189" b="1" i="1" dirty="0">
                <a:solidFill>
                  <a:srgbClr val="5B6B7A"/>
                </a:solidFill>
                <a:latin typeface="Calibri"/>
                <a:cs typeface="Calibri"/>
              </a:rPr>
              <a:t>use:</a:t>
            </a:r>
            <a:r>
              <a:rPr sz="1189" b="1" i="1" spc="87" dirty="0">
                <a:solidFill>
                  <a:srgbClr val="5B6B7A"/>
                </a:solidFill>
                <a:latin typeface="Calibri"/>
                <a:cs typeface="Calibri"/>
              </a:rPr>
              <a:t> </a:t>
            </a:r>
            <a:r>
              <a:rPr lang="en-US" sz="1189" i="1" spc="-16" dirty="0">
                <a:solidFill>
                  <a:srgbClr val="5B6B7A"/>
                </a:solidFill>
                <a:cs typeface="Calibri"/>
              </a:rPr>
              <a:t>Indonesia's Ministry of Health and BPJS must validate provincial baseline cascade estimates and province-adjusted costs</a:t>
            </a:r>
            <a:r>
              <a:rPr sz="1189" i="1" spc="-16" dirty="0">
                <a:solidFill>
                  <a:srgbClr val="5B6B7A"/>
                </a:solidFill>
                <a:latin typeface="Calibri"/>
                <a:cs typeface="Calibri"/>
              </a:rPr>
              <a:t>.</a:t>
            </a:r>
            <a:r>
              <a:rPr sz="1189" i="1" spc="-8" dirty="0">
                <a:solidFill>
                  <a:srgbClr val="5B6B7A"/>
                </a:solidFill>
                <a:latin typeface="Calibri"/>
                <a:cs typeface="Calibri"/>
              </a:rPr>
              <a:t> </a:t>
            </a:r>
            <a:r>
              <a:rPr sz="1189" i="1" spc="-16" dirty="0">
                <a:solidFill>
                  <a:srgbClr val="5B6B7A"/>
                </a:solidFill>
                <a:latin typeface="Calibri"/>
                <a:cs typeface="Calibri"/>
              </a:rPr>
              <a:t>Provincial</a:t>
            </a:r>
            <a:r>
              <a:rPr sz="1189" i="1" spc="-8" dirty="0">
                <a:solidFill>
                  <a:srgbClr val="5B6B7A"/>
                </a:solidFill>
                <a:latin typeface="Calibri"/>
                <a:cs typeface="Calibri"/>
              </a:rPr>
              <a:t> </a:t>
            </a:r>
            <a:r>
              <a:rPr sz="1189" i="1" dirty="0">
                <a:solidFill>
                  <a:srgbClr val="5B6B7A"/>
                </a:solidFill>
                <a:latin typeface="Calibri"/>
                <a:cs typeface="Calibri"/>
              </a:rPr>
              <a:t>CVD treatment</a:t>
            </a:r>
            <a:r>
              <a:rPr sz="1189" i="1" spc="-8" dirty="0">
                <a:solidFill>
                  <a:srgbClr val="5B6B7A"/>
                </a:solidFill>
                <a:latin typeface="Calibri"/>
                <a:cs typeface="Calibri"/>
              </a:rPr>
              <a:t> </a:t>
            </a:r>
            <a:r>
              <a:rPr sz="1189" i="1" dirty="0">
                <a:solidFill>
                  <a:srgbClr val="5B6B7A"/>
                </a:solidFill>
                <a:latin typeface="Calibri"/>
                <a:cs typeface="Calibri"/>
              </a:rPr>
              <a:t>coverage</a:t>
            </a:r>
            <a:r>
              <a:rPr sz="1189" i="1" spc="-8" dirty="0">
                <a:solidFill>
                  <a:srgbClr val="5B6B7A"/>
                </a:solidFill>
                <a:latin typeface="Calibri"/>
                <a:cs typeface="Calibri"/>
              </a:rPr>
              <a:t> </a:t>
            </a:r>
            <a:r>
              <a:rPr sz="1189" i="1" dirty="0">
                <a:solidFill>
                  <a:srgbClr val="5B6B7A"/>
                </a:solidFill>
                <a:latin typeface="Calibri"/>
                <a:cs typeface="Calibri"/>
              </a:rPr>
              <a:t>is a</a:t>
            </a:r>
            <a:r>
              <a:rPr sz="1189" i="1" spc="-8" dirty="0">
                <a:solidFill>
                  <a:srgbClr val="5B6B7A"/>
                </a:solidFill>
                <a:latin typeface="Calibri"/>
                <a:cs typeface="Calibri"/>
              </a:rPr>
              <a:t> </a:t>
            </a:r>
            <a:r>
              <a:rPr sz="1189" i="1" dirty="0">
                <a:solidFill>
                  <a:srgbClr val="5B6B7A"/>
                </a:solidFill>
                <a:latin typeface="Calibri"/>
                <a:cs typeface="Calibri"/>
              </a:rPr>
              <a:t>crude</a:t>
            </a:r>
            <a:r>
              <a:rPr sz="1189" i="1" spc="-8" dirty="0">
                <a:solidFill>
                  <a:srgbClr val="5B6B7A"/>
                </a:solidFill>
                <a:latin typeface="Calibri"/>
                <a:cs typeface="Calibri"/>
              </a:rPr>
              <a:t> </a:t>
            </a:r>
            <a:r>
              <a:rPr sz="1189" i="1" dirty="0">
                <a:solidFill>
                  <a:srgbClr val="5B6B7A"/>
                </a:solidFill>
                <a:latin typeface="Calibri"/>
                <a:cs typeface="Calibri"/>
              </a:rPr>
              <a:t>anchor </a:t>
            </a:r>
            <a:r>
              <a:rPr lang="en-US" sz="1189" i="1" dirty="0">
                <a:solidFill>
                  <a:srgbClr val="5B6B7A"/>
                </a:solidFill>
                <a:cs typeface="Calibri"/>
              </a:rPr>
              <a:t>based on observed CVD mortality and the modeled coverage-effect relationship (extreme values capped); provincial diabetes coverage is scaled proportionally</a:t>
            </a:r>
            <a:r>
              <a:rPr sz="1189" i="1" spc="-16" dirty="0">
                <a:solidFill>
                  <a:srgbClr val="5B6B7A"/>
                </a:solidFill>
                <a:latin typeface="Calibri"/>
                <a:cs typeface="Calibri"/>
              </a:rPr>
              <a:t>.</a:t>
            </a:r>
            <a:endParaRPr sz="1189" dirty="0">
              <a:latin typeface="Calibri"/>
              <a:cs typeface="Calibri"/>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5FD3-EA30-5127-702B-7406DE3B3D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6B224-633E-6FCE-2DF9-D8799843951D}"/>
              </a:ext>
            </a:extLst>
          </p:cNvPr>
          <p:cNvSpPr>
            <a:spLocks noGrp="1"/>
          </p:cNvSpPr>
          <p:nvPr>
            <p:ph idx="1"/>
          </p:nvPr>
        </p:nvSpPr>
        <p:spPr>
          <a:xfrm>
            <a:off x="457200" y="2667000"/>
            <a:ext cx="8229600" cy="1523999"/>
          </a:xfrm>
        </p:spPr>
        <p:txBody>
          <a:bodyPr>
            <a:noAutofit/>
          </a:bodyPr>
          <a:lstStyle/>
          <a:p>
            <a:pPr marL="0" indent="0" algn="ctr">
              <a:buNone/>
            </a:pPr>
            <a:r>
              <a:rPr lang="en-US" sz="4000" b="1" dirty="0">
                <a:solidFill>
                  <a:srgbClr val="002060"/>
                </a:solidFill>
              </a:rPr>
              <a:t>3. Message 3. </a:t>
            </a:r>
            <a:r>
              <a:rPr lang="en-US" sz="4000" dirty="0">
                <a:solidFill>
                  <a:srgbClr val="002060"/>
                </a:solidFill>
              </a:rPr>
              <a:t>The financial risk protection implications of CVD are considerable</a:t>
            </a:r>
          </a:p>
        </p:txBody>
      </p:sp>
    </p:spTree>
    <p:extLst>
      <p:ext uri="{BB962C8B-B14F-4D97-AF65-F5344CB8AC3E}">
        <p14:creationId xmlns:p14="http://schemas.microsoft.com/office/powerpoint/2010/main" val="3653307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B003-CFD3-3582-A548-2ABE98C309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5C711B-001F-86E1-48DA-0C3E03DC8E5F}"/>
              </a:ext>
            </a:extLst>
          </p:cNvPr>
          <p:cNvSpPr>
            <a:spLocks noGrp="1"/>
          </p:cNvSpPr>
          <p:nvPr>
            <p:ph sz="quarter" idx="13"/>
          </p:nvPr>
        </p:nvSpPr>
        <p:spPr>
          <a:xfrm>
            <a:off x="340218" y="3028525"/>
            <a:ext cx="8498981"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lack of financial risk protection associated with chronic care and acute events associated with CVD</a:t>
            </a:r>
          </a:p>
          <a:p>
            <a:r>
              <a:rPr lang="en-US" sz="2600" dirty="0">
                <a:latin typeface="Calibri" panose="020F0502020204030204" pitchFamily="34" charset="0"/>
                <a:cs typeface="Calibri" panose="020F0502020204030204" pitchFamily="34" charset="0"/>
              </a:rPr>
              <a:t>We assess the number of cases of catastrophic health expenditures associated with out-of-pocket costs related to CVD care under different scenarios under JKN</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916287D3-F664-2C6C-9B0A-C62D4C5022D5}"/>
              </a:ext>
            </a:extLst>
          </p:cNvPr>
          <p:cNvSpPr>
            <a:spLocks noGrp="1"/>
          </p:cNvSpPr>
          <p:nvPr>
            <p:ph type="body" sz="quarter" idx="12"/>
          </p:nvPr>
        </p:nvSpPr>
        <p:spPr>
          <a:xfrm>
            <a:off x="510594" y="1321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FINANCIAL CONSEQUENCES OF CVD FOR INDONESIAN HOUSEHOLDS?</a:t>
            </a:r>
          </a:p>
        </p:txBody>
      </p:sp>
      <p:sp>
        <p:nvSpPr>
          <p:cNvPr id="8" name="Content Placeholder 3">
            <a:extLst>
              <a:ext uri="{FF2B5EF4-FFF2-40B4-BE49-F238E27FC236}">
                <a16:creationId xmlns:a16="http://schemas.microsoft.com/office/drawing/2014/main" id="{8AF5CA97-21F5-EB58-3518-A64D53E1ED0D}"/>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044439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017798"/>
            <a:ext cx="8503920" cy="264688"/>
          </a:xfrm>
          <a:prstGeom prst="rect">
            <a:avLst/>
          </a:prstGeom>
          <a:noFill/>
        </p:spPr>
        <p:txBody>
          <a:bodyPr wrap="square" lIns="18288" tIns="9144" rIns="18288" bIns="9144" anchor="t">
            <a:spAutoFit/>
          </a:bodyPr>
          <a:lstStyle/>
          <a:p>
            <a:pPr algn="ctr"/>
            <a:r>
              <a:rPr sz="1600" b="1" i="0" dirty="0">
                <a:latin typeface="Calibri"/>
              </a:rPr>
              <a:t>282 million people</a:t>
            </a:r>
            <a:r>
              <a:rPr sz="1600" b="0" i="0" dirty="0">
                <a:latin typeface="Calibri"/>
              </a:rPr>
              <a:t>, all assumed enrolled in JKN, </a:t>
            </a:r>
            <a:r>
              <a:rPr lang="en-US" sz="1600" dirty="0">
                <a:latin typeface="Calibri"/>
              </a:rPr>
              <a:t>grouped</a:t>
            </a:r>
            <a:r>
              <a:rPr sz="1600" b="0" i="0" dirty="0">
                <a:latin typeface="Calibri"/>
              </a:rPr>
              <a:t> </a:t>
            </a:r>
            <a:r>
              <a:rPr lang="en-US" sz="1600" dirty="0">
                <a:latin typeface="Calibri"/>
              </a:rPr>
              <a:t>by</a:t>
            </a:r>
            <a:r>
              <a:rPr sz="1600" b="0" i="0" dirty="0">
                <a:latin typeface="Calibri"/>
              </a:rPr>
              <a:t> five consumption</a:t>
            </a:r>
            <a:r>
              <a:rPr lang="en-US" sz="1600" b="0" i="0" dirty="0">
                <a:latin typeface="Calibri"/>
              </a:rPr>
              <a:t> </a:t>
            </a:r>
            <a:r>
              <a:rPr sz="1600" b="0" i="0" dirty="0">
                <a:latin typeface="Calibri"/>
              </a:rPr>
              <a:t>expenditure quintiles</a:t>
            </a:r>
          </a:p>
        </p:txBody>
      </p:sp>
      <p:sp>
        <p:nvSpPr>
          <p:cNvPr id="5" name="Rounded Rectangle 4"/>
          <p:cNvSpPr/>
          <p:nvPr/>
        </p:nvSpPr>
        <p:spPr>
          <a:xfrm>
            <a:off x="502920"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dirty="0">
                <a:solidFill>
                  <a:schemeClr val="tx1"/>
                </a:solidFill>
                <a:latin typeface="Calibri"/>
              </a:rPr>
              <a:t>Q1  poorest</a:t>
            </a:r>
          </a:p>
        </p:txBody>
      </p:sp>
      <p:sp>
        <p:nvSpPr>
          <p:cNvPr id="6" name="Rounded Rectangle 5"/>
          <p:cNvSpPr/>
          <p:nvPr/>
        </p:nvSpPr>
        <p:spPr>
          <a:xfrm>
            <a:off x="2152497"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Q2</a:t>
            </a:r>
          </a:p>
        </p:txBody>
      </p:sp>
      <p:sp>
        <p:nvSpPr>
          <p:cNvPr id="7" name="Rounded Rectangle 6"/>
          <p:cNvSpPr/>
          <p:nvPr/>
        </p:nvSpPr>
        <p:spPr>
          <a:xfrm>
            <a:off x="3802075"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Q3</a:t>
            </a:r>
          </a:p>
        </p:txBody>
      </p:sp>
      <p:sp>
        <p:nvSpPr>
          <p:cNvPr id="8" name="Rounded Rectangle 7"/>
          <p:cNvSpPr/>
          <p:nvPr/>
        </p:nvSpPr>
        <p:spPr>
          <a:xfrm>
            <a:off x="5451652"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a:solidFill>
                  <a:schemeClr val="tx1"/>
                </a:solidFill>
                <a:latin typeface="Calibri"/>
              </a:rPr>
              <a:t>Q4</a:t>
            </a:r>
          </a:p>
        </p:txBody>
      </p:sp>
      <p:sp>
        <p:nvSpPr>
          <p:cNvPr id="9" name="Rounded Rectangle 8"/>
          <p:cNvSpPr/>
          <p:nvPr/>
        </p:nvSpPr>
        <p:spPr>
          <a:xfrm>
            <a:off x="7101230" y="1444752"/>
            <a:ext cx="1539849" cy="292608"/>
          </a:xfrm>
          <a:prstGeom prst="roundRect">
            <a:avLst>
              <a:gd name="adj" fmla="val 18000"/>
            </a:avLst>
          </a:prstGeom>
          <a:ln/>
        </p:spPr>
        <p:style>
          <a:lnRef idx="2">
            <a:schemeClr val="dk1"/>
          </a:lnRef>
          <a:fillRef idx="1">
            <a:schemeClr val="lt1"/>
          </a:fillRef>
          <a:effectRef idx="0">
            <a:schemeClr val="dk1"/>
          </a:effectRef>
          <a:fontRef idx="minor">
            <a:schemeClr val="dk1"/>
          </a:fontRef>
        </p:style>
        <p:txBody>
          <a:bodyPr wrap="square" lIns="27432" tIns="36576" rIns="27432" bIns="36576" rtlCol="0" anchor="ctr"/>
          <a:lstStyle/>
          <a:p>
            <a:pPr algn="ctr"/>
            <a:r>
              <a:rPr sz="1400" b="1" i="0" dirty="0">
                <a:solidFill>
                  <a:schemeClr val="tx1"/>
                </a:solidFill>
                <a:latin typeface="Calibri"/>
              </a:rPr>
              <a:t>Q5  richest</a:t>
            </a:r>
          </a:p>
        </p:txBody>
      </p:sp>
      <p:sp>
        <p:nvSpPr>
          <p:cNvPr id="10" name="Rounded Rectangle 9"/>
          <p:cNvSpPr/>
          <p:nvPr/>
        </p:nvSpPr>
        <p:spPr>
          <a:xfrm>
            <a:off x="502920" y="1993392"/>
            <a:ext cx="3886200" cy="1280160"/>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36576" rtlCol="0" anchor="t"/>
          <a:lstStyle/>
          <a:p>
            <a:pPr algn="l"/>
            <a:r>
              <a:rPr sz="1600" b="1" i="0" dirty="0">
                <a:solidFill>
                  <a:srgbClr val="002060"/>
                </a:solidFill>
                <a:latin typeface="Calibri"/>
              </a:rPr>
              <a:t>CHRONIC CARE</a:t>
            </a:r>
          </a:p>
          <a:p>
            <a:pPr algn="l">
              <a:spcBef>
                <a:spcPts val="300"/>
              </a:spcBef>
            </a:pPr>
            <a:r>
              <a:rPr sz="2000" b="1" i="0" dirty="0">
                <a:solidFill>
                  <a:srgbClr val="262626"/>
                </a:solidFill>
                <a:latin typeface="Calibri"/>
              </a:rPr>
              <a:t>15.6M patients in care</a:t>
            </a:r>
          </a:p>
          <a:p>
            <a:pPr algn="l"/>
            <a:r>
              <a:rPr sz="1200" b="0" i="0" dirty="0">
                <a:solidFill>
                  <a:srgbClr val="595959"/>
                </a:solidFill>
                <a:latin typeface="Calibri"/>
              </a:rPr>
              <a:t>living with CVD or diabetes</a:t>
            </a:r>
          </a:p>
          <a:p>
            <a:pPr algn="l">
              <a:spcBef>
                <a:spcPts val="600"/>
              </a:spcBef>
            </a:pPr>
            <a:r>
              <a:rPr sz="1400" b="0" i="0" dirty="0">
                <a:solidFill>
                  <a:srgbClr val="1F4E79"/>
                </a:solidFill>
                <a:latin typeface="Calibri"/>
              </a:rPr>
              <a:t>Full cost:  IDR 0.9 – 5.2M per patient</a:t>
            </a:r>
            <a:r>
              <a:rPr lang="en-US" sz="1400" b="0" i="0" dirty="0">
                <a:solidFill>
                  <a:srgbClr val="1F4E79"/>
                </a:solidFill>
                <a:latin typeface="Calibri"/>
              </a:rPr>
              <a:t> per year</a:t>
            </a:r>
            <a:endParaRPr sz="1400" b="0" i="0" dirty="0">
              <a:solidFill>
                <a:srgbClr val="1F4E79"/>
              </a:solidFill>
              <a:latin typeface="Calibri"/>
            </a:endParaRPr>
          </a:p>
        </p:txBody>
      </p:sp>
      <p:sp>
        <p:nvSpPr>
          <p:cNvPr id="11" name="Rounded Rectangle 10"/>
          <p:cNvSpPr/>
          <p:nvPr/>
        </p:nvSpPr>
        <p:spPr>
          <a:xfrm>
            <a:off x="3547872" y="1883664"/>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1</a:t>
            </a:r>
          </a:p>
        </p:txBody>
      </p:sp>
      <p:sp>
        <p:nvSpPr>
          <p:cNvPr id="12" name="Rounded Rectangle 11"/>
          <p:cNvSpPr/>
          <p:nvPr/>
        </p:nvSpPr>
        <p:spPr>
          <a:xfrm>
            <a:off x="4754880" y="1993392"/>
            <a:ext cx="3886200" cy="1305892"/>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36576" rtlCol="0" anchor="t"/>
          <a:lstStyle/>
          <a:p>
            <a:pPr algn="l"/>
            <a:r>
              <a:rPr sz="1600" b="1" i="0" dirty="0">
                <a:solidFill>
                  <a:srgbClr val="002060"/>
                </a:solidFill>
                <a:latin typeface="Calibri"/>
              </a:rPr>
              <a:t>ACUTE EVENTS</a:t>
            </a:r>
          </a:p>
          <a:p>
            <a:pPr algn="l">
              <a:spcBef>
                <a:spcPts val="300"/>
              </a:spcBef>
            </a:pPr>
            <a:r>
              <a:rPr sz="2000" b="1" i="0" dirty="0">
                <a:solidFill>
                  <a:srgbClr val="262626"/>
                </a:solidFill>
                <a:latin typeface="Calibri"/>
              </a:rPr>
              <a:t>1.</a:t>
            </a:r>
            <a:r>
              <a:rPr lang="en-US" sz="2000" b="1" i="0" dirty="0">
                <a:solidFill>
                  <a:srgbClr val="262626"/>
                </a:solidFill>
                <a:latin typeface="Calibri"/>
              </a:rPr>
              <a:t>9</a:t>
            </a:r>
            <a:r>
              <a:rPr sz="2000" b="1" i="0" dirty="0">
                <a:solidFill>
                  <a:srgbClr val="262626"/>
                </a:solidFill>
                <a:latin typeface="Calibri"/>
              </a:rPr>
              <a:t>M hospitali</a:t>
            </a:r>
            <a:r>
              <a:rPr lang="en-US" sz="2000" b="1" i="0" dirty="0">
                <a:solidFill>
                  <a:srgbClr val="262626"/>
                </a:solidFill>
                <a:latin typeface="Calibri"/>
              </a:rPr>
              <a:t>z</a:t>
            </a:r>
            <a:r>
              <a:rPr sz="2000" b="1" i="0" dirty="0">
                <a:solidFill>
                  <a:srgbClr val="262626"/>
                </a:solidFill>
                <a:latin typeface="Calibri"/>
              </a:rPr>
              <a:t>ations a year</a:t>
            </a:r>
          </a:p>
          <a:p>
            <a:pPr algn="l"/>
            <a:r>
              <a:rPr sz="1200" b="0" i="0" dirty="0">
                <a:solidFill>
                  <a:srgbClr val="595959"/>
                </a:solidFill>
                <a:latin typeface="Calibri"/>
              </a:rPr>
              <a:t>stroke, intracerebral hemorrhage, heart attack</a:t>
            </a:r>
          </a:p>
          <a:p>
            <a:pPr algn="l">
              <a:spcBef>
                <a:spcPts val="600"/>
              </a:spcBef>
            </a:pPr>
            <a:r>
              <a:rPr sz="1400" b="0" i="0" dirty="0">
                <a:solidFill>
                  <a:srgbClr val="1F4E79"/>
                </a:solidFill>
                <a:latin typeface="Calibri"/>
              </a:rPr>
              <a:t>Full cost:  IDR </a:t>
            </a:r>
            <a:r>
              <a:rPr lang="en-US" sz="1400" dirty="0">
                <a:solidFill>
                  <a:srgbClr val="1F4E79"/>
                </a:solidFill>
                <a:latin typeface="Calibri"/>
              </a:rPr>
              <a:t>7.0</a:t>
            </a:r>
            <a:r>
              <a:rPr sz="1400" b="0" i="0" dirty="0">
                <a:solidFill>
                  <a:srgbClr val="1F4E79"/>
                </a:solidFill>
                <a:latin typeface="Calibri"/>
              </a:rPr>
              <a:t>M per admission (INA-CBG)</a:t>
            </a:r>
          </a:p>
        </p:txBody>
      </p:sp>
      <p:sp>
        <p:nvSpPr>
          <p:cNvPr id="13" name="Rounded Rectangle 12"/>
          <p:cNvSpPr/>
          <p:nvPr/>
        </p:nvSpPr>
        <p:spPr>
          <a:xfrm>
            <a:off x="7799831" y="1883664"/>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2</a:t>
            </a:r>
          </a:p>
        </p:txBody>
      </p:sp>
      <p:sp>
        <p:nvSpPr>
          <p:cNvPr id="14" name="Down Arrow 13"/>
          <p:cNvSpPr/>
          <p:nvPr/>
        </p:nvSpPr>
        <p:spPr>
          <a:xfrm>
            <a:off x="2308860" y="33528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6560820" y="33528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584448"/>
            <a:ext cx="8138160" cy="1373406"/>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85800" y="3657600"/>
            <a:ext cx="7315200" cy="264688"/>
          </a:xfrm>
          <a:prstGeom prst="rect">
            <a:avLst/>
          </a:prstGeom>
          <a:noFill/>
        </p:spPr>
        <p:txBody>
          <a:bodyPr wrap="square" lIns="18288" tIns="9144" rIns="18288" bIns="9144" anchor="t">
            <a:spAutoFit/>
          </a:bodyPr>
          <a:lstStyle/>
          <a:p>
            <a:pPr algn="l"/>
            <a:r>
              <a:rPr sz="1600" b="1" i="0" dirty="0">
                <a:solidFill>
                  <a:srgbClr val="002060"/>
                </a:solidFill>
                <a:latin typeface="Calibri"/>
              </a:rPr>
              <a:t>WHAT </a:t>
            </a:r>
            <a:r>
              <a:rPr lang="en-US" sz="1600" b="1" dirty="0">
                <a:solidFill>
                  <a:srgbClr val="002060"/>
                </a:solidFill>
                <a:latin typeface="Calibri"/>
              </a:rPr>
              <a:t>HAPPENS</a:t>
            </a:r>
            <a:r>
              <a:rPr sz="1600" b="0" i="0" dirty="0">
                <a:solidFill>
                  <a:srgbClr val="002060"/>
                </a:solidFill>
                <a:latin typeface="Calibri"/>
              </a:rPr>
              <a:t>  —  was the</a:t>
            </a:r>
            <a:r>
              <a:rPr lang="en-US" sz="1600" b="0" i="0" dirty="0">
                <a:solidFill>
                  <a:srgbClr val="002060"/>
                </a:solidFill>
                <a:latin typeface="Calibri"/>
              </a:rPr>
              <a:t> service</a:t>
            </a:r>
            <a:r>
              <a:rPr sz="1600" b="0" i="0" dirty="0">
                <a:solidFill>
                  <a:srgbClr val="002060"/>
                </a:solidFill>
                <a:latin typeface="Calibri"/>
              </a:rPr>
              <a:t> actually </a:t>
            </a:r>
            <a:r>
              <a:rPr lang="en-US" sz="1600" b="0" i="0" dirty="0">
                <a:solidFill>
                  <a:srgbClr val="002060"/>
                </a:solidFill>
                <a:latin typeface="Calibri"/>
              </a:rPr>
              <a:t>covered</a:t>
            </a:r>
            <a:r>
              <a:rPr sz="1600" b="0" i="0" dirty="0">
                <a:solidFill>
                  <a:srgbClr val="002060"/>
                </a:solidFill>
                <a:latin typeface="Calibri"/>
              </a:rPr>
              <a:t>?</a:t>
            </a:r>
          </a:p>
        </p:txBody>
      </p:sp>
      <p:sp>
        <p:nvSpPr>
          <p:cNvPr id="18" name="Rounded Rectangle 17"/>
          <p:cNvSpPr/>
          <p:nvPr/>
        </p:nvSpPr>
        <p:spPr>
          <a:xfrm>
            <a:off x="7799832" y="3474720"/>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3</a:t>
            </a:r>
          </a:p>
        </p:txBody>
      </p:sp>
      <p:sp>
        <p:nvSpPr>
          <p:cNvPr id="19" name="Rounded Rectangle 18"/>
          <p:cNvSpPr/>
          <p:nvPr/>
        </p:nvSpPr>
        <p:spPr>
          <a:xfrm>
            <a:off x="685800" y="3968496"/>
            <a:ext cx="3794760" cy="292608"/>
          </a:xfrm>
          <a:prstGeom prst="roundRect">
            <a:avLst>
              <a:gd name="adj" fmla="val 18000"/>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lIns="27432" tIns="36576" rIns="27432" bIns="36576" rtlCol="0" anchor="ctr"/>
          <a:lstStyle/>
          <a:p>
            <a:pPr algn="ctr"/>
            <a:r>
              <a:rPr lang="en-US" sz="1400" b="1" i="0" dirty="0">
                <a:solidFill>
                  <a:schemeClr val="tx1"/>
                </a:solidFill>
                <a:latin typeface="Calibri"/>
              </a:rPr>
              <a:t>Cover</a:t>
            </a:r>
            <a:r>
              <a:rPr sz="1400" b="1" i="0" dirty="0">
                <a:solidFill>
                  <a:schemeClr val="tx1"/>
                </a:solidFill>
                <a:latin typeface="Calibri"/>
              </a:rPr>
              <a:t>ed  →  household pays </a:t>
            </a:r>
            <a:r>
              <a:rPr lang="en-US" sz="1400" b="1" dirty="0">
                <a:solidFill>
                  <a:schemeClr val="tx1"/>
                </a:solidFill>
                <a:latin typeface="Calibri"/>
              </a:rPr>
              <a:t>a</a:t>
            </a:r>
            <a:r>
              <a:rPr sz="1400" b="1" i="0" dirty="0">
                <a:solidFill>
                  <a:schemeClr val="tx1"/>
                </a:solidFill>
                <a:latin typeface="Calibri"/>
              </a:rPr>
              <a:t> residual</a:t>
            </a:r>
          </a:p>
        </p:txBody>
      </p:sp>
      <p:sp>
        <p:nvSpPr>
          <p:cNvPr id="20" name="Rounded Rectangle 19"/>
          <p:cNvSpPr/>
          <p:nvPr/>
        </p:nvSpPr>
        <p:spPr>
          <a:xfrm>
            <a:off x="4663440" y="3968496"/>
            <a:ext cx="3794760" cy="292608"/>
          </a:xfrm>
          <a:prstGeom prst="roundRect">
            <a:avLst>
              <a:gd name="adj" fmla="val 18000"/>
            </a:avLst>
          </a:prstGeom>
          <a:ln/>
        </p:spPr>
        <p:style>
          <a:lnRef idx="2">
            <a:schemeClr val="accent2"/>
          </a:lnRef>
          <a:fillRef idx="1">
            <a:schemeClr val="lt1"/>
          </a:fillRef>
          <a:effectRef idx="0">
            <a:schemeClr val="accent2"/>
          </a:effectRef>
          <a:fontRef idx="minor">
            <a:schemeClr val="dk1"/>
          </a:fontRef>
        </p:style>
        <p:txBody>
          <a:bodyPr wrap="square" lIns="27432" tIns="36576" rIns="27432" bIns="36576" rtlCol="0" anchor="ctr"/>
          <a:lstStyle/>
          <a:p>
            <a:pPr algn="ctr"/>
            <a:r>
              <a:rPr sz="1400" b="1" i="0" dirty="0">
                <a:solidFill>
                  <a:schemeClr val="tx1"/>
                </a:solidFill>
                <a:latin typeface="Calibri"/>
              </a:rPr>
              <a:t>Not </a:t>
            </a:r>
            <a:r>
              <a:rPr lang="en-US" sz="1400" b="1" i="0" dirty="0">
                <a:solidFill>
                  <a:schemeClr val="tx1"/>
                </a:solidFill>
                <a:latin typeface="Calibri"/>
              </a:rPr>
              <a:t>cove</a:t>
            </a:r>
            <a:r>
              <a:rPr sz="1400" b="1" i="0" dirty="0">
                <a:solidFill>
                  <a:schemeClr val="tx1"/>
                </a:solidFill>
                <a:latin typeface="Calibri"/>
              </a:rPr>
              <a:t>red  →  household </a:t>
            </a:r>
            <a:r>
              <a:rPr lang="en-US" sz="1400" b="1" i="0" dirty="0">
                <a:solidFill>
                  <a:schemeClr val="tx1"/>
                </a:solidFill>
                <a:latin typeface="Calibri"/>
              </a:rPr>
              <a:t>pay</a:t>
            </a:r>
            <a:r>
              <a:rPr sz="1400" b="1" i="0" dirty="0">
                <a:solidFill>
                  <a:schemeClr val="tx1"/>
                </a:solidFill>
                <a:latin typeface="Calibri"/>
              </a:rPr>
              <a:t>s  </a:t>
            </a:r>
            <a:r>
              <a:rPr lang="en-US" sz="1400" b="1" i="0" dirty="0">
                <a:solidFill>
                  <a:schemeClr val="tx1"/>
                </a:solidFill>
                <a:latin typeface="Calibri"/>
              </a:rPr>
              <a:t>full </a:t>
            </a:r>
            <a:r>
              <a:rPr sz="1400" b="1" i="0" dirty="0">
                <a:solidFill>
                  <a:schemeClr val="tx1"/>
                </a:solidFill>
                <a:latin typeface="Calibri"/>
              </a:rPr>
              <a:t>cost</a:t>
            </a:r>
          </a:p>
        </p:txBody>
      </p:sp>
      <p:sp>
        <p:nvSpPr>
          <p:cNvPr id="21" name="TextBox 20"/>
          <p:cNvSpPr txBox="1"/>
          <p:nvPr/>
        </p:nvSpPr>
        <p:spPr>
          <a:xfrm>
            <a:off x="685800" y="4352544"/>
            <a:ext cx="7772400" cy="510909"/>
          </a:xfrm>
          <a:prstGeom prst="rect">
            <a:avLst/>
          </a:prstGeom>
          <a:noFill/>
        </p:spPr>
        <p:txBody>
          <a:bodyPr wrap="square" lIns="18288" tIns="9144" rIns="18288" bIns="9144" anchor="t">
            <a:spAutoFit/>
          </a:bodyPr>
          <a:lstStyle/>
          <a:p>
            <a:pPr algn="ctr"/>
            <a:r>
              <a:rPr sz="1600" b="1" i="0" dirty="0">
                <a:solidFill>
                  <a:srgbClr val="262626"/>
                </a:solidFill>
                <a:latin typeface="Calibri"/>
              </a:rPr>
              <a:t>Household </a:t>
            </a:r>
            <a:r>
              <a:rPr lang="en-US" sz="1600" b="1" i="0" dirty="0">
                <a:solidFill>
                  <a:srgbClr val="262626"/>
                </a:solidFill>
                <a:latin typeface="Calibri"/>
              </a:rPr>
              <a:t>out-of-pocket (</a:t>
            </a:r>
            <a:r>
              <a:rPr sz="1600" b="1" i="0" dirty="0">
                <a:solidFill>
                  <a:srgbClr val="262626"/>
                </a:solidFill>
                <a:latin typeface="Calibri"/>
              </a:rPr>
              <a:t>OOP</a:t>
            </a:r>
            <a:r>
              <a:rPr lang="en-US" sz="1600" b="1" i="0" dirty="0">
                <a:solidFill>
                  <a:srgbClr val="262626"/>
                </a:solidFill>
                <a:latin typeface="Calibri"/>
              </a:rPr>
              <a:t>) costs</a:t>
            </a:r>
            <a:r>
              <a:rPr sz="1600" b="1" i="0" dirty="0">
                <a:solidFill>
                  <a:srgbClr val="262626"/>
                </a:solidFill>
                <a:latin typeface="Calibri"/>
              </a:rPr>
              <a:t>  =  ( 1 − </a:t>
            </a:r>
            <a:r>
              <a:rPr sz="1600" b="1" i="0" dirty="0" err="1">
                <a:solidFill>
                  <a:srgbClr val="262626"/>
                </a:solidFill>
                <a:latin typeface="Calibri"/>
              </a:rPr>
              <a:t>η</a:t>
            </a:r>
            <a:r>
              <a:rPr sz="1600" b="1" i="0" dirty="0">
                <a:solidFill>
                  <a:srgbClr val="262626"/>
                </a:solidFill>
                <a:latin typeface="Calibri"/>
              </a:rPr>
              <a:t> )  ×  cost of care</a:t>
            </a:r>
            <a:r>
              <a:rPr sz="1600" b="0" i="0" dirty="0">
                <a:solidFill>
                  <a:srgbClr val="595959"/>
                </a:solidFill>
                <a:latin typeface="Calibri"/>
              </a:rPr>
              <a:t>        </a:t>
            </a:r>
            <a:endParaRPr lang="en-US" sz="1600" b="0" i="0" dirty="0">
              <a:solidFill>
                <a:srgbClr val="595959"/>
              </a:solidFill>
              <a:latin typeface="Calibri"/>
            </a:endParaRPr>
          </a:p>
          <a:p>
            <a:pPr algn="ctr"/>
            <a:r>
              <a:rPr sz="1600" b="0" i="0" dirty="0" err="1">
                <a:solidFill>
                  <a:srgbClr val="595959"/>
                </a:solidFill>
                <a:latin typeface="Calibri"/>
              </a:rPr>
              <a:t>η</a:t>
            </a:r>
            <a:r>
              <a:rPr sz="1600" b="0" i="0" dirty="0">
                <a:solidFill>
                  <a:srgbClr val="595959"/>
                </a:solidFill>
                <a:latin typeface="Calibri"/>
              </a:rPr>
              <a:t> ≈ 40% for chronic care, 54% for acute</a:t>
            </a:r>
            <a:r>
              <a:rPr lang="en-US" sz="1600" dirty="0">
                <a:solidFill>
                  <a:srgbClr val="595959"/>
                </a:solidFill>
                <a:latin typeface="Calibri"/>
              </a:rPr>
              <a:t> (base case estimates)</a:t>
            </a:r>
            <a:endParaRPr sz="1600" b="0" i="0" dirty="0">
              <a:solidFill>
                <a:srgbClr val="595959"/>
              </a:solidFill>
              <a:latin typeface="Calibri"/>
            </a:endParaRPr>
          </a:p>
        </p:txBody>
      </p:sp>
      <p:sp>
        <p:nvSpPr>
          <p:cNvPr id="22" name="Down Arrow 21"/>
          <p:cNvSpPr/>
          <p:nvPr/>
        </p:nvSpPr>
        <p:spPr>
          <a:xfrm>
            <a:off x="4434839" y="49851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87680" y="5181600"/>
            <a:ext cx="8138160" cy="786384"/>
          </a:xfrm>
          <a:prstGeom prst="roundRect">
            <a:avLst>
              <a:gd name="adj" fmla="val 6000"/>
            </a:avLst>
          </a:prstGeom>
          <a:ln/>
        </p:spPr>
        <p:style>
          <a:lnRef idx="2">
            <a:schemeClr val="dk1"/>
          </a:lnRef>
          <a:fillRef idx="1">
            <a:schemeClr val="lt1"/>
          </a:fillRef>
          <a:effectRef idx="0">
            <a:schemeClr val="dk1"/>
          </a:effectRef>
          <a:fontRef idx="minor">
            <a:schemeClr val="dk1"/>
          </a:fontRef>
        </p:style>
        <p:txBody>
          <a:bodyPr wrap="square" lIns="73152" tIns="36576" rIns="73152" bIns="36576" rtlCol="0" anchor="ctr"/>
          <a:lstStyle/>
          <a:p>
            <a:pPr algn="ctr"/>
            <a:r>
              <a:rPr lang="en-US" sz="1600" b="1" i="0" dirty="0">
                <a:solidFill>
                  <a:schemeClr val="tx1"/>
                </a:solidFill>
                <a:latin typeface="Calibri"/>
              </a:rPr>
              <a:t>WHEN DOES </a:t>
            </a:r>
            <a:r>
              <a:rPr sz="1600" b="1" i="0" dirty="0">
                <a:solidFill>
                  <a:schemeClr val="tx1"/>
                </a:solidFill>
                <a:latin typeface="Calibri"/>
              </a:rPr>
              <a:t>IT </a:t>
            </a:r>
            <a:r>
              <a:rPr lang="en-US" sz="1600" b="1" i="0" dirty="0">
                <a:solidFill>
                  <a:schemeClr val="tx1"/>
                </a:solidFill>
                <a:latin typeface="Calibri"/>
              </a:rPr>
              <a:t>BECOME </a:t>
            </a:r>
            <a:r>
              <a:rPr sz="1600" b="1" i="0" dirty="0">
                <a:solidFill>
                  <a:schemeClr val="tx1"/>
                </a:solidFill>
                <a:latin typeface="Calibri"/>
              </a:rPr>
              <a:t>CATASTROPHIC?</a:t>
            </a:r>
          </a:p>
          <a:p>
            <a:pPr algn="ctr">
              <a:spcBef>
                <a:spcPts val="300"/>
              </a:spcBef>
            </a:pPr>
            <a:r>
              <a:rPr lang="en-US" b="1" dirty="0">
                <a:solidFill>
                  <a:schemeClr val="tx1"/>
                </a:solidFill>
                <a:latin typeface="Calibri"/>
              </a:rPr>
              <a:t>H</a:t>
            </a:r>
            <a:r>
              <a:rPr b="1" i="0" dirty="0">
                <a:solidFill>
                  <a:schemeClr val="tx1"/>
                </a:solidFill>
                <a:latin typeface="Calibri"/>
              </a:rPr>
              <a:t>ousehold OOP</a:t>
            </a:r>
            <a:r>
              <a:rPr lang="en-US" b="1" i="0" dirty="0">
                <a:solidFill>
                  <a:schemeClr val="tx1"/>
                </a:solidFill>
                <a:latin typeface="Calibri"/>
              </a:rPr>
              <a:t> costs</a:t>
            </a:r>
            <a:r>
              <a:rPr b="1" i="0" dirty="0">
                <a:solidFill>
                  <a:schemeClr val="tx1"/>
                </a:solidFill>
                <a:latin typeface="Calibri"/>
              </a:rPr>
              <a:t>   ÷   annual household </a:t>
            </a:r>
            <a:r>
              <a:rPr lang="en-US" b="1" i="0" dirty="0">
                <a:solidFill>
                  <a:schemeClr val="tx1"/>
                </a:solidFill>
                <a:latin typeface="Calibri"/>
              </a:rPr>
              <a:t>consumption expenditure</a:t>
            </a:r>
            <a:r>
              <a:rPr b="1" i="0" dirty="0">
                <a:solidFill>
                  <a:schemeClr val="tx1"/>
                </a:solidFill>
                <a:latin typeface="Calibri"/>
              </a:rPr>
              <a:t>   &gt;   10%</a:t>
            </a:r>
            <a:endParaRPr sz="1600" b="0" i="0" dirty="0">
              <a:solidFill>
                <a:schemeClr val="tx1"/>
              </a:solidFill>
              <a:latin typeface="Calibri"/>
            </a:endParaRPr>
          </a:p>
        </p:txBody>
      </p:sp>
      <p:sp>
        <p:nvSpPr>
          <p:cNvPr id="24" name="TextBox 23"/>
          <p:cNvSpPr txBox="1"/>
          <p:nvPr/>
        </p:nvSpPr>
        <p:spPr>
          <a:xfrm>
            <a:off x="990600" y="6145328"/>
            <a:ext cx="7289291" cy="664797"/>
          </a:xfrm>
          <a:prstGeom prst="rect">
            <a:avLst/>
          </a:prstGeom>
          <a:noFill/>
        </p:spPr>
        <p:txBody>
          <a:bodyPr wrap="square" lIns="18288" tIns="9144" rIns="18288" bIns="9144" anchor="t">
            <a:spAutoFit/>
          </a:bodyPr>
          <a:lstStyle/>
          <a:p>
            <a:pPr algn="l"/>
            <a:r>
              <a:rPr lang="en-US" sz="1400" b="1" i="0" dirty="0">
                <a:latin typeface="Calibri"/>
              </a:rPr>
              <a:t>Note:</a:t>
            </a:r>
          </a:p>
          <a:p>
            <a:r>
              <a:rPr sz="1400" b="1" i="0" dirty="0" err="1">
                <a:latin typeface="Calibri"/>
              </a:rPr>
              <a:t>η</a:t>
            </a:r>
            <a:r>
              <a:rPr sz="1400" b="1" i="0" dirty="0">
                <a:latin typeface="Calibri"/>
              </a:rPr>
              <a:t> </a:t>
            </a:r>
            <a:r>
              <a:rPr sz="1400" b="0" i="0" dirty="0">
                <a:latin typeface="Calibri"/>
              </a:rPr>
              <a:t>= the share of </a:t>
            </a:r>
            <a:r>
              <a:rPr lang="en-US" sz="1400" dirty="0">
                <a:latin typeface="Calibri"/>
              </a:rPr>
              <a:t>total costs </a:t>
            </a:r>
            <a:r>
              <a:rPr lang="en-US" sz="1400" b="0" i="0" dirty="0">
                <a:latin typeface="Calibri"/>
              </a:rPr>
              <a:t>actually covered</a:t>
            </a:r>
            <a:endParaRPr sz="1400" b="0" i="0" dirty="0">
              <a:latin typeface="Calibri"/>
            </a:endParaRPr>
          </a:p>
          <a:p>
            <a:pPr algn="l"/>
            <a:r>
              <a:rPr sz="1400" b="1" i="0" dirty="0">
                <a:latin typeface="Calibri"/>
              </a:rPr>
              <a:t>INA-CBG</a:t>
            </a:r>
            <a:r>
              <a:rPr sz="1400" b="0" i="0" dirty="0">
                <a:latin typeface="Calibri"/>
              </a:rPr>
              <a:t> = Indonesia Case Base Groups</a:t>
            </a:r>
            <a:r>
              <a:rPr lang="en-US" sz="1400" b="0" i="0" dirty="0">
                <a:latin typeface="Calibri"/>
              </a:rPr>
              <a:t> (disease areas)</a:t>
            </a:r>
            <a:r>
              <a:rPr sz="1400" b="0" i="0" dirty="0">
                <a:latin typeface="Calibri"/>
              </a:rPr>
              <a:t>, the case-mix payment system BPJS uses </a:t>
            </a:r>
          </a:p>
        </p:txBody>
      </p:sp>
      <p:sp>
        <p:nvSpPr>
          <p:cNvPr id="26" name="Title 1">
            <a:extLst>
              <a:ext uri="{FF2B5EF4-FFF2-40B4-BE49-F238E27FC236}">
                <a16:creationId xmlns:a16="http://schemas.microsoft.com/office/drawing/2014/main" id="{13B702E6-B838-0545-8D04-668A91584D9D}"/>
              </a:ext>
            </a:extLst>
          </p:cNvPr>
          <p:cNvSpPr>
            <a:spLocks noGrp="1"/>
          </p:cNvSpPr>
          <p:nvPr>
            <p:ph type="title"/>
          </p:nvPr>
        </p:nvSpPr>
        <p:spPr>
          <a:xfrm>
            <a:off x="502920" y="164358"/>
            <a:ext cx="8153400" cy="902442"/>
          </a:xfrm>
        </p:spPr>
        <p:txBody>
          <a:bodyPr/>
          <a:lstStyle/>
          <a:p>
            <a:pPr algn="ctr"/>
            <a:r>
              <a:rPr lang="en-US" b="1" dirty="0"/>
              <a:t>Model overview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90CD-359A-0DC0-6BC2-1C87DEC79F69}"/>
              </a:ext>
            </a:extLst>
          </p:cNvPr>
          <p:cNvSpPr>
            <a:spLocks noGrp="1"/>
          </p:cNvSpPr>
          <p:nvPr>
            <p:ph type="title"/>
          </p:nvPr>
        </p:nvSpPr>
        <p:spPr>
          <a:xfrm>
            <a:off x="457200" y="381000"/>
            <a:ext cx="8229600" cy="1143000"/>
          </a:xfrm>
        </p:spPr>
        <p:txBody>
          <a:bodyPr>
            <a:normAutofit fontScale="90000"/>
          </a:bodyPr>
          <a:lstStyle/>
          <a:p>
            <a:pPr algn="ctr"/>
            <a:r>
              <a:rPr lang="en-US" b="1" dirty="0"/>
              <a:t>Under JKN as designed, no households would pay</a:t>
            </a:r>
          </a:p>
        </p:txBody>
      </p:sp>
      <p:sp>
        <p:nvSpPr>
          <p:cNvPr id="3" name="Content Placeholder 2">
            <a:extLst>
              <a:ext uri="{FF2B5EF4-FFF2-40B4-BE49-F238E27FC236}">
                <a16:creationId xmlns:a16="http://schemas.microsoft.com/office/drawing/2014/main" id="{2B006D47-A339-BF4F-C3A1-3CD8A83F0180}"/>
              </a:ext>
            </a:extLst>
          </p:cNvPr>
          <p:cNvSpPr>
            <a:spLocks noGrp="1"/>
          </p:cNvSpPr>
          <p:nvPr>
            <p:ph idx="1"/>
          </p:nvPr>
        </p:nvSpPr>
        <p:spPr>
          <a:xfrm>
            <a:off x="457200" y="1828800"/>
            <a:ext cx="8229600" cy="4754562"/>
          </a:xfrm>
        </p:spPr>
        <p:txBody>
          <a:bodyPr>
            <a:normAutofit fontScale="92500" lnSpcReduction="20000"/>
          </a:bodyPr>
          <a:lstStyle/>
          <a:p>
            <a:r>
              <a:rPr lang="el-GR" dirty="0"/>
              <a:t>η</a:t>
            </a:r>
            <a:r>
              <a:rPr lang="en-US" dirty="0"/>
              <a:t> is the share of the costs covered </a:t>
            </a:r>
          </a:p>
          <a:p>
            <a:pPr marL="0" indent="0">
              <a:buNone/>
            </a:pPr>
            <a:r>
              <a:rPr lang="en-US" dirty="0">
                <a:solidFill>
                  <a:schemeClr val="tx1">
                    <a:lumMod val="50000"/>
                    <a:lumOff val="50000"/>
                  </a:schemeClr>
                </a:solidFill>
              </a:rPr>
              <a:t>	(how much the JKN actually covers of the 	household bill at the point of service)</a:t>
            </a:r>
          </a:p>
          <a:p>
            <a:r>
              <a:rPr lang="el-GR" b="1" dirty="0"/>
              <a:t>η  =  </a:t>
            </a:r>
            <a:r>
              <a:rPr lang="en-US" b="1" dirty="0"/>
              <a:t>d × (1 − r),</a:t>
            </a:r>
            <a:r>
              <a:rPr lang="en-US" dirty="0"/>
              <a:t> where </a:t>
            </a:r>
            <a:r>
              <a:rPr lang="en-US" b="1" dirty="0"/>
              <a:t>d </a:t>
            </a:r>
            <a:r>
              <a:rPr lang="en-US" dirty="0"/>
              <a:t>is the share of services where JKN was actually used to reimburse, and </a:t>
            </a:r>
            <a:r>
              <a:rPr lang="en-US" b="1" dirty="0"/>
              <a:t>r </a:t>
            </a:r>
            <a:r>
              <a:rPr lang="en-US" dirty="0"/>
              <a:t>is the residual a household pays after JKN is used</a:t>
            </a:r>
          </a:p>
          <a:p>
            <a:r>
              <a:rPr lang="en-US" dirty="0"/>
              <a:t>Household out-of-pocket costs </a:t>
            </a:r>
          </a:p>
          <a:p>
            <a:pPr marL="0" indent="0">
              <a:buNone/>
            </a:pPr>
            <a:r>
              <a:rPr lang="en-US" dirty="0"/>
              <a:t>	= ( 1 − </a:t>
            </a:r>
            <a:r>
              <a:rPr lang="el-GR" dirty="0"/>
              <a:t>η )</a:t>
            </a:r>
            <a:r>
              <a:rPr lang="en-US" dirty="0"/>
              <a:t> </a:t>
            </a:r>
            <a:r>
              <a:rPr lang="el-GR" dirty="0"/>
              <a:t>×</a:t>
            </a:r>
            <a:r>
              <a:rPr lang="en-US" dirty="0"/>
              <a:t> cost of care</a:t>
            </a:r>
          </a:p>
          <a:p>
            <a:r>
              <a:rPr lang="el-GR" dirty="0"/>
              <a:t>η = 100% </a:t>
            </a:r>
            <a:r>
              <a:rPr lang="en-US" dirty="0"/>
              <a:t>is the original policy design: free at the point of use, thus no catastrophic expenditure, by construction</a:t>
            </a:r>
          </a:p>
          <a:p>
            <a:endParaRPr lang="en-US" dirty="0"/>
          </a:p>
        </p:txBody>
      </p:sp>
    </p:spTree>
    <p:extLst>
      <p:ext uri="{BB962C8B-B14F-4D97-AF65-F5344CB8AC3E}">
        <p14:creationId xmlns:p14="http://schemas.microsoft.com/office/powerpoint/2010/main" val="856587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2F37-C2AB-D72C-F584-A3E163BA4694}"/>
              </a:ext>
            </a:extLst>
          </p:cNvPr>
          <p:cNvSpPr>
            <a:spLocks noGrp="1"/>
          </p:cNvSpPr>
          <p:nvPr>
            <p:ph type="title"/>
          </p:nvPr>
        </p:nvSpPr>
        <p:spPr>
          <a:xfrm>
            <a:off x="459398" y="120134"/>
            <a:ext cx="8227402" cy="1327666"/>
          </a:xfrm>
        </p:spPr>
        <p:txBody>
          <a:bodyPr>
            <a:normAutofit/>
          </a:bodyPr>
          <a:lstStyle/>
          <a:p>
            <a:pPr algn="ctr"/>
            <a:r>
              <a:rPr lang="en-US" b="1" dirty="0"/>
              <a:t>Inputs (1):</a:t>
            </a:r>
            <a:r>
              <a:rPr lang="en-US" dirty="0"/>
              <a:t> Chronic care costs</a:t>
            </a:r>
            <a:br>
              <a:rPr lang="en-US" dirty="0"/>
            </a:br>
            <a:r>
              <a:rPr lang="en-US" sz="2200" dirty="0"/>
              <a:t>Number of patients in care, full cost of care, and what households pay</a:t>
            </a:r>
          </a:p>
        </p:txBody>
      </p:sp>
      <p:graphicFrame>
        <p:nvGraphicFramePr>
          <p:cNvPr id="4" name="Table 0">
            <a:extLst>
              <a:ext uri="{FF2B5EF4-FFF2-40B4-BE49-F238E27FC236}">
                <a16:creationId xmlns:a16="http://schemas.microsoft.com/office/drawing/2014/main" id="{30DEAC6A-1991-43BD-F771-46EBD9B404A7}"/>
              </a:ext>
            </a:extLst>
          </p:cNvPr>
          <p:cNvGraphicFramePr>
            <a:graphicFrameLocks noGrp="1"/>
          </p:cNvGraphicFramePr>
          <p:nvPr>
            <p:extLst>
              <p:ext uri="{D42A27DB-BD31-4B8C-83A1-F6EECF244321}">
                <p14:modId xmlns:p14="http://schemas.microsoft.com/office/powerpoint/2010/main" val="1908585313"/>
              </p:ext>
            </p:extLst>
          </p:nvPr>
        </p:nvGraphicFramePr>
        <p:xfrm>
          <a:off x="228600" y="1581912"/>
          <a:ext cx="8763000" cy="4133088"/>
        </p:xfrm>
        <a:graphic>
          <a:graphicData uri="http://schemas.openxmlformats.org/drawingml/2006/table">
            <a:tbl>
              <a:tblPr>
                <a:tableStyleId>{616DA210-FB5B-4158-B5E0-FEB733F419BA}</a:tableStyleId>
              </a:tblPr>
              <a:tblGrid>
                <a:gridCol w="2201296">
                  <a:extLst>
                    <a:ext uri="{9D8B030D-6E8A-4147-A177-3AD203B41FA5}">
                      <a16:colId xmlns:a16="http://schemas.microsoft.com/office/drawing/2014/main" val="20000"/>
                    </a:ext>
                  </a:extLst>
                </a:gridCol>
                <a:gridCol w="928347">
                  <a:extLst>
                    <a:ext uri="{9D8B030D-6E8A-4147-A177-3AD203B41FA5}">
                      <a16:colId xmlns:a16="http://schemas.microsoft.com/office/drawing/2014/main" val="20001"/>
                    </a:ext>
                  </a:extLst>
                </a:gridCol>
                <a:gridCol w="1564821">
                  <a:extLst>
                    <a:ext uri="{9D8B030D-6E8A-4147-A177-3AD203B41FA5}">
                      <a16:colId xmlns:a16="http://schemas.microsoft.com/office/drawing/2014/main" val="20002"/>
                    </a:ext>
                  </a:extLst>
                </a:gridCol>
                <a:gridCol w="1956027">
                  <a:extLst>
                    <a:ext uri="{9D8B030D-6E8A-4147-A177-3AD203B41FA5}">
                      <a16:colId xmlns:a16="http://schemas.microsoft.com/office/drawing/2014/main" val="20003"/>
                    </a:ext>
                  </a:extLst>
                </a:gridCol>
                <a:gridCol w="2112509">
                  <a:extLst>
                    <a:ext uri="{9D8B030D-6E8A-4147-A177-3AD203B41FA5}">
                      <a16:colId xmlns:a16="http://schemas.microsoft.com/office/drawing/2014/main" val="3061534312"/>
                    </a:ext>
                  </a:extLst>
                </a:gridCol>
              </a:tblGrid>
              <a:tr h="0">
                <a:tc>
                  <a:txBody>
                    <a:bodyPr/>
                    <a:lstStyle/>
                    <a:p>
                      <a:pPr marL="0" indent="0">
                        <a:buNone/>
                      </a:pPr>
                      <a:r>
                        <a:rPr lang="en-US" sz="1600" b="1" dirty="0">
                          <a:solidFill>
                            <a:schemeClr val="tx1"/>
                          </a:solidFill>
                        </a:rPr>
                        <a:t>Condition</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b="1" dirty="0">
                          <a:solidFill>
                            <a:schemeClr val="tx1"/>
                          </a:solidFill>
                        </a:rPr>
                        <a:t>Patients</a:t>
                      </a:r>
                      <a:endParaRPr lang="en-US" sz="1600" dirty="0">
                        <a:solidFill>
                          <a:schemeClr val="tx1"/>
                        </a:solidFill>
                      </a:endParaRPr>
                    </a:p>
                    <a:p>
                      <a:pPr marL="0" indent="0">
                        <a:buNone/>
                      </a:pPr>
                      <a:r>
                        <a:rPr lang="en-US" sz="1600" b="1" dirty="0">
                          <a:solidFill>
                            <a:schemeClr val="tx1"/>
                          </a:solidFill>
                        </a:rPr>
                        <a:t>in care </a:t>
                      </a:r>
                    </a:p>
                    <a:p>
                      <a:pPr marL="0" indent="0">
                        <a:buNone/>
                      </a:pPr>
                      <a:r>
                        <a:rPr lang="en-US" sz="1600" b="0" dirty="0">
                          <a:solidFill>
                            <a:schemeClr val="tx1"/>
                          </a:solidFill>
                        </a:rPr>
                        <a:t>(millions)</a:t>
                      </a:r>
                      <a:endParaRPr lang="en-US" sz="1600" b="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b="1" dirty="0">
                          <a:solidFill>
                            <a:schemeClr val="tx1"/>
                          </a:solidFill>
                        </a:rPr>
                        <a:t>Full cost of care</a:t>
                      </a:r>
                      <a:endParaRPr lang="en-US" sz="1600" dirty="0">
                        <a:solidFill>
                          <a:schemeClr val="tx1"/>
                        </a:solidFill>
                      </a:endParaRPr>
                    </a:p>
                    <a:p>
                      <a:pPr marL="0" indent="0">
                        <a:buNone/>
                      </a:pP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is used</a:t>
                      </a:r>
                      <a:r>
                        <a:rPr sz="1600" b="1" kern="1200" dirty="0">
                          <a:solidFill>
                            <a:schemeClr val="tx1"/>
                          </a:solidFill>
                          <a:latin typeface="+mn-lt"/>
                          <a:ea typeface="+mn-ea"/>
                          <a:cs typeface="+mn-cs"/>
                        </a:rPr>
                        <a:t>
</a:t>
                      </a: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is not used</a:t>
                      </a:r>
                      <a:r>
                        <a:rPr sz="1600" b="1" kern="1200" dirty="0">
                          <a:solidFill>
                            <a:schemeClr val="tx1"/>
                          </a:solidFill>
                          <a:latin typeface="+mn-lt"/>
                          <a:ea typeface="+mn-ea"/>
                          <a:cs typeface="+mn-cs"/>
                        </a:rPr>
                        <a:t>
</a:t>
                      </a:r>
                      <a:r>
                        <a:rPr lang="en-US" sz="1600" b="0" dirty="0">
                          <a:solidFill>
                            <a:schemeClr val="tx1"/>
                          </a:solidFill>
                        </a:rPr>
                        <a:t>IDR/patient-year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extLst>
                  <a:ext uri="{0D108BD9-81ED-4DB2-BD59-A6C34878D82A}">
                    <a16:rowId xmlns:a16="http://schemas.microsoft.com/office/drawing/2014/main" val="10000"/>
                  </a:ext>
                </a:extLst>
              </a:tr>
              <a:tr h="0">
                <a:tc>
                  <a:txBody>
                    <a:bodyPr/>
                    <a:lstStyle/>
                    <a:p>
                      <a:pPr marL="0" indent="0">
                        <a:buNone/>
                      </a:pPr>
                      <a:r>
                        <a:rPr lang="en-US" sz="1600" dirty="0">
                          <a:solidFill>
                            <a:schemeClr val="tx1"/>
                          </a:solidFill>
                        </a:rPr>
                        <a:t>Post-IHD secondary prevention + heart failure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5.0</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3,374,650  (211)</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dirty="0">
                          <a:solidFill>
                            <a:schemeClr val="tx1"/>
                          </a:solidFill>
                          <a:latin typeface="+mn-lt"/>
                          <a:ea typeface="+mn-ea"/>
                          <a:cs typeface="+mn-cs"/>
                        </a:rPr>
                        <a:t>843,662  (53)</a:t>
                      </a:r>
                    </a:p>
                  </a:txBody>
                  <a:tcPr marL="64008" marR="64008" marT="18288" marB="18288" anchor="ctr"/>
                </a:tc>
                <a:tc>
                  <a:txBody>
                    <a:bodyPr/>
                    <a:lstStyle/>
                    <a:p>
                      <a:pPr marL="0" indent="0" algn="l" defTabSz="914400" rtl="0" eaLnBrk="1" latinLnBrk="0" hangingPunct="1">
                        <a:buNone/>
                      </a:pPr>
                      <a:r>
                        <a:rPr sz="1600" kern="1200">
                          <a:solidFill>
                            <a:schemeClr val="tx1"/>
                          </a:solidFill>
                          <a:latin typeface="+mn-lt"/>
                          <a:ea typeface="+mn-ea"/>
                          <a:cs typeface="+mn-cs"/>
                        </a:rPr>
                        <a:t>3,374,650  (211)</a:t>
                      </a:r>
                    </a:p>
                  </a:txBody>
                  <a:tcPr marL="64008" marR="64008" marT="18288" marB="18288" anchor="ctr"/>
                </a:tc>
                <a:extLst>
                  <a:ext uri="{0D108BD9-81ED-4DB2-BD59-A6C34878D82A}">
                    <a16:rowId xmlns:a16="http://schemas.microsoft.com/office/drawing/2014/main" val="10001"/>
                  </a:ext>
                </a:extLst>
              </a:tr>
              <a:tr h="0">
                <a:tc>
                  <a:txBody>
                    <a:bodyPr/>
                    <a:lstStyle/>
                    <a:p>
                      <a:pPr marL="0" indent="0">
                        <a:buNone/>
                      </a:pPr>
                      <a:r>
                        <a:rPr lang="en-US" sz="1600" dirty="0">
                          <a:solidFill>
                            <a:schemeClr val="tx1"/>
                          </a:solidFill>
                        </a:rPr>
                        <a:t>Post-ischaemic stroke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latin typeface="Aptos" panose="020B0004020202020204" pitchFamily="34" charset="0"/>
                          <a:ea typeface="Calibri" charset="0"/>
                          <a:cs typeface="Calibri" charset="0"/>
                        </a:rPr>
                        <a:t>3.0</a:t>
                      </a:r>
                    </a:p>
                  </a:txBody>
                  <a:tcPr marL="36576" marR="36576" marT="36576" marB="36576" anchor="ctr"/>
                </a:tc>
                <a:tc>
                  <a:txBody>
                    <a:bodyPr/>
                    <a:lstStyle/>
                    <a:p>
                      <a:pPr marL="0" indent="0">
                        <a:buNone/>
                      </a:pPr>
                      <a:r>
                        <a:rPr lang="en-US" sz="1600" dirty="0">
                          <a:solidFill>
                            <a:schemeClr val="tx1"/>
                          </a:solidFill>
                        </a:rPr>
                        <a:t>1,367,842  (85)</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dirty="0">
                          <a:solidFill>
                            <a:schemeClr val="tx1"/>
                          </a:solidFill>
                          <a:latin typeface="+mn-lt"/>
                          <a:ea typeface="+mn-ea"/>
                          <a:cs typeface="+mn-cs"/>
                        </a:rPr>
                        <a:t>341,961  (21)</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1,367,842  (85)</a:t>
                      </a:r>
                    </a:p>
                  </a:txBody>
                  <a:tcPr marL="64008" marR="64008" marT="18288" marB="18288" anchor="ctr"/>
                </a:tc>
                <a:extLst>
                  <a:ext uri="{0D108BD9-81ED-4DB2-BD59-A6C34878D82A}">
                    <a16:rowId xmlns:a16="http://schemas.microsoft.com/office/drawing/2014/main" val="10002"/>
                  </a:ext>
                </a:extLst>
              </a:tr>
              <a:tr h="0">
                <a:tc>
                  <a:txBody>
                    <a:bodyPr/>
                    <a:lstStyle/>
                    <a:p>
                      <a:pPr marL="0" indent="0">
                        <a:buNone/>
                      </a:pPr>
                      <a:r>
                        <a:rPr lang="en-US" sz="1600" dirty="0">
                          <a:solidFill>
                            <a:schemeClr val="tx1"/>
                          </a:solidFill>
                        </a:rPr>
                        <a:t>Post-intracerebral haemorrhage</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1.1</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1,367,842  (85)</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341,961  (21)</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1,367,842  (85)</a:t>
                      </a:r>
                    </a:p>
                  </a:txBody>
                  <a:tcPr marL="64008" marR="64008" marT="18288" marB="18288" anchor="ctr"/>
                </a:tc>
                <a:extLst>
                  <a:ext uri="{0D108BD9-81ED-4DB2-BD59-A6C34878D82A}">
                    <a16:rowId xmlns:a16="http://schemas.microsoft.com/office/drawing/2014/main" val="10003"/>
                  </a:ext>
                </a:extLst>
              </a:tr>
              <a:tr h="0">
                <a:tc>
                  <a:txBody>
                    <a:bodyPr/>
                    <a:lstStyle/>
                    <a:p>
                      <a:pPr marL="0" indent="0">
                        <a:buNone/>
                      </a:pPr>
                      <a:r>
                        <a:rPr lang="en-US" sz="1600" dirty="0">
                          <a:solidFill>
                            <a:schemeClr val="tx1"/>
                          </a:solidFill>
                        </a:rPr>
                        <a:t>Hypertensive heart disease (chronic HF)</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0.4</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5,236,586  (327)</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1,309,146  (82)</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5,236,586  (327)</a:t>
                      </a:r>
                    </a:p>
                  </a:txBody>
                  <a:tcPr marL="64008" marR="64008" marT="18288" marB="18288" anchor="ctr"/>
                </a:tc>
                <a:extLst>
                  <a:ext uri="{0D108BD9-81ED-4DB2-BD59-A6C34878D82A}">
                    <a16:rowId xmlns:a16="http://schemas.microsoft.com/office/drawing/2014/main" val="10004"/>
                  </a:ext>
                </a:extLst>
              </a:tr>
              <a:tr h="0">
                <a:tc>
                  <a:txBody>
                    <a:bodyPr/>
                    <a:lstStyle/>
                    <a:p>
                      <a:pPr marL="0" indent="0">
                        <a:buNone/>
                      </a:pPr>
                      <a:r>
                        <a:rPr lang="en-US" sz="1600" dirty="0">
                          <a:solidFill>
                            <a:schemeClr val="tx1"/>
                          </a:solidFill>
                        </a:rPr>
                        <a:t>Rheumatic heart disease (prophylaxis)</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1.3</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rPr>
                        <a:t>897,124  (56)</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224,281  (14)</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897,124  (56)</a:t>
                      </a:r>
                    </a:p>
                  </a:txBody>
                  <a:tcPr marL="64008" marR="64008" marT="18288" marB="18288" anchor="ctr"/>
                </a:tc>
                <a:extLst>
                  <a:ext uri="{0D108BD9-81ED-4DB2-BD59-A6C34878D82A}">
                    <a16:rowId xmlns:a16="http://schemas.microsoft.com/office/drawing/2014/main" val="10005"/>
                  </a:ext>
                </a:extLst>
              </a:tr>
              <a:tr h="0">
                <a:tc>
                  <a:txBody>
                    <a:bodyPr/>
                    <a:lstStyle/>
                    <a:p>
                      <a:pPr marL="0" indent="0">
                        <a:buNone/>
                      </a:pPr>
                      <a:r>
                        <a:rPr lang="en-US" sz="1600" dirty="0">
                          <a:solidFill>
                            <a:schemeClr val="tx1"/>
                          </a:solidFill>
                        </a:rPr>
                        <a:t>Type 2 diabetes (treatment)</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buNone/>
                      </a:pPr>
                      <a:r>
                        <a:rPr lang="en-US" sz="1600" dirty="0">
                          <a:solidFill>
                            <a:schemeClr val="tx1"/>
                          </a:solidFill>
                          <a:latin typeface="Aptos" panose="020B0004020202020204" pitchFamily="34" charset="0"/>
                          <a:ea typeface="Calibri" charset="0"/>
                          <a:cs typeface="Calibri" charset="0"/>
                        </a:rPr>
                        <a:t>4.7</a:t>
                      </a:r>
                    </a:p>
                  </a:txBody>
                  <a:tcPr marL="36576" marR="36576" marT="36576" marB="36576" anchor="ctr"/>
                </a:tc>
                <a:tc>
                  <a:txBody>
                    <a:bodyPr/>
                    <a:lstStyle/>
                    <a:p>
                      <a:pPr marL="0" indent="0">
                        <a:buNone/>
                      </a:pPr>
                      <a:r>
                        <a:rPr lang="en-US" sz="1600" dirty="0">
                          <a:solidFill>
                            <a:schemeClr val="tx1"/>
                          </a:solidFill>
                        </a:rPr>
                        <a:t>3,867,720  (242)</a:t>
                      </a:r>
                      <a:endParaRPr lang="en-US" sz="1600" dirty="0">
                        <a:solidFill>
                          <a:schemeClr val="tx1"/>
                        </a:solidFill>
                        <a:latin typeface="Aptos" panose="020B0004020202020204" pitchFamily="34" charset="0"/>
                        <a:ea typeface="Calibri" charset="0"/>
                        <a:cs typeface="Calibri" charset="0"/>
                      </a:endParaRPr>
                    </a:p>
                  </a:txBody>
                  <a:tcPr marL="36576" marR="36576" marT="36576" marB="36576" anchor="ctr"/>
                </a:tc>
                <a:tc>
                  <a:txBody>
                    <a:bodyPr/>
                    <a:lstStyle/>
                    <a:p>
                      <a:pPr marL="0" indent="0" algn="l" defTabSz="914400" rtl="0" eaLnBrk="1" latinLnBrk="0" hangingPunct="1">
                        <a:buNone/>
                      </a:pPr>
                      <a:r>
                        <a:rPr sz="1600" kern="1200">
                          <a:solidFill>
                            <a:schemeClr val="tx1"/>
                          </a:solidFill>
                          <a:latin typeface="+mn-lt"/>
                          <a:ea typeface="+mn-ea"/>
                          <a:cs typeface="+mn-cs"/>
                        </a:rPr>
                        <a:t>966,930  (60)</a:t>
                      </a:r>
                    </a:p>
                  </a:txBody>
                  <a:tcPr marL="64008" marR="64008" marT="18288" marB="18288" anchor="ctr"/>
                </a:tc>
                <a:tc>
                  <a:txBody>
                    <a:bodyPr/>
                    <a:lstStyle/>
                    <a:p>
                      <a:pPr marL="0" indent="0" algn="l" defTabSz="914400" rtl="0" eaLnBrk="1" latinLnBrk="0" hangingPunct="1">
                        <a:buNone/>
                      </a:pPr>
                      <a:r>
                        <a:rPr sz="1600" kern="1200" dirty="0">
                          <a:solidFill>
                            <a:schemeClr val="tx1"/>
                          </a:solidFill>
                          <a:latin typeface="+mn-lt"/>
                          <a:ea typeface="+mn-ea"/>
                          <a:cs typeface="+mn-cs"/>
                        </a:rPr>
                        <a:t>3,867,720  (242)</a:t>
                      </a:r>
                    </a:p>
                  </a:txBody>
                  <a:tcPr marL="64008" marR="64008" marT="18288" marB="18288" anchor="ct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2674DF24-6147-F99E-A6A6-606D1B2014BD}"/>
              </a:ext>
            </a:extLst>
          </p:cNvPr>
          <p:cNvSpPr txBox="1"/>
          <p:nvPr/>
        </p:nvSpPr>
        <p:spPr>
          <a:xfrm>
            <a:off x="228600" y="5943600"/>
            <a:ext cx="8763000" cy="830997"/>
          </a:xfrm>
          <a:prstGeom prst="rect">
            <a:avLst/>
          </a:prstGeom>
          <a:noFill/>
        </p:spPr>
        <p:txBody>
          <a:bodyPr wrap="square" rtlCol="0">
            <a:spAutoFit/>
          </a:bodyPr>
          <a:lstStyle/>
          <a:p>
            <a:r>
              <a:rPr lang="en-US" sz="1600" b="1" dirty="0"/>
              <a:t>Note: </a:t>
            </a:r>
            <a:r>
              <a:rPr lang="en-US" sz="1600" dirty="0"/>
              <a:t>When JKN is used the household still pays 25% of cost for chronic care; when not used the household pays full cost (Fattah et al. </a:t>
            </a:r>
            <a:r>
              <a:rPr lang="en-US" sz="1600" i="1" dirty="0"/>
              <a:t>Int. J. Equity Health </a:t>
            </a:r>
            <a:r>
              <a:rPr lang="en-US" sz="1600" dirty="0"/>
              <a:t>2023). </a:t>
            </a:r>
            <a:r>
              <a:rPr lang="en-US" sz="1600" b="1" dirty="0"/>
              <a:t>Source: </a:t>
            </a:r>
            <a:r>
              <a:rPr lang="en-US" sz="1600" dirty="0"/>
              <a:t>built from Indonesia-adjusted unit costs extracted from the literature</a:t>
            </a:r>
          </a:p>
        </p:txBody>
      </p:sp>
    </p:spTree>
    <p:extLst>
      <p:ext uri="{BB962C8B-B14F-4D97-AF65-F5344CB8AC3E}">
        <p14:creationId xmlns:p14="http://schemas.microsoft.com/office/powerpoint/2010/main" val="1507222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D48D9-C0A8-1B77-8EE8-89E1B136D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D2819-5091-4D1B-D3AF-B0D10832E31D}"/>
              </a:ext>
            </a:extLst>
          </p:cNvPr>
          <p:cNvSpPr>
            <a:spLocks noGrp="1"/>
          </p:cNvSpPr>
          <p:nvPr>
            <p:ph type="title"/>
          </p:nvPr>
        </p:nvSpPr>
        <p:spPr>
          <a:xfrm>
            <a:off x="306998" y="274638"/>
            <a:ext cx="8532202" cy="1143000"/>
          </a:xfrm>
        </p:spPr>
        <p:txBody>
          <a:bodyPr>
            <a:normAutofit fontScale="90000"/>
          </a:bodyPr>
          <a:lstStyle/>
          <a:p>
            <a:pPr algn="ctr"/>
            <a:r>
              <a:rPr lang="en-US" sz="4900" b="1" dirty="0"/>
              <a:t>Inputs (2): </a:t>
            </a:r>
            <a:r>
              <a:rPr lang="en-US" sz="4900" dirty="0"/>
              <a:t>Acute care costs</a:t>
            </a:r>
            <a:br>
              <a:rPr lang="en-US" dirty="0"/>
            </a:br>
            <a:r>
              <a:rPr lang="en-US" sz="2300" dirty="0"/>
              <a:t>Number of hospitalized CVD events, full cost of care, what households pay</a:t>
            </a:r>
          </a:p>
        </p:txBody>
      </p:sp>
      <p:graphicFrame>
        <p:nvGraphicFramePr>
          <p:cNvPr id="3" name="Table 2">
            <a:extLst>
              <a:ext uri="{FF2B5EF4-FFF2-40B4-BE49-F238E27FC236}">
                <a16:creationId xmlns:a16="http://schemas.microsoft.com/office/drawing/2014/main" id="{5097FF90-8409-0A1C-802C-4890C459723A}"/>
              </a:ext>
            </a:extLst>
          </p:cNvPr>
          <p:cNvGraphicFramePr>
            <a:graphicFrameLocks noGrp="1"/>
          </p:cNvGraphicFramePr>
          <p:nvPr>
            <p:extLst>
              <p:ext uri="{D42A27DB-BD31-4B8C-83A1-F6EECF244321}">
                <p14:modId xmlns:p14="http://schemas.microsoft.com/office/powerpoint/2010/main" val="3316320328"/>
              </p:ext>
            </p:extLst>
          </p:nvPr>
        </p:nvGraphicFramePr>
        <p:xfrm>
          <a:off x="419669" y="1611941"/>
          <a:ext cx="8229600" cy="3167911"/>
        </p:xfrm>
        <a:graphic>
          <a:graphicData uri="http://schemas.openxmlformats.org/drawingml/2006/table">
            <a:tbl>
              <a:tblPr>
                <a:tableStyleId>{616DA210-FB5B-4158-B5E0-FEB733F419BA}</a:tableStyleId>
              </a:tblPr>
              <a:tblGrid>
                <a:gridCol w="2323531">
                  <a:extLst>
                    <a:ext uri="{9D8B030D-6E8A-4147-A177-3AD203B41FA5}">
                      <a16:colId xmlns:a16="http://schemas.microsoft.com/office/drawing/2014/main" val="3407558032"/>
                    </a:ext>
                  </a:extLst>
                </a:gridCol>
                <a:gridCol w="1237709">
                  <a:extLst>
                    <a:ext uri="{9D8B030D-6E8A-4147-A177-3AD203B41FA5}">
                      <a16:colId xmlns:a16="http://schemas.microsoft.com/office/drawing/2014/main" val="685115275"/>
                    </a:ext>
                  </a:extLst>
                </a:gridCol>
                <a:gridCol w="1556120">
                  <a:extLst>
                    <a:ext uri="{9D8B030D-6E8A-4147-A177-3AD203B41FA5}">
                      <a16:colId xmlns:a16="http://schemas.microsoft.com/office/drawing/2014/main" val="363212307"/>
                    </a:ext>
                  </a:extLst>
                </a:gridCol>
                <a:gridCol w="1556120">
                  <a:extLst>
                    <a:ext uri="{9D8B030D-6E8A-4147-A177-3AD203B41FA5}">
                      <a16:colId xmlns:a16="http://schemas.microsoft.com/office/drawing/2014/main" val="1624139130"/>
                    </a:ext>
                  </a:extLst>
                </a:gridCol>
                <a:gridCol w="1556120">
                  <a:extLst>
                    <a:ext uri="{9D8B030D-6E8A-4147-A177-3AD203B41FA5}">
                      <a16:colId xmlns:a16="http://schemas.microsoft.com/office/drawing/2014/main" val="272064434"/>
                    </a:ext>
                  </a:extLst>
                </a:gridCol>
              </a:tblGrid>
              <a:tr h="618328">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Event type</a:t>
                      </a:r>
                    </a:p>
                  </a:txBody>
                  <a:tcPr marL="92260" marR="92260" marT="44285" marB="92260" anchor="b"/>
                </a:tc>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Admissions per year</a:t>
                      </a:r>
                    </a:p>
                    <a:p>
                      <a:pPr marL="0" indent="0" algn="l" defTabSz="914400" rtl="0" eaLnBrk="1" fontAlgn="b" latinLnBrk="0" hangingPunct="1">
                        <a:spcBef>
                          <a:spcPts val="0"/>
                        </a:spcBef>
                        <a:buNone/>
                      </a:pPr>
                      <a:r>
                        <a:rPr lang="en-US" sz="1600" b="0" kern="1200" dirty="0">
                          <a:solidFill>
                            <a:schemeClr val="tx1"/>
                          </a:solidFill>
                          <a:latin typeface="Calibri" panose="020F0502020204030204" pitchFamily="34" charset="0"/>
                          <a:ea typeface="+mn-ea"/>
                          <a:cs typeface="Calibri" panose="020F0502020204030204" pitchFamily="34" charset="0"/>
                        </a:rPr>
                        <a:t>(millions)</a:t>
                      </a:r>
                    </a:p>
                  </a:txBody>
                  <a:tcPr marL="92260" marR="92260" marT="44285" marB="92260" anchor="b"/>
                </a:tc>
                <a:tc>
                  <a:txBody>
                    <a:bodyPr/>
                    <a:lstStyle/>
                    <a:p>
                      <a:pPr marL="0" indent="0" algn="l" defTabSz="914400" rtl="0" eaLnBrk="1" fontAlgn="b" latinLnBrk="0" hangingPunct="1">
                        <a:spcBef>
                          <a:spcPts val="0"/>
                        </a:spcBef>
                        <a:buNone/>
                      </a:pPr>
                      <a:r>
                        <a:rPr lang="en-US" sz="1600" b="1" kern="1200" dirty="0">
                          <a:solidFill>
                            <a:schemeClr val="tx1"/>
                          </a:solidFill>
                          <a:latin typeface="Calibri" panose="020F0502020204030204" pitchFamily="34" charset="0"/>
                          <a:ea typeface="+mn-ea"/>
                          <a:cs typeface="Calibri" panose="020F0502020204030204" pitchFamily="34" charset="0"/>
                        </a:rPr>
                        <a:t>Full cost of care</a:t>
                      </a:r>
                    </a:p>
                    <a:p>
                      <a:pPr marL="0" indent="0" algn="l" defTabSz="914400" rtl="0" eaLnBrk="1" fontAlgn="b" latinLnBrk="0" hangingPunct="1">
                        <a:spcBef>
                          <a:spcPts val="0"/>
                        </a:spcBef>
                        <a:buNone/>
                      </a:pPr>
                      <a:r>
                        <a:rPr lang="en-US" sz="1600" b="0" kern="1200" dirty="0">
                          <a:solidFill>
                            <a:schemeClr val="tx1"/>
                          </a:solidFill>
                          <a:latin typeface="Calibri" panose="020F0502020204030204" pitchFamily="34" charset="0"/>
                          <a:ea typeface="+mn-ea"/>
                          <a:cs typeface="Calibri" panose="020F0502020204030204" pitchFamily="34" charset="0"/>
                        </a:rPr>
                        <a:t>IDR per admission (USD)</a:t>
                      </a:r>
                    </a:p>
                  </a:txBody>
                  <a:tcPr marL="92260" marR="92260" marT="44285" marB="9226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used</a:t>
                      </a:r>
                      <a:r>
                        <a:rPr sz="1600" b="1" kern="1200" dirty="0">
                          <a:solidFill>
                            <a:schemeClr val="tx1"/>
                          </a:solidFill>
                          <a:latin typeface="+mn-lt"/>
                          <a:ea typeface="+mn-ea"/>
                          <a:cs typeface="+mn-cs"/>
                        </a:rPr>
                        <a:t>
</a:t>
                      </a:r>
                      <a:r>
                        <a:rPr lang="en-US" sz="1600" b="0" dirty="0">
                          <a:solidFill>
                            <a:schemeClr val="tx1"/>
                          </a:solidFill>
                        </a:rPr>
                        <a:t>IDR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600" b="1" kern="1200" dirty="0">
                          <a:solidFill>
                            <a:schemeClr val="tx1"/>
                          </a:solidFill>
                          <a:latin typeface="+mn-lt"/>
                          <a:ea typeface="+mn-ea"/>
                          <a:cs typeface="+mn-cs"/>
                        </a:rPr>
                        <a:t>Household pay</a:t>
                      </a:r>
                      <a:r>
                        <a:rPr lang="en-US" sz="1600" b="1" kern="1200" dirty="0">
                          <a:solidFill>
                            <a:schemeClr val="tx1"/>
                          </a:solidFill>
                          <a:latin typeface="+mn-lt"/>
                          <a:ea typeface="+mn-ea"/>
                          <a:cs typeface="+mn-cs"/>
                        </a:rPr>
                        <a:t>ment when JKN not used</a:t>
                      </a:r>
                      <a:r>
                        <a:rPr sz="1600" b="1" kern="1200" dirty="0">
                          <a:solidFill>
                            <a:schemeClr val="tx1"/>
                          </a:solidFill>
                          <a:latin typeface="+mn-lt"/>
                          <a:ea typeface="+mn-ea"/>
                          <a:cs typeface="+mn-cs"/>
                        </a:rPr>
                        <a:t>
</a:t>
                      </a:r>
                      <a:r>
                        <a:rPr lang="en-US" sz="1600" b="0" dirty="0">
                          <a:solidFill>
                            <a:schemeClr val="tx1"/>
                          </a:solidFill>
                        </a:rPr>
                        <a:t>IDR (USD)</a:t>
                      </a:r>
                      <a:endParaRPr lang="en-US" sz="1600" b="0" dirty="0">
                        <a:solidFill>
                          <a:schemeClr val="tx1"/>
                        </a:solidFill>
                        <a:latin typeface="Aptos" panose="020B0004020202020204" pitchFamily="34" charset="0"/>
                        <a:ea typeface="Calibri" charset="0"/>
                        <a:cs typeface="Calibri" charset="0"/>
                      </a:endParaRPr>
                    </a:p>
                  </a:txBody>
                  <a:tcPr marL="64008" marR="64008" marT="18288" marB="18288" anchor="ctr"/>
                </a:tc>
                <a:extLst>
                  <a:ext uri="{0D108BD9-81ED-4DB2-BD59-A6C34878D82A}">
                    <a16:rowId xmlns:a16="http://schemas.microsoft.com/office/drawing/2014/main" val="2436017022"/>
                  </a:ext>
                </a:extLst>
              </a:tr>
              <a:tr h="583207">
                <a:tc>
                  <a:txBody>
                    <a:bodyPr/>
                    <a:lstStyle/>
                    <a:p>
                      <a:pPr marL="0" indent="0" algn="l" defTabSz="914400" rtl="0" eaLnBrk="1" latinLnBrk="0" hangingPunct="1">
                        <a:buNone/>
                      </a:pPr>
                      <a:r>
                        <a:rPr lang="en-US" sz="1600" kern="1200">
                          <a:solidFill>
                            <a:schemeClr val="tx1"/>
                          </a:solidFill>
                          <a:latin typeface="Calibri" panose="020F0502020204030204" pitchFamily="34" charset="0"/>
                          <a:ea typeface="+mn-ea"/>
                          <a:cs typeface="Calibri" panose="020F0502020204030204" pitchFamily="34" charset="0"/>
                        </a:rPr>
                        <a:t>Hospitalized acute CVD event (weighted average)</a:t>
                      </a:r>
                      <a:endParaRPr lang="en-US" sz="1600" kern="1200" dirty="0">
                        <a:solidFill>
                          <a:schemeClr val="tx1"/>
                        </a:solidFill>
                        <a:latin typeface="Calibri" panose="020F0502020204030204" pitchFamily="34" charset="0"/>
                        <a:ea typeface="+mn-ea"/>
                        <a:cs typeface="Calibri" panose="020F0502020204030204" pitchFamily="34" charset="0"/>
                      </a:endParaRP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1.86</a:t>
                      </a:r>
                      <a:endParaRPr lang="en-US" sz="1600" b="1"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6,950,500  (434)</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2,331,893  (146)</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6,950,500  (434)</a:t>
                      </a:r>
                      <a:endParaRPr lang="en-US" sz="1600" b="1"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3307277827"/>
                  </a:ext>
                </a:extLst>
              </a:tr>
              <a:tr h="411542">
                <a:tc>
                  <a:txBody>
                    <a:bodyPr/>
                    <a:lstStyle/>
                    <a:p>
                      <a:pPr marL="0" indent="0" algn="l" defTabSz="914400" rtl="0" eaLnBrk="1" latinLnBrk="0" hangingPunct="1">
                        <a:buNone/>
                      </a:pPr>
                      <a:r>
                        <a:rPr lang="en-US" sz="1600" kern="1200" dirty="0">
                          <a:solidFill>
                            <a:schemeClr val="tx1"/>
                          </a:solidFill>
                          <a:latin typeface="Calibri" panose="020F0502020204030204" pitchFamily="34" charset="0"/>
                          <a:ea typeface="+mn-ea"/>
                          <a:cs typeface="Calibri" panose="020F0502020204030204" pitchFamily="34" charset="0"/>
                        </a:rPr>
                        <a:t>—  ischemic stroke  (63% of events)</a:t>
                      </a: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1.18</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7,061,300  (441)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2,369,066  (148)</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7,061,300  (441)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483273903"/>
                  </a:ext>
                </a:extLst>
              </a:tr>
              <a:tr h="411542">
                <a:tc>
                  <a:txBody>
                    <a:bodyPr/>
                    <a:lstStyle/>
                    <a:p>
                      <a:pPr marL="0" indent="0" algn="l" defTabSz="914400" rtl="0" eaLnBrk="1" latinLnBrk="0" hangingPunct="1">
                        <a:buNone/>
                      </a:pPr>
                      <a:r>
                        <a:rPr lang="en-US" sz="1600" kern="1200">
                          <a:solidFill>
                            <a:schemeClr val="tx1"/>
                          </a:solidFill>
                          <a:latin typeface="Calibri" panose="020F0502020204030204" pitchFamily="34" charset="0"/>
                          <a:ea typeface="+mn-ea"/>
                          <a:cs typeface="Calibri" panose="020F0502020204030204" pitchFamily="34" charset="0"/>
                        </a:rPr>
                        <a:t>—  hemorrhagic stroke / ICH  (14%)</a:t>
                      </a:r>
                      <a:endParaRPr lang="en-US" sz="1600" kern="1200" dirty="0">
                        <a:solidFill>
                          <a:schemeClr val="tx1"/>
                        </a:solidFill>
                        <a:latin typeface="Calibri" panose="020F0502020204030204" pitchFamily="34" charset="0"/>
                        <a:ea typeface="+mn-ea"/>
                        <a:cs typeface="Calibri" panose="020F0502020204030204" pitchFamily="34" charset="0"/>
                      </a:endParaRPr>
                    </a:p>
                  </a:txBody>
                  <a:tcPr marL="64008" marR="64008" marT="18288" marB="18288" anchor="ctr"/>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0.26</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5,822,600  (364)</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1,953,482  (122)</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5,822,600  (364)</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598392412"/>
                  </a:ext>
                </a:extLst>
              </a:tr>
              <a:tr h="411542">
                <a:tc>
                  <a:txBody>
                    <a:bodyPr/>
                    <a:lstStyle/>
                    <a:p>
                      <a:pPr marL="0" indent="0" algn="l" defTabSz="914400" rtl="0" eaLnBrk="1" latinLnBrk="0" hangingPunct="1">
                        <a:buNone/>
                      </a:pPr>
                      <a:r>
                        <a:rPr lang="en-US" sz="1600" kern="1200" dirty="0">
                          <a:solidFill>
                            <a:schemeClr val="tx1"/>
                          </a:solidFill>
                          <a:latin typeface="Calibri" panose="020F0502020204030204" pitchFamily="34" charset="0"/>
                          <a:ea typeface="+mn-ea"/>
                          <a:cs typeface="Calibri" panose="020F0502020204030204" pitchFamily="34" charset="0"/>
                        </a:rPr>
                        <a:t>—  acute myocardial infarction  (22%)</a:t>
                      </a:r>
                    </a:p>
                  </a:txBody>
                  <a:tcPr marL="64008" marR="64008" marT="18288" marB="18288" anchor="ctr"/>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0.42</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7,377,900  (461)</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a:effectLst/>
                          <a:latin typeface="Calibri" panose="020F0502020204030204" pitchFamily="34" charset="0"/>
                          <a:cs typeface="Calibri" panose="020F0502020204030204" pitchFamily="34" charset="0"/>
                        </a:rPr>
                        <a:t>2,475,285  (155)</a:t>
                      </a:r>
                      <a:endParaRPr lang="en-US" sz="1600" b="0" i="0">
                        <a:solidFill>
                          <a:srgbClr val="16202B"/>
                        </a:solidFill>
                        <a:effectLst/>
                        <a:latin typeface="Calibri" panose="020F0502020204030204" pitchFamily="34" charset="0"/>
                        <a:cs typeface="Calibri" panose="020F0502020204030204" pitchFamily="34" charset="0"/>
                      </a:endParaRPr>
                    </a:p>
                  </a:txBody>
                  <a:tcPr marL="92260" marR="92260" marT="119938" marB="119938"/>
                </a:tc>
                <a:tc>
                  <a:txBody>
                    <a:bodyPr/>
                    <a:lstStyle/>
                    <a:p>
                      <a:pPr algn="r" fontAlgn="t">
                        <a:spcBef>
                          <a:spcPts val="1800"/>
                        </a:spcBef>
                        <a:buNone/>
                      </a:pPr>
                      <a:r>
                        <a:rPr lang="en-US" sz="1600" dirty="0">
                          <a:effectLst/>
                          <a:latin typeface="Calibri" panose="020F0502020204030204" pitchFamily="34" charset="0"/>
                          <a:cs typeface="Calibri" panose="020F0502020204030204" pitchFamily="34" charset="0"/>
                        </a:rPr>
                        <a:t>7,377,900  (461)</a:t>
                      </a:r>
                      <a:endParaRPr lang="en-US" sz="1600" b="0" i="0" dirty="0">
                        <a:solidFill>
                          <a:srgbClr val="16202B"/>
                        </a:solidFill>
                        <a:effectLst/>
                        <a:latin typeface="Calibri" panose="020F0502020204030204" pitchFamily="34" charset="0"/>
                        <a:cs typeface="Calibri" panose="020F0502020204030204" pitchFamily="34" charset="0"/>
                      </a:endParaRPr>
                    </a:p>
                  </a:txBody>
                  <a:tcPr marL="92260" marR="92260" marT="119938" marB="119938"/>
                </a:tc>
                <a:extLst>
                  <a:ext uri="{0D108BD9-81ED-4DB2-BD59-A6C34878D82A}">
                    <a16:rowId xmlns:a16="http://schemas.microsoft.com/office/drawing/2014/main" val="67419864"/>
                  </a:ext>
                </a:extLst>
              </a:tr>
            </a:tbl>
          </a:graphicData>
        </a:graphic>
      </p:graphicFrame>
      <p:sp>
        <p:nvSpPr>
          <p:cNvPr id="5" name="TextBox 4">
            <a:extLst>
              <a:ext uri="{FF2B5EF4-FFF2-40B4-BE49-F238E27FC236}">
                <a16:creationId xmlns:a16="http://schemas.microsoft.com/office/drawing/2014/main" id="{96B34B3B-A44A-4513-3434-74E4D398D2D7}"/>
              </a:ext>
            </a:extLst>
          </p:cNvPr>
          <p:cNvSpPr txBox="1"/>
          <p:nvPr/>
        </p:nvSpPr>
        <p:spPr>
          <a:xfrm>
            <a:off x="382099" y="5246059"/>
            <a:ext cx="8379802" cy="1323439"/>
          </a:xfrm>
          <a:prstGeom prst="rect">
            <a:avLst/>
          </a:prstGeom>
          <a:noFill/>
        </p:spPr>
        <p:txBody>
          <a:bodyPr wrap="square" rtlCol="0">
            <a:spAutoFit/>
          </a:bodyPr>
          <a:lstStyle/>
          <a:p>
            <a:r>
              <a:rPr lang="en-US" sz="1600" b="1" dirty="0"/>
              <a:t>Note: </a:t>
            </a:r>
            <a:r>
              <a:rPr lang="en-US" sz="1600" dirty="0"/>
              <a:t>When JKN is used, the household still pays about 34% of the cost of acute care; when not used it pays the full cost (Fattah et al. </a:t>
            </a:r>
            <a:r>
              <a:rPr lang="en-US" sz="1600" i="1" dirty="0"/>
              <a:t>Int. J. Equity Health </a:t>
            </a:r>
            <a:r>
              <a:rPr lang="en-US" sz="1600" dirty="0"/>
              <a:t>2023; Dewan </a:t>
            </a:r>
            <a:r>
              <a:rPr lang="en-US" sz="1600" dirty="0" err="1"/>
              <a:t>Jaminan</a:t>
            </a:r>
            <a:r>
              <a:rPr lang="en-US" sz="1600" dirty="0"/>
              <a:t> </a:t>
            </a:r>
            <a:r>
              <a:rPr lang="en-US" sz="1600" dirty="0" err="1"/>
              <a:t>Sosial</a:t>
            </a:r>
            <a:r>
              <a:rPr lang="en-US" sz="1600" dirty="0"/>
              <a:t> Nasional). </a:t>
            </a:r>
          </a:p>
          <a:p>
            <a:r>
              <a:rPr lang="en-US" sz="1600" b="1" dirty="0"/>
              <a:t>Sources: </a:t>
            </a:r>
            <a:r>
              <a:rPr lang="en-US" sz="1600" dirty="0"/>
              <a:t>INA-CBG tariffs, </a:t>
            </a:r>
            <a:r>
              <a:rPr lang="en-US" sz="1600" dirty="0" err="1"/>
              <a:t>Permenkes</a:t>
            </a:r>
            <a:r>
              <a:rPr lang="en-US" sz="1600" dirty="0"/>
              <a:t> 3/2023 — </a:t>
            </a:r>
            <a:r>
              <a:rPr lang="en-US" sz="1600" dirty="0" err="1"/>
              <a:t>kelas</a:t>
            </a:r>
            <a:r>
              <a:rPr lang="en-US" sz="1600" dirty="0"/>
              <a:t> 3, severity II, Regional 1, government class B. Event counts: BPJS sample data 2020–24</a:t>
            </a:r>
          </a:p>
        </p:txBody>
      </p:sp>
    </p:spTree>
    <p:extLst>
      <p:ext uri="{BB962C8B-B14F-4D97-AF65-F5344CB8AC3E}">
        <p14:creationId xmlns:p14="http://schemas.microsoft.com/office/powerpoint/2010/main" val="4078694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64EEC-8C2D-02CB-CD2B-86807A5AE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8EEA6-F2D3-4E0F-02F8-F10261E4959D}"/>
              </a:ext>
            </a:extLst>
          </p:cNvPr>
          <p:cNvSpPr>
            <a:spLocks noGrp="1"/>
          </p:cNvSpPr>
          <p:nvPr>
            <p:ph type="title"/>
          </p:nvPr>
        </p:nvSpPr>
        <p:spPr>
          <a:xfrm>
            <a:off x="381000" y="274638"/>
            <a:ext cx="8305800" cy="1143000"/>
          </a:xfrm>
        </p:spPr>
        <p:txBody>
          <a:bodyPr>
            <a:noAutofit/>
          </a:bodyPr>
          <a:lstStyle/>
          <a:p>
            <a:pPr algn="ctr"/>
            <a:r>
              <a:rPr lang="en-US" b="1" dirty="0"/>
              <a:t>Inputs (3): </a:t>
            </a:r>
            <a:r>
              <a:rPr lang="en-US" dirty="0"/>
              <a:t>What fraction of cost is covered by JKN</a:t>
            </a:r>
            <a:endParaRPr lang="en-US" i="1" dirty="0"/>
          </a:p>
        </p:txBody>
      </p:sp>
      <p:grpSp>
        <p:nvGrpSpPr>
          <p:cNvPr id="111" name="Group 110">
            <a:extLst>
              <a:ext uri="{FF2B5EF4-FFF2-40B4-BE49-F238E27FC236}">
                <a16:creationId xmlns:a16="http://schemas.microsoft.com/office/drawing/2014/main" id="{DE893EB8-EA76-6BBA-ADD8-596A6E13D687}"/>
              </a:ext>
            </a:extLst>
          </p:cNvPr>
          <p:cNvGrpSpPr/>
          <p:nvPr/>
        </p:nvGrpSpPr>
        <p:grpSpPr>
          <a:xfrm>
            <a:off x="533400" y="1778586"/>
            <a:ext cx="3813047" cy="3860214"/>
            <a:chOff x="533400" y="1639461"/>
            <a:chExt cx="3813047" cy="3860214"/>
          </a:xfrm>
        </p:grpSpPr>
        <p:sp>
          <p:nvSpPr>
            <p:cNvPr id="3" name="TextBox 2">
              <a:extLst>
                <a:ext uri="{FF2B5EF4-FFF2-40B4-BE49-F238E27FC236}">
                  <a16:creationId xmlns:a16="http://schemas.microsoft.com/office/drawing/2014/main" id="{C7220B31-DAFA-5F7A-8845-1561CAD2BB45}"/>
                </a:ext>
              </a:extLst>
            </p:cNvPr>
            <p:cNvSpPr txBox="1"/>
            <p:nvPr/>
          </p:nvSpPr>
          <p:spPr>
            <a:xfrm>
              <a:off x="591312" y="1639461"/>
              <a:ext cx="2324404" cy="276999"/>
            </a:xfrm>
            <a:prstGeom prst="rect">
              <a:avLst/>
            </a:prstGeom>
            <a:noFill/>
          </p:spPr>
          <p:txBody>
            <a:bodyPr wrap="square" lIns="0" tIns="0" rIns="0" bIns="0" anchor="t">
              <a:spAutoFit/>
            </a:bodyPr>
            <a:lstStyle/>
            <a:p>
              <a:pPr algn="l"/>
              <a:r>
                <a:rPr b="1" i="0" dirty="0">
                  <a:solidFill>
                    <a:srgbClr val="002060"/>
                  </a:solidFill>
                  <a:latin typeface="Calibri"/>
                </a:rPr>
                <a:t>CHRONIC CARE</a:t>
              </a:r>
            </a:p>
          </p:txBody>
        </p:sp>
        <p:sp>
          <p:nvSpPr>
            <p:cNvPr id="6" name="TextBox 5">
              <a:extLst>
                <a:ext uri="{FF2B5EF4-FFF2-40B4-BE49-F238E27FC236}">
                  <a16:creationId xmlns:a16="http://schemas.microsoft.com/office/drawing/2014/main" id="{F7512209-B02D-5F01-1A14-EEDC41648932}"/>
                </a:ext>
              </a:extLst>
            </p:cNvPr>
            <p:cNvSpPr txBox="1"/>
            <p:nvPr/>
          </p:nvSpPr>
          <p:spPr>
            <a:xfrm>
              <a:off x="597408" y="2015811"/>
              <a:ext cx="3749039" cy="219456"/>
            </a:xfrm>
            <a:prstGeom prst="rect">
              <a:avLst/>
            </a:prstGeom>
            <a:noFill/>
          </p:spPr>
          <p:txBody>
            <a:bodyPr wrap="square" lIns="0" tIns="0" rIns="0" bIns="0" anchor="t">
              <a:spAutoFit/>
            </a:bodyPr>
            <a:lstStyle/>
            <a:p>
              <a:pPr algn="l"/>
              <a:r>
                <a:rPr sz="1050" b="0" i="0">
                  <a:solidFill>
                    <a:srgbClr val="5A6A7D"/>
                  </a:solidFill>
                  <a:latin typeface="Calibri"/>
                </a:rPr>
                <a:t>outpatient  ·  15.6M patients in care</a:t>
              </a:r>
            </a:p>
          </p:txBody>
        </p:sp>
        <p:cxnSp>
          <p:nvCxnSpPr>
            <p:cNvPr id="8" name="Connector 6">
              <a:extLst>
                <a:ext uri="{FF2B5EF4-FFF2-40B4-BE49-F238E27FC236}">
                  <a16:creationId xmlns:a16="http://schemas.microsoft.com/office/drawing/2014/main" id="{EFCEE8BF-1EA0-9EBF-1E96-BBB5D375856F}"/>
                </a:ext>
              </a:extLst>
            </p:cNvPr>
            <p:cNvCxnSpPr/>
            <p:nvPr/>
          </p:nvCxnSpPr>
          <p:spPr>
            <a:xfrm>
              <a:off x="1008888" y="5216211"/>
              <a:ext cx="3337559" cy="0"/>
            </a:xfrm>
            <a:prstGeom prst="line">
              <a:avLst/>
            </a:prstGeom>
            <a:ln w="9525">
              <a:solidFill>
                <a:srgbClr val="DDE4EC"/>
              </a:solidFill>
            </a:ln>
          </p:spPr>
        </p:cxnSp>
        <p:sp>
          <p:nvSpPr>
            <p:cNvPr id="9" name="TextBox 8">
              <a:extLst>
                <a:ext uri="{FF2B5EF4-FFF2-40B4-BE49-F238E27FC236}">
                  <a16:creationId xmlns:a16="http://schemas.microsoft.com/office/drawing/2014/main" id="{2F38AE21-7558-2299-95E3-6BE43132E0FC}"/>
                </a:ext>
              </a:extLst>
            </p:cNvPr>
            <p:cNvSpPr txBox="1"/>
            <p:nvPr/>
          </p:nvSpPr>
          <p:spPr>
            <a:xfrm>
              <a:off x="533400" y="5133915"/>
              <a:ext cx="420624" cy="182880"/>
            </a:xfrm>
            <a:prstGeom prst="rect">
              <a:avLst/>
            </a:prstGeom>
            <a:noFill/>
          </p:spPr>
          <p:txBody>
            <a:bodyPr wrap="square" lIns="0" tIns="0" rIns="0" bIns="0" anchor="t">
              <a:spAutoFit/>
            </a:bodyPr>
            <a:lstStyle/>
            <a:p>
              <a:pPr algn="r"/>
              <a:r>
                <a:rPr sz="950" b="0" i="0">
                  <a:solidFill>
                    <a:srgbClr val="5A6A7D"/>
                  </a:solidFill>
                  <a:latin typeface="Calibri"/>
                </a:rPr>
                <a:t>0%</a:t>
              </a:r>
            </a:p>
          </p:txBody>
        </p:sp>
        <p:cxnSp>
          <p:nvCxnSpPr>
            <p:cNvPr id="10" name="Connector 8">
              <a:extLst>
                <a:ext uri="{FF2B5EF4-FFF2-40B4-BE49-F238E27FC236}">
                  <a16:creationId xmlns:a16="http://schemas.microsoft.com/office/drawing/2014/main" id="{E6673825-2157-1A06-5C87-1830DDB19668}"/>
                </a:ext>
              </a:extLst>
            </p:cNvPr>
            <p:cNvCxnSpPr/>
            <p:nvPr/>
          </p:nvCxnSpPr>
          <p:spPr>
            <a:xfrm>
              <a:off x="1008888" y="4484691"/>
              <a:ext cx="3337559" cy="0"/>
            </a:xfrm>
            <a:prstGeom prst="line">
              <a:avLst/>
            </a:prstGeom>
            <a:ln w="9525">
              <a:solidFill>
                <a:srgbClr val="DDE4EC"/>
              </a:solidFill>
            </a:ln>
          </p:spPr>
        </p:cxnSp>
        <p:sp>
          <p:nvSpPr>
            <p:cNvPr id="11" name="TextBox 10">
              <a:extLst>
                <a:ext uri="{FF2B5EF4-FFF2-40B4-BE49-F238E27FC236}">
                  <a16:creationId xmlns:a16="http://schemas.microsoft.com/office/drawing/2014/main" id="{E3ADD284-1807-640F-C970-156FFD874805}"/>
                </a:ext>
              </a:extLst>
            </p:cNvPr>
            <p:cNvSpPr txBox="1"/>
            <p:nvPr/>
          </p:nvSpPr>
          <p:spPr>
            <a:xfrm>
              <a:off x="533400" y="4402395"/>
              <a:ext cx="420624" cy="182880"/>
            </a:xfrm>
            <a:prstGeom prst="rect">
              <a:avLst/>
            </a:prstGeom>
            <a:noFill/>
          </p:spPr>
          <p:txBody>
            <a:bodyPr wrap="square" lIns="0" tIns="0" rIns="0" bIns="0" anchor="t">
              <a:spAutoFit/>
            </a:bodyPr>
            <a:lstStyle/>
            <a:p>
              <a:pPr algn="r"/>
              <a:r>
                <a:rPr sz="950" b="0" i="0">
                  <a:solidFill>
                    <a:srgbClr val="5A6A7D"/>
                  </a:solidFill>
                  <a:latin typeface="Calibri"/>
                </a:rPr>
                <a:t>25%</a:t>
              </a:r>
            </a:p>
          </p:txBody>
        </p:sp>
        <p:cxnSp>
          <p:nvCxnSpPr>
            <p:cNvPr id="12" name="Connector 10">
              <a:extLst>
                <a:ext uri="{FF2B5EF4-FFF2-40B4-BE49-F238E27FC236}">
                  <a16:creationId xmlns:a16="http://schemas.microsoft.com/office/drawing/2014/main" id="{B0B68A6B-1E5E-D296-9C77-37957041663A}"/>
                </a:ext>
              </a:extLst>
            </p:cNvPr>
            <p:cNvCxnSpPr/>
            <p:nvPr/>
          </p:nvCxnSpPr>
          <p:spPr>
            <a:xfrm>
              <a:off x="1008888" y="3753171"/>
              <a:ext cx="3337559" cy="0"/>
            </a:xfrm>
            <a:prstGeom prst="line">
              <a:avLst/>
            </a:prstGeom>
            <a:ln w="9525">
              <a:solidFill>
                <a:srgbClr val="DDE4EC"/>
              </a:solidFill>
            </a:ln>
          </p:spPr>
        </p:cxnSp>
        <p:sp>
          <p:nvSpPr>
            <p:cNvPr id="13" name="TextBox 12">
              <a:extLst>
                <a:ext uri="{FF2B5EF4-FFF2-40B4-BE49-F238E27FC236}">
                  <a16:creationId xmlns:a16="http://schemas.microsoft.com/office/drawing/2014/main" id="{539FB5BF-8429-502F-10F5-718A02F98BC5}"/>
                </a:ext>
              </a:extLst>
            </p:cNvPr>
            <p:cNvSpPr txBox="1"/>
            <p:nvPr/>
          </p:nvSpPr>
          <p:spPr>
            <a:xfrm>
              <a:off x="533400" y="3670875"/>
              <a:ext cx="420624" cy="182880"/>
            </a:xfrm>
            <a:prstGeom prst="rect">
              <a:avLst/>
            </a:prstGeom>
            <a:noFill/>
          </p:spPr>
          <p:txBody>
            <a:bodyPr wrap="square" lIns="0" tIns="0" rIns="0" bIns="0" anchor="t">
              <a:spAutoFit/>
            </a:bodyPr>
            <a:lstStyle/>
            <a:p>
              <a:pPr algn="r"/>
              <a:r>
                <a:rPr sz="950" b="0" i="0">
                  <a:solidFill>
                    <a:srgbClr val="5A6A7D"/>
                  </a:solidFill>
                  <a:latin typeface="Calibri"/>
                </a:rPr>
                <a:t>50%</a:t>
              </a:r>
            </a:p>
          </p:txBody>
        </p:sp>
        <p:cxnSp>
          <p:nvCxnSpPr>
            <p:cNvPr id="14" name="Connector 12">
              <a:extLst>
                <a:ext uri="{FF2B5EF4-FFF2-40B4-BE49-F238E27FC236}">
                  <a16:creationId xmlns:a16="http://schemas.microsoft.com/office/drawing/2014/main" id="{A862D498-7108-AF20-B47D-76D78DC99435}"/>
                </a:ext>
              </a:extLst>
            </p:cNvPr>
            <p:cNvCxnSpPr/>
            <p:nvPr/>
          </p:nvCxnSpPr>
          <p:spPr>
            <a:xfrm>
              <a:off x="1008888" y="3021651"/>
              <a:ext cx="3337559" cy="0"/>
            </a:xfrm>
            <a:prstGeom prst="line">
              <a:avLst/>
            </a:prstGeom>
            <a:ln w="9525">
              <a:solidFill>
                <a:srgbClr val="DDE4EC"/>
              </a:solidFill>
            </a:ln>
          </p:spPr>
        </p:cxnSp>
        <p:sp>
          <p:nvSpPr>
            <p:cNvPr id="15" name="TextBox 14">
              <a:extLst>
                <a:ext uri="{FF2B5EF4-FFF2-40B4-BE49-F238E27FC236}">
                  <a16:creationId xmlns:a16="http://schemas.microsoft.com/office/drawing/2014/main" id="{6872FC13-8EFB-9F35-755A-519B0894AD88}"/>
                </a:ext>
              </a:extLst>
            </p:cNvPr>
            <p:cNvSpPr txBox="1"/>
            <p:nvPr/>
          </p:nvSpPr>
          <p:spPr>
            <a:xfrm>
              <a:off x="533400" y="2939355"/>
              <a:ext cx="420624" cy="182880"/>
            </a:xfrm>
            <a:prstGeom prst="rect">
              <a:avLst/>
            </a:prstGeom>
            <a:noFill/>
          </p:spPr>
          <p:txBody>
            <a:bodyPr wrap="square" lIns="0" tIns="0" rIns="0" bIns="0" anchor="t">
              <a:spAutoFit/>
            </a:bodyPr>
            <a:lstStyle/>
            <a:p>
              <a:pPr algn="r"/>
              <a:r>
                <a:rPr sz="950" b="0" i="0">
                  <a:solidFill>
                    <a:srgbClr val="5A6A7D"/>
                  </a:solidFill>
                  <a:latin typeface="Calibri"/>
                </a:rPr>
                <a:t>75%</a:t>
              </a:r>
            </a:p>
          </p:txBody>
        </p:sp>
        <p:cxnSp>
          <p:nvCxnSpPr>
            <p:cNvPr id="16" name="Connector 14">
              <a:extLst>
                <a:ext uri="{FF2B5EF4-FFF2-40B4-BE49-F238E27FC236}">
                  <a16:creationId xmlns:a16="http://schemas.microsoft.com/office/drawing/2014/main" id="{29527B14-9C42-EFBD-FE45-B636C1B5EA85}"/>
                </a:ext>
              </a:extLst>
            </p:cNvPr>
            <p:cNvCxnSpPr/>
            <p:nvPr/>
          </p:nvCxnSpPr>
          <p:spPr>
            <a:xfrm>
              <a:off x="1008888" y="2290131"/>
              <a:ext cx="3337559" cy="0"/>
            </a:xfrm>
            <a:prstGeom prst="line">
              <a:avLst/>
            </a:prstGeom>
            <a:ln w="9525">
              <a:solidFill>
                <a:srgbClr val="DDE4EC"/>
              </a:solidFill>
            </a:ln>
          </p:spPr>
        </p:cxnSp>
        <p:sp>
          <p:nvSpPr>
            <p:cNvPr id="17" name="TextBox 16">
              <a:extLst>
                <a:ext uri="{FF2B5EF4-FFF2-40B4-BE49-F238E27FC236}">
                  <a16:creationId xmlns:a16="http://schemas.microsoft.com/office/drawing/2014/main" id="{26EAAEB5-C6A4-2A5E-C2F7-BB92B3363CF1}"/>
                </a:ext>
              </a:extLst>
            </p:cNvPr>
            <p:cNvSpPr txBox="1"/>
            <p:nvPr/>
          </p:nvSpPr>
          <p:spPr>
            <a:xfrm>
              <a:off x="533400" y="2207835"/>
              <a:ext cx="420624" cy="182880"/>
            </a:xfrm>
            <a:prstGeom prst="rect">
              <a:avLst/>
            </a:prstGeom>
            <a:noFill/>
          </p:spPr>
          <p:txBody>
            <a:bodyPr wrap="square" lIns="0" tIns="0" rIns="0" bIns="0" anchor="t">
              <a:spAutoFit/>
            </a:bodyPr>
            <a:lstStyle/>
            <a:p>
              <a:pPr algn="r"/>
              <a:r>
                <a:rPr sz="950" b="0" i="0">
                  <a:solidFill>
                    <a:srgbClr val="5A6A7D"/>
                  </a:solidFill>
                  <a:latin typeface="Calibri"/>
                </a:rPr>
                <a:t>100%</a:t>
              </a:r>
            </a:p>
          </p:txBody>
        </p:sp>
        <p:sp>
          <p:nvSpPr>
            <p:cNvPr id="18" name="Rectangle 17">
              <a:extLst>
                <a:ext uri="{FF2B5EF4-FFF2-40B4-BE49-F238E27FC236}">
                  <a16:creationId xmlns:a16="http://schemas.microsoft.com/office/drawing/2014/main" id="{82E23BF0-064F-98AF-8550-65E4608AF52E}"/>
                </a:ext>
              </a:extLst>
            </p:cNvPr>
            <p:cNvSpPr/>
            <p:nvPr/>
          </p:nvSpPr>
          <p:spPr>
            <a:xfrm>
              <a:off x="1184148" y="4190254"/>
              <a:ext cx="457200" cy="1025956"/>
            </a:xfrm>
            <a:prstGeom prst="rect">
              <a:avLst/>
            </a:prstGeom>
            <a:solidFill>
              <a:srgbClr val="0F8C6B"/>
            </a:solidFill>
            <a:ln>
              <a:noFill/>
            </a:ln>
            <a:effectLst/>
          </p:spPr>
          <p:txBody>
            <a:bodyPr rtlCol="0" anchor="ctr"/>
            <a:lstStyle/>
            <a:p>
              <a:endParaRPr/>
            </a:p>
          </p:txBody>
        </p:sp>
        <p:sp>
          <p:nvSpPr>
            <p:cNvPr id="21" name="TextBox 20">
              <a:extLst>
                <a:ext uri="{FF2B5EF4-FFF2-40B4-BE49-F238E27FC236}">
                  <a16:creationId xmlns:a16="http://schemas.microsoft.com/office/drawing/2014/main" id="{90C5F9B1-192A-07C2-1194-B3DC5A5DF7DF}"/>
                </a:ext>
              </a:extLst>
            </p:cNvPr>
            <p:cNvSpPr txBox="1"/>
            <p:nvPr/>
          </p:nvSpPr>
          <p:spPr>
            <a:xfrm>
              <a:off x="1184148" y="4566072"/>
              <a:ext cx="457200" cy="274320"/>
            </a:xfrm>
            <a:prstGeom prst="rect">
              <a:avLst/>
            </a:prstGeom>
            <a:noFill/>
          </p:spPr>
          <p:txBody>
            <a:bodyPr wrap="square" lIns="0" tIns="0" rIns="0" bIns="0" anchor="ctr">
              <a:spAutoFit/>
            </a:bodyPr>
            <a:lstStyle/>
            <a:p>
              <a:pPr algn="ctr"/>
              <a:r>
                <a:rPr sz="1300" b="1" i="0" dirty="0">
                  <a:solidFill>
                    <a:srgbClr val="FFFFFF"/>
                  </a:solidFill>
                  <a:latin typeface="Calibri"/>
                </a:rPr>
                <a:t>35%</a:t>
              </a:r>
            </a:p>
          </p:txBody>
        </p:sp>
        <p:sp>
          <p:nvSpPr>
            <p:cNvPr id="22" name="TextBox 21">
              <a:extLst>
                <a:ext uri="{FF2B5EF4-FFF2-40B4-BE49-F238E27FC236}">
                  <a16:creationId xmlns:a16="http://schemas.microsoft.com/office/drawing/2014/main" id="{BB49A6B0-45F8-09B1-5EF8-04B7CFC31FDE}"/>
                </a:ext>
              </a:extLst>
            </p:cNvPr>
            <p:cNvSpPr txBox="1"/>
            <p:nvPr/>
          </p:nvSpPr>
          <p:spPr>
            <a:xfrm>
              <a:off x="118414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Q1</a:t>
              </a:r>
            </a:p>
          </p:txBody>
        </p:sp>
        <p:sp>
          <p:nvSpPr>
            <p:cNvPr id="23" name="Rectangle 22">
              <a:extLst>
                <a:ext uri="{FF2B5EF4-FFF2-40B4-BE49-F238E27FC236}">
                  <a16:creationId xmlns:a16="http://schemas.microsoft.com/office/drawing/2014/main" id="{4EE4C52E-E561-98B2-1D2E-17BBC337AF08}"/>
                </a:ext>
              </a:extLst>
            </p:cNvPr>
            <p:cNvSpPr/>
            <p:nvPr/>
          </p:nvSpPr>
          <p:spPr>
            <a:xfrm>
              <a:off x="1816608" y="4155580"/>
              <a:ext cx="457200" cy="1060630"/>
            </a:xfrm>
            <a:prstGeom prst="rect">
              <a:avLst/>
            </a:prstGeom>
            <a:solidFill>
              <a:srgbClr val="0F8C6B"/>
            </a:solidFill>
            <a:ln>
              <a:noFill/>
            </a:ln>
            <a:effectLst/>
          </p:spPr>
          <p:txBody>
            <a:bodyPr rtlCol="0" anchor="ctr"/>
            <a:lstStyle/>
            <a:p>
              <a:endParaRPr/>
            </a:p>
          </p:txBody>
        </p:sp>
        <p:sp>
          <p:nvSpPr>
            <p:cNvPr id="26" name="TextBox 25">
              <a:extLst>
                <a:ext uri="{FF2B5EF4-FFF2-40B4-BE49-F238E27FC236}">
                  <a16:creationId xmlns:a16="http://schemas.microsoft.com/office/drawing/2014/main" id="{CD2A2749-DF63-BA7B-7873-C801CCBB703A}"/>
                </a:ext>
              </a:extLst>
            </p:cNvPr>
            <p:cNvSpPr txBox="1"/>
            <p:nvPr/>
          </p:nvSpPr>
          <p:spPr>
            <a:xfrm>
              <a:off x="1816608" y="4548735"/>
              <a:ext cx="457200" cy="274320"/>
            </a:xfrm>
            <a:prstGeom prst="rect">
              <a:avLst/>
            </a:prstGeom>
            <a:noFill/>
          </p:spPr>
          <p:txBody>
            <a:bodyPr wrap="square" lIns="0" tIns="0" rIns="0" bIns="0" anchor="ctr">
              <a:spAutoFit/>
            </a:bodyPr>
            <a:lstStyle/>
            <a:p>
              <a:pPr algn="ctr"/>
              <a:r>
                <a:rPr sz="1300" b="1" i="0">
                  <a:solidFill>
                    <a:srgbClr val="FFFFFF"/>
                  </a:solidFill>
                  <a:latin typeface="Calibri"/>
                </a:rPr>
                <a:t>36%</a:t>
              </a:r>
            </a:p>
          </p:txBody>
        </p:sp>
        <p:sp>
          <p:nvSpPr>
            <p:cNvPr id="27" name="TextBox 26">
              <a:extLst>
                <a:ext uri="{FF2B5EF4-FFF2-40B4-BE49-F238E27FC236}">
                  <a16:creationId xmlns:a16="http://schemas.microsoft.com/office/drawing/2014/main" id="{CB90DCC2-7423-2C0D-93BD-CF95F9EB3476}"/>
                </a:ext>
              </a:extLst>
            </p:cNvPr>
            <p:cNvSpPr txBox="1"/>
            <p:nvPr/>
          </p:nvSpPr>
          <p:spPr>
            <a:xfrm>
              <a:off x="181660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Q2</a:t>
              </a:r>
            </a:p>
          </p:txBody>
        </p:sp>
        <p:sp>
          <p:nvSpPr>
            <p:cNvPr id="28" name="Rectangle 27">
              <a:extLst>
                <a:ext uri="{FF2B5EF4-FFF2-40B4-BE49-F238E27FC236}">
                  <a16:creationId xmlns:a16="http://schemas.microsoft.com/office/drawing/2014/main" id="{3F686852-7212-C954-94B9-548150321739}"/>
                </a:ext>
              </a:extLst>
            </p:cNvPr>
            <p:cNvSpPr/>
            <p:nvPr/>
          </p:nvSpPr>
          <p:spPr>
            <a:xfrm>
              <a:off x="2449067" y="4050899"/>
              <a:ext cx="457200" cy="1165311"/>
            </a:xfrm>
            <a:prstGeom prst="rect">
              <a:avLst/>
            </a:prstGeom>
            <a:solidFill>
              <a:srgbClr val="0F8C6B"/>
            </a:solidFill>
            <a:ln>
              <a:noFill/>
            </a:ln>
            <a:effectLst/>
          </p:spPr>
          <p:txBody>
            <a:bodyPr rtlCol="0" anchor="ctr"/>
            <a:lstStyle/>
            <a:p>
              <a:endParaRPr/>
            </a:p>
          </p:txBody>
        </p:sp>
        <p:sp>
          <p:nvSpPr>
            <p:cNvPr id="31" name="TextBox 30">
              <a:extLst>
                <a:ext uri="{FF2B5EF4-FFF2-40B4-BE49-F238E27FC236}">
                  <a16:creationId xmlns:a16="http://schemas.microsoft.com/office/drawing/2014/main" id="{B041F9B0-662C-3A24-BA53-65217DE6F1E3}"/>
                </a:ext>
              </a:extLst>
            </p:cNvPr>
            <p:cNvSpPr txBox="1"/>
            <p:nvPr/>
          </p:nvSpPr>
          <p:spPr>
            <a:xfrm>
              <a:off x="2449067" y="4496395"/>
              <a:ext cx="457200" cy="274320"/>
            </a:xfrm>
            <a:prstGeom prst="rect">
              <a:avLst/>
            </a:prstGeom>
            <a:noFill/>
          </p:spPr>
          <p:txBody>
            <a:bodyPr wrap="square" lIns="0" tIns="0" rIns="0" bIns="0" anchor="ctr">
              <a:spAutoFit/>
            </a:bodyPr>
            <a:lstStyle/>
            <a:p>
              <a:pPr algn="ctr"/>
              <a:r>
                <a:rPr sz="1300" b="1" i="0">
                  <a:solidFill>
                    <a:srgbClr val="FFFFFF"/>
                  </a:solidFill>
                  <a:latin typeface="Calibri"/>
                </a:rPr>
                <a:t>40%</a:t>
              </a:r>
            </a:p>
          </p:txBody>
        </p:sp>
        <p:sp>
          <p:nvSpPr>
            <p:cNvPr id="32" name="TextBox 31">
              <a:extLst>
                <a:ext uri="{FF2B5EF4-FFF2-40B4-BE49-F238E27FC236}">
                  <a16:creationId xmlns:a16="http://schemas.microsoft.com/office/drawing/2014/main" id="{2804E349-6796-1C83-943E-764F8AA318FE}"/>
                </a:ext>
              </a:extLst>
            </p:cNvPr>
            <p:cNvSpPr txBox="1"/>
            <p:nvPr/>
          </p:nvSpPr>
          <p:spPr>
            <a:xfrm>
              <a:off x="244906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Q3</a:t>
              </a:r>
            </a:p>
          </p:txBody>
        </p:sp>
        <p:sp>
          <p:nvSpPr>
            <p:cNvPr id="33" name="Rectangle 32">
              <a:extLst>
                <a:ext uri="{FF2B5EF4-FFF2-40B4-BE49-F238E27FC236}">
                  <a16:creationId xmlns:a16="http://schemas.microsoft.com/office/drawing/2014/main" id="{C4C3E08A-67E6-130F-5B5D-EC40E52469C6}"/>
                </a:ext>
              </a:extLst>
            </p:cNvPr>
            <p:cNvSpPr/>
            <p:nvPr/>
          </p:nvSpPr>
          <p:spPr>
            <a:xfrm>
              <a:off x="3081528" y="3991427"/>
              <a:ext cx="457200" cy="1224783"/>
            </a:xfrm>
            <a:prstGeom prst="rect">
              <a:avLst/>
            </a:prstGeom>
            <a:solidFill>
              <a:srgbClr val="0F8C6B"/>
            </a:solidFill>
            <a:ln>
              <a:noFill/>
            </a:ln>
            <a:effectLst/>
          </p:spPr>
          <p:txBody>
            <a:bodyPr rtlCol="0" anchor="ctr"/>
            <a:lstStyle/>
            <a:p>
              <a:endParaRPr/>
            </a:p>
          </p:txBody>
        </p:sp>
        <p:sp>
          <p:nvSpPr>
            <p:cNvPr id="36" name="TextBox 35">
              <a:extLst>
                <a:ext uri="{FF2B5EF4-FFF2-40B4-BE49-F238E27FC236}">
                  <a16:creationId xmlns:a16="http://schemas.microsoft.com/office/drawing/2014/main" id="{D4FD5974-F38F-392B-F29B-2E419D6FF39A}"/>
                </a:ext>
              </a:extLst>
            </p:cNvPr>
            <p:cNvSpPr txBox="1"/>
            <p:nvPr/>
          </p:nvSpPr>
          <p:spPr>
            <a:xfrm>
              <a:off x="3081528" y="4466659"/>
              <a:ext cx="457200" cy="274320"/>
            </a:xfrm>
            <a:prstGeom prst="rect">
              <a:avLst/>
            </a:prstGeom>
            <a:noFill/>
          </p:spPr>
          <p:txBody>
            <a:bodyPr wrap="square" lIns="0" tIns="0" rIns="0" bIns="0" anchor="ctr">
              <a:spAutoFit/>
            </a:bodyPr>
            <a:lstStyle/>
            <a:p>
              <a:pPr algn="ctr"/>
              <a:r>
                <a:rPr sz="1300" b="1" i="0">
                  <a:solidFill>
                    <a:srgbClr val="FFFFFF"/>
                  </a:solidFill>
                  <a:latin typeface="Calibri"/>
                </a:rPr>
                <a:t>42%</a:t>
              </a:r>
            </a:p>
          </p:txBody>
        </p:sp>
        <p:sp>
          <p:nvSpPr>
            <p:cNvPr id="37" name="TextBox 36">
              <a:extLst>
                <a:ext uri="{FF2B5EF4-FFF2-40B4-BE49-F238E27FC236}">
                  <a16:creationId xmlns:a16="http://schemas.microsoft.com/office/drawing/2014/main" id="{F9EAB61A-57B8-9B7A-53A5-9E6C7A058F98}"/>
                </a:ext>
              </a:extLst>
            </p:cNvPr>
            <p:cNvSpPr txBox="1"/>
            <p:nvPr/>
          </p:nvSpPr>
          <p:spPr>
            <a:xfrm>
              <a:off x="308152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Q4</a:t>
              </a:r>
            </a:p>
          </p:txBody>
        </p:sp>
        <p:sp>
          <p:nvSpPr>
            <p:cNvPr id="38" name="Rectangle 37">
              <a:extLst>
                <a:ext uri="{FF2B5EF4-FFF2-40B4-BE49-F238E27FC236}">
                  <a16:creationId xmlns:a16="http://schemas.microsoft.com/office/drawing/2014/main" id="{E3F81BAA-5324-7968-520F-1BEE4043C485}"/>
                </a:ext>
              </a:extLst>
            </p:cNvPr>
            <p:cNvSpPr/>
            <p:nvPr/>
          </p:nvSpPr>
          <p:spPr>
            <a:xfrm>
              <a:off x="3713987" y="3914398"/>
              <a:ext cx="457200" cy="1301812"/>
            </a:xfrm>
            <a:prstGeom prst="rect">
              <a:avLst/>
            </a:prstGeom>
            <a:solidFill>
              <a:srgbClr val="0F8C6B"/>
            </a:solidFill>
            <a:ln>
              <a:noFill/>
            </a:ln>
            <a:effectLst/>
          </p:spPr>
          <p:txBody>
            <a:bodyPr rtlCol="0" anchor="ctr"/>
            <a:lstStyle/>
            <a:p>
              <a:endParaRPr/>
            </a:p>
          </p:txBody>
        </p:sp>
        <p:sp>
          <p:nvSpPr>
            <p:cNvPr id="41" name="TextBox 40">
              <a:extLst>
                <a:ext uri="{FF2B5EF4-FFF2-40B4-BE49-F238E27FC236}">
                  <a16:creationId xmlns:a16="http://schemas.microsoft.com/office/drawing/2014/main" id="{F144AFB1-5E75-7762-1F90-EBC133AD9A64}"/>
                </a:ext>
              </a:extLst>
            </p:cNvPr>
            <p:cNvSpPr txBox="1"/>
            <p:nvPr/>
          </p:nvSpPr>
          <p:spPr>
            <a:xfrm>
              <a:off x="3713987" y="4428144"/>
              <a:ext cx="457200" cy="274320"/>
            </a:xfrm>
            <a:prstGeom prst="rect">
              <a:avLst/>
            </a:prstGeom>
            <a:noFill/>
          </p:spPr>
          <p:txBody>
            <a:bodyPr wrap="square" lIns="0" tIns="0" rIns="0" bIns="0" anchor="ctr">
              <a:spAutoFit/>
            </a:bodyPr>
            <a:lstStyle/>
            <a:p>
              <a:pPr algn="ctr"/>
              <a:r>
                <a:rPr sz="1300" b="1" i="0">
                  <a:solidFill>
                    <a:srgbClr val="FFFFFF"/>
                  </a:solidFill>
                  <a:latin typeface="Calibri"/>
                </a:rPr>
                <a:t>44%</a:t>
              </a:r>
            </a:p>
          </p:txBody>
        </p:sp>
        <p:sp>
          <p:nvSpPr>
            <p:cNvPr id="42" name="TextBox 41">
              <a:extLst>
                <a:ext uri="{FF2B5EF4-FFF2-40B4-BE49-F238E27FC236}">
                  <a16:creationId xmlns:a16="http://schemas.microsoft.com/office/drawing/2014/main" id="{3E88EAF8-7C27-F04A-2A08-1B52F5673136}"/>
                </a:ext>
              </a:extLst>
            </p:cNvPr>
            <p:cNvSpPr txBox="1"/>
            <p:nvPr/>
          </p:nvSpPr>
          <p:spPr>
            <a:xfrm>
              <a:off x="371398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Q5</a:t>
              </a:r>
            </a:p>
          </p:txBody>
        </p:sp>
        <p:cxnSp>
          <p:nvCxnSpPr>
            <p:cNvPr id="43" name="Connector 41">
              <a:extLst>
                <a:ext uri="{FF2B5EF4-FFF2-40B4-BE49-F238E27FC236}">
                  <a16:creationId xmlns:a16="http://schemas.microsoft.com/office/drawing/2014/main" id="{FCA24130-335E-C059-7734-78615E1FD351}"/>
                </a:ext>
              </a:extLst>
            </p:cNvPr>
            <p:cNvCxnSpPr/>
            <p:nvPr/>
          </p:nvCxnSpPr>
          <p:spPr>
            <a:xfrm flipV="1">
              <a:off x="1412748" y="3802036"/>
              <a:ext cx="632460" cy="46232"/>
            </a:xfrm>
            <a:prstGeom prst="line">
              <a:avLst/>
            </a:prstGeom>
            <a:ln w="19050">
              <a:solidFill>
                <a:srgbClr val="002060"/>
              </a:solidFill>
              <a:prstDash val="dash"/>
            </a:ln>
          </p:spPr>
        </p:cxnSp>
        <p:cxnSp>
          <p:nvCxnSpPr>
            <p:cNvPr id="44" name="Connector 42">
              <a:extLst>
                <a:ext uri="{FF2B5EF4-FFF2-40B4-BE49-F238E27FC236}">
                  <a16:creationId xmlns:a16="http://schemas.microsoft.com/office/drawing/2014/main" id="{DB56B700-67B4-D123-B0EA-8B49850ED775}"/>
                </a:ext>
              </a:extLst>
            </p:cNvPr>
            <p:cNvCxnSpPr/>
            <p:nvPr/>
          </p:nvCxnSpPr>
          <p:spPr>
            <a:xfrm flipV="1">
              <a:off x="2045208" y="3662462"/>
              <a:ext cx="632459" cy="139574"/>
            </a:xfrm>
            <a:prstGeom prst="line">
              <a:avLst/>
            </a:prstGeom>
            <a:ln w="19050">
              <a:solidFill>
                <a:srgbClr val="002060"/>
              </a:solidFill>
              <a:prstDash val="dash"/>
            </a:ln>
          </p:spPr>
        </p:cxnSp>
        <p:cxnSp>
          <p:nvCxnSpPr>
            <p:cNvPr id="45" name="Connector 43">
              <a:extLst>
                <a:ext uri="{FF2B5EF4-FFF2-40B4-BE49-F238E27FC236}">
                  <a16:creationId xmlns:a16="http://schemas.microsoft.com/office/drawing/2014/main" id="{A1113375-9203-7FAC-7359-6F03041A5BF7}"/>
                </a:ext>
              </a:extLst>
            </p:cNvPr>
            <p:cNvCxnSpPr/>
            <p:nvPr/>
          </p:nvCxnSpPr>
          <p:spPr>
            <a:xfrm flipV="1">
              <a:off x="2677667" y="3583165"/>
              <a:ext cx="632461" cy="79297"/>
            </a:xfrm>
            <a:prstGeom prst="line">
              <a:avLst/>
            </a:prstGeom>
            <a:ln w="19050">
              <a:solidFill>
                <a:srgbClr val="002060"/>
              </a:solidFill>
              <a:prstDash val="dash"/>
            </a:ln>
          </p:spPr>
        </p:cxnSp>
        <p:cxnSp>
          <p:nvCxnSpPr>
            <p:cNvPr id="46" name="Connector 44">
              <a:extLst>
                <a:ext uri="{FF2B5EF4-FFF2-40B4-BE49-F238E27FC236}">
                  <a16:creationId xmlns:a16="http://schemas.microsoft.com/office/drawing/2014/main" id="{49BB8C67-D039-A7F4-2E0A-18D1AC0CB48F}"/>
                </a:ext>
              </a:extLst>
            </p:cNvPr>
            <p:cNvCxnSpPr/>
            <p:nvPr/>
          </p:nvCxnSpPr>
          <p:spPr>
            <a:xfrm flipV="1">
              <a:off x="3310128" y="3480460"/>
              <a:ext cx="632459" cy="102705"/>
            </a:xfrm>
            <a:prstGeom prst="line">
              <a:avLst/>
            </a:prstGeom>
            <a:ln w="19050">
              <a:solidFill>
                <a:srgbClr val="002060"/>
              </a:solidFill>
              <a:prstDash val="dash"/>
            </a:ln>
          </p:spPr>
        </p:cxnSp>
        <p:sp>
          <p:nvSpPr>
            <p:cNvPr id="47" name="Oval 46">
              <a:extLst>
                <a:ext uri="{FF2B5EF4-FFF2-40B4-BE49-F238E27FC236}">
                  <a16:creationId xmlns:a16="http://schemas.microsoft.com/office/drawing/2014/main" id="{3ED6FCE2-C121-B182-02A4-6BB3D666ECCF}"/>
                </a:ext>
              </a:extLst>
            </p:cNvPr>
            <p:cNvSpPr/>
            <p:nvPr/>
          </p:nvSpPr>
          <p:spPr>
            <a:xfrm>
              <a:off x="1371600" y="380712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48" name="Oval 47">
              <a:extLst>
                <a:ext uri="{FF2B5EF4-FFF2-40B4-BE49-F238E27FC236}">
                  <a16:creationId xmlns:a16="http://schemas.microsoft.com/office/drawing/2014/main" id="{4D2E6D2E-EC2B-92F8-4002-FC776B7531CF}"/>
                </a:ext>
              </a:extLst>
            </p:cNvPr>
            <p:cNvSpPr/>
            <p:nvPr/>
          </p:nvSpPr>
          <p:spPr>
            <a:xfrm>
              <a:off x="2004060" y="3760888"/>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49" name="Oval 48">
              <a:extLst>
                <a:ext uri="{FF2B5EF4-FFF2-40B4-BE49-F238E27FC236}">
                  <a16:creationId xmlns:a16="http://schemas.microsoft.com/office/drawing/2014/main" id="{15D23954-990C-0EB4-190A-FF3EC623EE2B}"/>
                </a:ext>
              </a:extLst>
            </p:cNvPr>
            <p:cNvSpPr/>
            <p:nvPr/>
          </p:nvSpPr>
          <p:spPr>
            <a:xfrm>
              <a:off x="2636520" y="3621314"/>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50" name="Oval 49">
              <a:extLst>
                <a:ext uri="{FF2B5EF4-FFF2-40B4-BE49-F238E27FC236}">
                  <a16:creationId xmlns:a16="http://schemas.microsoft.com/office/drawing/2014/main" id="{1D022D5F-783D-6936-E3BD-398333331E53}"/>
                </a:ext>
              </a:extLst>
            </p:cNvPr>
            <p:cNvSpPr/>
            <p:nvPr/>
          </p:nvSpPr>
          <p:spPr>
            <a:xfrm>
              <a:off x="3268980" y="3542017"/>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51" name="Oval 50">
              <a:extLst>
                <a:ext uri="{FF2B5EF4-FFF2-40B4-BE49-F238E27FC236}">
                  <a16:creationId xmlns:a16="http://schemas.microsoft.com/office/drawing/2014/main" id="{FED299B4-2951-8E97-D5D5-4F355FDCF78A}"/>
                </a:ext>
              </a:extLst>
            </p:cNvPr>
            <p:cNvSpPr/>
            <p:nvPr/>
          </p:nvSpPr>
          <p:spPr>
            <a:xfrm>
              <a:off x="3901440" y="3439312"/>
              <a:ext cx="82296" cy="82296"/>
            </a:xfrm>
            <a:prstGeom prst="ellipse">
              <a:avLst/>
            </a:prstGeom>
            <a:solidFill>
              <a:srgbClr val="002060"/>
            </a:solidFill>
            <a:ln w="15875">
              <a:solidFill>
                <a:srgbClr val="FFFFFF"/>
              </a:solidFill>
            </a:ln>
            <a:effectLst/>
          </p:spPr>
          <p:txBody>
            <a:bodyPr rtlCol="0" anchor="ctr"/>
            <a:lstStyle/>
            <a:p>
              <a:pPr algn="ctr"/>
              <a:endParaRPr/>
            </a:p>
          </p:txBody>
        </p:sp>
      </p:grpSp>
      <p:grpSp>
        <p:nvGrpSpPr>
          <p:cNvPr id="110" name="Group 109">
            <a:extLst>
              <a:ext uri="{FF2B5EF4-FFF2-40B4-BE49-F238E27FC236}">
                <a16:creationId xmlns:a16="http://schemas.microsoft.com/office/drawing/2014/main" id="{8349971C-6B45-71E1-A970-17821E2ADBE0}"/>
              </a:ext>
            </a:extLst>
          </p:cNvPr>
          <p:cNvGrpSpPr/>
          <p:nvPr/>
        </p:nvGrpSpPr>
        <p:grpSpPr>
          <a:xfrm>
            <a:off x="4922519" y="1769487"/>
            <a:ext cx="3813049" cy="3869313"/>
            <a:chOff x="4922519" y="1630362"/>
            <a:chExt cx="3813049" cy="3869313"/>
          </a:xfrm>
        </p:grpSpPr>
        <p:sp>
          <p:nvSpPr>
            <p:cNvPr id="52" name="TextBox 51">
              <a:extLst>
                <a:ext uri="{FF2B5EF4-FFF2-40B4-BE49-F238E27FC236}">
                  <a16:creationId xmlns:a16="http://schemas.microsoft.com/office/drawing/2014/main" id="{5D6085D0-19BE-7FCE-6E83-5155B05D575D}"/>
                </a:ext>
              </a:extLst>
            </p:cNvPr>
            <p:cNvSpPr txBox="1"/>
            <p:nvPr/>
          </p:nvSpPr>
          <p:spPr>
            <a:xfrm>
              <a:off x="4934712" y="1630362"/>
              <a:ext cx="2324404" cy="276999"/>
            </a:xfrm>
            <a:prstGeom prst="rect">
              <a:avLst/>
            </a:prstGeom>
            <a:noFill/>
          </p:spPr>
          <p:txBody>
            <a:bodyPr wrap="square" lIns="0" tIns="0" rIns="0" bIns="0" anchor="t">
              <a:spAutoFit/>
            </a:bodyPr>
            <a:lstStyle/>
            <a:p>
              <a:pPr algn="l"/>
              <a:r>
                <a:rPr b="1" i="0">
                  <a:solidFill>
                    <a:srgbClr val="002060"/>
                  </a:solidFill>
                  <a:latin typeface="Calibri"/>
                </a:rPr>
                <a:t>ACUTE EVENTS</a:t>
              </a:r>
            </a:p>
          </p:txBody>
        </p:sp>
        <p:sp>
          <p:nvSpPr>
            <p:cNvPr id="54" name="TextBox 53">
              <a:extLst>
                <a:ext uri="{FF2B5EF4-FFF2-40B4-BE49-F238E27FC236}">
                  <a16:creationId xmlns:a16="http://schemas.microsoft.com/office/drawing/2014/main" id="{092F4822-34C6-CF26-6443-2EAEB30FEBA2}"/>
                </a:ext>
              </a:extLst>
            </p:cNvPr>
            <p:cNvSpPr txBox="1"/>
            <p:nvPr/>
          </p:nvSpPr>
          <p:spPr>
            <a:xfrm>
              <a:off x="4986528" y="2015811"/>
              <a:ext cx="3749039" cy="219456"/>
            </a:xfrm>
            <a:prstGeom prst="rect">
              <a:avLst/>
            </a:prstGeom>
            <a:noFill/>
          </p:spPr>
          <p:txBody>
            <a:bodyPr wrap="square" lIns="0" tIns="0" rIns="0" bIns="0" anchor="t">
              <a:spAutoFit/>
            </a:bodyPr>
            <a:lstStyle/>
            <a:p>
              <a:pPr algn="l"/>
              <a:r>
                <a:rPr sz="1050" b="0" i="0">
                  <a:solidFill>
                    <a:srgbClr val="5A6A7D"/>
                  </a:solidFill>
                  <a:latin typeface="Calibri"/>
                </a:rPr>
                <a:t>inpatient  ·  1.86M admissions a year</a:t>
              </a:r>
            </a:p>
          </p:txBody>
        </p:sp>
        <p:cxnSp>
          <p:nvCxnSpPr>
            <p:cNvPr id="55" name="Connector 53">
              <a:extLst>
                <a:ext uri="{FF2B5EF4-FFF2-40B4-BE49-F238E27FC236}">
                  <a16:creationId xmlns:a16="http://schemas.microsoft.com/office/drawing/2014/main" id="{9DD0DAA2-5766-40E1-249B-304A3E0FF18B}"/>
                </a:ext>
              </a:extLst>
            </p:cNvPr>
            <p:cNvCxnSpPr/>
            <p:nvPr/>
          </p:nvCxnSpPr>
          <p:spPr>
            <a:xfrm>
              <a:off x="5398008" y="5216211"/>
              <a:ext cx="3337560" cy="0"/>
            </a:xfrm>
            <a:prstGeom prst="line">
              <a:avLst/>
            </a:prstGeom>
            <a:ln w="9525">
              <a:solidFill>
                <a:srgbClr val="DDE4EC"/>
              </a:solidFill>
            </a:ln>
          </p:spPr>
        </p:cxnSp>
        <p:sp>
          <p:nvSpPr>
            <p:cNvPr id="56" name="TextBox 55">
              <a:extLst>
                <a:ext uri="{FF2B5EF4-FFF2-40B4-BE49-F238E27FC236}">
                  <a16:creationId xmlns:a16="http://schemas.microsoft.com/office/drawing/2014/main" id="{7F4659A5-6EEF-E937-1877-829C5DBAE523}"/>
                </a:ext>
              </a:extLst>
            </p:cNvPr>
            <p:cNvSpPr txBox="1"/>
            <p:nvPr/>
          </p:nvSpPr>
          <p:spPr>
            <a:xfrm>
              <a:off x="4922519" y="5133915"/>
              <a:ext cx="420624" cy="182880"/>
            </a:xfrm>
            <a:prstGeom prst="rect">
              <a:avLst/>
            </a:prstGeom>
            <a:noFill/>
          </p:spPr>
          <p:txBody>
            <a:bodyPr wrap="square" lIns="0" tIns="0" rIns="0" bIns="0" anchor="t">
              <a:spAutoFit/>
            </a:bodyPr>
            <a:lstStyle/>
            <a:p>
              <a:pPr algn="r"/>
              <a:r>
                <a:rPr sz="950" b="0" i="0">
                  <a:solidFill>
                    <a:srgbClr val="5A6A7D"/>
                  </a:solidFill>
                  <a:latin typeface="Calibri"/>
                </a:rPr>
                <a:t>0%</a:t>
              </a:r>
            </a:p>
          </p:txBody>
        </p:sp>
        <p:cxnSp>
          <p:nvCxnSpPr>
            <p:cNvPr id="57" name="Connector 55">
              <a:extLst>
                <a:ext uri="{FF2B5EF4-FFF2-40B4-BE49-F238E27FC236}">
                  <a16:creationId xmlns:a16="http://schemas.microsoft.com/office/drawing/2014/main" id="{CEA363D7-9930-0F27-EDE7-2617713F8701}"/>
                </a:ext>
              </a:extLst>
            </p:cNvPr>
            <p:cNvCxnSpPr/>
            <p:nvPr/>
          </p:nvCxnSpPr>
          <p:spPr>
            <a:xfrm>
              <a:off x="5398008" y="4484691"/>
              <a:ext cx="3337560" cy="0"/>
            </a:xfrm>
            <a:prstGeom prst="line">
              <a:avLst/>
            </a:prstGeom>
            <a:ln w="9525">
              <a:solidFill>
                <a:srgbClr val="DDE4EC"/>
              </a:solidFill>
            </a:ln>
          </p:spPr>
        </p:cxnSp>
        <p:sp>
          <p:nvSpPr>
            <p:cNvPr id="58" name="TextBox 57">
              <a:extLst>
                <a:ext uri="{FF2B5EF4-FFF2-40B4-BE49-F238E27FC236}">
                  <a16:creationId xmlns:a16="http://schemas.microsoft.com/office/drawing/2014/main" id="{DAFAE55B-3626-0784-6260-16E4A33CD28B}"/>
                </a:ext>
              </a:extLst>
            </p:cNvPr>
            <p:cNvSpPr txBox="1"/>
            <p:nvPr/>
          </p:nvSpPr>
          <p:spPr>
            <a:xfrm>
              <a:off x="4922519" y="4402395"/>
              <a:ext cx="420624" cy="182880"/>
            </a:xfrm>
            <a:prstGeom prst="rect">
              <a:avLst/>
            </a:prstGeom>
            <a:noFill/>
          </p:spPr>
          <p:txBody>
            <a:bodyPr wrap="square" lIns="0" tIns="0" rIns="0" bIns="0" anchor="t">
              <a:spAutoFit/>
            </a:bodyPr>
            <a:lstStyle/>
            <a:p>
              <a:pPr algn="r"/>
              <a:r>
                <a:rPr sz="950" b="0" i="0">
                  <a:solidFill>
                    <a:srgbClr val="5A6A7D"/>
                  </a:solidFill>
                  <a:latin typeface="Calibri"/>
                </a:rPr>
                <a:t>25%</a:t>
              </a:r>
            </a:p>
          </p:txBody>
        </p:sp>
        <p:cxnSp>
          <p:nvCxnSpPr>
            <p:cNvPr id="59" name="Connector 57">
              <a:extLst>
                <a:ext uri="{FF2B5EF4-FFF2-40B4-BE49-F238E27FC236}">
                  <a16:creationId xmlns:a16="http://schemas.microsoft.com/office/drawing/2014/main" id="{955B7EC0-FBD8-C11B-D550-0019385A7676}"/>
                </a:ext>
              </a:extLst>
            </p:cNvPr>
            <p:cNvCxnSpPr/>
            <p:nvPr/>
          </p:nvCxnSpPr>
          <p:spPr>
            <a:xfrm>
              <a:off x="5398008" y="3753171"/>
              <a:ext cx="3337560" cy="0"/>
            </a:xfrm>
            <a:prstGeom prst="line">
              <a:avLst/>
            </a:prstGeom>
            <a:ln w="9525">
              <a:solidFill>
                <a:srgbClr val="DDE4EC"/>
              </a:solidFill>
            </a:ln>
          </p:spPr>
        </p:cxnSp>
        <p:sp>
          <p:nvSpPr>
            <p:cNvPr id="60" name="TextBox 59">
              <a:extLst>
                <a:ext uri="{FF2B5EF4-FFF2-40B4-BE49-F238E27FC236}">
                  <a16:creationId xmlns:a16="http://schemas.microsoft.com/office/drawing/2014/main" id="{C95CE3D7-1738-2651-6718-3C378464890A}"/>
                </a:ext>
              </a:extLst>
            </p:cNvPr>
            <p:cNvSpPr txBox="1"/>
            <p:nvPr/>
          </p:nvSpPr>
          <p:spPr>
            <a:xfrm>
              <a:off x="4922519" y="3670875"/>
              <a:ext cx="420624" cy="182880"/>
            </a:xfrm>
            <a:prstGeom prst="rect">
              <a:avLst/>
            </a:prstGeom>
            <a:noFill/>
          </p:spPr>
          <p:txBody>
            <a:bodyPr wrap="square" lIns="0" tIns="0" rIns="0" bIns="0" anchor="t">
              <a:spAutoFit/>
            </a:bodyPr>
            <a:lstStyle/>
            <a:p>
              <a:pPr algn="r"/>
              <a:r>
                <a:rPr sz="950" b="0" i="0">
                  <a:solidFill>
                    <a:srgbClr val="5A6A7D"/>
                  </a:solidFill>
                  <a:latin typeface="Calibri"/>
                </a:rPr>
                <a:t>50%</a:t>
              </a:r>
            </a:p>
          </p:txBody>
        </p:sp>
        <p:cxnSp>
          <p:nvCxnSpPr>
            <p:cNvPr id="61" name="Connector 59">
              <a:extLst>
                <a:ext uri="{FF2B5EF4-FFF2-40B4-BE49-F238E27FC236}">
                  <a16:creationId xmlns:a16="http://schemas.microsoft.com/office/drawing/2014/main" id="{F52DE0B0-D58B-732A-7B81-03D83218BBBF}"/>
                </a:ext>
              </a:extLst>
            </p:cNvPr>
            <p:cNvCxnSpPr/>
            <p:nvPr/>
          </p:nvCxnSpPr>
          <p:spPr>
            <a:xfrm>
              <a:off x="5398008" y="3021651"/>
              <a:ext cx="3337560" cy="0"/>
            </a:xfrm>
            <a:prstGeom prst="line">
              <a:avLst/>
            </a:prstGeom>
            <a:ln w="9525">
              <a:solidFill>
                <a:srgbClr val="DDE4EC"/>
              </a:solidFill>
            </a:ln>
          </p:spPr>
        </p:cxnSp>
        <p:sp>
          <p:nvSpPr>
            <p:cNvPr id="62" name="TextBox 61">
              <a:extLst>
                <a:ext uri="{FF2B5EF4-FFF2-40B4-BE49-F238E27FC236}">
                  <a16:creationId xmlns:a16="http://schemas.microsoft.com/office/drawing/2014/main" id="{37672583-B93E-552A-566B-2BA35E04142E}"/>
                </a:ext>
              </a:extLst>
            </p:cNvPr>
            <p:cNvSpPr txBox="1"/>
            <p:nvPr/>
          </p:nvSpPr>
          <p:spPr>
            <a:xfrm>
              <a:off x="4922519" y="2939355"/>
              <a:ext cx="420624" cy="182880"/>
            </a:xfrm>
            <a:prstGeom prst="rect">
              <a:avLst/>
            </a:prstGeom>
            <a:noFill/>
          </p:spPr>
          <p:txBody>
            <a:bodyPr wrap="square" lIns="0" tIns="0" rIns="0" bIns="0" anchor="t">
              <a:spAutoFit/>
            </a:bodyPr>
            <a:lstStyle/>
            <a:p>
              <a:pPr algn="r"/>
              <a:r>
                <a:rPr sz="950" b="0" i="0">
                  <a:solidFill>
                    <a:srgbClr val="5A6A7D"/>
                  </a:solidFill>
                  <a:latin typeface="Calibri"/>
                </a:rPr>
                <a:t>75%</a:t>
              </a:r>
            </a:p>
          </p:txBody>
        </p:sp>
        <p:cxnSp>
          <p:nvCxnSpPr>
            <p:cNvPr id="63" name="Connector 61">
              <a:extLst>
                <a:ext uri="{FF2B5EF4-FFF2-40B4-BE49-F238E27FC236}">
                  <a16:creationId xmlns:a16="http://schemas.microsoft.com/office/drawing/2014/main" id="{9BAFB72E-FC41-5B31-C119-DFFA3016D866}"/>
                </a:ext>
              </a:extLst>
            </p:cNvPr>
            <p:cNvCxnSpPr/>
            <p:nvPr/>
          </p:nvCxnSpPr>
          <p:spPr>
            <a:xfrm>
              <a:off x="5398008" y="2290131"/>
              <a:ext cx="3337560" cy="0"/>
            </a:xfrm>
            <a:prstGeom prst="line">
              <a:avLst/>
            </a:prstGeom>
            <a:ln w="9525">
              <a:solidFill>
                <a:srgbClr val="DDE4EC"/>
              </a:solidFill>
            </a:ln>
          </p:spPr>
        </p:cxnSp>
        <p:sp>
          <p:nvSpPr>
            <p:cNvPr id="64" name="TextBox 63">
              <a:extLst>
                <a:ext uri="{FF2B5EF4-FFF2-40B4-BE49-F238E27FC236}">
                  <a16:creationId xmlns:a16="http://schemas.microsoft.com/office/drawing/2014/main" id="{BFA17C07-D685-561F-4C1D-98C662ED1816}"/>
                </a:ext>
              </a:extLst>
            </p:cNvPr>
            <p:cNvSpPr txBox="1"/>
            <p:nvPr/>
          </p:nvSpPr>
          <p:spPr>
            <a:xfrm>
              <a:off x="4922519" y="2207835"/>
              <a:ext cx="420624" cy="182880"/>
            </a:xfrm>
            <a:prstGeom prst="rect">
              <a:avLst/>
            </a:prstGeom>
            <a:noFill/>
          </p:spPr>
          <p:txBody>
            <a:bodyPr wrap="square" lIns="0" tIns="0" rIns="0" bIns="0" anchor="t">
              <a:spAutoFit/>
            </a:bodyPr>
            <a:lstStyle/>
            <a:p>
              <a:pPr algn="r"/>
              <a:r>
                <a:rPr sz="950" b="0" i="0">
                  <a:solidFill>
                    <a:srgbClr val="5A6A7D"/>
                  </a:solidFill>
                  <a:latin typeface="Calibri"/>
                </a:rPr>
                <a:t>100%</a:t>
              </a:r>
            </a:p>
          </p:txBody>
        </p:sp>
        <p:sp>
          <p:nvSpPr>
            <p:cNvPr id="65" name="Rectangle 64">
              <a:extLst>
                <a:ext uri="{FF2B5EF4-FFF2-40B4-BE49-F238E27FC236}">
                  <a16:creationId xmlns:a16="http://schemas.microsoft.com/office/drawing/2014/main" id="{1DE98CBD-E49C-4DCF-E5AC-BBABC9AEEC82}"/>
                </a:ext>
              </a:extLst>
            </p:cNvPr>
            <p:cNvSpPr/>
            <p:nvPr/>
          </p:nvSpPr>
          <p:spPr>
            <a:xfrm>
              <a:off x="5573268" y="3662845"/>
              <a:ext cx="457200" cy="1553365"/>
            </a:xfrm>
            <a:prstGeom prst="rect">
              <a:avLst/>
            </a:prstGeom>
            <a:solidFill>
              <a:srgbClr val="0F8C6B"/>
            </a:solidFill>
            <a:ln>
              <a:noFill/>
            </a:ln>
            <a:effectLst/>
          </p:spPr>
          <p:txBody>
            <a:bodyPr rtlCol="0" anchor="ctr"/>
            <a:lstStyle/>
            <a:p>
              <a:endParaRPr/>
            </a:p>
          </p:txBody>
        </p:sp>
        <p:sp>
          <p:nvSpPr>
            <p:cNvPr id="68" name="TextBox 67">
              <a:extLst>
                <a:ext uri="{FF2B5EF4-FFF2-40B4-BE49-F238E27FC236}">
                  <a16:creationId xmlns:a16="http://schemas.microsoft.com/office/drawing/2014/main" id="{1CA16501-4F4D-CF05-A395-183CCF671023}"/>
                </a:ext>
              </a:extLst>
            </p:cNvPr>
            <p:cNvSpPr txBox="1"/>
            <p:nvPr/>
          </p:nvSpPr>
          <p:spPr>
            <a:xfrm>
              <a:off x="5573268" y="4302368"/>
              <a:ext cx="457200" cy="274320"/>
            </a:xfrm>
            <a:prstGeom prst="rect">
              <a:avLst/>
            </a:prstGeom>
            <a:noFill/>
          </p:spPr>
          <p:txBody>
            <a:bodyPr wrap="square" lIns="0" tIns="0" rIns="0" bIns="0" anchor="ctr">
              <a:spAutoFit/>
            </a:bodyPr>
            <a:lstStyle/>
            <a:p>
              <a:pPr algn="ctr"/>
              <a:r>
                <a:rPr sz="1300" b="1" i="0">
                  <a:solidFill>
                    <a:srgbClr val="FFFFFF"/>
                  </a:solidFill>
                  <a:latin typeface="Calibri"/>
                </a:rPr>
                <a:t>53%</a:t>
              </a:r>
            </a:p>
          </p:txBody>
        </p:sp>
        <p:sp>
          <p:nvSpPr>
            <p:cNvPr id="69" name="TextBox 68">
              <a:extLst>
                <a:ext uri="{FF2B5EF4-FFF2-40B4-BE49-F238E27FC236}">
                  <a16:creationId xmlns:a16="http://schemas.microsoft.com/office/drawing/2014/main" id="{02D28BA4-A6AE-CB95-FE2D-19ABA0D850E6}"/>
                </a:ext>
              </a:extLst>
            </p:cNvPr>
            <p:cNvSpPr txBox="1"/>
            <p:nvPr/>
          </p:nvSpPr>
          <p:spPr>
            <a:xfrm>
              <a:off x="557326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Q1</a:t>
              </a:r>
            </a:p>
          </p:txBody>
        </p:sp>
        <p:sp>
          <p:nvSpPr>
            <p:cNvPr id="70" name="Rectangle 69">
              <a:extLst>
                <a:ext uri="{FF2B5EF4-FFF2-40B4-BE49-F238E27FC236}">
                  <a16:creationId xmlns:a16="http://schemas.microsoft.com/office/drawing/2014/main" id="{8CC8848D-D16C-2420-63DF-99C793857A80}"/>
                </a:ext>
              </a:extLst>
            </p:cNvPr>
            <p:cNvSpPr/>
            <p:nvPr/>
          </p:nvSpPr>
          <p:spPr>
            <a:xfrm>
              <a:off x="6205727" y="3605680"/>
              <a:ext cx="457200" cy="1610530"/>
            </a:xfrm>
            <a:prstGeom prst="rect">
              <a:avLst/>
            </a:prstGeom>
            <a:solidFill>
              <a:srgbClr val="0F8C6B"/>
            </a:solidFill>
            <a:ln>
              <a:noFill/>
            </a:ln>
            <a:effectLst/>
          </p:spPr>
          <p:txBody>
            <a:bodyPr rtlCol="0" anchor="ctr"/>
            <a:lstStyle/>
            <a:p>
              <a:endParaRPr/>
            </a:p>
          </p:txBody>
        </p:sp>
        <p:sp>
          <p:nvSpPr>
            <p:cNvPr id="73" name="TextBox 72">
              <a:extLst>
                <a:ext uri="{FF2B5EF4-FFF2-40B4-BE49-F238E27FC236}">
                  <a16:creationId xmlns:a16="http://schemas.microsoft.com/office/drawing/2014/main" id="{8B348BD7-FBCF-A466-526F-8C71FE1F913D}"/>
                </a:ext>
              </a:extLst>
            </p:cNvPr>
            <p:cNvSpPr txBox="1"/>
            <p:nvPr/>
          </p:nvSpPr>
          <p:spPr>
            <a:xfrm>
              <a:off x="6205727" y="4273785"/>
              <a:ext cx="457200" cy="274320"/>
            </a:xfrm>
            <a:prstGeom prst="rect">
              <a:avLst/>
            </a:prstGeom>
            <a:noFill/>
          </p:spPr>
          <p:txBody>
            <a:bodyPr wrap="square" lIns="0" tIns="0" rIns="0" bIns="0" anchor="ctr">
              <a:spAutoFit/>
            </a:bodyPr>
            <a:lstStyle/>
            <a:p>
              <a:pPr algn="ctr"/>
              <a:r>
                <a:rPr sz="1300" b="1" i="0">
                  <a:solidFill>
                    <a:srgbClr val="FFFFFF"/>
                  </a:solidFill>
                  <a:latin typeface="Calibri"/>
                </a:rPr>
                <a:t>55%</a:t>
              </a:r>
            </a:p>
          </p:txBody>
        </p:sp>
        <p:sp>
          <p:nvSpPr>
            <p:cNvPr id="74" name="TextBox 73">
              <a:extLst>
                <a:ext uri="{FF2B5EF4-FFF2-40B4-BE49-F238E27FC236}">
                  <a16:creationId xmlns:a16="http://schemas.microsoft.com/office/drawing/2014/main" id="{B6198BA3-5047-395D-9734-142A3C51D041}"/>
                </a:ext>
              </a:extLst>
            </p:cNvPr>
            <p:cNvSpPr txBox="1"/>
            <p:nvPr/>
          </p:nvSpPr>
          <p:spPr>
            <a:xfrm>
              <a:off x="620572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Q2</a:t>
              </a:r>
            </a:p>
          </p:txBody>
        </p:sp>
        <p:sp>
          <p:nvSpPr>
            <p:cNvPr id="75" name="Rectangle 74">
              <a:extLst>
                <a:ext uri="{FF2B5EF4-FFF2-40B4-BE49-F238E27FC236}">
                  <a16:creationId xmlns:a16="http://schemas.microsoft.com/office/drawing/2014/main" id="{C84AC68B-F1C0-E1F4-982C-DA07A23F8454}"/>
                </a:ext>
              </a:extLst>
            </p:cNvPr>
            <p:cNvSpPr/>
            <p:nvPr/>
          </p:nvSpPr>
          <p:spPr>
            <a:xfrm>
              <a:off x="6838187" y="3638346"/>
              <a:ext cx="457200" cy="1577864"/>
            </a:xfrm>
            <a:prstGeom prst="rect">
              <a:avLst/>
            </a:prstGeom>
            <a:solidFill>
              <a:srgbClr val="0F8C6B"/>
            </a:solidFill>
            <a:ln>
              <a:noFill/>
            </a:ln>
            <a:effectLst/>
          </p:spPr>
          <p:txBody>
            <a:bodyPr rtlCol="0" anchor="ctr"/>
            <a:lstStyle/>
            <a:p>
              <a:endParaRPr/>
            </a:p>
          </p:txBody>
        </p:sp>
        <p:sp>
          <p:nvSpPr>
            <p:cNvPr id="78" name="TextBox 77">
              <a:extLst>
                <a:ext uri="{FF2B5EF4-FFF2-40B4-BE49-F238E27FC236}">
                  <a16:creationId xmlns:a16="http://schemas.microsoft.com/office/drawing/2014/main" id="{14172711-7B61-9723-3CC5-40E9016B9414}"/>
                </a:ext>
              </a:extLst>
            </p:cNvPr>
            <p:cNvSpPr txBox="1"/>
            <p:nvPr/>
          </p:nvSpPr>
          <p:spPr>
            <a:xfrm>
              <a:off x="6838187" y="4290118"/>
              <a:ext cx="457200" cy="274320"/>
            </a:xfrm>
            <a:prstGeom prst="rect">
              <a:avLst/>
            </a:prstGeom>
            <a:noFill/>
          </p:spPr>
          <p:txBody>
            <a:bodyPr wrap="square" lIns="0" tIns="0" rIns="0" bIns="0" anchor="ctr">
              <a:spAutoFit/>
            </a:bodyPr>
            <a:lstStyle/>
            <a:p>
              <a:pPr algn="ctr"/>
              <a:r>
                <a:rPr sz="1300" b="1" i="0">
                  <a:solidFill>
                    <a:srgbClr val="FFFFFF"/>
                  </a:solidFill>
                  <a:latin typeface="Calibri"/>
                </a:rPr>
                <a:t>54%</a:t>
              </a:r>
            </a:p>
          </p:txBody>
        </p:sp>
        <p:sp>
          <p:nvSpPr>
            <p:cNvPr id="79" name="TextBox 78">
              <a:extLst>
                <a:ext uri="{FF2B5EF4-FFF2-40B4-BE49-F238E27FC236}">
                  <a16:creationId xmlns:a16="http://schemas.microsoft.com/office/drawing/2014/main" id="{CD64CE6A-8359-368A-CEA0-6E9D9F436B0D}"/>
                </a:ext>
              </a:extLst>
            </p:cNvPr>
            <p:cNvSpPr txBox="1"/>
            <p:nvPr/>
          </p:nvSpPr>
          <p:spPr>
            <a:xfrm>
              <a:off x="6838187"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Q3</a:t>
              </a:r>
            </a:p>
          </p:txBody>
        </p:sp>
        <p:sp>
          <p:nvSpPr>
            <p:cNvPr id="80" name="Rectangle 79">
              <a:extLst>
                <a:ext uri="{FF2B5EF4-FFF2-40B4-BE49-F238E27FC236}">
                  <a16:creationId xmlns:a16="http://schemas.microsoft.com/office/drawing/2014/main" id="{9CF10B73-818D-9E85-85F1-3E362E43AFF7}"/>
                </a:ext>
              </a:extLst>
            </p:cNvPr>
            <p:cNvSpPr/>
            <p:nvPr/>
          </p:nvSpPr>
          <p:spPr>
            <a:xfrm>
              <a:off x="7470648" y="3623569"/>
              <a:ext cx="457200" cy="1592641"/>
            </a:xfrm>
            <a:prstGeom prst="rect">
              <a:avLst/>
            </a:prstGeom>
            <a:solidFill>
              <a:srgbClr val="0F8C6B"/>
            </a:solidFill>
            <a:ln>
              <a:noFill/>
            </a:ln>
            <a:effectLst/>
          </p:spPr>
          <p:txBody>
            <a:bodyPr rtlCol="0" anchor="ctr"/>
            <a:lstStyle/>
            <a:p>
              <a:endParaRPr/>
            </a:p>
          </p:txBody>
        </p:sp>
        <p:sp>
          <p:nvSpPr>
            <p:cNvPr id="83" name="TextBox 82">
              <a:extLst>
                <a:ext uri="{FF2B5EF4-FFF2-40B4-BE49-F238E27FC236}">
                  <a16:creationId xmlns:a16="http://schemas.microsoft.com/office/drawing/2014/main" id="{C269F598-68E5-3EC1-6338-4FAB389A8DC4}"/>
                </a:ext>
              </a:extLst>
            </p:cNvPr>
            <p:cNvSpPr txBox="1"/>
            <p:nvPr/>
          </p:nvSpPr>
          <p:spPr>
            <a:xfrm>
              <a:off x="7470648" y="4282730"/>
              <a:ext cx="457200" cy="274320"/>
            </a:xfrm>
            <a:prstGeom prst="rect">
              <a:avLst/>
            </a:prstGeom>
            <a:noFill/>
          </p:spPr>
          <p:txBody>
            <a:bodyPr wrap="square" lIns="0" tIns="0" rIns="0" bIns="0" anchor="ctr">
              <a:spAutoFit/>
            </a:bodyPr>
            <a:lstStyle/>
            <a:p>
              <a:pPr algn="ctr"/>
              <a:r>
                <a:rPr sz="1300" b="1" i="0">
                  <a:solidFill>
                    <a:srgbClr val="FFFFFF"/>
                  </a:solidFill>
                  <a:latin typeface="Calibri"/>
                </a:rPr>
                <a:t>54%</a:t>
              </a:r>
            </a:p>
          </p:txBody>
        </p:sp>
        <p:sp>
          <p:nvSpPr>
            <p:cNvPr id="84" name="TextBox 83">
              <a:extLst>
                <a:ext uri="{FF2B5EF4-FFF2-40B4-BE49-F238E27FC236}">
                  <a16:creationId xmlns:a16="http://schemas.microsoft.com/office/drawing/2014/main" id="{8A2BCBE8-4081-563C-829A-EF23E19488AE}"/>
                </a:ext>
              </a:extLst>
            </p:cNvPr>
            <p:cNvSpPr txBox="1"/>
            <p:nvPr/>
          </p:nvSpPr>
          <p:spPr>
            <a:xfrm>
              <a:off x="747064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Q4</a:t>
              </a:r>
            </a:p>
          </p:txBody>
        </p:sp>
        <p:sp>
          <p:nvSpPr>
            <p:cNvPr id="85" name="Rectangle 84">
              <a:extLst>
                <a:ext uri="{FF2B5EF4-FFF2-40B4-BE49-F238E27FC236}">
                  <a16:creationId xmlns:a16="http://schemas.microsoft.com/office/drawing/2014/main" id="{845D9634-472F-A7D3-6C35-420B1EA172B2}"/>
                </a:ext>
              </a:extLst>
            </p:cNvPr>
            <p:cNvSpPr/>
            <p:nvPr/>
          </p:nvSpPr>
          <p:spPr>
            <a:xfrm>
              <a:off x="8103108" y="3696483"/>
              <a:ext cx="457200" cy="1519727"/>
            </a:xfrm>
            <a:prstGeom prst="rect">
              <a:avLst/>
            </a:prstGeom>
            <a:solidFill>
              <a:srgbClr val="0F8C6B"/>
            </a:solidFill>
            <a:ln>
              <a:noFill/>
            </a:ln>
            <a:effectLst/>
          </p:spPr>
          <p:txBody>
            <a:bodyPr rtlCol="0" anchor="ctr"/>
            <a:lstStyle/>
            <a:p>
              <a:endParaRPr/>
            </a:p>
          </p:txBody>
        </p:sp>
        <p:sp>
          <p:nvSpPr>
            <p:cNvPr id="88" name="TextBox 87">
              <a:extLst>
                <a:ext uri="{FF2B5EF4-FFF2-40B4-BE49-F238E27FC236}">
                  <a16:creationId xmlns:a16="http://schemas.microsoft.com/office/drawing/2014/main" id="{FEEB1D1E-0F39-6ED4-E5D5-877501386E7D}"/>
                </a:ext>
              </a:extLst>
            </p:cNvPr>
            <p:cNvSpPr txBox="1"/>
            <p:nvPr/>
          </p:nvSpPr>
          <p:spPr>
            <a:xfrm>
              <a:off x="8103108" y="4319187"/>
              <a:ext cx="457200" cy="274320"/>
            </a:xfrm>
            <a:prstGeom prst="rect">
              <a:avLst/>
            </a:prstGeom>
            <a:noFill/>
          </p:spPr>
          <p:txBody>
            <a:bodyPr wrap="square" lIns="0" tIns="0" rIns="0" bIns="0" anchor="ctr">
              <a:spAutoFit/>
            </a:bodyPr>
            <a:lstStyle/>
            <a:p>
              <a:pPr algn="ctr"/>
              <a:r>
                <a:rPr sz="1300" b="1" i="0">
                  <a:solidFill>
                    <a:srgbClr val="FFFFFF"/>
                  </a:solidFill>
                  <a:latin typeface="Calibri"/>
                </a:rPr>
                <a:t>52%</a:t>
              </a:r>
            </a:p>
          </p:txBody>
        </p:sp>
        <p:sp>
          <p:nvSpPr>
            <p:cNvPr id="89" name="TextBox 88">
              <a:extLst>
                <a:ext uri="{FF2B5EF4-FFF2-40B4-BE49-F238E27FC236}">
                  <a16:creationId xmlns:a16="http://schemas.microsoft.com/office/drawing/2014/main" id="{901E282E-68D3-8411-65E3-4B52FFB2EE09}"/>
                </a:ext>
              </a:extLst>
            </p:cNvPr>
            <p:cNvSpPr txBox="1"/>
            <p:nvPr/>
          </p:nvSpPr>
          <p:spPr>
            <a:xfrm>
              <a:off x="8103108" y="5280219"/>
              <a:ext cx="457200" cy="219456"/>
            </a:xfrm>
            <a:prstGeom prst="rect">
              <a:avLst/>
            </a:prstGeom>
            <a:noFill/>
          </p:spPr>
          <p:txBody>
            <a:bodyPr wrap="square" lIns="0" tIns="0" rIns="0" bIns="0" anchor="t">
              <a:spAutoFit/>
            </a:bodyPr>
            <a:lstStyle/>
            <a:p>
              <a:pPr algn="ctr"/>
              <a:r>
                <a:rPr sz="1150" b="0" i="0">
                  <a:solidFill>
                    <a:srgbClr val="16202B"/>
                  </a:solidFill>
                  <a:latin typeface="Calibri"/>
                </a:rPr>
                <a:t>Q5</a:t>
              </a:r>
            </a:p>
          </p:txBody>
        </p:sp>
        <p:cxnSp>
          <p:nvCxnSpPr>
            <p:cNvPr id="90" name="Connector 88">
              <a:extLst>
                <a:ext uri="{FF2B5EF4-FFF2-40B4-BE49-F238E27FC236}">
                  <a16:creationId xmlns:a16="http://schemas.microsoft.com/office/drawing/2014/main" id="{A0D4BFB4-FC23-92E3-EC9C-E27C8ED7F0E4}"/>
                </a:ext>
              </a:extLst>
            </p:cNvPr>
            <p:cNvCxnSpPr/>
            <p:nvPr/>
          </p:nvCxnSpPr>
          <p:spPr>
            <a:xfrm flipV="1">
              <a:off x="5801868" y="2792538"/>
              <a:ext cx="632459" cy="86027"/>
            </a:xfrm>
            <a:prstGeom prst="line">
              <a:avLst/>
            </a:prstGeom>
            <a:ln w="19050">
              <a:solidFill>
                <a:srgbClr val="002060"/>
              </a:solidFill>
              <a:prstDash val="dash"/>
            </a:ln>
          </p:spPr>
        </p:cxnSp>
        <p:cxnSp>
          <p:nvCxnSpPr>
            <p:cNvPr id="91" name="Connector 89">
              <a:extLst>
                <a:ext uri="{FF2B5EF4-FFF2-40B4-BE49-F238E27FC236}">
                  <a16:creationId xmlns:a16="http://schemas.microsoft.com/office/drawing/2014/main" id="{85460500-8C97-F796-673E-B3926EC4E623}"/>
                </a:ext>
              </a:extLst>
            </p:cNvPr>
            <p:cNvCxnSpPr/>
            <p:nvPr/>
          </p:nvCxnSpPr>
          <p:spPr>
            <a:xfrm>
              <a:off x="6434327" y="2792538"/>
              <a:ext cx="632460" cy="49159"/>
            </a:xfrm>
            <a:prstGeom prst="line">
              <a:avLst/>
            </a:prstGeom>
            <a:ln w="19050">
              <a:solidFill>
                <a:srgbClr val="002060"/>
              </a:solidFill>
              <a:prstDash val="dash"/>
            </a:ln>
          </p:spPr>
        </p:cxnSp>
        <p:cxnSp>
          <p:nvCxnSpPr>
            <p:cNvPr id="92" name="Connector 90">
              <a:extLst>
                <a:ext uri="{FF2B5EF4-FFF2-40B4-BE49-F238E27FC236}">
                  <a16:creationId xmlns:a16="http://schemas.microsoft.com/office/drawing/2014/main" id="{BADE7374-3CBC-8758-26DB-0A1D38E4347F}"/>
                </a:ext>
              </a:extLst>
            </p:cNvPr>
            <p:cNvCxnSpPr/>
            <p:nvPr/>
          </p:nvCxnSpPr>
          <p:spPr>
            <a:xfrm flipV="1">
              <a:off x="7066787" y="2819458"/>
              <a:ext cx="632461" cy="22239"/>
            </a:xfrm>
            <a:prstGeom prst="line">
              <a:avLst/>
            </a:prstGeom>
            <a:ln w="19050">
              <a:solidFill>
                <a:srgbClr val="002060"/>
              </a:solidFill>
              <a:prstDash val="dash"/>
            </a:ln>
          </p:spPr>
        </p:cxnSp>
        <p:cxnSp>
          <p:nvCxnSpPr>
            <p:cNvPr id="93" name="Connector 91">
              <a:extLst>
                <a:ext uri="{FF2B5EF4-FFF2-40B4-BE49-F238E27FC236}">
                  <a16:creationId xmlns:a16="http://schemas.microsoft.com/office/drawing/2014/main" id="{56234C15-087D-088C-8A56-CE75909D7FE8}"/>
                </a:ext>
              </a:extLst>
            </p:cNvPr>
            <p:cNvCxnSpPr/>
            <p:nvPr/>
          </p:nvCxnSpPr>
          <p:spPr>
            <a:xfrm>
              <a:off x="7699248" y="2819458"/>
              <a:ext cx="632460" cy="109728"/>
            </a:xfrm>
            <a:prstGeom prst="line">
              <a:avLst/>
            </a:prstGeom>
            <a:ln w="19050">
              <a:solidFill>
                <a:srgbClr val="002060"/>
              </a:solidFill>
              <a:prstDash val="dash"/>
            </a:ln>
          </p:spPr>
        </p:cxnSp>
        <p:sp>
          <p:nvSpPr>
            <p:cNvPr id="94" name="Oval 93">
              <a:extLst>
                <a:ext uri="{FF2B5EF4-FFF2-40B4-BE49-F238E27FC236}">
                  <a16:creationId xmlns:a16="http://schemas.microsoft.com/office/drawing/2014/main" id="{249CC127-C5A4-571E-9ED6-0FCA17550FAB}"/>
                </a:ext>
              </a:extLst>
            </p:cNvPr>
            <p:cNvSpPr/>
            <p:nvPr/>
          </p:nvSpPr>
          <p:spPr>
            <a:xfrm>
              <a:off x="5760720" y="2837417"/>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5" name="Oval 94">
              <a:extLst>
                <a:ext uri="{FF2B5EF4-FFF2-40B4-BE49-F238E27FC236}">
                  <a16:creationId xmlns:a16="http://schemas.microsoft.com/office/drawing/2014/main" id="{7BFC762B-91E8-FD39-5750-027013087FB2}"/>
                </a:ext>
              </a:extLst>
            </p:cNvPr>
            <p:cNvSpPr/>
            <p:nvPr/>
          </p:nvSpPr>
          <p:spPr>
            <a:xfrm>
              <a:off x="6393179" y="275139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6" name="Oval 95">
              <a:extLst>
                <a:ext uri="{FF2B5EF4-FFF2-40B4-BE49-F238E27FC236}">
                  <a16:creationId xmlns:a16="http://schemas.microsoft.com/office/drawing/2014/main" id="{39E9DA65-277B-00A8-2F28-17EFA096B56E}"/>
                </a:ext>
              </a:extLst>
            </p:cNvPr>
            <p:cNvSpPr/>
            <p:nvPr/>
          </p:nvSpPr>
          <p:spPr>
            <a:xfrm>
              <a:off x="7025639" y="2800549"/>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7" name="Oval 96">
              <a:extLst>
                <a:ext uri="{FF2B5EF4-FFF2-40B4-BE49-F238E27FC236}">
                  <a16:creationId xmlns:a16="http://schemas.microsoft.com/office/drawing/2014/main" id="{41A81204-52C0-A54F-6922-3804A36D10ED}"/>
                </a:ext>
              </a:extLst>
            </p:cNvPr>
            <p:cNvSpPr/>
            <p:nvPr/>
          </p:nvSpPr>
          <p:spPr>
            <a:xfrm>
              <a:off x="7658100" y="2778310"/>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98" name="Oval 97">
              <a:extLst>
                <a:ext uri="{FF2B5EF4-FFF2-40B4-BE49-F238E27FC236}">
                  <a16:creationId xmlns:a16="http://schemas.microsoft.com/office/drawing/2014/main" id="{07D0B2AB-18A3-7C09-CF50-BAD4A77B2463}"/>
                </a:ext>
              </a:extLst>
            </p:cNvPr>
            <p:cNvSpPr/>
            <p:nvPr/>
          </p:nvSpPr>
          <p:spPr>
            <a:xfrm>
              <a:off x="8290560" y="2888038"/>
              <a:ext cx="82296" cy="82296"/>
            </a:xfrm>
            <a:prstGeom prst="ellipse">
              <a:avLst/>
            </a:prstGeom>
            <a:solidFill>
              <a:srgbClr val="002060"/>
            </a:solidFill>
            <a:ln w="15875">
              <a:solidFill>
                <a:srgbClr val="FFFFFF"/>
              </a:solidFill>
            </a:ln>
            <a:effectLst/>
          </p:spPr>
          <p:txBody>
            <a:bodyPr rtlCol="0" anchor="ctr"/>
            <a:lstStyle/>
            <a:p>
              <a:pPr algn="ctr"/>
              <a:endParaRPr/>
            </a:p>
          </p:txBody>
        </p:sp>
      </p:grpSp>
      <p:grpSp>
        <p:nvGrpSpPr>
          <p:cNvPr id="109" name="Group 108">
            <a:extLst>
              <a:ext uri="{FF2B5EF4-FFF2-40B4-BE49-F238E27FC236}">
                <a16:creationId xmlns:a16="http://schemas.microsoft.com/office/drawing/2014/main" id="{C26B6477-4D27-9963-5FBB-76836B461FE5}"/>
              </a:ext>
            </a:extLst>
          </p:cNvPr>
          <p:cNvGrpSpPr/>
          <p:nvPr/>
        </p:nvGrpSpPr>
        <p:grpSpPr>
          <a:xfrm>
            <a:off x="584265" y="5947729"/>
            <a:ext cx="8193975" cy="546892"/>
            <a:chOff x="597408" y="6032341"/>
            <a:chExt cx="8193975" cy="546892"/>
          </a:xfrm>
        </p:grpSpPr>
        <p:sp>
          <p:nvSpPr>
            <p:cNvPr id="99" name="Rectangle 98">
              <a:extLst>
                <a:ext uri="{FF2B5EF4-FFF2-40B4-BE49-F238E27FC236}">
                  <a16:creationId xmlns:a16="http://schemas.microsoft.com/office/drawing/2014/main" id="{E9DFB7B5-31A3-ECC0-F013-6724864BE791}"/>
                </a:ext>
              </a:extLst>
            </p:cNvPr>
            <p:cNvSpPr/>
            <p:nvPr/>
          </p:nvSpPr>
          <p:spPr>
            <a:xfrm>
              <a:off x="673608" y="6098289"/>
              <a:ext cx="123444" cy="123444"/>
            </a:xfrm>
            <a:prstGeom prst="rect">
              <a:avLst/>
            </a:prstGeom>
            <a:solidFill>
              <a:srgbClr val="0F8C6B"/>
            </a:solidFill>
            <a:ln>
              <a:noFill/>
            </a:ln>
            <a:effectLst/>
          </p:spPr>
          <p:txBody>
            <a:bodyPr rtlCol="0" anchor="ctr"/>
            <a:lstStyle/>
            <a:p>
              <a:endParaRPr/>
            </a:p>
          </p:txBody>
        </p:sp>
        <p:sp>
          <p:nvSpPr>
            <p:cNvPr id="100" name="TextBox 99">
              <a:extLst>
                <a:ext uri="{FF2B5EF4-FFF2-40B4-BE49-F238E27FC236}">
                  <a16:creationId xmlns:a16="http://schemas.microsoft.com/office/drawing/2014/main" id="{E8C3F3EE-3471-87D2-CCB2-8BF600002F77}"/>
                </a:ext>
              </a:extLst>
            </p:cNvPr>
            <p:cNvSpPr txBox="1"/>
            <p:nvPr/>
          </p:nvSpPr>
          <p:spPr>
            <a:xfrm>
              <a:off x="929639" y="6032341"/>
              <a:ext cx="7770304" cy="246221"/>
            </a:xfrm>
            <a:prstGeom prst="rect">
              <a:avLst/>
            </a:prstGeom>
            <a:noFill/>
          </p:spPr>
          <p:txBody>
            <a:bodyPr wrap="square" lIns="0" tIns="0" rIns="0" bIns="0" anchor="t">
              <a:spAutoFit/>
            </a:bodyPr>
            <a:lstStyle/>
            <a:p>
              <a:r>
                <a:rPr lang="en-US" sz="1600" b="0" i="0" dirty="0">
                  <a:solidFill>
                    <a:srgbClr val="16202B"/>
                  </a:solidFill>
                  <a:latin typeface="Calibri"/>
                </a:rPr>
                <a:t>The percentage of total care cost </a:t>
              </a:r>
              <a:r>
                <a:rPr lang="en-US" sz="1600" dirty="0">
                  <a:solidFill>
                    <a:srgbClr val="16202B"/>
                  </a:solidFill>
                  <a:latin typeface="Calibri"/>
                </a:rPr>
                <a:t>c</a:t>
              </a:r>
              <a:r>
                <a:rPr sz="1600" b="0" i="0" dirty="0">
                  <a:solidFill>
                    <a:srgbClr val="16202B"/>
                  </a:solidFill>
                  <a:latin typeface="Calibri"/>
                </a:rPr>
                <a:t>overed by JKN  (</a:t>
              </a:r>
              <a:r>
                <a:rPr sz="1600" b="0" i="0" dirty="0" err="1">
                  <a:solidFill>
                    <a:srgbClr val="16202B"/>
                  </a:solidFill>
                  <a:latin typeface="Calibri"/>
                </a:rPr>
                <a:t>η</a:t>
              </a:r>
              <a:r>
                <a:rPr sz="1600" b="0" i="0" dirty="0">
                  <a:solidFill>
                    <a:srgbClr val="16202B"/>
                  </a:solidFill>
                  <a:latin typeface="Calibri"/>
                </a:rPr>
                <a:t>)</a:t>
              </a:r>
              <a:r>
                <a:rPr lang="en-US" sz="1600" dirty="0">
                  <a:solidFill>
                    <a:srgbClr val="16202B"/>
                  </a:solidFill>
                </a:rPr>
                <a:t>  — </a:t>
              </a:r>
              <a:r>
                <a:rPr lang="en-US" sz="1600" b="1" dirty="0">
                  <a:solidFill>
                    <a:srgbClr val="16202B"/>
                  </a:solidFill>
                </a:rPr>
                <a:t>Source: </a:t>
              </a:r>
              <a:r>
                <a:rPr lang="en-US" sz="1600" dirty="0">
                  <a:solidFill>
                    <a:srgbClr val="16202B"/>
                  </a:solidFill>
                </a:rPr>
                <a:t>modeled</a:t>
              </a:r>
              <a:endParaRPr sz="1600" b="0" i="0" dirty="0">
                <a:solidFill>
                  <a:srgbClr val="16202B"/>
                </a:solidFill>
                <a:latin typeface="Calibri"/>
              </a:endParaRPr>
            </a:p>
          </p:txBody>
        </p:sp>
        <p:cxnSp>
          <p:nvCxnSpPr>
            <p:cNvPr id="105" name="Connector 103">
              <a:extLst>
                <a:ext uri="{FF2B5EF4-FFF2-40B4-BE49-F238E27FC236}">
                  <a16:creationId xmlns:a16="http://schemas.microsoft.com/office/drawing/2014/main" id="{C49BDF9A-9C33-D904-ED05-8F1EAA81354A}"/>
                </a:ext>
              </a:extLst>
            </p:cNvPr>
            <p:cNvCxnSpPr/>
            <p:nvPr/>
          </p:nvCxnSpPr>
          <p:spPr>
            <a:xfrm>
              <a:off x="597408" y="6430962"/>
              <a:ext cx="173736" cy="0"/>
            </a:xfrm>
            <a:prstGeom prst="line">
              <a:avLst/>
            </a:prstGeom>
            <a:ln w="19050">
              <a:solidFill>
                <a:srgbClr val="002060"/>
              </a:solidFill>
              <a:prstDash val="dash"/>
            </a:ln>
          </p:spPr>
        </p:cxnSp>
        <p:sp>
          <p:nvSpPr>
            <p:cNvPr id="106" name="Oval 105">
              <a:extLst>
                <a:ext uri="{FF2B5EF4-FFF2-40B4-BE49-F238E27FC236}">
                  <a16:creationId xmlns:a16="http://schemas.microsoft.com/office/drawing/2014/main" id="{0FE159AB-2594-9341-4F5F-27893D699364}"/>
                </a:ext>
              </a:extLst>
            </p:cNvPr>
            <p:cNvSpPr/>
            <p:nvPr/>
          </p:nvSpPr>
          <p:spPr>
            <a:xfrm>
              <a:off x="643128" y="6387433"/>
              <a:ext cx="82296" cy="82296"/>
            </a:xfrm>
            <a:prstGeom prst="ellipse">
              <a:avLst/>
            </a:prstGeom>
            <a:solidFill>
              <a:srgbClr val="002060"/>
            </a:solidFill>
            <a:ln w="15875">
              <a:solidFill>
                <a:srgbClr val="FFFFFF"/>
              </a:solidFill>
            </a:ln>
            <a:effectLst/>
          </p:spPr>
          <p:txBody>
            <a:bodyPr rtlCol="0" anchor="ctr"/>
            <a:lstStyle/>
            <a:p>
              <a:pPr algn="ctr"/>
              <a:endParaRPr/>
            </a:p>
          </p:txBody>
        </p:sp>
        <p:sp>
          <p:nvSpPr>
            <p:cNvPr id="107" name="TextBox 106">
              <a:extLst>
                <a:ext uri="{FF2B5EF4-FFF2-40B4-BE49-F238E27FC236}">
                  <a16:creationId xmlns:a16="http://schemas.microsoft.com/office/drawing/2014/main" id="{2A914092-1164-2C34-65D7-84E5E4361AC2}"/>
                </a:ext>
              </a:extLst>
            </p:cNvPr>
            <p:cNvSpPr txBox="1"/>
            <p:nvPr/>
          </p:nvSpPr>
          <p:spPr>
            <a:xfrm>
              <a:off x="927543" y="6333012"/>
              <a:ext cx="7863840" cy="246221"/>
            </a:xfrm>
            <a:prstGeom prst="rect">
              <a:avLst/>
            </a:prstGeom>
            <a:noFill/>
          </p:spPr>
          <p:txBody>
            <a:bodyPr wrap="square" lIns="0" tIns="0" rIns="0" bIns="0" anchor="t">
              <a:spAutoFit/>
            </a:bodyPr>
            <a:lstStyle/>
            <a:p>
              <a:pPr algn="l"/>
              <a:r>
                <a:rPr lang="en-US" sz="1600" b="0" i="0" dirty="0">
                  <a:solidFill>
                    <a:srgbClr val="16202B"/>
                  </a:solidFill>
                  <a:latin typeface="Calibri"/>
                </a:rPr>
                <a:t>The percentage of care utilization that </a:t>
              </a:r>
              <a:r>
                <a:rPr lang="en-US" sz="1600" dirty="0">
                  <a:solidFill>
                    <a:srgbClr val="16202B"/>
                  </a:solidFill>
                  <a:latin typeface="Calibri"/>
                </a:rPr>
                <a:t>uses </a:t>
              </a:r>
              <a:r>
                <a:rPr sz="1600" b="0" i="0" dirty="0">
                  <a:solidFill>
                    <a:srgbClr val="16202B"/>
                  </a:solidFill>
                  <a:latin typeface="Calibri"/>
                </a:rPr>
                <a:t>JKN (d)  —</a:t>
              </a:r>
              <a:r>
                <a:rPr lang="en-US" sz="1600" b="0" i="0" dirty="0">
                  <a:solidFill>
                    <a:srgbClr val="16202B"/>
                  </a:solidFill>
                  <a:latin typeface="Calibri"/>
                </a:rPr>
                <a:t> </a:t>
              </a:r>
              <a:r>
                <a:rPr lang="en-US" sz="1600" b="1" i="0" dirty="0">
                  <a:solidFill>
                    <a:srgbClr val="16202B"/>
                  </a:solidFill>
                  <a:latin typeface="Calibri"/>
                </a:rPr>
                <a:t>Source:</a:t>
              </a:r>
              <a:r>
                <a:rPr lang="en-US" sz="1600" b="0" i="0" dirty="0">
                  <a:solidFill>
                    <a:srgbClr val="16202B"/>
                  </a:solidFill>
                  <a:latin typeface="Calibri"/>
                </a:rPr>
                <a:t> </a:t>
              </a:r>
              <a:r>
                <a:rPr sz="1600" b="0" i="0" dirty="0" err="1">
                  <a:solidFill>
                    <a:srgbClr val="16202B"/>
                  </a:solidFill>
                  <a:latin typeface="Calibri"/>
                </a:rPr>
                <a:t>Susenas</a:t>
              </a:r>
              <a:r>
                <a:rPr sz="1600" b="0" i="0" dirty="0">
                  <a:solidFill>
                    <a:srgbClr val="16202B"/>
                  </a:solidFill>
                  <a:latin typeface="Calibri"/>
                </a:rPr>
                <a:t> 2025 Tabel 2.24 / 2.28</a:t>
              </a:r>
            </a:p>
          </p:txBody>
        </p:sp>
      </p:grpSp>
      <p:sp>
        <p:nvSpPr>
          <p:cNvPr id="112" name="TextBox 111">
            <a:extLst>
              <a:ext uri="{FF2B5EF4-FFF2-40B4-BE49-F238E27FC236}">
                <a16:creationId xmlns:a16="http://schemas.microsoft.com/office/drawing/2014/main" id="{96EDA35B-4C82-B7FC-A016-28326EF40EBA}"/>
              </a:ext>
            </a:extLst>
          </p:cNvPr>
          <p:cNvSpPr txBox="1"/>
          <p:nvPr/>
        </p:nvSpPr>
        <p:spPr>
          <a:xfrm>
            <a:off x="1143000" y="3644325"/>
            <a:ext cx="533400" cy="292388"/>
          </a:xfrm>
          <a:prstGeom prst="rect">
            <a:avLst/>
          </a:prstGeom>
          <a:noFill/>
        </p:spPr>
        <p:txBody>
          <a:bodyPr wrap="square" rtlCol="0">
            <a:spAutoFit/>
          </a:bodyPr>
          <a:lstStyle/>
          <a:p>
            <a:r>
              <a:rPr lang="en-US" sz="1300" b="1" dirty="0">
                <a:solidFill>
                  <a:schemeClr val="accent1">
                    <a:lumMod val="50000"/>
                  </a:schemeClr>
                </a:solidFill>
              </a:rPr>
              <a:t>47%</a:t>
            </a:r>
          </a:p>
        </p:txBody>
      </p:sp>
      <p:sp>
        <p:nvSpPr>
          <p:cNvPr id="113" name="TextBox 112">
            <a:extLst>
              <a:ext uri="{FF2B5EF4-FFF2-40B4-BE49-F238E27FC236}">
                <a16:creationId xmlns:a16="http://schemas.microsoft.com/office/drawing/2014/main" id="{CAF55B69-0318-9D21-1D2E-2CA1EE4D2C8D}"/>
              </a:ext>
            </a:extLst>
          </p:cNvPr>
          <p:cNvSpPr txBox="1"/>
          <p:nvPr/>
        </p:nvSpPr>
        <p:spPr>
          <a:xfrm>
            <a:off x="1828800" y="3580694"/>
            <a:ext cx="533400" cy="292388"/>
          </a:xfrm>
          <a:prstGeom prst="rect">
            <a:avLst/>
          </a:prstGeom>
          <a:noFill/>
        </p:spPr>
        <p:txBody>
          <a:bodyPr wrap="square" rtlCol="0">
            <a:spAutoFit/>
          </a:bodyPr>
          <a:lstStyle/>
          <a:p>
            <a:r>
              <a:rPr lang="en-US" sz="1300" b="1" dirty="0">
                <a:solidFill>
                  <a:schemeClr val="accent1">
                    <a:lumMod val="50000"/>
                  </a:schemeClr>
                </a:solidFill>
              </a:rPr>
              <a:t>48%</a:t>
            </a:r>
          </a:p>
        </p:txBody>
      </p:sp>
      <p:sp>
        <p:nvSpPr>
          <p:cNvPr id="114" name="TextBox 113">
            <a:extLst>
              <a:ext uri="{FF2B5EF4-FFF2-40B4-BE49-F238E27FC236}">
                <a16:creationId xmlns:a16="http://schemas.microsoft.com/office/drawing/2014/main" id="{0832DF24-2579-9DF8-BD68-A55E4130D001}"/>
              </a:ext>
            </a:extLst>
          </p:cNvPr>
          <p:cNvSpPr txBox="1"/>
          <p:nvPr/>
        </p:nvSpPr>
        <p:spPr>
          <a:xfrm>
            <a:off x="2465895" y="3421931"/>
            <a:ext cx="533400" cy="292388"/>
          </a:xfrm>
          <a:prstGeom prst="rect">
            <a:avLst/>
          </a:prstGeom>
          <a:noFill/>
        </p:spPr>
        <p:txBody>
          <a:bodyPr wrap="square" rtlCol="0">
            <a:spAutoFit/>
          </a:bodyPr>
          <a:lstStyle/>
          <a:p>
            <a:r>
              <a:rPr lang="en-US" sz="1300" b="1" dirty="0">
                <a:solidFill>
                  <a:schemeClr val="accent1">
                    <a:lumMod val="50000"/>
                  </a:schemeClr>
                </a:solidFill>
              </a:rPr>
              <a:t>53%</a:t>
            </a:r>
          </a:p>
        </p:txBody>
      </p:sp>
      <p:sp>
        <p:nvSpPr>
          <p:cNvPr id="115" name="TextBox 114">
            <a:extLst>
              <a:ext uri="{FF2B5EF4-FFF2-40B4-BE49-F238E27FC236}">
                <a16:creationId xmlns:a16="http://schemas.microsoft.com/office/drawing/2014/main" id="{731DF2E4-5A3F-FFCF-423F-8D991C470716}"/>
              </a:ext>
            </a:extLst>
          </p:cNvPr>
          <p:cNvSpPr txBox="1"/>
          <p:nvPr/>
        </p:nvSpPr>
        <p:spPr>
          <a:xfrm>
            <a:off x="3054285" y="3351937"/>
            <a:ext cx="533400" cy="292388"/>
          </a:xfrm>
          <a:prstGeom prst="rect">
            <a:avLst/>
          </a:prstGeom>
          <a:noFill/>
        </p:spPr>
        <p:txBody>
          <a:bodyPr wrap="square" rtlCol="0">
            <a:spAutoFit/>
          </a:bodyPr>
          <a:lstStyle/>
          <a:p>
            <a:r>
              <a:rPr lang="en-US" sz="1300" b="1" dirty="0">
                <a:solidFill>
                  <a:schemeClr val="accent1">
                    <a:lumMod val="50000"/>
                  </a:schemeClr>
                </a:solidFill>
              </a:rPr>
              <a:t>56%</a:t>
            </a:r>
          </a:p>
        </p:txBody>
      </p:sp>
      <p:sp>
        <p:nvSpPr>
          <p:cNvPr id="116" name="TextBox 115">
            <a:extLst>
              <a:ext uri="{FF2B5EF4-FFF2-40B4-BE49-F238E27FC236}">
                <a16:creationId xmlns:a16="http://schemas.microsoft.com/office/drawing/2014/main" id="{001EEFDB-2598-F0C0-88E4-FBD40A1A26AA}"/>
              </a:ext>
            </a:extLst>
          </p:cNvPr>
          <p:cNvSpPr txBox="1"/>
          <p:nvPr/>
        </p:nvSpPr>
        <p:spPr>
          <a:xfrm>
            <a:off x="3733800" y="3275737"/>
            <a:ext cx="533400" cy="292388"/>
          </a:xfrm>
          <a:prstGeom prst="rect">
            <a:avLst/>
          </a:prstGeom>
          <a:noFill/>
        </p:spPr>
        <p:txBody>
          <a:bodyPr wrap="square" rtlCol="0">
            <a:spAutoFit/>
          </a:bodyPr>
          <a:lstStyle/>
          <a:p>
            <a:r>
              <a:rPr lang="en-US" sz="1300" b="1" dirty="0">
                <a:solidFill>
                  <a:schemeClr val="accent1">
                    <a:lumMod val="50000"/>
                  </a:schemeClr>
                </a:solidFill>
              </a:rPr>
              <a:t>59%</a:t>
            </a:r>
          </a:p>
        </p:txBody>
      </p:sp>
      <p:sp>
        <p:nvSpPr>
          <p:cNvPr id="117" name="TextBox 116">
            <a:extLst>
              <a:ext uri="{FF2B5EF4-FFF2-40B4-BE49-F238E27FC236}">
                <a16:creationId xmlns:a16="http://schemas.microsoft.com/office/drawing/2014/main" id="{B1AA0426-B347-7CF9-F878-0123329B08B2}"/>
              </a:ext>
            </a:extLst>
          </p:cNvPr>
          <p:cNvSpPr txBox="1"/>
          <p:nvPr/>
        </p:nvSpPr>
        <p:spPr>
          <a:xfrm>
            <a:off x="5562600" y="2653725"/>
            <a:ext cx="533400" cy="292388"/>
          </a:xfrm>
          <a:prstGeom prst="rect">
            <a:avLst/>
          </a:prstGeom>
          <a:noFill/>
        </p:spPr>
        <p:txBody>
          <a:bodyPr wrap="square" rtlCol="0">
            <a:spAutoFit/>
          </a:bodyPr>
          <a:lstStyle/>
          <a:p>
            <a:r>
              <a:rPr lang="en-US" sz="1300" b="1" dirty="0">
                <a:solidFill>
                  <a:schemeClr val="accent1">
                    <a:lumMod val="50000"/>
                  </a:schemeClr>
                </a:solidFill>
              </a:rPr>
              <a:t>80%</a:t>
            </a:r>
          </a:p>
        </p:txBody>
      </p:sp>
      <p:sp>
        <p:nvSpPr>
          <p:cNvPr id="118" name="TextBox 117">
            <a:extLst>
              <a:ext uri="{FF2B5EF4-FFF2-40B4-BE49-F238E27FC236}">
                <a16:creationId xmlns:a16="http://schemas.microsoft.com/office/drawing/2014/main" id="{D10DFBCB-2D2E-8E33-B8AF-E78867AE7E50}"/>
              </a:ext>
            </a:extLst>
          </p:cNvPr>
          <p:cNvSpPr txBox="1"/>
          <p:nvPr/>
        </p:nvSpPr>
        <p:spPr>
          <a:xfrm>
            <a:off x="6172200" y="2577525"/>
            <a:ext cx="533400" cy="292388"/>
          </a:xfrm>
          <a:prstGeom prst="rect">
            <a:avLst/>
          </a:prstGeom>
          <a:noFill/>
        </p:spPr>
        <p:txBody>
          <a:bodyPr wrap="square" rtlCol="0">
            <a:spAutoFit/>
          </a:bodyPr>
          <a:lstStyle/>
          <a:p>
            <a:r>
              <a:rPr lang="en-US" sz="1300" b="1" dirty="0">
                <a:solidFill>
                  <a:schemeClr val="accent1">
                    <a:lumMod val="50000"/>
                  </a:schemeClr>
                </a:solidFill>
              </a:rPr>
              <a:t>83%</a:t>
            </a:r>
          </a:p>
        </p:txBody>
      </p:sp>
      <p:sp>
        <p:nvSpPr>
          <p:cNvPr id="119" name="TextBox 118">
            <a:extLst>
              <a:ext uri="{FF2B5EF4-FFF2-40B4-BE49-F238E27FC236}">
                <a16:creationId xmlns:a16="http://schemas.microsoft.com/office/drawing/2014/main" id="{9B048654-D063-8807-25E5-922407D9B8D4}"/>
              </a:ext>
            </a:extLst>
          </p:cNvPr>
          <p:cNvSpPr txBox="1"/>
          <p:nvPr/>
        </p:nvSpPr>
        <p:spPr>
          <a:xfrm>
            <a:off x="6858000" y="2608162"/>
            <a:ext cx="533400" cy="292388"/>
          </a:xfrm>
          <a:prstGeom prst="rect">
            <a:avLst/>
          </a:prstGeom>
          <a:noFill/>
        </p:spPr>
        <p:txBody>
          <a:bodyPr wrap="square" rtlCol="0">
            <a:spAutoFit/>
          </a:bodyPr>
          <a:lstStyle/>
          <a:p>
            <a:r>
              <a:rPr lang="en-US" sz="1300" b="1" dirty="0">
                <a:solidFill>
                  <a:schemeClr val="accent1">
                    <a:lumMod val="50000"/>
                  </a:schemeClr>
                </a:solidFill>
              </a:rPr>
              <a:t>81%</a:t>
            </a:r>
          </a:p>
        </p:txBody>
      </p:sp>
      <p:sp>
        <p:nvSpPr>
          <p:cNvPr id="120" name="TextBox 119">
            <a:extLst>
              <a:ext uri="{FF2B5EF4-FFF2-40B4-BE49-F238E27FC236}">
                <a16:creationId xmlns:a16="http://schemas.microsoft.com/office/drawing/2014/main" id="{B623F99B-9A55-7710-41CA-82B04D2BE188}"/>
              </a:ext>
            </a:extLst>
          </p:cNvPr>
          <p:cNvSpPr txBox="1"/>
          <p:nvPr/>
        </p:nvSpPr>
        <p:spPr>
          <a:xfrm>
            <a:off x="7467600" y="2579882"/>
            <a:ext cx="533400" cy="292388"/>
          </a:xfrm>
          <a:prstGeom prst="rect">
            <a:avLst/>
          </a:prstGeom>
          <a:noFill/>
        </p:spPr>
        <p:txBody>
          <a:bodyPr wrap="square" rtlCol="0">
            <a:spAutoFit/>
          </a:bodyPr>
          <a:lstStyle/>
          <a:p>
            <a:r>
              <a:rPr lang="en-US" sz="1300" b="1" dirty="0">
                <a:solidFill>
                  <a:schemeClr val="accent1">
                    <a:lumMod val="50000"/>
                  </a:schemeClr>
                </a:solidFill>
              </a:rPr>
              <a:t>82%</a:t>
            </a:r>
          </a:p>
        </p:txBody>
      </p:sp>
      <p:sp>
        <p:nvSpPr>
          <p:cNvPr id="121" name="TextBox 120">
            <a:extLst>
              <a:ext uri="{FF2B5EF4-FFF2-40B4-BE49-F238E27FC236}">
                <a16:creationId xmlns:a16="http://schemas.microsoft.com/office/drawing/2014/main" id="{E3A7DCFE-7154-B587-90B8-D5125DCF67F6}"/>
              </a:ext>
            </a:extLst>
          </p:cNvPr>
          <p:cNvSpPr txBox="1"/>
          <p:nvPr/>
        </p:nvSpPr>
        <p:spPr>
          <a:xfrm>
            <a:off x="8077200" y="2735503"/>
            <a:ext cx="533400" cy="292388"/>
          </a:xfrm>
          <a:prstGeom prst="rect">
            <a:avLst/>
          </a:prstGeom>
          <a:noFill/>
        </p:spPr>
        <p:txBody>
          <a:bodyPr wrap="square" rtlCol="0">
            <a:spAutoFit/>
          </a:bodyPr>
          <a:lstStyle/>
          <a:p>
            <a:r>
              <a:rPr lang="en-US" sz="1300" b="1" dirty="0">
                <a:solidFill>
                  <a:schemeClr val="accent1">
                    <a:lumMod val="50000"/>
                  </a:schemeClr>
                </a:solidFill>
              </a:rPr>
              <a:t>78%</a:t>
            </a:r>
          </a:p>
        </p:txBody>
      </p:sp>
    </p:spTree>
    <p:extLst>
      <p:ext uri="{BB962C8B-B14F-4D97-AF65-F5344CB8AC3E}">
        <p14:creationId xmlns:p14="http://schemas.microsoft.com/office/powerpoint/2010/main" val="1566700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182880"/>
            <a:ext cx="8321040" cy="1249573"/>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Key finding</a:t>
            </a:r>
            <a:r>
              <a:rPr sz="4000" b="1" dirty="0">
                <a:solidFill>
                  <a:srgbClr val="002060"/>
                </a:solidFill>
                <a:latin typeface="+mj-lt"/>
                <a:ea typeface="+mj-ea"/>
                <a:cs typeface="+mj-cs"/>
              </a:rPr>
              <a:t> 1: </a:t>
            </a:r>
            <a:r>
              <a:rPr lang="en-US" sz="4000" dirty="0">
                <a:solidFill>
                  <a:srgbClr val="002060"/>
                </a:solidFill>
                <a:latin typeface="+mj-lt"/>
                <a:ea typeface="+mj-ea"/>
                <a:cs typeface="+mj-cs"/>
              </a:rPr>
              <a:t>C</a:t>
            </a:r>
            <a:r>
              <a:rPr sz="4000" dirty="0">
                <a:solidFill>
                  <a:srgbClr val="002060"/>
                </a:solidFill>
                <a:latin typeface="+mj-lt"/>
                <a:ea typeface="+mj-ea"/>
                <a:cs typeface="+mj-cs"/>
              </a:rPr>
              <a:t>hronic care</a:t>
            </a:r>
            <a:endParaRPr lang="en-US" sz="4000" dirty="0">
              <a:solidFill>
                <a:srgbClr val="002060"/>
              </a:solidFill>
              <a:latin typeface="+mj-lt"/>
              <a:ea typeface="+mj-ea"/>
              <a:cs typeface="+mj-cs"/>
            </a:endParaRPr>
          </a:p>
          <a:p>
            <a:pPr algn="ctr"/>
            <a:r>
              <a:rPr lang="en-US" sz="2000" dirty="0">
                <a:solidFill>
                  <a:srgbClr val="002060"/>
                </a:solidFill>
                <a:latin typeface="+mj-lt"/>
                <a:ea typeface="+mj-ea"/>
                <a:cs typeface="+mj-cs"/>
              </a:rPr>
              <a:t>1.3 million catastrophic cases per year = 8% of 15.6M patients in care</a:t>
            </a:r>
          </a:p>
          <a:p>
            <a:pPr algn="ctr"/>
            <a:r>
              <a:rPr lang="en-US" sz="2000" dirty="0">
                <a:solidFill>
                  <a:srgbClr val="002060"/>
                </a:solidFill>
                <a:latin typeface="+mj-lt"/>
                <a:ea typeface="+mj-ea"/>
                <a:cs typeface="+mj-cs"/>
              </a:rPr>
              <a:t>Two thirds of them in Q1 consumption quintile</a:t>
            </a:r>
          </a:p>
        </p:txBody>
      </p:sp>
      <p:sp>
        <p:nvSpPr>
          <p:cNvPr id="8" name="TextBox 7">
            <a:extLst>
              <a:ext uri="{FF2B5EF4-FFF2-40B4-BE49-F238E27FC236}">
                <a16:creationId xmlns:a16="http://schemas.microsoft.com/office/drawing/2014/main" id="{12D0C2C2-9C2E-29B1-DB83-CA246BE99AD7}"/>
              </a:ext>
            </a:extLst>
          </p:cNvPr>
          <p:cNvSpPr txBox="1"/>
          <p:nvPr/>
        </p:nvSpPr>
        <p:spPr>
          <a:xfrm>
            <a:off x="533400" y="1668959"/>
            <a:ext cx="8171633" cy="769441"/>
          </a:xfrm>
          <a:prstGeom prst="rect">
            <a:avLst/>
          </a:prstGeom>
          <a:noFill/>
        </p:spPr>
        <p:txBody>
          <a:bodyPr wrap="square" rtlCol="0">
            <a:spAutoFit/>
          </a:bodyPr>
          <a:lstStyle/>
          <a:p>
            <a:pPr algn="ctr"/>
            <a:r>
              <a:rPr lang="en-US" sz="2200" b="1" dirty="0"/>
              <a:t>Catastrophic health expenditure (CHE) cases</a:t>
            </a:r>
          </a:p>
          <a:p>
            <a:pPr algn="ctr"/>
            <a:r>
              <a:rPr lang="en-US" sz="2200" dirty="0"/>
              <a:t>(OOP costs &gt; 10% of household expenditure) </a:t>
            </a:r>
            <a:r>
              <a:rPr lang="en-US" sz="2200" b="1" dirty="0"/>
              <a:t>related to chronic care</a:t>
            </a:r>
          </a:p>
        </p:txBody>
      </p:sp>
      <p:pic>
        <p:nvPicPr>
          <p:cNvPr id="4" name="Picture 3">
            <a:extLst>
              <a:ext uri="{FF2B5EF4-FFF2-40B4-BE49-F238E27FC236}">
                <a16:creationId xmlns:a16="http://schemas.microsoft.com/office/drawing/2014/main" id="{5D7A5DCC-9C19-68B2-046C-E00E96683AA7}"/>
              </a:ext>
            </a:extLst>
          </p:cNvPr>
          <p:cNvPicPr>
            <a:picLocks noChangeAspect="1"/>
          </p:cNvPicPr>
          <p:nvPr/>
        </p:nvPicPr>
        <p:blipFill>
          <a:blip r:embed="rId4">
            <a:extLst>
              <a:ext uri="{28A0092B-C50C-407E-A947-70E740481C1C}">
                <a14:useLocalDpi xmlns:a14="http://schemas.microsoft.com/office/drawing/2010/main" val="0"/>
              </a:ext>
            </a:extLst>
          </a:blip>
          <a:srcRect t="16383"/>
          <a:stretch>
            <a:fillRect/>
          </a:stretch>
        </p:blipFill>
        <p:spPr>
          <a:xfrm>
            <a:off x="406037" y="2674906"/>
            <a:ext cx="8171632" cy="4135683"/>
          </a:xfrm>
          <a:prstGeom prst="rect">
            <a:avLst/>
          </a:prstGeom>
        </p:spPr>
      </p:pic>
      <p:pic>
        <p:nvPicPr>
          <p:cNvPr id="9" name="Picture 8">
            <a:extLst>
              <a:ext uri="{FF2B5EF4-FFF2-40B4-BE49-F238E27FC236}">
                <a16:creationId xmlns:a16="http://schemas.microsoft.com/office/drawing/2014/main" id="{3FACC56D-DA27-C2C0-1EE3-0710BC6CA13A}"/>
              </a:ext>
            </a:extLst>
          </p:cNvPr>
          <p:cNvPicPr>
            <a:picLocks noChangeAspect="1"/>
          </p:cNvPicPr>
          <p:nvPr/>
        </p:nvPicPr>
        <p:blipFill>
          <a:blip r:embed="rId4">
            <a:extLst>
              <a:ext uri="{28A0092B-C50C-407E-A947-70E740481C1C}">
                <a14:useLocalDpi xmlns:a14="http://schemas.microsoft.com/office/drawing/2010/main" val="0"/>
              </a:ext>
            </a:extLst>
          </a:blip>
          <a:srcRect l="66667" t="8452" b="75192"/>
          <a:stretch>
            <a:fillRect/>
          </a:stretch>
        </p:blipFill>
        <p:spPr>
          <a:xfrm>
            <a:off x="3776059" y="2667000"/>
            <a:ext cx="4801610" cy="1426029"/>
          </a:xfrm>
          <a:prstGeom prst="rect">
            <a:avLst/>
          </a:prstGeom>
          <a:ln>
            <a:solidFill>
              <a:schemeClr val="tx1"/>
            </a:solidFill>
          </a:ln>
        </p:spPr>
      </p:pic>
    </p:spTree>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AB577F-1D8D-AA6A-99E4-5809A22C40E7}"/>
              </a:ext>
            </a:extLst>
          </p:cNvPr>
          <p:cNvSpPr txBox="1"/>
          <p:nvPr/>
        </p:nvSpPr>
        <p:spPr>
          <a:xfrm>
            <a:off x="401780" y="119051"/>
            <a:ext cx="8321040" cy="1557349"/>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Key finding</a:t>
            </a:r>
            <a:r>
              <a:rPr sz="4000" b="1" dirty="0">
                <a:solidFill>
                  <a:srgbClr val="002060"/>
                </a:solidFill>
                <a:latin typeface="+mj-lt"/>
                <a:ea typeface="+mj-ea"/>
                <a:cs typeface="+mj-cs"/>
              </a:rPr>
              <a:t> </a:t>
            </a:r>
            <a:r>
              <a:rPr lang="en-US" sz="4000" b="1" dirty="0">
                <a:solidFill>
                  <a:srgbClr val="002060"/>
                </a:solidFill>
                <a:latin typeface="+mj-lt"/>
                <a:ea typeface="+mj-ea"/>
                <a:cs typeface="+mj-cs"/>
              </a:rPr>
              <a:t>2</a:t>
            </a:r>
            <a:r>
              <a:rPr sz="4000" b="1" dirty="0">
                <a:solidFill>
                  <a:srgbClr val="002060"/>
                </a:solidFill>
                <a:latin typeface="+mj-lt"/>
                <a:ea typeface="+mj-ea"/>
                <a:cs typeface="+mj-cs"/>
              </a:rPr>
              <a:t>: </a:t>
            </a:r>
            <a:r>
              <a:rPr lang="en-US" sz="4000" dirty="0">
                <a:solidFill>
                  <a:srgbClr val="002060"/>
                </a:solidFill>
                <a:latin typeface="+mj-lt"/>
                <a:ea typeface="+mj-ea"/>
                <a:cs typeface="+mj-cs"/>
              </a:rPr>
              <a:t>Acute events</a:t>
            </a:r>
          </a:p>
          <a:p>
            <a:pPr algn="ctr"/>
            <a:r>
              <a:rPr lang="en-US" sz="2000" dirty="0">
                <a:solidFill>
                  <a:srgbClr val="002060"/>
                </a:solidFill>
              </a:rPr>
              <a:t>401,000 catastrophic admissions a year = 22% of all CVD admissions</a:t>
            </a:r>
          </a:p>
          <a:p>
            <a:pPr algn="ctr"/>
            <a:r>
              <a:rPr lang="en-US" sz="2000" dirty="0">
                <a:solidFill>
                  <a:srgbClr val="002060"/>
                </a:solidFill>
              </a:rPr>
              <a:t>62% of those in Q1</a:t>
            </a:r>
          </a:p>
          <a:p>
            <a:pPr algn="ctr"/>
            <a:endParaRPr lang="en-US" sz="2000" dirty="0">
              <a:solidFill>
                <a:srgbClr val="002060"/>
              </a:solidFill>
              <a:latin typeface="+mj-lt"/>
              <a:ea typeface="+mj-ea"/>
              <a:cs typeface="+mj-cs"/>
            </a:endParaRPr>
          </a:p>
        </p:txBody>
      </p:sp>
      <p:sp>
        <p:nvSpPr>
          <p:cNvPr id="4" name="TextBox 3">
            <a:extLst>
              <a:ext uri="{FF2B5EF4-FFF2-40B4-BE49-F238E27FC236}">
                <a16:creationId xmlns:a16="http://schemas.microsoft.com/office/drawing/2014/main" id="{155BD4E5-EBF3-5C8D-A0AD-AFB7383F0CC8}"/>
              </a:ext>
            </a:extLst>
          </p:cNvPr>
          <p:cNvSpPr txBox="1"/>
          <p:nvPr/>
        </p:nvSpPr>
        <p:spPr>
          <a:xfrm>
            <a:off x="533400" y="1371600"/>
            <a:ext cx="8171633" cy="769441"/>
          </a:xfrm>
          <a:prstGeom prst="rect">
            <a:avLst/>
          </a:prstGeom>
          <a:noFill/>
        </p:spPr>
        <p:txBody>
          <a:bodyPr wrap="square" rtlCol="0">
            <a:spAutoFit/>
          </a:bodyPr>
          <a:lstStyle/>
          <a:p>
            <a:pPr algn="ctr"/>
            <a:r>
              <a:rPr lang="en-US" sz="2200" b="1" dirty="0"/>
              <a:t>Catastrophic health expenditure (CHE) cases</a:t>
            </a:r>
          </a:p>
          <a:p>
            <a:pPr algn="ctr"/>
            <a:r>
              <a:rPr lang="en-US" sz="2200" dirty="0"/>
              <a:t>(OOP costs &gt; 10% of household expenditure) </a:t>
            </a:r>
            <a:r>
              <a:rPr lang="en-US" sz="2200" b="1" dirty="0"/>
              <a:t>related to acute care</a:t>
            </a:r>
          </a:p>
        </p:txBody>
      </p:sp>
      <p:pic>
        <p:nvPicPr>
          <p:cNvPr id="6" name="Picture 5">
            <a:extLst>
              <a:ext uri="{FF2B5EF4-FFF2-40B4-BE49-F238E27FC236}">
                <a16:creationId xmlns:a16="http://schemas.microsoft.com/office/drawing/2014/main" id="{21D54769-6195-A893-0AFE-3089AE8175BF}"/>
              </a:ext>
            </a:extLst>
          </p:cNvPr>
          <p:cNvPicPr>
            <a:picLocks noChangeAspect="1"/>
          </p:cNvPicPr>
          <p:nvPr/>
        </p:nvPicPr>
        <p:blipFill>
          <a:blip r:embed="rId4">
            <a:extLst>
              <a:ext uri="{28A0092B-C50C-407E-A947-70E740481C1C}">
                <a14:useLocalDpi xmlns:a14="http://schemas.microsoft.com/office/drawing/2010/main" val="0"/>
              </a:ext>
            </a:extLst>
          </a:blip>
          <a:srcRect t="11850" b="4126"/>
          <a:stretch>
            <a:fillRect/>
          </a:stretch>
        </p:blipFill>
        <p:spPr>
          <a:xfrm>
            <a:off x="144588" y="2270345"/>
            <a:ext cx="8854824" cy="4503240"/>
          </a:xfrm>
          <a:prstGeom prst="rect">
            <a:avLst/>
          </a:prstGeom>
        </p:spPr>
      </p:pic>
      <p:pic>
        <p:nvPicPr>
          <p:cNvPr id="9" name="Picture 8">
            <a:extLst>
              <a:ext uri="{FF2B5EF4-FFF2-40B4-BE49-F238E27FC236}">
                <a16:creationId xmlns:a16="http://schemas.microsoft.com/office/drawing/2014/main" id="{7158EC36-4592-0782-1328-865EEE1A61E9}"/>
              </a:ext>
            </a:extLst>
          </p:cNvPr>
          <p:cNvPicPr>
            <a:picLocks noChangeAspect="1"/>
          </p:cNvPicPr>
          <p:nvPr/>
        </p:nvPicPr>
        <p:blipFill>
          <a:blip r:embed="rId4">
            <a:extLst>
              <a:ext uri="{28A0092B-C50C-407E-A947-70E740481C1C}">
                <a14:useLocalDpi xmlns:a14="http://schemas.microsoft.com/office/drawing/2010/main" val="0"/>
              </a:ext>
            </a:extLst>
          </a:blip>
          <a:srcRect l="66667" t="7961" b="75683"/>
          <a:stretch>
            <a:fillRect/>
          </a:stretch>
        </p:blipFill>
        <p:spPr>
          <a:xfrm>
            <a:off x="3595419" y="2270345"/>
            <a:ext cx="5243781" cy="1557349"/>
          </a:xfrm>
          <a:prstGeom prst="rect">
            <a:avLst/>
          </a:prstGeom>
          <a:ln>
            <a:solidFill>
              <a:schemeClr val="tx1"/>
            </a:solidFill>
          </a:ln>
        </p:spPr>
      </p:pic>
    </p:spTree>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AE24-4507-CD22-8A12-95FAD71D9A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5095D7-4367-FB1E-29F2-6CCB529B48D3}"/>
              </a:ext>
            </a:extLst>
          </p:cNvPr>
          <p:cNvSpPr txBox="1"/>
          <p:nvPr/>
        </p:nvSpPr>
        <p:spPr>
          <a:xfrm>
            <a:off x="411480" y="182880"/>
            <a:ext cx="8321040" cy="1680460"/>
          </a:xfrm>
          <a:prstGeom prst="rect">
            <a:avLst/>
          </a:prstGeom>
          <a:noFill/>
        </p:spPr>
        <p:txBody>
          <a:bodyPr wrap="square" lIns="18288" tIns="9144" rIns="18288" bIns="9144" anchor="t">
            <a:spAutoFit/>
          </a:bodyPr>
          <a:lstStyle/>
          <a:p>
            <a:pPr algn="ctr"/>
            <a:r>
              <a:rPr lang="en-US" sz="3600" b="1" dirty="0">
                <a:solidFill>
                  <a:srgbClr val="002060"/>
                </a:solidFill>
                <a:latin typeface="+mj-lt"/>
                <a:ea typeface="+mj-ea"/>
                <a:cs typeface="+mj-cs"/>
              </a:rPr>
              <a:t>Catastrophic cases falls as effective coverage rises from where it is today to 100% coverage</a:t>
            </a:r>
          </a:p>
        </p:txBody>
      </p:sp>
      <p:sp>
        <p:nvSpPr>
          <p:cNvPr id="6" name="TextBox 5">
            <a:extLst>
              <a:ext uri="{FF2B5EF4-FFF2-40B4-BE49-F238E27FC236}">
                <a16:creationId xmlns:a16="http://schemas.microsoft.com/office/drawing/2014/main" id="{4CC9D84B-88CD-5EAE-45E0-8600E01A5212}"/>
              </a:ext>
            </a:extLst>
          </p:cNvPr>
          <p:cNvSpPr txBox="1"/>
          <p:nvPr/>
        </p:nvSpPr>
        <p:spPr>
          <a:xfrm>
            <a:off x="685800" y="6443246"/>
            <a:ext cx="8018398" cy="338554"/>
          </a:xfrm>
          <a:prstGeom prst="rect">
            <a:avLst/>
          </a:prstGeom>
          <a:noFill/>
        </p:spPr>
        <p:txBody>
          <a:bodyPr wrap="square" rtlCol="0">
            <a:spAutoFit/>
          </a:bodyPr>
          <a:lstStyle/>
          <a:p>
            <a:r>
              <a:rPr lang="en-US" sz="1600" dirty="0"/>
              <a:t>Note: Catastrophic health expenditure cases when OOP costs &gt; 10% of household expenditure</a:t>
            </a:r>
          </a:p>
        </p:txBody>
      </p:sp>
      <p:pic>
        <p:nvPicPr>
          <p:cNvPr id="8" name="Picture 7">
            <a:extLst>
              <a:ext uri="{FF2B5EF4-FFF2-40B4-BE49-F238E27FC236}">
                <a16:creationId xmlns:a16="http://schemas.microsoft.com/office/drawing/2014/main" id="{F36EB725-610B-8B84-0EF6-B84E5B668E65}"/>
              </a:ext>
            </a:extLst>
          </p:cNvPr>
          <p:cNvPicPr>
            <a:picLocks noChangeAspect="1"/>
          </p:cNvPicPr>
          <p:nvPr/>
        </p:nvPicPr>
        <p:blipFill>
          <a:blip r:embed="rId2">
            <a:extLst>
              <a:ext uri="{28A0092B-C50C-407E-A947-70E740481C1C}">
                <a14:useLocalDpi xmlns:a14="http://schemas.microsoft.com/office/drawing/2010/main" val="0"/>
              </a:ext>
            </a:extLst>
          </a:blip>
          <a:srcRect t="7384" b="5148"/>
          <a:stretch>
            <a:fillRect/>
          </a:stretch>
        </p:blipFill>
        <p:spPr>
          <a:xfrm>
            <a:off x="356065" y="1828800"/>
            <a:ext cx="8348133" cy="4419600"/>
          </a:xfrm>
          <a:prstGeom prst="rect">
            <a:avLst/>
          </a:prstGeom>
        </p:spPr>
      </p:pic>
    </p:spTree>
    <p:extLst>
      <p:ext uri="{BB962C8B-B14F-4D97-AF65-F5344CB8AC3E}">
        <p14:creationId xmlns:p14="http://schemas.microsoft.com/office/powerpoint/2010/main" val="1560354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3950-B30D-D892-8B46-477E43B988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BB5B91-C2E2-2508-C3AC-BDFD5433E03A}"/>
              </a:ext>
            </a:extLst>
          </p:cNvPr>
          <p:cNvSpPr txBox="1"/>
          <p:nvPr/>
        </p:nvSpPr>
        <p:spPr>
          <a:xfrm>
            <a:off x="411480" y="228600"/>
            <a:ext cx="8321040" cy="2234458"/>
          </a:xfrm>
          <a:prstGeom prst="rect">
            <a:avLst/>
          </a:prstGeom>
          <a:noFill/>
        </p:spPr>
        <p:txBody>
          <a:bodyPr wrap="square" lIns="18288" tIns="9144" rIns="18288" bIns="9144" anchor="t">
            <a:spAutoFit/>
          </a:bodyPr>
          <a:lstStyle/>
          <a:p>
            <a:pPr algn="ctr"/>
            <a:r>
              <a:rPr lang="en-US" sz="4000" b="1" dirty="0">
                <a:solidFill>
                  <a:srgbClr val="002060"/>
                </a:solidFill>
                <a:latin typeface="+mj-lt"/>
                <a:ea typeface="+mj-ea"/>
                <a:cs typeface="+mj-cs"/>
              </a:rPr>
              <a:t>Brief summary</a:t>
            </a:r>
            <a:r>
              <a:rPr lang="en-US" sz="4000" dirty="0">
                <a:solidFill>
                  <a:srgbClr val="002060"/>
                </a:solidFill>
                <a:latin typeface="+mj-lt"/>
                <a:ea typeface="+mj-ea"/>
                <a:cs typeface="+mj-cs"/>
              </a:rPr>
              <a:t>: Four scenarios and corresponding catastrophic health expenditure (CHE)</a:t>
            </a:r>
          </a:p>
          <a:p>
            <a:pPr algn="ctr"/>
            <a:r>
              <a:rPr lang="en-US" sz="2400" dirty="0">
                <a:solidFill>
                  <a:srgbClr val="002060"/>
                </a:solidFill>
                <a:latin typeface="+mj-lt"/>
                <a:ea typeface="+mj-ea"/>
                <a:cs typeface="+mj-cs"/>
              </a:rPr>
              <a:t>R</a:t>
            </a:r>
            <a:r>
              <a:rPr sz="2400" dirty="0">
                <a:solidFill>
                  <a:srgbClr val="002060"/>
                </a:solidFill>
                <a:latin typeface="+mj-lt"/>
                <a:ea typeface="+mj-ea"/>
                <a:cs typeface="+mj-cs"/>
              </a:rPr>
              <a:t>ais</a:t>
            </a:r>
            <a:r>
              <a:rPr lang="en-US" sz="2400" dirty="0">
                <a:solidFill>
                  <a:srgbClr val="002060"/>
                </a:solidFill>
                <a:latin typeface="+mj-lt"/>
                <a:ea typeface="+mj-ea"/>
                <a:cs typeface="+mj-cs"/>
              </a:rPr>
              <a:t>ing</a:t>
            </a:r>
            <a:r>
              <a:rPr sz="2400" dirty="0">
                <a:solidFill>
                  <a:srgbClr val="002060"/>
                </a:solidFill>
                <a:latin typeface="+mj-lt"/>
                <a:ea typeface="+mj-ea"/>
                <a:cs typeface="+mj-cs"/>
              </a:rPr>
              <a:t> </a:t>
            </a:r>
            <a:r>
              <a:rPr lang="en-US" sz="2400" dirty="0">
                <a:solidFill>
                  <a:srgbClr val="002060"/>
                </a:solidFill>
                <a:latin typeface="+mj-lt"/>
                <a:ea typeface="+mj-ea"/>
                <a:cs typeface="+mj-cs"/>
              </a:rPr>
              <a:t>coverage</a:t>
            </a:r>
            <a:r>
              <a:rPr sz="2400" dirty="0">
                <a:solidFill>
                  <a:srgbClr val="002060"/>
                </a:solidFill>
                <a:latin typeface="+mj-lt"/>
                <a:ea typeface="+mj-ea"/>
                <a:cs typeface="+mj-cs"/>
              </a:rPr>
              <a:t> toward </a:t>
            </a:r>
            <a:r>
              <a:rPr lang="en-US" sz="2400" dirty="0">
                <a:solidFill>
                  <a:srgbClr val="002060"/>
                </a:solidFill>
                <a:latin typeface="+mj-lt"/>
                <a:ea typeface="+mj-ea"/>
                <a:cs typeface="+mj-cs"/>
              </a:rPr>
              <a:t>original policy </a:t>
            </a:r>
            <a:r>
              <a:rPr sz="2400" dirty="0">
                <a:solidFill>
                  <a:srgbClr val="002060"/>
                </a:solidFill>
                <a:latin typeface="+mj-lt"/>
                <a:ea typeface="+mj-ea"/>
                <a:cs typeface="+mj-cs"/>
              </a:rPr>
              <a:t>design</a:t>
            </a:r>
            <a:endParaRPr lang="en-US" sz="2400" dirty="0">
              <a:solidFill>
                <a:srgbClr val="002060"/>
              </a:solidFill>
              <a:latin typeface="+mj-lt"/>
              <a:ea typeface="+mj-ea"/>
              <a:cs typeface="+mj-cs"/>
            </a:endParaRPr>
          </a:p>
        </p:txBody>
      </p:sp>
      <p:graphicFrame>
        <p:nvGraphicFramePr>
          <p:cNvPr id="4" name="Table 3">
            <a:extLst>
              <a:ext uri="{FF2B5EF4-FFF2-40B4-BE49-F238E27FC236}">
                <a16:creationId xmlns:a16="http://schemas.microsoft.com/office/drawing/2014/main" id="{AB009376-CA8A-B1AB-E96B-70926B71B931}"/>
              </a:ext>
            </a:extLst>
          </p:cNvPr>
          <p:cNvGraphicFramePr>
            <a:graphicFrameLocks noGrp="1"/>
          </p:cNvGraphicFramePr>
          <p:nvPr/>
        </p:nvGraphicFramePr>
        <p:xfrm>
          <a:off x="502920" y="2700265"/>
          <a:ext cx="8138160" cy="3145536"/>
        </p:xfrm>
        <a:graphic>
          <a:graphicData uri="http://schemas.openxmlformats.org/drawingml/2006/table">
            <a:tbl>
              <a:tblPr firstRow="1">
                <a:tableStyleId>{5940675A-B579-460E-94D1-54222C63F5DA}</a:tableStyleId>
              </a:tblPr>
              <a:tblGrid>
                <a:gridCol w="3529584">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475488">
                <a:tc>
                  <a:txBody>
                    <a:bodyPr/>
                    <a:lstStyle/>
                    <a:p>
                      <a:r>
                        <a:rPr sz="1800" b="1" dirty="0">
                          <a:solidFill>
                            <a:schemeClr val="tx1"/>
                          </a:solidFill>
                        </a:rPr>
                        <a:t>Scenario</a:t>
                      </a:r>
                      <a:endParaRPr sz="1800" b="1" dirty="0">
                        <a:solidFill>
                          <a:schemeClr val="tx1"/>
                        </a:solidFill>
                        <a:latin typeface="Calibri"/>
                      </a:endParaRPr>
                    </a:p>
                  </a:txBody>
                  <a:tcPr marL="64008" marR="64008" marT="18288" marB="18288" anchor="ctr"/>
                </a:tc>
                <a:tc>
                  <a:txBody>
                    <a:bodyPr/>
                    <a:lstStyle/>
                    <a:p>
                      <a:pPr algn="ctr"/>
                      <a:r>
                        <a:rPr lang="en-US" sz="1800" b="1" dirty="0">
                          <a:solidFill>
                            <a:schemeClr val="tx1"/>
                          </a:solidFill>
                        </a:rPr>
                        <a:t>National average c</a:t>
                      </a:r>
                      <a:r>
                        <a:rPr sz="1800" b="1" dirty="0">
                          <a:solidFill>
                            <a:schemeClr val="tx1"/>
                          </a:solidFill>
                        </a:rPr>
                        <a:t>overage
chronic / acute</a:t>
                      </a:r>
                      <a:endParaRPr sz="1800" b="1" dirty="0">
                        <a:solidFill>
                          <a:schemeClr val="tx1"/>
                        </a:solidFill>
                        <a:latin typeface="Calibri"/>
                      </a:endParaRPr>
                    </a:p>
                  </a:txBody>
                  <a:tcPr marL="64008" marR="64008" marT="18288" marB="18288" anchor="ctr"/>
                </a:tc>
                <a:tc>
                  <a:txBody>
                    <a:bodyPr/>
                    <a:lstStyle/>
                    <a:p>
                      <a:pPr algn="ctr"/>
                      <a:r>
                        <a:rPr sz="1800" b="1" dirty="0">
                          <a:solidFill>
                            <a:schemeClr val="tx1"/>
                          </a:solidFill>
                        </a:rPr>
                        <a:t>Chronic CHE
cases per year</a:t>
                      </a:r>
                      <a:endParaRPr sz="1800" b="1" dirty="0">
                        <a:solidFill>
                          <a:schemeClr val="tx1"/>
                        </a:solidFill>
                        <a:latin typeface="Calibri"/>
                      </a:endParaRPr>
                    </a:p>
                  </a:txBody>
                  <a:tcPr marL="64008" marR="64008" marT="18288" marB="18288" anchor="ctr"/>
                </a:tc>
                <a:tc>
                  <a:txBody>
                    <a:bodyPr/>
                    <a:lstStyle/>
                    <a:p>
                      <a:pPr algn="ctr"/>
                      <a:r>
                        <a:rPr sz="1800" b="1">
                          <a:solidFill>
                            <a:schemeClr val="tx1"/>
                          </a:solidFill>
                        </a:rPr>
                        <a:t>Acute CHE
cases per year</a:t>
                      </a:r>
                      <a:endParaRPr sz="1800" b="1">
                        <a:solidFill>
                          <a:schemeClr val="tx1"/>
                        </a:solidFill>
                        <a:latin typeface="Calibri"/>
                      </a:endParaRPr>
                    </a:p>
                  </a:txBody>
                  <a:tcPr marL="64008" marR="64008" marT="18288" marB="18288" anchor="ctr"/>
                </a:tc>
                <a:extLst>
                  <a:ext uri="{0D108BD9-81ED-4DB2-BD59-A6C34878D82A}">
                    <a16:rowId xmlns:a16="http://schemas.microsoft.com/office/drawing/2014/main" val="10000"/>
                  </a:ext>
                </a:extLst>
              </a:tr>
              <a:tr h="475488">
                <a:tc>
                  <a:txBody>
                    <a:bodyPr/>
                    <a:lstStyle/>
                    <a:p>
                      <a:r>
                        <a:rPr sz="1800" b="1" dirty="0">
                          <a:solidFill>
                            <a:schemeClr val="tx1"/>
                          </a:solidFill>
                        </a:rPr>
                        <a:t>S1.  Current coverage</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40%  /  54%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1,316,821</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401,099</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1"/>
                  </a:ext>
                </a:extLst>
              </a:tr>
              <a:tr h="475488">
                <a:tc>
                  <a:txBody>
                    <a:bodyPr/>
                    <a:lstStyle/>
                    <a:p>
                      <a:r>
                        <a:rPr sz="1800" b="1" dirty="0">
                          <a:solidFill>
                            <a:schemeClr val="tx1"/>
                          </a:solidFill>
                        </a:rPr>
                        <a:t>S2.  One quarter of the gap closed</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53%  /  64%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982,559</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248,508</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2"/>
                  </a:ext>
                </a:extLst>
              </a:tr>
              <a:tr h="475488">
                <a:tc>
                  <a:txBody>
                    <a:bodyPr/>
                    <a:lstStyle/>
                    <a:p>
                      <a:r>
                        <a:rPr sz="1800" b="1">
                          <a:solidFill>
                            <a:schemeClr val="tx1"/>
                          </a:solidFill>
                        </a:rPr>
                        <a:t>S3.  Half the gap closed</a:t>
                      </a:r>
                      <a:endParaRPr sz="1800" b="1">
                        <a:solidFill>
                          <a:schemeClr val="tx1"/>
                        </a:solidFill>
                        <a:latin typeface="Calibri"/>
                      </a:endParaRPr>
                    </a:p>
                  </a:txBody>
                  <a:tcPr marL="64008" marR="64008" marT="18288" marB="18288" anchor="ctr"/>
                </a:tc>
                <a:tc>
                  <a:txBody>
                    <a:bodyPr/>
                    <a:lstStyle/>
                    <a:p>
                      <a:pPr algn="ctr"/>
                      <a:r>
                        <a:rPr sz="1800" b="0">
                          <a:solidFill>
                            <a:schemeClr val="tx1"/>
                          </a:solidFill>
                        </a:rPr>
                        <a:t>67%  /  75%</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652,988</a:t>
                      </a:r>
                      <a:endParaRPr sz="1800" b="0" dirty="0">
                        <a:solidFill>
                          <a:schemeClr val="tx1"/>
                        </a:solidFill>
                        <a:latin typeface="Calibri"/>
                      </a:endParaRPr>
                    </a:p>
                  </a:txBody>
                  <a:tcPr marL="64008" marR="64008" marT="18288" marB="18288" anchor="ctr"/>
                </a:tc>
                <a:tc>
                  <a:txBody>
                    <a:bodyPr/>
                    <a:lstStyle/>
                    <a:p>
                      <a:pPr algn="ctr"/>
                      <a:r>
                        <a:rPr sz="1800" b="0">
                          <a:solidFill>
                            <a:schemeClr val="tx1"/>
                          </a:solidFill>
                        </a:rPr>
                        <a:t>133,623</a:t>
                      </a:r>
                      <a:endParaRPr sz="1800" b="0">
                        <a:solidFill>
                          <a:schemeClr val="tx1"/>
                        </a:solidFill>
                        <a:latin typeface="Calibri"/>
                      </a:endParaRPr>
                    </a:p>
                  </a:txBody>
                  <a:tcPr marL="64008" marR="64008" marT="18288" marB="18288" anchor="ctr"/>
                </a:tc>
                <a:extLst>
                  <a:ext uri="{0D108BD9-81ED-4DB2-BD59-A6C34878D82A}">
                    <a16:rowId xmlns:a16="http://schemas.microsoft.com/office/drawing/2014/main" val="10003"/>
                  </a:ext>
                </a:extLst>
              </a:tr>
              <a:tr h="475488">
                <a:tc>
                  <a:txBody>
                    <a:bodyPr/>
                    <a:lstStyle/>
                    <a:p>
                      <a:r>
                        <a:rPr sz="1800" b="1" dirty="0">
                          <a:solidFill>
                            <a:schemeClr val="tx1"/>
                          </a:solidFill>
                        </a:rPr>
                        <a:t>S4.  Policy design</a:t>
                      </a:r>
                      <a:r>
                        <a:rPr lang="en-US" sz="1800" b="1" dirty="0">
                          <a:solidFill>
                            <a:schemeClr val="tx1"/>
                          </a:solidFill>
                        </a:rPr>
                        <a:t>:</a:t>
                      </a:r>
                      <a:r>
                        <a:rPr sz="1800" b="1" dirty="0">
                          <a:solidFill>
                            <a:schemeClr val="tx1"/>
                          </a:solidFill>
                        </a:rPr>
                        <a:t> </a:t>
                      </a:r>
                      <a:r>
                        <a:rPr lang="en-US" sz="1800" b="1" dirty="0">
                          <a:solidFill>
                            <a:schemeClr val="tx1"/>
                          </a:solidFill>
                        </a:rPr>
                        <a:t>coverage</a:t>
                      </a:r>
                      <a:r>
                        <a:rPr sz="1800" b="1" dirty="0">
                          <a:solidFill>
                            <a:schemeClr val="tx1"/>
                          </a:solidFill>
                        </a:rPr>
                        <a:t> fully delivered</a:t>
                      </a:r>
                      <a:endParaRPr sz="1800" b="1" dirty="0">
                        <a:solidFill>
                          <a:schemeClr val="tx1"/>
                        </a:solidFill>
                        <a:latin typeface="Calibri"/>
                      </a:endParaRPr>
                    </a:p>
                  </a:txBody>
                  <a:tcPr marL="64008" marR="64008" marT="18288" marB="18288" anchor="ctr"/>
                </a:tc>
                <a:tc>
                  <a:txBody>
                    <a:bodyPr/>
                    <a:lstStyle/>
                    <a:p>
                      <a:pPr algn="ctr"/>
                      <a:r>
                        <a:rPr sz="1800" b="0" dirty="0">
                          <a:solidFill>
                            <a:schemeClr val="tx1"/>
                          </a:solidFill>
                        </a:rPr>
                        <a:t>100%  /  100%</a:t>
                      </a:r>
                      <a:endParaRPr sz="1800" b="0" dirty="0">
                        <a:solidFill>
                          <a:schemeClr val="tx1"/>
                        </a:solidFill>
                        <a:latin typeface="Calibri"/>
                      </a:endParaRPr>
                    </a:p>
                  </a:txBody>
                  <a:tcPr marL="64008" marR="64008" marT="18288" marB="18288" anchor="ctr"/>
                </a:tc>
                <a:tc>
                  <a:txBody>
                    <a:bodyPr/>
                    <a:lstStyle/>
                    <a:p>
                      <a:pPr algn="ctr"/>
                      <a:r>
                        <a:rPr sz="1800" b="0">
                          <a:solidFill>
                            <a:schemeClr val="tx1"/>
                          </a:solidFill>
                        </a:rPr>
                        <a:t>0</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0</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CBF86130-7BBF-CF57-6E7F-F729B131EA37}"/>
              </a:ext>
            </a:extLst>
          </p:cNvPr>
          <p:cNvSpPr txBox="1"/>
          <p:nvPr/>
        </p:nvSpPr>
        <p:spPr>
          <a:xfrm>
            <a:off x="670560" y="6019800"/>
            <a:ext cx="7863840" cy="695575"/>
          </a:xfrm>
          <a:prstGeom prst="rect">
            <a:avLst/>
          </a:prstGeom>
          <a:noFill/>
        </p:spPr>
        <p:txBody>
          <a:bodyPr wrap="square" lIns="18288" tIns="9144" rIns="18288" bIns="9144" anchor="t">
            <a:spAutoFit/>
          </a:bodyPr>
          <a:lstStyle/>
          <a:p>
            <a:pPr algn="l">
              <a:spcBef>
                <a:spcPts val="300"/>
              </a:spcBef>
            </a:pPr>
            <a:r>
              <a:rPr lang="en-US" sz="2200" b="1" i="0" dirty="0">
                <a:latin typeface="Calibri"/>
              </a:rPr>
              <a:t>Note: </a:t>
            </a:r>
            <a:r>
              <a:rPr sz="2200" b="0" i="0" dirty="0">
                <a:latin typeface="Calibri"/>
              </a:rPr>
              <a:t>C</a:t>
            </a:r>
            <a:r>
              <a:rPr lang="en-US" sz="2200" b="0" i="0" dirty="0">
                <a:latin typeface="Calibri"/>
              </a:rPr>
              <a:t>HE c</a:t>
            </a:r>
            <a:r>
              <a:rPr sz="2200" b="0" i="0" dirty="0">
                <a:latin typeface="Calibri"/>
              </a:rPr>
              <a:t>ases per year at </a:t>
            </a:r>
            <a:r>
              <a:rPr lang="en-US" sz="2200" dirty="0">
                <a:latin typeface="Calibri"/>
              </a:rPr>
              <a:t>a</a:t>
            </a:r>
            <a:r>
              <a:rPr sz="2200" b="0" i="0" dirty="0">
                <a:latin typeface="Calibri"/>
              </a:rPr>
              <a:t> 10% threshold</a:t>
            </a:r>
            <a:r>
              <a:rPr lang="en-US" sz="2200" dirty="0">
                <a:latin typeface="Calibri"/>
              </a:rPr>
              <a:t> of annual consumption expenditures</a:t>
            </a:r>
            <a:endParaRPr sz="2200" b="0" i="0" dirty="0">
              <a:latin typeface="Calibri"/>
            </a:endParaRPr>
          </a:p>
        </p:txBody>
      </p:sp>
    </p:spTree>
    <p:extLst>
      <p:ext uri="{BB962C8B-B14F-4D97-AF65-F5344CB8AC3E}">
        <p14:creationId xmlns:p14="http://schemas.microsoft.com/office/powerpoint/2010/main" val="153985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7C00C-B69F-4C00-8EE8-74864503FD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CD423F-4074-A449-296F-6D87592EC85B}"/>
              </a:ext>
            </a:extLst>
          </p:cNvPr>
          <p:cNvSpPr>
            <a:spLocks noGrp="1"/>
          </p:cNvSpPr>
          <p:nvPr>
            <p:ph idx="1"/>
          </p:nvPr>
        </p:nvSpPr>
        <p:spPr>
          <a:xfrm>
            <a:off x="457200" y="2667000"/>
            <a:ext cx="8229600" cy="1523999"/>
          </a:xfrm>
        </p:spPr>
        <p:txBody>
          <a:bodyPr>
            <a:noAutofit/>
          </a:bodyPr>
          <a:lstStyle/>
          <a:p>
            <a:pPr marL="0" indent="0" algn="ctr">
              <a:buNone/>
            </a:pPr>
            <a:r>
              <a:rPr lang="en-US" sz="4000" b="1" dirty="0">
                <a:solidFill>
                  <a:srgbClr val="002060"/>
                </a:solidFill>
              </a:rPr>
              <a:t>Message 4</a:t>
            </a:r>
            <a:r>
              <a:rPr lang="en-US" sz="4000" dirty="0">
                <a:solidFill>
                  <a:srgbClr val="002060"/>
                </a:solidFill>
              </a:rPr>
              <a:t>. Tobacco tax hikes bring large mortality reduction &amp; large fiscal revenues</a:t>
            </a:r>
          </a:p>
        </p:txBody>
      </p:sp>
    </p:spTree>
    <p:extLst>
      <p:ext uri="{BB962C8B-B14F-4D97-AF65-F5344CB8AC3E}">
        <p14:creationId xmlns:p14="http://schemas.microsoft.com/office/powerpoint/2010/main" val="3670903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A5412-1504-A191-41E1-825D8A378C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1DAE6D8-4002-1505-B132-EE6C37AB651C}"/>
              </a:ext>
            </a:extLst>
          </p:cNvPr>
          <p:cNvSpPr>
            <a:spLocks noGrp="1"/>
          </p:cNvSpPr>
          <p:nvPr>
            <p:ph sz="quarter" idx="13"/>
          </p:nvPr>
        </p:nvSpPr>
        <p:spPr>
          <a:xfrm>
            <a:off x="340218" y="3028525"/>
            <a:ext cx="8498981"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health gains, financial risk protection benefits, and fiscal revenues raised with different scenarios of increased tobacco taxes</a:t>
            </a:r>
          </a:p>
          <a:p>
            <a:r>
              <a:rPr lang="en-US" sz="2600" dirty="0">
                <a:latin typeface="Calibri" panose="020F0502020204030204" pitchFamily="34" charset="0"/>
                <a:cs typeface="Calibri" panose="020F0502020204030204" pitchFamily="34" charset="0"/>
              </a:rPr>
              <a:t>We assess the impact on mortality reduction, on reducing the number of cases of catastrophic health expenditures associated with out-of-pocket costs related to treatment of tobacco-related diseases, and the revenues raised</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CCC0DA87-578B-F359-CB39-CCE24B3E2139}"/>
              </a:ext>
            </a:extLst>
          </p:cNvPr>
          <p:cNvSpPr>
            <a:spLocks noGrp="1"/>
          </p:cNvSpPr>
          <p:nvPr>
            <p:ph type="body" sz="quarter" idx="12"/>
          </p:nvPr>
        </p:nvSpPr>
        <p:spPr>
          <a:xfrm>
            <a:off x="510594" y="1321303"/>
            <a:ext cx="8176206"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health and financial consequences of increased tobacco taxes in Indonesia?</a:t>
            </a:r>
          </a:p>
        </p:txBody>
      </p:sp>
      <p:sp>
        <p:nvSpPr>
          <p:cNvPr id="8" name="Content Placeholder 3">
            <a:extLst>
              <a:ext uri="{FF2B5EF4-FFF2-40B4-BE49-F238E27FC236}">
                <a16:creationId xmlns:a16="http://schemas.microsoft.com/office/drawing/2014/main" id="{56031C42-A509-3706-7F2B-9D201C906E3C}"/>
              </a:ext>
            </a:extLst>
          </p:cNvPr>
          <p:cNvSpPr txBox="1">
            <a:spLocks/>
          </p:cNvSpPr>
          <p:nvPr/>
        </p:nvSpPr>
        <p:spPr>
          <a:xfrm>
            <a:off x="756997" y="5194641"/>
            <a:ext cx="7753411"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1500" b="1" dirty="0">
              <a:latin typeface="Arial" panose="020B0604020202020204" pitchFamily="34" charset="0"/>
              <a:ea typeface="Times New Roman" panose="02020603050405020304" pitchFamily="18" charset="0"/>
              <a:cs typeface="Arial" panose="020B0604020202020204" pitchFamily="34" charset="0"/>
            </a:endParaRPr>
          </a:p>
        </p:txBody>
      </p:sp>
      <p:sp>
        <p:nvSpPr>
          <p:cNvPr id="2" name="TextBox 1">
            <a:extLst>
              <a:ext uri="{FF2B5EF4-FFF2-40B4-BE49-F238E27FC236}">
                <a16:creationId xmlns:a16="http://schemas.microsoft.com/office/drawing/2014/main" id="{10F189BB-157D-8BC6-3512-E2766A4A6ADD}"/>
              </a:ext>
            </a:extLst>
          </p:cNvPr>
          <p:cNvSpPr txBox="1"/>
          <p:nvPr/>
        </p:nvSpPr>
        <p:spPr>
          <a:xfrm>
            <a:off x="304801" y="6248401"/>
            <a:ext cx="8686799" cy="353943"/>
          </a:xfrm>
          <a:prstGeom prst="rect">
            <a:avLst/>
          </a:prstGeom>
          <a:noFill/>
        </p:spPr>
        <p:txBody>
          <a:bodyPr wrap="square" rtlCol="0">
            <a:spAutoFit/>
          </a:bodyPr>
          <a:lstStyle/>
          <a:p>
            <a:pPr algn="ctr"/>
            <a:r>
              <a:rPr lang="en-US" sz="1700" dirty="0">
                <a:solidFill>
                  <a:srgbClr val="000000"/>
                </a:solidFill>
              </a:rPr>
              <a:t>Adapted from: </a:t>
            </a:r>
            <a:r>
              <a:rPr lang="en-US" sz="1700" dirty="0" err="1">
                <a:solidFill>
                  <a:srgbClr val="000000"/>
                </a:solidFill>
              </a:rPr>
              <a:t>Lisus</a:t>
            </a:r>
            <a:r>
              <a:rPr lang="en-US" sz="1700" dirty="0">
                <a:solidFill>
                  <a:srgbClr val="000000"/>
                </a:solidFill>
              </a:rPr>
              <a:t>, Roy, et al. </a:t>
            </a:r>
            <a:r>
              <a:rPr lang="en-US" sz="1700" i="1" dirty="0">
                <a:solidFill>
                  <a:srgbClr val="000000"/>
                </a:solidFill>
              </a:rPr>
              <a:t>Forthcoming; </a:t>
            </a:r>
            <a:r>
              <a:rPr lang="en-US" sz="1700" dirty="0">
                <a:solidFill>
                  <a:srgbClr val="000000"/>
                </a:solidFill>
              </a:rPr>
              <a:t>Verguet, Gauvreau et al. </a:t>
            </a:r>
            <a:r>
              <a:rPr lang="en-US" sz="1700" i="1" dirty="0">
                <a:solidFill>
                  <a:srgbClr val="000000"/>
                </a:solidFill>
              </a:rPr>
              <a:t>Lancet Global Health </a:t>
            </a:r>
            <a:r>
              <a:rPr lang="en-US" sz="1700" dirty="0">
                <a:solidFill>
                  <a:srgbClr val="000000"/>
                </a:solidFill>
              </a:rPr>
              <a:t>2015</a:t>
            </a:r>
          </a:p>
        </p:txBody>
      </p:sp>
    </p:spTree>
    <p:extLst>
      <p:ext uri="{BB962C8B-B14F-4D97-AF65-F5344CB8AC3E}">
        <p14:creationId xmlns:p14="http://schemas.microsoft.com/office/powerpoint/2010/main" val="453036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04800" y="1335024"/>
            <a:ext cx="2514600" cy="1316736"/>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WHO SMOKES</a:t>
            </a:r>
          </a:p>
          <a:p>
            <a:pPr algn="l">
              <a:spcBef>
                <a:spcPts val="300"/>
              </a:spcBef>
            </a:pPr>
            <a:r>
              <a:rPr b="1" i="0" dirty="0">
                <a:solidFill>
                  <a:srgbClr val="262626"/>
                </a:solidFill>
                <a:latin typeface="Calibri"/>
              </a:rPr>
              <a:t>62.8M smokers</a:t>
            </a:r>
          </a:p>
          <a:p>
            <a:pPr algn="l">
              <a:spcBef>
                <a:spcPts val="400"/>
              </a:spcBef>
            </a:pPr>
            <a:r>
              <a:rPr sz="1600" b="0" i="0" dirty="0">
                <a:solidFill>
                  <a:schemeClr val="tx1"/>
                </a:solidFill>
                <a:latin typeface="Calibri"/>
              </a:rPr>
              <a:t>aged 15+, split by quintile, age and sex  (SKI 2023)</a:t>
            </a:r>
          </a:p>
        </p:txBody>
      </p:sp>
      <p:sp>
        <p:nvSpPr>
          <p:cNvPr id="5" name="Rounded Rectangle 4"/>
          <p:cNvSpPr/>
          <p:nvPr/>
        </p:nvSpPr>
        <p:spPr>
          <a:xfrm>
            <a:off x="2014728" y="1225295"/>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dirty="0">
                <a:solidFill>
                  <a:srgbClr val="FFFFFF"/>
                </a:solidFill>
                <a:latin typeface="Calibri"/>
              </a:rPr>
              <a:t>INPUT 1</a:t>
            </a:r>
          </a:p>
        </p:txBody>
      </p:sp>
      <p:sp>
        <p:nvSpPr>
          <p:cNvPr id="6" name="Right Arrow 5"/>
          <p:cNvSpPr/>
          <p:nvPr/>
        </p:nvSpPr>
        <p:spPr>
          <a:xfrm>
            <a:off x="2869692" y="1792224"/>
            <a:ext cx="196596" cy="219456"/>
          </a:xfrm>
          <a:prstGeom prst="right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116579" y="1335023"/>
            <a:ext cx="2884935" cy="1316735"/>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TAX → PRICE</a:t>
            </a:r>
          </a:p>
          <a:p>
            <a:pPr>
              <a:spcBef>
                <a:spcPts val="300"/>
              </a:spcBef>
            </a:pPr>
            <a:r>
              <a:rPr b="1" i="0" dirty="0">
                <a:solidFill>
                  <a:srgbClr val="262626"/>
                </a:solidFill>
                <a:latin typeface="Calibri"/>
              </a:rPr>
              <a:t>+50% excise </a:t>
            </a:r>
            <a:r>
              <a:rPr lang="en-US" b="1" i="0" dirty="0">
                <a:solidFill>
                  <a:srgbClr val="262626"/>
                </a:solidFill>
                <a:latin typeface="Calibri"/>
              </a:rPr>
              <a:t>→ </a:t>
            </a:r>
            <a:r>
              <a:rPr b="1" i="0" dirty="0">
                <a:solidFill>
                  <a:srgbClr val="262626"/>
                </a:solidFill>
                <a:latin typeface="Calibri"/>
              </a:rPr>
              <a:t>+19% price</a:t>
            </a:r>
          </a:p>
          <a:p>
            <a:pPr algn="l">
              <a:spcBef>
                <a:spcPts val="400"/>
              </a:spcBef>
            </a:pPr>
            <a:r>
              <a:rPr lang="en-US" sz="1600" b="0" i="0" dirty="0">
                <a:solidFill>
                  <a:schemeClr val="tx1"/>
                </a:solidFill>
                <a:latin typeface="Calibri"/>
              </a:rPr>
              <a:t>Currently </a:t>
            </a:r>
            <a:r>
              <a:rPr sz="1600" b="0" i="0" dirty="0">
                <a:solidFill>
                  <a:schemeClr val="tx1"/>
                </a:solidFill>
                <a:latin typeface="Calibri"/>
              </a:rPr>
              <a:t>excise</a:t>
            </a:r>
            <a:r>
              <a:rPr lang="en-US" sz="1600" b="0" i="0" dirty="0">
                <a:solidFill>
                  <a:schemeClr val="tx1"/>
                </a:solidFill>
                <a:latin typeface="Calibri"/>
              </a:rPr>
              <a:t> tax</a:t>
            </a:r>
            <a:r>
              <a:rPr sz="1600" b="0" i="0" dirty="0">
                <a:solidFill>
                  <a:schemeClr val="tx1"/>
                </a:solidFill>
                <a:latin typeface="Calibri"/>
              </a:rPr>
              <a:t> is 38% of the retail price</a:t>
            </a:r>
            <a:r>
              <a:rPr lang="en-US" sz="1600" b="0" i="0" dirty="0">
                <a:solidFill>
                  <a:schemeClr val="tx1"/>
                </a:solidFill>
                <a:latin typeface="Calibri"/>
              </a:rPr>
              <a:t> of cigarettes</a:t>
            </a:r>
            <a:endParaRPr sz="1600" b="0" i="0" dirty="0">
              <a:solidFill>
                <a:schemeClr val="tx1"/>
              </a:solidFill>
              <a:latin typeface="Calibri"/>
            </a:endParaRPr>
          </a:p>
        </p:txBody>
      </p:sp>
      <p:sp>
        <p:nvSpPr>
          <p:cNvPr id="8" name="Rounded Rectangle 7"/>
          <p:cNvSpPr/>
          <p:nvPr/>
        </p:nvSpPr>
        <p:spPr>
          <a:xfrm>
            <a:off x="5136642" y="1236042"/>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2</a:t>
            </a:r>
          </a:p>
        </p:txBody>
      </p:sp>
      <p:sp>
        <p:nvSpPr>
          <p:cNvPr id="9" name="Right Arrow 8"/>
          <p:cNvSpPr/>
          <p:nvPr/>
        </p:nvSpPr>
        <p:spPr>
          <a:xfrm>
            <a:off x="6050280" y="1792224"/>
            <a:ext cx="196596" cy="219456"/>
          </a:xfrm>
          <a:prstGeom prst="right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97168" y="1335024"/>
            <a:ext cx="2514600" cy="1316734"/>
          </a:xfrm>
          <a:prstGeom prst="roundRect">
            <a:avLst>
              <a:gd name="adj" fmla="val 6000"/>
            </a:avLst>
          </a:prstGeom>
          <a:solidFill>
            <a:srgbClr val="EDF1F7"/>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36576" rtlCol="0" anchor="t"/>
          <a:lstStyle/>
          <a:p>
            <a:pPr algn="l"/>
            <a:r>
              <a:rPr sz="1400" b="1" i="0" dirty="0">
                <a:solidFill>
                  <a:srgbClr val="002060"/>
                </a:solidFill>
                <a:latin typeface="Calibri"/>
              </a:rPr>
              <a:t>HOW SMOKERS RESPOND</a:t>
            </a:r>
          </a:p>
          <a:p>
            <a:pPr algn="l">
              <a:spcBef>
                <a:spcPts val="300"/>
              </a:spcBef>
            </a:pPr>
            <a:r>
              <a:rPr b="1" i="0" dirty="0">
                <a:solidFill>
                  <a:srgbClr val="262626"/>
                </a:solidFill>
                <a:latin typeface="Calibri"/>
              </a:rPr>
              <a:t>Two </a:t>
            </a:r>
            <a:r>
              <a:rPr lang="en-US" b="1" i="0" dirty="0">
                <a:solidFill>
                  <a:srgbClr val="262626"/>
                </a:solidFill>
                <a:latin typeface="Calibri"/>
              </a:rPr>
              <a:t>response</a:t>
            </a:r>
            <a:r>
              <a:rPr b="1" i="0" dirty="0">
                <a:solidFill>
                  <a:srgbClr val="262626"/>
                </a:solidFill>
                <a:latin typeface="Calibri"/>
              </a:rPr>
              <a:t>s</a:t>
            </a:r>
          </a:p>
          <a:p>
            <a:pPr algn="l">
              <a:spcBef>
                <a:spcPts val="400"/>
              </a:spcBef>
            </a:pPr>
            <a:r>
              <a:rPr lang="en-US" sz="1600" dirty="0">
                <a:solidFill>
                  <a:schemeClr val="tx1"/>
                </a:solidFill>
                <a:latin typeface="Calibri"/>
              </a:rPr>
              <a:t>P</a:t>
            </a:r>
            <a:r>
              <a:rPr lang="en-US" sz="1600" b="0" i="0" dirty="0">
                <a:solidFill>
                  <a:schemeClr val="tx1"/>
                </a:solidFill>
                <a:latin typeface="Calibri"/>
              </a:rPr>
              <a:t>rice </a:t>
            </a:r>
            <a:r>
              <a:rPr sz="1600" b="0" i="0" dirty="0">
                <a:solidFill>
                  <a:schemeClr val="tx1"/>
                </a:solidFill>
                <a:latin typeface="Calibri"/>
              </a:rPr>
              <a:t>elasticities, by age </a:t>
            </a:r>
            <a:r>
              <a:rPr lang="en-US" sz="1600" b="0" i="0" dirty="0">
                <a:solidFill>
                  <a:schemeClr val="tx1"/>
                </a:solidFill>
                <a:latin typeface="Calibri"/>
              </a:rPr>
              <a:t>and income </a:t>
            </a:r>
            <a:r>
              <a:rPr sz="1600" b="0" i="0" dirty="0">
                <a:solidFill>
                  <a:schemeClr val="tx1"/>
                </a:solidFill>
                <a:latin typeface="Calibri"/>
              </a:rPr>
              <a:t>group</a:t>
            </a:r>
          </a:p>
        </p:txBody>
      </p:sp>
      <p:sp>
        <p:nvSpPr>
          <p:cNvPr id="11" name="Rounded Rectangle 10"/>
          <p:cNvSpPr/>
          <p:nvPr/>
        </p:nvSpPr>
        <p:spPr>
          <a:xfrm>
            <a:off x="8007095" y="1225295"/>
            <a:ext cx="731520" cy="219456"/>
          </a:xfrm>
          <a:prstGeom prst="roundRect">
            <a:avLst>
              <a:gd name="adj" fmla="val 3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200" b="1" i="0">
                <a:solidFill>
                  <a:srgbClr val="FFFFFF"/>
                </a:solidFill>
                <a:latin typeface="Calibri"/>
              </a:rPr>
              <a:t>INPUT 3</a:t>
            </a:r>
          </a:p>
        </p:txBody>
      </p:sp>
      <p:sp>
        <p:nvSpPr>
          <p:cNvPr id="12" name="Down Arrow 11"/>
          <p:cNvSpPr/>
          <p:nvPr/>
        </p:nvSpPr>
        <p:spPr>
          <a:xfrm>
            <a:off x="4450080" y="274320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04800" y="3054096"/>
            <a:ext cx="4267200" cy="1188720"/>
          </a:xfrm>
          <a:prstGeom prst="roundRect">
            <a:avLst>
              <a:gd name="adj" fmla="val 6000"/>
            </a:avLst>
          </a:prstGeom>
          <a:solidFill>
            <a:srgbClr val="EAF3F0"/>
          </a:solidFill>
          <a:ln w="15875">
            <a:solidFill>
              <a:srgbClr val="117864"/>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36576" rtlCol="0" anchor="t"/>
          <a:lstStyle/>
          <a:p>
            <a:pPr algn="l"/>
            <a:r>
              <a:rPr lang="en-US" sz="1600" b="1" i="0" dirty="0">
                <a:solidFill>
                  <a:srgbClr val="117864"/>
                </a:solidFill>
                <a:latin typeface="Calibri"/>
              </a:rPr>
              <a:t>HEALTH GAIN RESPONSE</a:t>
            </a:r>
            <a:endParaRPr sz="1600" b="1" i="0" dirty="0">
              <a:solidFill>
                <a:srgbClr val="117864"/>
              </a:solidFill>
              <a:latin typeface="Calibri"/>
            </a:endParaRPr>
          </a:p>
          <a:p>
            <a:pPr algn="l">
              <a:spcBef>
                <a:spcPts val="500"/>
              </a:spcBef>
            </a:pPr>
            <a:r>
              <a:rPr sz="1400" b="0" i="0" dirty="0">
                <a:solidFill>
                  <a:schemeClr val="tx1"/>
                </a:solidFill>
                <a:latin typeface="Calibri"/>
              </a:rPr>
              <a:t>Quitters </a:t>
            </a:r>
            <a:r>
              <a:rPr lang="en-US" sz="1400" b="0" i="0" dirty="0">
                <a:solidFill>
                  <a:schemeClr val="tx1"/>
                </a:solidFill>
                <a:latin typeface="Calibri"/>
              </a:rPr>
              <a:t>lose</a:t>
            </a:r>
            <a:r>
              <a:rPr sz="1400" b="0" i="0" dirty="0">
                <a:solidFill>
                  <a:schemeClr val="tx1"/>
                </a:solidFill>
                <a:latin typeface="Calibri"/>
              </a:rPr>
              <a:t> most of their </a:t>
            </a:r>
            <a:r>
              <a:rPr lang="en-US" sz="1400" b="0" i="0" dirty="0">
                <a:solidFill>
                  <a:schemeClr val="tx1"/>
                </a:solidFill>
                <a:latin typeface="Calibri"/>
              </a:rPr>
              <a:t>increased mortality risk (50%), moderated by age</a:t>
            </a:r>
            <a:endParaRPr sz="1400" b="0" i="0" dirty="0">
              <a:solidFill>
                <a:schemeClr val="tx1"/>
              </a:solidFill>
              <a:latin typeface="Calibri"/>
            </a:endParaRPr>
          </a:p>
          <a:p>
            <a:pPr algn="l">
              <a:spcBef>
                <a:spcPts val="400"/>
              </a:spcBef>
            </a:pPr>
            <a:r>
              <a:rPr lang="en-US" sz="1400" dirty="0">
                <a:solidFill>
                  <a:schemeClr val="tx1"/>
                </a:solidFill>
                <a:latin typeface="Calibri"/>
              </a:rPr>
              <a:t>Impact on</a:t>
            </a:r>
            <a:r>
              <a:rPr sz="1400" b="0" i="0" dirty="0">
                <a:solidFill>
                  <a:schemeClr val="tx1"/>
                </a:solidFill>
                <a:latin typeface="Calibri"/>
              </a:rPr>
              <a:t> 19 tobacco-</a:t>
            </a:r>
            <a:r>
              <a:rPr lang="en-US" sz="1400" b="0" i="0" dirty="0">
                <a:solidFill>
                  <a:schemeClr val="tx1"/>
                </a:solidFill>
                <a:latin typeface="Calibri"/>
              </a:rPr>
              <a:t>related</a:t>
            </a:r>
            <a:r>
              <a:rPr sz="1400" b="0" i="0" dirty="0">
                <a:solidFill>
                  <a:schemeClr val="tx1"/>
                </a:solidFill>
                <a:latin typeface="Calibri"/>
              </a:rPr>
              <a:t> conditions </a:t>
            </a:r>
            <a:r>
              <a:rPr lang="en-US" sz="1400" b="0" i="0" dirty="0">
                <a:solidFill>
                  <a:schemeClr val="tx1"/>
                </a:solidFill>
                <a:latin typeface="Calibri"/>
              </a:rPr>
              <a:t>(</a:t>
            </a:r>
            <a:r>
              <a:rPr sz="1400" b="0" i="0" dirty="0">
                <a:solidFill>
                  <a:schemeClr val="tx1"/>
                </a:solidFill>
                <a:latin typeface="Calibri"/>
              </a:rPr>
              <a:t>GBD 202</a:t>
            </a:r>
            <a:r>
              <a:rPr lang="en-US" sz="1400" b="0" i="0" dirty="0">
                <a:solidFill>
                  <a:schemeClr val="tx1"/>
                </a:solidFill>
                <a:latin typeface="Calibri"/>
              </a:rPr>
              <a:t>3)</a:t>
            </a:r>
            <a:endParaRPr sz="1400" b="0" i="0" dirty="0">
              <a:solidFill>
                <a:schemeClr val="tx1"/>
              </a:solidFill>
              <a:latin typeface="Calibri"/>
            </a:endParaRPr>
          </a:p>
        </p:txBody>
      </p:sp>
      <p:sp>
        <p:nvSpPr>
          <p:cNvPr id="14" name="Rounded Rectangle 13"/>
          <p:cNvSpPr/>
          <p:nvPr/>
        </p:nvSpPr>
        <p:spPr>
          <a:xfrm>
            <a:off x="4709160" y="3054096"/>
            <a:ext cx="4102608" cy="1188720"/>
          </a:xfrm>
          <a:prstGeom prst="roundRect">
            <a:avLst>
              <a:gd name="adj" fmla="val 6000"/>
            </a:avLst>
          </a:prstGeom>
          <a:solidFill>
            <a:srgbClr val="EAF1F7"/>
          </a:solidFill>
          <a:ln w="15875">
            <a:solidFill>
              <a:srgbClr val="2471A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36576" rtlCol="0" anchor="t"/>
          <a:lstStyle/>
          <a:p>
            <a:pPr algn="l"/>
            <a:r>
              <a:rPr lang="en-US" sz="1600" b="1" i="0" dirty="0">
                <a:solidFill>
                  <a:srgbClr val="2471A3"/>
                </a:solidFill>
                <a:latin typeface="Calibri"/>
              </a:rPr>
              <a:t>FISCAL GAIN RESPONSE</a:t>
            </a:r>
            <a:endParaRPr sz="1600" b="1" i="0" dirty="0">
              <a:solidFill>
                <a:srgbClr val="2471A3"/>
              </a:solidFill>
              <a:latin typeface="Calibri"/>
            </a:endParaRPr>
          </a:p>
          <a:p>
            <a:pPr>
              <a:spcBef>
                <a:spcPts val="500"/>
              </a:spcBef>
            </a:pPr>
            <a:r>
              <a:rPr lang="en-US" sz="1600" dirty="0">
                <a:solidFill>
                  <a:schemeClr val="tx1"/>
                </a:solidFill>
              </a:rPr>
              <a:t>Higher prices lead to higher revenues even though cigarette consumption decreases</a:t>
            </a:r>
            <a:endParaRPr sz="1600" b="0" i="0" dirty="0">
              <a:solidFill>
                <a:schemeClr val="tx1"/>
              </a:solidFill>
              <a:latin typeface="Calibri"/>
            </a:endParaRPr>
          </a:p>
        </p:txBody>
      </p:sp>
      <p:sp>
        <p:nvSpPr>
          <p:cNvPr id="15" name="Down Arrow 14"/>
          <p:cNvSpPr/>
          <p:nvPr/>
        </p:nvSpPr>
        <p:spPr>
          <a:xfrm>
            <a:off x="2308860" y="42976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own Arrow 15"/>
          <p:cNvSpPr/>
          <p:nvPr/>
        </p:nvSpPr>
        <p:spPr>
          <a:xfrm>
            <a:off x="6560820" y="4297680"/>
            <a:ext cx="274320" cy="237744"/>
          </a:xfrm>
          <a:prstGeom prst="downArrow">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04800" y="4571999"/>
            <a:ext cx="4267200" cy="1846049"/>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pPr algn="l"/>
            <a:r>
              <a:rPr sz="1600" b="1" i="0" dirty="0">
                <a:solidFill>
                  <a:srgbClr val="002060"/>
                </a:solidFill>
                <a:latin typeface="Calibri"/>
              </a:rPr>
              <a:t>RESULT 1  </a:t>
            </a:r>
            <a:r>
              <a:rPr lang="en-US" sz="1600" b="1" i="0" dirty="0">
                <a:solidFill>
                  <a:srgbClr val="262626"/>
                </a:solidFill>
                <a:latin typeface="Calibri"/>
              </a:rPr>
              <a:t>MORTALITY REDUCTION</a:t>
            </a:r>
            <a:endParaRPr sz="1600" b="1" i="0" dirty="0">
              <a:solidFill>
                <a:srgbClr val="262626"/>
              </a:solidFill>
              <a:latin typeface="Calibri"/>
            </a:endParaRPr>
          </a:p>
          <a:p>
            <a:pPr algn="l"/>
            <a:r>
              <a:rPr lang="en-US" sz="1600" dirty="0">
                <a:solidFill>
                  <a:schemeClr val="tx1"/>
                </a:solidFill>
                <a:latin typeface="Calibri"/>
              </a:rPr>
              <a:t>P</a:t>
            </a:r>
            <a:r>
              <a:rPr sz="1600" b="0" i="0" dirty="0">
                <a:solidFill>
                  <a:schemeClr val="tx1"/>
                </a:solidFill>
                <a:latin typeface="Calibri"/>
              </a:rPr>
              <a:t>remature deaths averted over the lifetime of today's smokers</a:t>
            </a:r>
          </a:p>
          <a:p>
            <a:pPr algn="l">
              <a:spcBef>
                <a:spcPts val="600"/>
              </a:spcBef>
            </a:pPr>
            <a:r>
              <a:rPr sz="1600" b="1" i="0" dirty="0">
                <a:solidFill>
                  <a:srgbClr val="002060"/>
                </a:solidFill>
                <a:latin typeface="Calibri"/>
              </a:rPr>
              <a:t>RESULT 2  </a:t>
            </a:r>
            <a:r>
              <a:rPr lang="en-US" sz="1600" b="1" i="0" dirty="0">
                <a:solidFill>
                  <a:srgbClr val="262626"/>
                </a:solidFill>
                <a:latin typeface="Calibri"/>
              </a:rPr>
              <a:t>CATASTROPHIC EXPENDITURES AVERTED</a:t>
            </a:r>
            <a:endParaRPr sz="1600" b="1" i="0" dirty="0">
              <a:solidFill>
                <a:srgbClr val="262626"/>
              </a:solidFill>
              <a:latin typeface="Calibri"/>
            </a:endParaRPr>
          </a:p>
          <a:p>
            <a:r>
              <a:rPr lang="en-US" sz="1600" dirty="0">
                <a:solidFill>
                  <a:schemeClr val="tx1"/>
                </a:solidFill>
                <a:latin typeface="Calibri"/>
              </a:rPr>
              <a:t>Same JKN coverage assumptions as before</a:t>
            </a:r>
            <a:endParaRPr sz="1600" b="0" i="0" dirty="0">
              <a:solidFill>
                <a:schemeClr val="tx1"/>
              </a:solidFill>
              <a:latin typeface="Calibri"/>
            </a:endParaRPr>
          </a:p>
        </p:txBody>
      </p:sp>
      <p:sp>
        <p:nvSpPr>
          <p:cNvPr id="18" name="Rounded Rectangle 17"/>
          <p:cNvSpPr/>
          <p:nvPr/>
        </p:nvSpPr>
        <p:spPr>
          <a:xfrm>
            <a:off x="4709160" y="4572000"/>
            <a:ext cx="4102608" cy="1295400"/>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pPr algn="l"/>
            <a:r>
              <a:rPr sz="1600" b="1" i="0" dirty="0">
                <a:solidFill>
                  <a:srgbClr val="002060"/>
                </a:solidFill>
                <a:latin typeface="Calibri"/>
              </a:rPr>
              <a:t>RESULT 3  </a:t>
            </a:r>
            <a:r>
              <a:rPr lang="en-US" sz="1600" b="1" dirty="0">
                <a:solidFill>
                  <a:srgbClr val="262626"/>
                </a:solidFill>
                <a:latin typeface="Calibri"/>
              </a:rPr>
              <a:t>REVENUES RAISED</a:t>
            </a:r>
            <a:endParaRPr sz="1600" b="1" i="0" dirty="0">
              <a:solidFill>
                <a:srgbClr val="262626"/>
              </a:solidFill>
              <a:latin typeface="Calibri"/>
            </a:endParaRPr>
          </a:p>
          <a:p>
            <a:pPr algn="l"/>
            <a:r>
              <a:rPr lang="en-US" sz="1600" dirty="0">
                <a:solidFill>
                  <a:schemeClr val="tx1"/>
                </a:solidFill>
                <a:latin typeface="Calibri"/>
              </a:rPr>
              <a:t>E</a:t>
            </a:r>
            <a:r>
              <a:rPr sz="1600" b="0" i="0" dirty="0">
                <a:solidFill>
                  <a:schemeClr val="tx1"/>
                </a:solidFill>
                <a:latin typeface="Calibri"/>
              </a:rPr>
              <a:t>xcise revenue</a:t>
            </a:r>
            <a:r>
              <a:rPr lang="en-US" sz="1600" b="0" i="0" dirty="0">
                <a:solidFill>
                  <a:schemeClr val="tx1"/>
                </a:solidFill>
                <a:latin typeface="Calibri"/>
              </a:rPr>
              <a:t>s</a:t>
            </a:r>
            <a:r>
              <a:rPr sz="1600" b="0" i="0" dirty="0">
                <a:solidFill>
                  <a:schemeClr val="tx1"/>
                </a:solidFill>
                <a:latin typeface="Calibri"/>
              </a:rPr>
              <a:t> rise</a:t>
            </a:r>
            <a:r>
              <a:rPr lang="en-US" sz="1600" dirty="0">
                <a:solidFill>
                  <a:schemeClr val="tx1"/>
                </a:solidFill>
                <a:latin typeface="Calibri"/>
              </a:rPr>
              <a:t> </a:t>
            </a:r>
          </a:p>
          <a:p>
            <a:pPr algn="l"/>
            <a:r>
              <a:rPr lang="en-US" sz="1600" dirty="0">
                <a:solidFill>
                  <a:schemeClr val="tx1"/>
                </a:solidFill>
                <a:latin typeface="Calibri"/>
              </a:rPr>
              <a:t>T</a:t>
            </a:r>
            <a:r>
              <a:rPr lang="en-US" sz="1600" b="0" i="0" dirty="0">
                <a:solidFill>
                  <a:schemeClr val="tx1"/>
                </a:solidFill>
                <a:latin typeface="Calibri"/>
              </a:rPr>
              <a:t>he distribution of increased </a:t>
            </a:r>
            <a:r>
              <a:rPr sz="1600" b="0" i="0" dirty="0">
                <a:solidFill>
                  <a:schemeClr val="tx1"/>
                </a:solidFill>
                <a:latin typeface="Calibri"/>
              </a:rPr>
              <a:t>tax</a:t>
            </a:r>
            <a:r>
              <a:rPr lang="en-US" sz="1600" b="0" i="0" dirty="0">
                <a:solidFill>
                  <a:schemeClr val="tx1"/>
                </a:solidFill>
                <a:latin typeface="Calibri"/>
              </a:rPr>
              <a:t> revenues</a:t>
            </a:r>
            <a:r>
              <a:rPr sz="1600" b="0" i="0" dirty="0">
                <a:solidFill>
                  <a:schemeClr val="tx1"/>
                </a:solidFill>
                <a:latin typeface="Calibri"/>
              </a:rPr>
              <a:t> </a:t>
            </a:r>
            <a:r>
              <a:rPr lang="en-US" sz="1600" b="0" i="0" dirty="0">
                <a:solidFill>
                  <a:schemeClr val="tx1"/>
                </a:solidFill>
                <a:latin typeface="Calibri"/>
              </a:rPr>
              <a:t>varies </a:t>
            </a:r>
            <a:r>
              <a:rPr sz="1600" b="0" i="0" dirty="0">
                <a:solidFill>
                  <a:schemeClr val="tx1"/>
                </a:solidFill>
                <a:latin typeface="Calibri"/>
              </a:rPr>
              <a:t>by </a:t>
            </a:r>
            <a:r>
              <a:rPr lang="en-US" sz="1600" b="0" i="0" dirty="0">
                <a:solidFill>
                  <a:schemeClr val="tx1"/>
                </a:solidFill>
                <a:latin typeface="Calibri"/>
              </a:rPr>
              <a:t>income </a:t>
            </a:r>
            <a:r>
              <a:rPr sz="1600" b="0" i="0" dirty="0">
                <a:solidFill>
                  <a:schemeClr val="tx1"/>
                </a:solidFill>
                <a:latin typeface="Calibri"/>
              </a:rPr>
              <a:t>quintile</a:t>
            </a:r>
          </a:p>
        </p:txBody>
      </p:sp>
      <p:sp>
        <p:nvSpPr>
          <p:cNvPr id="19" name="TextBox 18"/>
          <p:cNvSpPr txBox="1"/>
          <p:nvPr/>
        </p:nvSpPr>
        <p:spPr>
          <a:xfrm>
            <a:off x="2308860" y="6337203"/>
            <a:ext cx="5006340" cy="457048"/>
          </a:xfrm>
          <a:prstGeom prst="rect">
            <a:avLst/>
          </a:prstGeom>
          <a:noFill/>
        </p:spPr>
        <p:txBody>
          <a:bodyPr wrap="square" lIns="18288" tIns="9144" rIns="18288" bIns="9144" anchor="t">
            <a:spAutoFit/>
          </a:bodyPr>
          <a:lstStyle/>
          <a:p>
            <a:pPr algn="l">
              <a:spcBef>
                <a:spcPts val="300"/>
              </a:spcBef>
            </a:pPr>
            <a:endParaRPr lang="en-US" sz="1200" dirty="0">
              <a:latin typeface="Calibri"/>
            </a:endParaRPr>
          </a:p>
          <a:p>
            <a:pPr>
              <a:spcBef>
                <a:spcPts val="300"/>
              </a:spcBef>
            </a:pPr>
            <a:r>
              <a:rPr lang="en-US" sz="1400" b="0" i="0" dirty="0">
                <a:latin typeface="Calibri"/>
              </a:rPr>
              <a:t>SKI = </a:t>
            </a:r>
            <a:r>
              <a:rPr lang="en-US" sz="1400" b="0" i="0" dirty="0" err="1">
                <a:latin typeface="Calibri"/>
              </a:rPr>
              <a:t>Survei</a:t>
            </a:r>
            <a:r>
              <a:rPr lang="en-US" sz="1400" b="0" i="0" dirty="0">
                <a:latin typeface="Calibri"/>
              </a:rPr>
              <a:t> Kesehatan Indonesia (Indonesia Health Survey)</a:t>
            </a:r>
          </a:p>
        </p:txBody>
      </p:sp>
      <p:sp>
        <p:nvSpPr>
          <p:cNvPr id="21" name="Title 1">
            <a:extLst>
              <a:ext uri="{FF2B5EF4-FFF2-40B4-BE49-F238E27FC236}">
                <a16:creationId xmlns:a16="http://schemas.microsoft.com/office/drawing/2014/main" id="{2C405264-5FD0-15EA-D3B6-01ABE7AFBBD2}"/>
              </a:ext>
            </a:extLst>
          </p:cNvPr>
          <p:cNvSpPr>
            <a:spLocks noGrp="1"/>
          </p:cNvSpPr>
          <p:nvPr>
            <p:ph type="title"/>
          </p:nvPr>
        </p:nvSpPr>
        <p:spPr>
          <a:xfrm>
            <a:off x="502920" y="228600"/>
            <a:ext cx="7970000" cy="834837"/>
          </a:xfrm>
        </p:spPr>
        <p:txBody>
          <a:bodyPr>
            <a:normAutofit/>
          </a:bodyPr>
          <a:lstStyle/>
          <a:p>
            <a:pPr algn="ctr"/>
            <a:r>
              <a:rPr lang="en-US" b="1" dirty="0"/>
              <a:t>Model overview</a:t>
            </a:r>
            <a:endParaRP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533400"/>
            <a:ext cx="7970000" cy="917424"/>
          </a:xfrm>
        </p:spPr>
        <p:txBody>
          <a:bodyPr>
            <a:noAutofit/>
          </a:bodyPr>
          <a:lstStyle/>
          <a:p>
            <a:pPr algn="ctr"/>
            <a:r>
              <a:rPr sz="4000" b="1" dirty="0"/>
              <a:t>Input </a:t>
            </a:r>
            <a:r>
              <a:rPr lang="en-US" sz="4000" b="1" dirty="0"/>
              <a:t>(</a:t>
            </a:r>
            <a:r>
              <a:rPr sz="4000" b="1" dirty="0"/>
              <a:t>1</a:t>
            </a:r>
            <a:r>
              <a:rPr lang="en-US" sz="4000" b="1" dirty="0"/>
              <a:t>)</a:t>
            </a:r>
            <a:r>
              <a:rPr sz="4000" b="1" dirty="0"/>
              <a:t>: </a:t>
            </a:r>
            <a:r>
              <a:rPr lang="en-US" sz="4000" dirty="0"/>
              <a:t>S</a:t>
            </a:r>
            <a:r>
              <a:rPr sz="4000" dirty="0"/>
              <a:t>moking </a:t>
            </a:r>
            <a:r>
              <a:rPr lang="en-US" sz="4000" dirty="0"/>
              <a:t>prevalence &amp; tobacco</a:t>
            </a:r>
            <a:r>
              <a:rPr sz="4000" dirty="0"/>
              <a:t> prices</a:t>
            </a:r>
          </a:p>
        </p:txBody>
      </p:sp>
      <p:graphicFrame>
        <p:nvGraphicFramePr>
          <p:cNvPr id="3" name="Table 2"/>
          <p:cNvGraphicFramePr>
            <a:graphicFrameLocks noGrp="1"/>
          </p:cNvGraphicFramePr>
          <p:nvPr>
            <p:extLst>
              <p:ext uri="{D42A27DB-BD31-4B8C-83A1-F6EECF244321}">
                <p14:modId xmlns:p14="http://schemas.microsoft.com/office/powerpoint/2010/main" val="1188290405"/>
              </p:ext>
            </p:extLst>
          </p:nvPr>
        </p:nvGraphicFramePr>
        <p:xfrm>
          <a:off x="304800" y="2109216"/>
          <a:ext cx="8686800" cy="2462784"/>
        </p:xfrm>
        <a:graphic>
          <a:graphicData uri="http://schemas.openxmlformats.org/drawingml/2006/table">
            <a:tbl>
              <a:tblPr firstRow="1">
                <a:tableStyleId>{616DA210-FB5B-4158-B5E0-FEB733F419BA}</a:tableStyleId>
              </a:tblPr>
              <a:tblGrid>
                <a:gridCol w="1213830">
                  <a:extLst>
                    <a:ext uri="{9D8B030D-6E8A-4147-A177-3AD203B41FA5}">
                      <a16:colId xmlns:a16="http://schemas.microsoft.com/office/drawing/2014/main" val="20000"/>
                    </a:ext>
                  </a:extLst>
                </a:gridCol>
                <a:gridCol w="1319380">
                  <a:extLst>
                    <a:ext uri="{9D8B030D-6E8A-4147-A177-3AD203B41FA5}">
                      <a16:colId xmlns:a16="http://schemas.microsoft.com/office/drawing/2014/main" val="20001"/>
                    </a:ext>
                  </a:extLst>
                </a:gridCol>
                <a:gridCol w="1055504">
                  <a:extLst>
                    <a:ext uri="{9D8B030D-6E8A-4147-A177-3AD203B41FA5}">
                      <a16:colId xmlns:a16="http://schemas.microsoft.com/office/drawing/2014/main" val="20002"/>
                    </a:ext>
                  </a:extLst>
                </a:gridCol>
                <a:gridCol w="1213830">
                  <a:extLst>
                    <a:ext uri="{9D8B030D-6E8A-4147-A177-3AD203B41FA5}">
                      <a16:colId xmlns:a16="http://schemas.microsoft.com/office/drawing/2014/main" val="20003"/>
                    </a:ext>
                  </a:extLst>
                </a:gridCol>
                <a:gridCol w="1213830">
                  <a:extLst>
                    <a:ext uri="{9D8B030D-6E8A-4147-A177-3AD203B41FA5}">
                      <a16:colId xmlns:a16="http://schemas.microsoft.com/office/drawing/2014/main" val="20004"/>
                    </a:ext>
                  </a:extLst>
                </a:gridCol>
                <a:gridCol w="1424931">
                  <a:extLst>
                    <a:ext uri="{9D8B030D-6E8A-4147-A177-3AD203B41FA5}">
                      <a16:colId xmlns:a16="http://schemas.microsoft.com/office/drawing/2014/main" val="20005"/>
                    </a:ext>
                  </a:extLst>
                </a:gridCol>
                <a:gridCol w="1245495">
                  <a:extLst>
                    <a:ext uri="{9D8B030D-6E8A-4147-A177-3AD203B41FA5}">
                      <a16:colId xmlns:a16="http://schemas.microsoft.com/office/drawing/2014/main" val="20006"/>
                    </a:ext>
                  </a:extLst>
                </a:gridCol>
              </a:tblGrid>
              <a:tr h="300445">
                <a:tc>
                  <a:txBody>
                    <a:bodyPr/>
                    <a:lstStyle/>
                    <a:p>
                      <a:r>
                        <a:rPr sz="1600" b="1" dirty="0">
                          <a:solidFill>
                            <a:srgbClr val="000000"/>
                          </a:solidFill>
                        </a:rPr>
                        <a:t>Quintile</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Population 15+ (M)</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Smokers (M)</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a:solidFill>
                            <a:srgbClr val="000000"/>
                          </a:solidFill>
                        </a:rPr>
                        <a:t>Prevalence 15+</a:t>
                      </a:r>
                      <a:endParaRPr sz="1600" b="1">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Cigarettes</a:t>
                      </a:r>
                      <a:endParaRPr lang="en-US" sz="1600" b="1" dirty="0">
                        <a:solidFill>
                          <a:srgbClr val="000000"/>
                        </a:solidFill>
                      </a:endParaRPr>
                    </a:p>
                    <a:p>
                      <a:r>
                        <a:rPr sz="1600" b="1" dirty="0">
                          <a:solidFill>
                            <a:srgbClr val="000000"/>
                          </a:solidFill>
                        </a:rPr>
                        <a:t>/day</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Price paid (IDR/stick)</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1" dirty="0">
                          <a:solidFill>
                            <a:srgbClr val="000000"/>
                          </a:solidFill>
                        </a:rPr>
                        <a:t>Consumption (B sticks/yr)</a:t>
                      </a:r>
                      <a:endParaRPr sz="1600" b="1"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0"/>
                  </a:ext>
                </a:extLst>
              </a:tr>
              <a:tr h="300445">
                <a:tc>
                  <a:txBody>
                    <a:bodyPr/>
                    <a:lstStyle/>
                    <a:p>
                      <a:r>
                        <a:rPr sz="1600" b="0" dirty="0">
                          <a:solidFill>
                            <a:srgbClr val="000000"/>
                          </a:solidFill>
                        </a:rPr>
                        <a:t>Q1 (poorest)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34.8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11.4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11.6</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1,465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48.3</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1"/>
                  </a:ext>
                </a:extLst>
              </a:tr>
              <a:tr h="300445">
                <a:tc>
                  <a:txBody>
                    <a:bodyPr/>
                    <a:lstStyle/>
                    <a:p>
                      <a:r>
                        <a:rPr sz="1600" b="0">
                          <a:solidFill>
                            <a:srgbClr val="000000"/>
                          </a:solidFill>
                        </a:rPr>
                        <a:t>Q2</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40.0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13.1</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1,535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56.7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2"/>
                  </a:ext>
                </a:extLst>
              </a:tr>
              <a:tr h="300445">
                <a:tc>
                  <a:txBody>
                    <a:bodyPr/>
                    <a:lstStyle/>
                    <a:p>
                      <a:r>
                        <a:rPr sz="1600" b="0">
                          <a:solidFill>
                            <a:srgbClr val="000000"/>
                          </a:solidFill>
                        </a:rPr>
                        <a:t>Q3</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44.4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13.9</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31%</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11.9</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1,615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60.4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3"/>
                  </a:ext>
                </a:extLst>
              </a:tr>
              <a:tr h="300445">
                <a:tc>
                  <a:txBody>
                    <a:bodyPr/>
                    <a:lstStyle/>
                    <a:p>
                      <a:r>
                        <a:rPr sz="1600" b="0" dirty="0">
                          <a:solidFill>
                            <a:srgbClr val="000000"/>
                          </a:solidFill>
                        </a:rPr>
                        <a:t>Q4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47.3</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13.7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29%</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1,737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60.1</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4"/>
                  </a:ext>
                </a:extLst>
              </a:tr>
              <a:tr h="300445">
                <a:tc>
                  <a:txBody>
                    <a:bodyPr/>
                    <a:lstStyle/>
                    <a:p>
                      <a:r>
                        <a:rPr sz="1600" b="0" dirty="0">
                          <a:solidFill>
                            <a:srgbClr val="000000"/>
                          </a:solidFill>
                        </a:rPr>
                        <a:t>Q5 (richest)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46.0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10.7</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23%</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12.5</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1,934</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49.2</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5"/>
                  </a:ext>
                </a:extLst>
              </a:tr>
              <a:tr h="300450">
                <a:tc>
                  <a:txBody>
                    <a:bodyPr/>
                    <a:lstStyle/>
                    <a:p>
                      <a:r>
                        <a:rPr sz="1600" b="0" dirty="0">
                          <a:solidFill>
                            <a:srgbClr val="000000"/>
                          </a:solidFill>
                        </a:rPr>
                        <a:t>TOTAL</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212.4</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62.8</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lang="en-US" sz="1600" b="0" dirty="0">
                          <a:solidFill>
                            <a:srgbClr val="000000"/>
                          </a:solidFill>
                        </a:rPr>
                        <a:t>30</a:t>
                      </a:r>
                      <a:r>
                        <a:rPr sz="1600" b="0" dirty="0">
                          <a:solidFill>
                            <a:srgbClr val="000000"/>
                          </a:solidFill>
                        </a:rPr>
                        <a:t>%</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12.0</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a:solidFill>
                            <a:srgbClr val="000000"/>
                          </a:solidFill>
                        </a:rPr>
                        <a:t>—</a:t>
                      </a:r>
                      <a:endParaRPr sz="1600" b="0">
                        <a:solidFill>
                          <a:srgbClr val="000000"/>
                        </a:solidFill>
                        <a:latin typeface="Aptos" panose="020B0004020202020204" pitchFamily="34" charset="0"/>
                        <a:cs typeface="Aparajita" panose="02020603050405020304" pitchFamily="18" charset="0"/>
                      </a:endParaRPr>
                    </a:p>
                  </a:txBody>
                  <a:tcPr marL="36576" marR="36576" marT="36576" marB="36576"/>
                </a:tc>
                <a:tc>
                  <a:txBody>
                    <a:bodyPr/>
                    <a:lstStyle/>
                    <a:p>
                      <a:r>
                        <a:rPr sz="1600" b="0" dirty="0">
                          <a:solidFill>
                            <a:srgbClr val="000000"/>
                          </a:solidFill>
                        </a:rPr>
                        <a:t>274.7</a:t>
                      </a:r>
                      <a:endParaRPr sz="1600" b="0" dirty="0">
                        <a:solidFill>
                          <a:srgbClr val="000000"/>
                        </a:solidFill>
                        <a:latin typeface="Aptos" panose="020B0004020202020204" pitchFamily="34" charset="0"/>
                        <a:cs typeface="Aparajita" panose="02020603050405020304" pitchFamily="18" charset="0"/>
                      </a:endParaRPr>
                    </a:p>
                  </a:txBody>
                  <a:tcPr marL="36576" marR="36576" marT="36576" marB="36576"/>
                </a:tc>
                <a:extLst>
                  <a:ext uri="{0D108BD9-81ED-4DB2-BD59-A6C34878D82A}">
                    <a16:rowId xmlns:a16="http://schemas.microsoft.com/office/drawing/2014/main" val="10006"/>
                  </a:ext>
                </a:extLst>
              </a:tr>
            </a:tbl>
          </a:graphicData>
        </a:graphic>
      </p:graphicFrame>
      <p:sp>
        <p:nvSpPr>
          <p:cNvPr id="4" name="TextBox 3"/>
          <p:cNvSpPr txBox="1"/>
          <p:nvPr/>
        </p:nvSpPr>
        <p:spPr>
          <a:xfrm>
            <a:off x="533400" y="4960203"/>
            <a:ext cx="8229600" cy="584775"/>
          </a:xfrm>
          <a:prstGeom prst="rect">
            <a:avLst/>
          </a:prstGeom>
          <a:noFill/>
        </p:spPr>
        <p:txBody>
          <a:bodyPr wrap="square">
            <a:spAutoFit/>
          </a:bodyPr>
          <a:lstStyle/>
          <a:p>
            <a:r>
              <a:rPr lang="en-US" sz="1600" dirty="0">
                <a:solidFill>
                  <a:srgbClr val="000000"/>
                </a:solidFill>
                <a:latin typeface="Aptos" panose="020B0004020202020204" pitchFamily="34" charset="0"/>
              </a:rPr>
              <a:t>The</a:t>
            </a:r>
            <a:r>
              <a:rPr lang="en-US" sz="1600" b="1" dirty="0">
                <a:solidFill>
                  <a:srgbClr val="000000"/>
                </a:solidFill>
                <a:latin typeface="Aptos" panose="020B0004020202020204" pitchFamily="34" charset="0"/>
              </a:rPr>
              <a:t> </a:t>
            </a:r>
            <a:r>
              <a:rPr sz="1600" dirty="0">
                <a:solidFill>
                  <a:srgbClr val="000000"/>
                </a:solidFill>
                <a:latin typeface="Aptos" panose="020B0004020202020204" pitchFamily="34" charset="0"/>
              </a:rPr>
              <a:t>poorest quintile</a:t>
            </a:r>
            <a:r>
              <a:rPr lang="en-US" sz="1600" dirty="0">
                <a:solidFill>
                  <a:srgbClr val="000000"/>
                </a:solidFill>
                <a:latin typeface="Aptos" panose="020B0004020202020204" pitchFamily="34" charset="0"/>
              </a:rPr>
              <a:t> (Q1)</a:t>
            </a:r>
            <a:r>
              <a:rPr sz="1600" dirty="0">
                <a:solidFill>
                  <a:srgbClr val="000000"/>
                </a:solidFill>
                <a:latin typeface="Aptos" panose="020B0004020202020204" pitchFamily="34" charset="0"/>
              </a:rPr>
              <a:t> has the highest smoking prevalence so carries the </a:t>
            </a:r>
            <a:r>
              <a:rPr lang="en-US" sz="1600" dirty="0">
                <a:solidFill>
                  <a:srgbClr val="000000"/>
                </a:solidFill>
                <a:latin typeface="Aptos" panose="020B0004020202020204" pitchFamily="34" charset="0"/>
              </a:rPr>
              <a:t>greatest</a:t>
            </a:r>
            <a:r>
              <a:rPr sz="1600" dirty="0">
                <a:solidFill>
                  <a:srgbClr val="000000"/>
                </a:solidFill>
                <a:latin typeface="Aptos" panose="020B0004020202020204" pitchFamily="34" charset="0"/>
              </a:rPr>
              <a:t> </a:t>
            </a:r>
            <a:r>
              <a:rPr lang="en-US" sz="1600" dirty="0">
                <a:solidFill>
                  <a:srgbClr val="000000"/>
                </a:solidFill>
                <a:latin typeface="Aptos" panose="020B0004020202020204" pitchFamily="34" charset="0"/>
              </a:rPr>
              <a:t>burden. </a:t>
            </a:r>
            <a:r>
              <a:rPr sz="1600" dirty="0">
                <a:solidFill>
                  <a:srgbClr val="000000"/>
                </a:solidFill>
                <a:latin typeface="Aptos" panose="020B0004020202020204" pitchFamily="34" charset="0"/>
              </a:rPr>
              <a:t>Modelled prevalence for ages 15+ (</a:t>
            </a:r>
            <a:r>
              <a:rPr lang="en-US" sz="1600" dirty="0">
                <a:solidFill>
                  <a:srgbClr val="000000"/>
                </a:solidFill>
                <a:latin typeface="Aptos" panose="020B0004020202020204" pitchFamily="34" charset="0"/>
              </a:rPr>
              <a:t>30</a:t>
            </a:r>
            <a:r>
              <a:rPr sz="1600" dirty="0">
                <a:solidFill>
                  <a:srgbClr val="000000"/>
                </a:solidFill>
                <a:latin typeface="Aptos" panose="020B0004020202020204" pitchFamily="34" charset="0"/>
              </a:rPr>
              <a:t>%) reproduces SKI's published figure (</a:t>
            </a:r>
            <a:r>
              <a:rPr lang="en-US" sz="1600" dirty="0">
                <a:solidFill>
                  <a:srgbClr val="000000"/>
                </a:solidFill>
                <a:latin typeface="Aptos" panose="020B0004020202020204" pitchFamily="34" charset="0"/>
              </a:rPr>
              <a:t>30</a:t>
            </a:r>
            <a:r>
              <a:rPr sz="1600" dirty="0">
                <a:solidFill>
                  <a:srgbClr val="000000"/>
                </a:solidFill>
                <a:latin typeface="Aptos" panose="020B0004020202020204" pitchFamily="34" charset="0"/>
              </a:rPr>
              <a:t>%).</a:t>
            </a:r>
          </a:p>
        </p:txBody>
      </p:sp>
      <p:sp>
        <p:nvSpPr>
          <p:cNvPr id="6" name="TextBox 5">
            <a:extLst>
              <a:ext uri="{FF2B5EF4-FFF2-40B4-BE49-F238E27FC236}">
                <a16:creationId xmlns:a16="http://schemas.microsoft.com/office/drawing/2014/main" id="{115C23C7-3F06-5BE3-DABC-AE6E2A4ACA12}"/>
              </a:ext>
            </a:extLst>
          </p:cNvPr>
          <p:cNvSpPr txBox="1"/>
          <p:nvPr/>
        </p:nvSpPr>
        <p:spPr>
          <a:xfrm>
            <a:off x="601514" y="5909101"/>
            <a:ext cx="8229600" cy="830997"/>
          </a:xfrm>
          <a:prstGeom prst="rect">
            <a:avLst/>
          </a:prstGeom>
          <a:noFill/>
        </p:spPr>
        <p:txBody>
          <a:bodyPr wrap="square">
            <a:spAutoFit/>
          </a:bodyPr>
          <a:lstStyle/>
          <a:p>
            <a:r>
              <a:rPr lang="en-US" sz="1600" b="1" dirty="0">
                <a:solidFill>
                  <a:srgbClr val="000000"/>
                </a:solidFill>
                <a:latin typeface="Aptos" panose="020B0004020202020204" pitchFamily="34" charset="0"/>
              </a:rPr>
              <a:t>Data sources: </a:t>
            </a:r>
            <a:r>
              <a:rPr lang="en-US" sz="1600" dirty="0">
                <a:solidFill>
                  <a:srgbClr val="000000"/>
                </a:solidFill>
                <a:latin typeface="Aptos" panose="020B0004020202020204" pitchFamily="34" charset="0"/>
              </a:rPr>
              <a:t>smokers and prevalence: </a:t>
            </a:r>
            <a:r>
              <a:rPr lang="en-US" sz="1600" dirty="0"/>
              <a:t>SKI 2023 (</a:t>
            </a:r>
            <a:r>
              <a:rPr lang="en-US" sz="1600" dirty="0" err="1"/>
              <a:t>Kemenkes</a:t>
            </a:r>
            <a:r>
              <a:rPr lang="en-US" sz="1600" dirty="0"/>
              <a:t>/BKPK, </a:t>
            </a:r>
            <a:r>
              <a:rPr lang="en-US" sz="1600" i="1" dirty="0"/>
              <a:t>SKI 2023 </a:t>
            </a:r>
            <a:r>
              <a:rPr lang="en-US" sz="1600" i="1" dirty="0" err="1"/>
              <a:t>Dalam</a:t>
            </a:r>
            <a:r>
              <a:rPr lang="en-US" sz="1600" i="1" dirty="0"/>
              <a:t> Angka</a:t>
            </a:r>
            <a:r>
              <a:rPr lang="en-US" sz="1600" dirty="0"/>
              <a:t>), Table 11.3; cigarettes/day: SKI 2023 Table 11.32; Price paid (IDR/stick): SKI 2023 Table 11.34; Consumption (B sticks/yr): derived </a:t>
            </a:r>
            <a:endParaRPr sz="1600" dirty="0">
              <a:solidFill>
                <a:srgbClr val="000000"/>
              </a:solidFill>
              <a:latin typeface="Aptos" panose="020B00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533400"/>
            <a:ext cx="7970000" cy="1150000"/>
          </a:xfrm>
        </p:spPr>
        <p:txBody>
          <a:bodyPr>
            <a:noAutofit/>
          </a:bodyPr>
          <a:lstStyle/>
          <a:p>
            <a:pPr algn="ctr"/>
            <a:r>
              <a:rPr sz="4000" b="1" dirty="0"/>
              <a:t>Input </a:t>
            </a:r>
            <a:r>
              <a:rPr lang="en-US" sz="4000" b="1" dirty="0"/>
              <a:t>(</a:t>
            </a:r>
            <a:r>
              <a:rPr sz="4000" b="1" dirty="0"/>
              <a:t>2</a:t>
            </a:r>
            <a:r>
              <a:rPr lang="en-US" sz="4000" b="1" dirty="0"/>
              <a:t>)</a:t>
            </a:r>
            <a:r>
              <a:rPr sz="4000" b="1" dirty="0"/>
              <a:t>: </a:t>
            </a:r>
            <a:r>
              <a:rPr lang="en-US" sz="4000" dirty="0"/>
              <a:t>T</a:t>
            </a:r>
            <a:r>
              <a:rPr sz="4000" dirty="0"/>
              <a:t>ax scenarios</a:t>
            </a:r>
            <a:br>
              <a:rPr sz="4000" dirty="0"/>
            </a:br>
            <a:r>
              <a:rPr sz="3000" dirty="0"/>
              <a:t>Current excise → modeled increase → price </a:t>
            </a:r>
            <a:r>
              <a:rPr lang="en-US" sz="3000" dirty="0"/>
              <a:t>         </a:t>
            </a:r>
            <a:r>
              <a:rPr sz="3000" dirty="0"/>
              <a:t>→ consumption</a:t>
            </a:r>
          </a:p>
        </p:txBody>
      </p:sp>
      <p:graphicFrame>
        <p:nvGraphicFramePr>
          <p:cNvPr id="3" name="Table 2"/>
          <p:cNvGraphicFramePr>
            <a:graphicFrameLocks noGrp="1"/>
          </p:cNvGraphicFramePr>
          <p:nvPr>
            <p:extLst>
              <p:ext uri="{D42A27DB-BD31-4B8C-83A1-F6EECF244321}">
                <p14:modId xmlns:p14="http://schemas.microsoft.com/office/powerpoint/2010/main" val="1740250112"/>
              </p:ext>
            </p:extLst>
          </p:nvPr>
        </p:nvGraphicFramePr>
        <p:xfrm>
          <a:off x="457200" y="2155698"/>
          <a:ext cx="8099800" cy="2950464"/>
        </p:xfrm>
        <a:graphic>
          <a:graphicData uri="http://schemas.openxmlformats.org/drawingml/2006/table">
            <a:tbl>
              <a:tblPr firstRow="1">
                <a:tableStyleId>{616DA210-FB5B-4158-B5E0-FEB733F419BA}</a:tableStyleId>
              </a:tblPr>
              <a:tblGrid>
                <a:gridCol w="1173596">
                  <a:extLst>
                    <a:ext uri="{9D8B030D-6E8A-4147-A177-3AD203B41FA5}">
                      <a16:colId xmlns:a16="http://schemas.microsoft.com/office/drawing/2014/main" val="20001"/>
                    </a:ext>
                  </a:extLst>
                </a:gridCol>
                <a:gridCol w="1123867">
                  <a:extLst>
                    <a:ext uri="{9D8B030D-6E8A-4147-A177-3AD203B41FA5}">
                      <a16:colId xmlns:a16="http://schemas.microsoft.com/office/drawing/2014/main" val="20002"/>
                    </a:ext>
                  </a:extLst>
                </a:gridCol>
                <a:gridCol w="1422239">
                  <a:extLst>
                    <a:ext uri="{9D8B030D-6E8A-4147-A177-3AD203B41FA5}">
                      <a16:colId xmlns:a16="http://schemas.microsoft.com/office/drawing/2014/main" val="20003"/>
                    </a:ext>
                  </a:extLst>
                </a:gridCol>
                <a:gridCol w="4380098">
                  <a:extLst>
                    <a:ext uri="{9D8B030D-6E8A-4147-A177-3AD203B41FA5}">
                      <a16:colId xmlns:a16="http://schemas.microsoft.com/office/drawing/2014/main" val="20004"/>
                    </a:ext>
                  </a:extLst>
                </a:gridCol>
              </a:tblGrid>
              <a:tr h="287382">
                <a:tc>
                  <a:txBody>
                    <a:bodyPr/>
                    <a:lstStyle/>
                    <a:p>
                      <a:r>
                        <a:rPr sz="1600" b="1" dirty="0">
                          <a:solidFill>
                            <a:srgbClr val="000000"/>
                          </a:solidFill>
                        </a:rPr>
                        <a:t>Excise increase</a:t>
                      </a:r>
                      <a:r>
                        <a:rPr lang="en-US" sz="1600" b="1" dirty="0">
                          <a:solidFill>
                            <a:srgbClr val="000000"/>
                          </a:solidFill>
                        </a:rPr>
                        <a:t> scenario</a:t>
                      </a:r>
                      <a:endParaRPr sz="1600" b="1" dirty="0">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Retail price</a:t>
                      </a:r>
                      <a:endParaRPr sz="1600" b="1">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Cigarettes smoked</a:t>
                      </a:r>
                      <a:endParaRPr sz="1600" b="1">
                        <a:solidFill>
                          <a:srgbClr val="000000"/>
                        </a:solidFill>
                        <a:latin typeface="Aptos" panose="020B0004020202020204" pitchFamily="34" charset="0"/>
                      </a:endParaRPr>
                    </a:p>
                  </a:txBody>
                  <a:tcPr marL="36576" marR="36576" marT="36576" marB="36576"/>
                </a:tc>
                <a:tc>
                  <a:txBody>
                    <a:bodyPr/>
                    <a:lstStyle/>
                    <a:p>
                      <a:r>
                        <a:rPr sz="1600" b="1">
                          <a:solidFill>
                            <a:srgbClr val="000000"/>
                          </a:solidFill>
                        </a:rPr>
                        <a:t>Reads as</a:t>
                      </a:r>
                      <a:endParaRPr sz="1600" b="1">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0"/>
                  </a:ext>
                </a:extLst>
              </a:tr>
              <a:tr h="287382">
                <a:tc>
                  <a:txBody>
                    <a:bodyPr/>
                    <a:lstStyle/>
                    <a:p>
                      <a:r>
                        <a:rPr lang="en-US" sz="1600" b="0" dirty="0">
                          <a:solidFill>
                            <a:srgbClr val="000000"/>
                          </a:solidFill>
                          <a:latin typeface="Aptos" panose="020B0004020202020204" pitchFamily="34" charset="0"/>
                        </a:rPr>
                        <a:t>Baseline</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a:t>
                      </a:r>
                      <a:endParaRPr sz="1600" b="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27</a:t>
                      </a:r>
                      <a:r>
                        <a:rPr lang="en-US" sz="1600" b="0" dirty="0">
                          <a:solidFill>
                            <a:srgbClr val="000000"/>
                          </a:solidFill>
                        </a:rPr>
                        <a:t>5</a:t>
                      </a:r>
                      <a:r>
                        <a:rPr sz="1600" b="0" dirty="0">
                          <a:solidFill>
                            <a:srgbClr val="000000"/>
                          </a:solidFill>
                        </a:rPr>
                        <a:t>B sticks/yr</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Current policy: tiered excise, PMK 97/2024 (2025 tariff)</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1"/>
                  </a:ext>
                </a:extLst>
              </a:tr>
              <a:tr h="287382">
                <a:tc>
                  <a:txBody>
                    <a:bodyPr/>
                    <a:lstStyle/>
                    <a:p>
                      <a:r>
                        <a:rPr sz="1600" b="0" dirty="0">
                          <a:solidFill>
                            <a:srgbClr val="000000"/>
                          </a:solidFill>
                        </a:rPr>
                        <a:t>+1</a:t>
                      </a:r>
                      <a:r>
                        <a:rPr lang="en-US" sz="1600" b="0" dirty="0">
                          <a:solidFill>
                            <a:srgbClr val="000000"/>
                          </a:solidFill>
                        </a:rPr>
                        <a:t>3</a:t>
                      </a:r>
                      <a:r>
                        <a:rPr sz="1600" b="0" dirty="0">
                          <a:solidFill>
                            <a:srgbClr val="000000"/>
                          </a:solidFill>
                        </a:rPr>
                        <a:t>%</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+4.7%</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2.4%</a:t>
                      </a:r>
                      <a:endParaRPr sz="1600" b="0" dirty="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T</a:t>
                      </a:r>
                      <a:r>
                        <a:rPr sz="1600" b="0" dirty="0">
                          <a:solidFill>
                            <a:srgbClr val="000000"/>
                          </a:solidFill>
                        </a:rPr>
                        <a:t>ypical annual tariff adjustment</a:t>
                      </a:r>
                      <a:endParaRPr sz="1600" b="0" dirty="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2"/>
                  </a:ext>
                </a:extLst>
              </a:tr>
              <a:tr h="287382">
                <a:tc>
                  <a:txBody>
                    <a:bodyPr/>
                    <a:lstStyle/>
                    <a:p>
                      <a:r>
                        <a:rPr sz="1600" b="0">
                          <a:solidFill>
                            <a:srgbClr val="000000"/>
                          </a:solidFill>
                        </a:rPr>
                        <a:t>+25%</a:t>
                      </a:r>
                      <a:endParaRPr sz="1600" b="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+9.5%</a:t>
                      </a:r>
                      <a:endParaRPr sz="1600" b="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4.8%</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Moderate reform</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3"/>
                  </a:ext>
                </a:extLst>
              </a:tr>
              <a:tr h="287382">
                <a:tc>
                  <a:txBody>
                    <a:bodyPr/>
                    <a:lstStyle/>
                    <a:p>
                      <a:r>
                        <a:rPr sz="1600" b="1" dirty="0">
                          <a:solidFill>
                            <a:srgbClr val="002060"/>
                          </a:solidFill>
                        </a:rPr>
                        <a:t>+50%</a:t>
                      </a:r>
                      <a:endParaRPr sz="1600" b="1" dirty="0">
                        <a:solidFill>
                          <a:srgbClr val="002060"/>
                        </a:solidFill>
                        <a:latin typeface="Aptos" panose="020B0004020202020204" pitchFamily="34" charset="0"/>
                      </a:endParaRPr>
                    </a:p>
                  </a:txBody>
                  <a:tcPr marL="36576" marR="36576" marT="36576" marB="36576"/>
                </a:tc>
                <a:tc>
                  <a:txBody>
                    <a:bodyPr/>
                    <a:lstStyle/>
                    <a:p>
                      <a:r>
                        <a:rPr sz="1600" b="1" dirty="0">
                          <a:solidFill>
                            <a:srgbClr val="002060"/>
                          </a:solidFill>
                        </a:rPr>
                        <a:t>+19.0%</a:t>
                      </a:r>
                      <a:endParaRPr sz="1600" b="1" dirty="0">
                        <a:solidFill>
                          <a:srgbClr val="002060"/>
                        </a:solidFill>
                        <a:latin typeface="Aptos" panose="020B0004020202020204" pitchFamily="34" charset="0"/>
                      </a:endParaRPr>
                    </a:p>
                  </a:txBody>
                  <a:tcPr marL="36576" marR="36576" marT="36576" marB="36576"/>
                </a:tc>
                <a:tc>
                  <a:txBody>
                    <a:bodyPr/>
                    <a:lstStyle/>
                    <a:p>
                      <a:r>
                        <a:rPr lang="en-US" sz="1600" b="1" dirty="0">
                          <a:solidFill>
                            <a:srgbClr val="002060"/>
                          </a:solidFill>
                        </a:rPr>
                        <a:t>-</a:t>
                      </a:r>
                      <a:r>
                        <a:rPr sz="1600" b="1" dirty="0">
                          <a:solidFill>
                            <a:srgbClr val="002060"/>
                          </a:solidFill>
                        </a:rPr>
                        <a:t>9.5%</a:t>
                      </a:r>
                      <a:endParaRPr sz="1600" b="1" dirty="0">
                        <a:solidFill>
                          <a:srgbClr val="002060"/>
                        </a:solidFill>
                        <a:latin typeface="Aptos" panose="020B0004020202020204" pitchFamily="34" charset="0"/>
                      </a:endParaRPr>
                    </a:p>
                  </a:txBody>
                  <a:tcPr marL="36576" marR="36576" marT="36576" marB="36576"/>
                </a:tc>
                <a:tc>
                  <a:txBody>
                    <a:bodyPr/>
                    <a:lstStyle/>
                    <a:p>
                      <a:r>
                        <a:rPr sz="1600" b="1" dirty="0">
                          <a:solidFill>
                            <a:srgbClr val="002060"/>
                          </a:solidFill>
                        </a:rPr>
                        <a:t>Central case used in the results that follow</a:t>
                      </a:r>
                      <a:endParaRPr sz="1600" b="1" dirty="0">
                        <a:solidFill>
                          <a:srgbClr val="002060"/>
                        </a:solidFill>
                        <a:latin typeface="Aptos" panose="020B0004020202020204" pitchFamily="34" charset="0"/>
                      </a:endParaRPr>
                    </a:p>
                  </a:txBody>
                  <a:tcPr marL="36576" marR="36576" marT="36576" marB="36576"/>
                </a:tc>
                <a:extLst>
                  <a:ext uri="{0D108BD9-81ED-4DB2-BD59-A6C34878D82A}">
                    <a16:rowId xmlns:a16="http://schemas.microsoft.com/office/drawing/2014/main" val="10004"/>
                  </a:ext>
                </a:extLst>
              </a:tr>
              <a:tr h="287382">
                <a:tc>
                  <a:txBody>
                    <a:bodyPr/>
                    <a:lstStyle/>
                    <a:p>
                      <a:r>
                        <a:rPr sz="1600" b="0">
                          <a:solidFill>
                            <a:srgbClr val="000000"/>
                          </a:solidFill>
                        </a:rPr>
                        <a:t>+100%</a:t>
                      </a:r>
                      <a:endParaRPr sz="1600" b="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+37.9%</a:t>
                      </a:r>
                      <a:endParaRPr sz="1600" b="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18.6%</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Ambitious reform</a:t>
                      </a:r>
                      <a:endParaRPr sz="1600" b="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5"/>
                  </a:ext>
                </a:extLst>
              </a:tr>
              <a:tr h="287388">
                <a:tc>
                  <a:txBody>
                    <a:bodyPr/>
                    <a:lstStyle/>
                    <a:p>
                      <a:r>
                        <a:rPr sz="1600" b="0" dirty="0">
                          <a:solidFill>
                            <a:srgbClr val="000000"/>
                          </a:solidFill>
                        </a:rPr>
                        <a:t>+200%</a:t>
                      </a:r>
                      <a:endParaRPr sz="1600" b="0" dirty="0">
                        <a:solidFill>
                          <a:srgbClr val="000000"/>
                        </a:solidFill>
                        <a:latin typeface="Aptos" panose="020B0004020202020204" pitchFamily="34" charset="0"/>
                      </a:endParaRPr>
                    </a:p>
                  </a:txBody>
                  <a:tcPr marL="36576" marR="36576" marT="36576" marB="36576"/>
                </a:tc>
                <a:tc>
                  <a:txBody>
                    <a:bodyPr/>
                    <a:lstStyle/>
                    <a:p>
                      <a:r>
                        <a:rPr sz="1600" b="0">
                          <a:solidFill>
                            <a:srgbClr val="000000"/>
                          </a:solidFill>
                        </a:rPr>
                        <a:t>+75.9%</a:t>
                      </a:r>
                      <a:endParaRPr sz="1600" b="0">
                        <a:solidFill>
                          <a:srgbClr val="000000"/>
                        </a:solidFill>
                        <a:latin typeface="Aptos" panose="020B0004020202020204" pitchFamily="34" charset="0"/>
                      </a:endParaRPr>
                    </a:p>
                  </a:txBody>
                  <a:tcPr marL="36576" marR="36576" marT="36576" marB="36576"/>
                </a:tc>
                <a:tc>
                  <a:txBody>
                    <a:bodyPr/>
                    <a:lstStyle/>
                    <a:p>
                      <a:r>
                        <a:rPr lang="en-US" sz="1600" b="0" dirty="0">
                          <a:solidFill>
                            <a:srgbClr val="000000"/>
                          </a:solidFill>
                        </a:rPr>
                        <a:t>-</a:t>
                      </a:r>
                      <a:r>
                        <a:rPr sz="1600" b="0" dirty="0">
                          <a:solidFill>
                            <a:srgbClr val="000000"/>
                          </a:solidFill>
                        </a:rPr>
                        <a:t>35.3%</a:t>
                      </a:r>
                      <a:endParaRPr sz="1600" b="0" dirty="0">
                        <a:solidFill>
                          <a:srgbClr val="000000"/>
                        </a:solidFill>
                        <a:latin typeface="Aptos" panose="020B0004020202020204" pitchFamily="34" charset="0"/>
                      </a:endParaRPr>
                    </a:p>
                  </a:txBody>
                  <a:tcPr marL="36576" marR="36576" marT="36576" marB="36576"/>
                </a:tc>
                <a:tc>
                  <a:txBody>
                    <a:bodyPr/>
                    <a:lstStyle/>
                    <a:p>
                      <a:r>
                        <a:rPr sz="1600" b="0" dirty="0">
                          <a:solidFill>
                            <a:srgbClr val="000000"/>
                          </a:solidFill>
                        </a:rPr>
                        <a:t>Upper bound examined</a:t>
                      </a:r>
                      <a:endParaRPr sz="1600" b="0" dirty="0">
                        <a:solidFill>
                          <a:srgbClr val="000000"/>
                        </a:solidFill>
                        <a:latin typeface="Aptos" panose="020B0004020202020204" pitchFamily="34" charset="0"/>
                      </a:endParaRPr>
                    </a:p>
                  </a:txBody>
                  <a:tcPr marL="36576" marR="36576" marT="36576" marB="36576"/>
                </a:tc>
                <a:extLst>
                  <a:ext uri="{0D108BD9-81ED-4DB2-BD59-A6C34878D82A}">
                    <a16:rowId xmlns:a16="http://schemas.microsoft.com/office/drawing/2014/main" val="10006"/>
                  </a:ext>
                </a:extLst>
              </a:tr>
            </a:tbl>
          </a:graphicData>
        </a:graphic>
      </p:graphicFrame>
      <p:sp>
        <p:nvSpPr>
          <p:cNvPr id="4" name="TextBox 3"/>
          <p:cNvSpPr txBox="1"/>
          <p:nvPr/>
        </p:nvSpPr>
        <p:spPr>
          <a:xfrm>
            <a:off x="457200" y="5352871"/>
            <a:ext cx="8229600" cy="1200329"/>
          </a:xfrm>
          <a:prstGeom prst="rect">
            <a:avLst/>
          </a:prstGeom>
          <a:noFill/>
        </p:spPr>
        <p:txBody>
          <a:bodyPr wrap="square">
            <a:spAutoFit/>
          </a:bodyPr>
          <a:lstStyle/>
          <a:p>
            <a:r>
              <a:rPr b="1" dirty="0">
                <a:solidFill>
                  <a:srgbClr val="000000"/>
                </a:solidFill>
                <a:latin typeface="Calibri"/>
              </a:rPr>
              <a:t>Why price rises less than the tax:  </a:t>
            </a:r>
            <a:r>
              <a:rPr dirty="0">
                <a:solidFill>
                  <a:srgbClr val="000000"/>
                </a:solidFill>
                <a:latin typeface="Calibri"/>
              </a:rPr>
              <a:t>excise is 38% of the retail price on average across the nine cigarette tiers — 14% for the cheapest hand-rolled tier, 54% for machine-made — so a 50% excise increase lifts price by 19%. We assume the full increase passes to consumers</a:t>
            </a:r>
            <a:r>
              <a:rPr lang="en-US" dirty="0">
                <a:solidFill>
                  <a:srgbClr val="000000"/>
                </a:solidFill>
                <a:latin typeface="Calibri"/>
              </a:rPr>
              <a:t>.</a:t>
            </a:r>
            <a:endParaRPr dirty="0">
              <a:solidFill>
                <a:srgbClr val="000000"/>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00" y="457200"/>
            <a:ext cx="7970000" cy="1150000"/>
          </a:xfrm>
        </p:spPr>
        <p:txBody>
          <a:bodyPr>
            <a:noAutofit/>
          </a:bodyPr>
          <a:lstStyle/>
          <a:p>
            <a:pPr algn="ctr"/>
            <a:r>
              <a:rPr sz="4000" b="1" dirty="0">
                <a:latin typeface="Calibri" panose="020F0502020204030204" pitchFamily="34" charset="0"/>
                <a:cs typeface="Calibri" panose="020F0502020204030204" pitchFamily="34" charset="0"/>
              </a:rPr>
              <a:t>Input </a:t>
            </a:r>
            <a:r>
              <a:rPr lang="en-US" sz="4000" b="1" dirty="0">
                <a:latin typeface="Calibri" panose="020F0502020204030204" pitchFamily="34" charset="0"/>
                <a:cs typeface="Calibri" panose="020F0502020204030204" pitchFamily="34" charset="0"/>
              </a:rPr>
              <a:t>(</a:t>
            </a:r>
            <a:r>
              <a:rPr sz="4000" b="1" dirty="0">
                <a:latin typeface="Calibri" panose="020F0502020204030204" pitchFamily="34" charset="0"/>
                <a:cs typeface="Calibri" panose="020F0502020204030204" pitchFamily="34" charset="0"/>
              </a:rPr>
              <a:t>3</a:t>
            </a:r>
            <a:r>
              <a:rPr lang="en-US" sz="4000" b="1" dirty="0">
                <a:latin typeface="Calibri" panose="020F0502020204030204" pitchFamily="34" charset="0"/>
                <a:cs typeface="Calibri" panose="020F0502020204030204" pitchFamily="34" charset="0"/>
              </a:rPr>
              <a:t>)</a:t>
            </a:r>
            <a:r>
              <a:rPr sz="4000" b="1" dirty="0">
                <a:latin typeface="Calibri" panose="020F0502020204030204" pitchFamily="34" charset="0"/>
                <a:cs typeface="Calibri" panose="020F0502020204030204" pitchFamily="34" charset="0"/>
              </a:rPr>
              <a:t>: </a:t>
            </a:r>
            <a:r>
              <a:rPr lang="en-US" sz="4000" dirty="0">
                <a:latin typeface="Calibri" panose="020F0502020204030204" pitchFamily="34" charset="0"/>
                <a:cs typeface="Calibri" panose="020F0502020204030204" pitchFamily="34" charset="0"/>
              </a:rPr>
              <a:t>H</a:t>
            </a:r>
            <a:r>
              <a:rPr sz="4000" dirty="0">
                <a:latin typeface="Calibri" panose="020F0502020204030204" pitchFamily="34" charset="0"/>
                <a:cs typeface="Calibri" panose="020F0502020204030204" pitchFamily="34" charset="0"/>
              </a:rPr>
              <a:t>ow smokers respond</a:t>
            </a:r>
            <a:br>
              <a:rPr sz="4000" dirty="0">
                <a:latin typeface="Calibri" panose="020F0502020204030204" pitchFamily="34" charset="0"/>
                <a:cs typeface="Calibri" panose="020F0502020204030204" pitchFamily="34" charset="0"/>
              </a:rPr>
            </a:br>
            <a:r>
              <a:rPr sz="3000" dirty="0">
                <a:latin typeface="Calibri" panose="020F0502020204030204" pitchFamily="34" charset="0"/>
                <a:cs typeface="Calibri" panose="020F0502020204030204" pitchFamily="34" charset="0"/>
              </a:rPr>
              <a:t>Two </a:t>
            </a:r>
            <a:r>
              <a:rPr lang="en-US" sz="3000" dirty="0">
                <a:latin typeface="Calibri" panose="020F0502020204030204" pitchFamily="34" charset="0"/>
                <a:cs typeface="Calibri" panose="020F0502020204030204" pitchFamily="34" charset="0"/>
              </a:rPr>
              <a:t>behavioral response</a:t>
            </a:r>
            <a:r>
              <a:rPr sz="3000" dirty="0">
                <a:latin typeface="Calibri" panose="020F0502020204030204" pitchFamily="34" charset="0"/>
                <a:cs typeface="Calibri" panose="020F0502020204030204" pitchFamily="34" charset="0"/>
              </a:rPr>
              <a:t>s — </a:t>
            </a:r>
            <a:r>
              <a:rPr lang="en-US" sz="3000" dirty="0">
                <a:latin typeface="Calibri" panose="020F0502020204030204" pitchFamily="34" charset="0"/>
                <a:cs typeface="Calibri" panose="020F0502020204030204" pitchFamily="34" charset="0"/>
              </a:rPr>
              <a:t>yet</a:t>
            </a:r>
            <a:r>
              <a:rPr sz="3000" dirty="0">
                <a:latin typeface="Calibri" panose="020F0502020204030204" pitchFamily="34" charset="0"/>
                <a:cs typeface="Calibri" panose="020F0502020204030204" pitchFamily="34" charset="0"/>
              </a:rPr>
              <a:t> only quitting </a:t>
            </a:r>
            <a:r>
              <a:rPr lang="en-US" sz="3000" dirty="0">
                <a:latin typeface="Calibri" panose="020F0502020204030204" pitchFamily="34" charset="0"/>
                <a:cs typeface="Calibri" panose="020F0502020204030204" pitchFamily="34" charset="0"/>
              </a:rPr>
              <a:t>provides</a:t>
            </a:r>
            <a:r>
              <a:rPr sz="3000" dirty="0">
                <a:latin typeface="Calibri" panose="020F0502020204030204" pitchFamily="34" charset="0"/>
                <a:cs typeface="Calibri" panose="020F0502020204030204" pitchFamily="34" charset="0"/>
              </a:rPr>
              <a:t> </a:t>
            </a:r>
            <a:r>
              <a:rPr lang="en-US" sz="3000" dirty="0">
                <a:latin typeface="Calibri" panose="020F0502020204030204" pitchFamily="34" charset="0"/>
                <a:cs typeface="Calibri" panose="020F0502020204030204" pitchFamily="34" charset="0"/>
              </a:rPr>
              <a:t>mortality reduction benefits</a:t>
            </a:r>
            <a:endParaRPr sz="3000" dirty="0">
              <a:latin typeface="Calibri" panose="020F0502020204030204" pitchFamily="34" charset="0"/>
              <a:cs typeface="Calibri" panose="020F050202020403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159085263"/>
              </p:ext>
            </p:extLst>
          </p:nvPr>
        </p:nvGraphicFramePr>
        <p:xfrm>
          <a:off x="1136978" y="2057400"/>
          <a:ext cx="6716985" cy="2950464"/>
        </p:xfrm>
        <a:graphic>
          <a:graphicData uri="http://schemas.openxmlformats.org/drawingml/2006/table">
            <a:tbl>
              <a:tblPr firstRow="1">
                <a:tableStyleId>{616DA210-FB5B-4158-B5E0-FEB733F419BA}</a:tableStyleId>
              </a:tblPr>
              <a:tblGrid>
                <a:gridCol w="880135">
                  <a:extLst>
                    <a:ext uri="{9D8B030D-6E8A-4147-A177-3AD203B41FA5}">
                      <a16:colId xmlns:a16="http://schemas.microsoft.com/office/drawing/2014/main" val="20000"/>
                    </a:ext>
                  </a:extLst>
                </a:gridCol>
                <a:gridCol w="27888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274320">
                <a:tc>
                  <a:txBody>
                    <a:bodyPr/>
                    <a:lstStyle/>
                    <a:p>
                      <a:r>
                        <a:rPr sz="2000" b="1" dirty="0">
                          <a:solidFill>
                            <a:srgbClr val="000000"/>
                          </a:solidFill>
                          <a:latin typeface="Calibri"/>
                        </a:rPr>
                        <a:t>Age band</a:t>
                      </a:r>
                    </a:p>
                  </a:txBody>
                  <a:tcPr marL="36576" marR="36576" marT="36576" marB="36576"/>
                </a:tc>
                <a:tc>
                  <a:txBody>
                    <a:bodyPr/>
                    <a:lstStyle/>
                    <a:p>
                      <a:r>
                        <a:rPr sz="2000" b="1" dirty="0">
                          <a:solidFill>
                            <a:srgbClr val="000000"/>
                          </a:solidFill>
                          <a:latin typeface="Calibri"/>
                        </a:rPr>
                        <a:t>Participation (quitting)</a:t>
                      </a:r>
                    </a:p>
                  </a:txBody>
                  <a:tcPr marL="36576" marR="36576" marT="36576" marB="36576"/>
                </a:tc>
                <a:tc>
                  <a:txBody>
                    <a:bodyPr/>
                    <a:lstStyle/>
                    <a:p>
                      <a:r>
                        <a:rPr sz="2000" b="1">
                          <a:solidFill>
                            <a:srgbClr val="000000"/>
                          </a:solidFill>
                          <a:latin typeface="Calibri"/>
                        </a:rPr>
                        <a:t>Intensity (smoking less)</a:t>
                      </a:r>
                    </a:p>
                  </a:txBody>
                  <a:tcPr marL="36576" marR="36576" marT="36576" marB="36576"/>
                </a:tc>
                <a:extLst>
                  <a:ext uri="{0D108BD9-81ED-4DB2-BD59-A6C34878D82A}">
                    <a16:rowId xmlns:a16="http://schemas.microsoft.com/office/drawing/2014/main" val="10000"/>
                  </a:ext>
                </a:extLst>
              </a:tr>
              <a:tr h="274320">
                <a:tc>
                  <a:txBody>
                    <a:bodyPr/>
                    <a:lstStyle/>
                    <a:p>
                      <a:r>
                        <a:rPr sz="2000" b="0" dirty="0">
                          <a:solidFill>
                            <a:srgbClr val="000000"/>
                          </a:solidFill>
                          <a:latin typeface="Calibri"/>
                        </a:rPr>
                        <a:t>15–24</a:t>
                      </a:r>
                    </a:p>
                  </a:txBody>
                  <a:tcPr marL="36576" marR="36576" marT="36576" marB="36576"/>
                </a:tc>
                <a:tc>
                  <a:txBody>
                    <a:bodyPr/>
                    <a:lstStyle/>
                    <a:p>
                      <a:r>
                        <a:rPr sz="2000" b="0" dirty="0">
                          <a:solidFill>
                            <a:srgbClr val="000000"/>
                          </a:solidFill>
                          <a:latin typeface="Calibri"/>
                        </a:rPr>
                        <a:t>−0.31</a:t>
                      </a:r>
                    </a:p>
                  </a:txBody>
                  <a:tcPr marL="36576" marR="36576" marT="36576" marB="36576"/>
                </a:tc>
                <a:tc>
                  <a:txBody>
                    <a:bodyPr/>
                    <a:lstStyle/>
                    <a:p>
                      <a:r>
                        <a:rPr sz="2000" b="0" dirty="0">
                          <a:solidFill>
                            <a:srgbClr val="000000"/>
                          </a:solidFill>
                          <a:latin typeface="Calibri"/>
                        </a:rPr>
                        <a:t>−0.36</a:t>
                      </a:r>
                    </a:p>
                  </a:txBody>
                  <a:tcPr marL="36576" marR="36576" marT="36576" marB="36576"/>
                </a:tc>
                <a:extLst>
                  <a:ext uri="{0D108BD9-81ED-4DB2-BD59-A6C34878D82A}">
                    <a16:rowId xmlns:a16="http://schemas.microsoft.com/office/drawing/2014/main" val="10001"/>
                  </a:ext>
                </a:extLst>
              </a:tr>
              <a:tr h="274320">
                <a:tc>
                  <a:txBody>
                    <a:bodyPr/>
                    <a:lstStyle/>
                    <a:p>
                      <a:r>
                        <a:rPr sz="2000" b="0">
                          <a:solidFill>
                            <a:srgbClr val="000000"/>
                          </a:solidFill>
                          <a:latin typeface="Calibri"/>
                        </a:rPr>
                        <a:t>25–34</a:t>
                      </a:r>
                    </a:p>
                  </a:txBody>
                  <a:tcPr marL="36576" marR="36576" marT="36576" marB="36576"/>
                </a:tc>
                <a:tc>
                  <a:txBody>
                    <a:bodyPr/>
                    <a:lstStyle/>
                    <a:p>
                      <a:r>
                        <a:rPr sz="2000" b="0" dirty="0">
                          <a:solidFill>
                            <a:srgbClr val="000000"/>
                          </a:solidFill>
                          <a:latin typeface="Calibri"/>
                        </a:rPr>
                        <a:t>−0.19</a:t>
                      </a:r>
                    </a:p>
                  </a:txBody>
                  <a:tcPr marL="36576" marR="36576" marT="36576" marB="36576"/>
                </a:tc>
                <a:tc>
                  <a:txBody>
                    <a:bodyPr/>
                    <a:lstStyle/>
                    <a:p>
                      <a:r>
                        <a:rPr sz="2000" b="0" dirty="0">
                          <a:solidFill>
                            <a:srgbClr val="000000"/>
                          </a:solidFill>
                          <a:latin typeface="Calibri"/>
                        </a:rPr>
                        <a:t>−0.39</a:t>
                      </a:r>
                    </a:p>
                  </a:txBody>
                  <a:tcPr marL="36576" marR="36576" marT="36576" marB="36576"/>
                </a:tc>
                <a:extLst>
                  <a:ext uri="{0D108BD9-81ED-4DB2-BD59-A6C34878D82A}">
                    <a16:rowId xmlns:a16="http://schemas.microsoft.com/office/drawing/2014/main" val="10002"/>
                  </a:ext>
                </a:extLst>
              </a:tr>
              <a:tr h="274320">
                <a:tc>
                  <a:txBody>
                    <a:bodyPr/>
                    <a:lstStyle/>
                    <a:p>
                      <a:r>
                        <a:rPr sz="2000" b="0">
                          <a:solidFill>
                            <a:srgbClr val="000000"/>
                          </a:solidFill>
                          <a:latin typeface="Calibri"/>
                        </a:rPr>
                        <a:t>35–44</a:t>
                      </a:r>
                    </a:p>
                  </a:txBody>
                  <a:tcPr marL="36576" marR="36576" marT="36576" marB="36576"/>
                </a:tc>
                <a:tc>
                  <a:txBody>
                    <a:bodyPr/>
                    <a:lstStyle/>
                    <a:p>
                      <a:r>
                        <a:rPr sz="2000" b="0" dirty="0">
                          <a:solidFill>
                            <a:srgbClr val="000000"/>
                          </a:solidFill>
                          <a:latin typeface="Calibri"/>
                        </a:rPr>
                        <a:t>−0.09</a:t>
                      </a:r>
                    </a:p>
                  </a:txBody>
                  <a:tcPr marL="36576" marR="36576" marT="36576" marB="36576"/>
                </a:tc>
                <a:tc>
                  <a:txBody>
                    <a:bodyPr/>
                    <a:lstStyle/>
                    <a:p>
                      <a:r>
                        <a:rPr sz="2000" b="0">
                          <a:solidFill>
                            <a:srgbClr val="000000"/>
                          </a:solidFill>
                          <a:latin typeface="Calibri"/>
                        </a:rPr>
                        <a:t>−0.37</a:t>
                      </a:r>
                    </a:p>
                  </a:txBody>
                  <a:tcPr marL="36576" marR="36576" marT="36576" marB="36576"/>
                </a:tc>
                <a:extLst>
                  <a:ext uri="{0D108BD9-81ED-4DB2-BD59-A6C34878D82A}">
                    <a16:rowId xmlns:a16="http://schemas.microsoft.com/office/drawing/2014/main" val="10003"/>
                  </a:ext>
                </a:extLst>
              </a:tr>
              <a:tr h="274320">
                <a:tc>
                  <a:txBody>
                    <a:bodyPr/>
                    <a:lstStyle/>
                    <a:p>
                      <a:r>
                        <a:rPr sz="2000" b="0">
                          <a:solidFill>
                            <a:srgbClr val="000000"/>
                          </a:solidFill>
                          <a:latin typeface="Calibri"/>
                        </a:rPr>
                        <a:t>45–54</a:t>
                      </a:r>
                    </a:p>
                  </a:txBody>
                  <a:tcPr marL="36576" marR="36576" marT="36576" marB="36576"/>
                </a:tc>
                <a:tc>
                  <a:txBody>
                    <a:bodyPr/>
                    <a:lstStyle/>
                    <a:p>
                      <a:r>
                        <a:rPr sz="2000" b="0" dirty="0">
                          <a:solidFill>
                            <a:srgbClr val="000000"/>
                          </a:solidFill>
                          <a:latin typeface="Calibri"/>
                        </a:rPr>
                        <a:t>−0.04</a:t>
                      </a:r>
                    </a:p>
                  </a:txBody>
                  <a:tcPr marL="36576" marR="36576" marT="36576" marB="36576"/>
                </a:tc>
                <a:tc>
                  <a:txBody>
                    <a:bodyPr/>
                    <a:lstStyle/>
                    <a:p>
                      <a:r>
                        <a:rPr sz="2000" b="0" dirty="0">
                          <a:solidFill>
                            <a:srgbClr val="000000"/>
                          </a:solidFill>
                          <a:latin typeface="Calibri"/>
                        </a:rPr>
                        <a:t>−0.37</a:t>
                      </a:r>
                    </a:p>
                  </a:txBody>
                  <a:tcPr marL="36576" marR="36576" marT="36576" marB="36576"/>
                </a:tc>
                <a:extLst>
                  <a:ext uri="{0D108BD9-81ED-4DB2-BD59-A6C34878D82A}">
                    <a16:rowId xmlns:a16="http://schemas.microsoft.com/office/drawing/2014/main" val="10004"/>
                  </a:ext>
                </a:extLst>
              </a:tr>
              <a:tr h="274320">
                <a:tc>
                  <a:txBody>
                    <a:bodyPr/>
                    <a:lstStyle/>
                    <a:p>
                      <a:r>
                        <a:rPr sz="2000" b="0">
                          <a:solidFill>
                            <a:srgbClr val="000000"/>
                          </a:solidFill>
                          <a:latin typeface="Calibri"/>
                        </a:rPr>
                        <a:t>55–64</a:t>
                      </a:r>
                    </a:p>
                  </a:txBody>
                  <a:tcPr marL="36576" marR="36576" marT="36576" marB="36576"/>
                </a:tc>
                <a:tc>
                  <a:txBody>
                    <a:bodyPr/>
                    <a:lstStyle/>
                    <a:p>
                      <a:r>
                        <a:rPr sz="2000" b="0" dirty="0">
                          <a:solidFill>
                            <a:srgbClr val="000000"/>
                          </a:solidFill>
                          <a:latin typeface="Calibri"/>
                        </a:rPr>
                        <a:t>−0.07</a:t>
                      </a:r>
                    </a:p>
                  </a:txBody>
                  <a:tcPr marL="36576" marR="36576" marT="36576" marB="36576"/>
                </a:tc>
                <a:tc>
                  <a:txBody>
                    <a:bodyPr/>
                    <a:lstStyle/>
                    <a:p>
                      <a:r>
                        <a:rPr sz="2000" b="0" dirty="0">
                          <a:solidFill>
                            <a:srgbClr val="000000"/>
                          </a:solidFill>
                          <a:latin typeface="Calibri"/>
                        </a:rPr>
                        <a:t>−0.39</a:t>
                      </a:r>
                    </a:p>
                  </a:txBody>
                  <a:tcPr marL="36576" marR="36576" marT="36576" marB="36576"/>
                </a:tc>
                <a:extLst>
                  <a:ext uri="{0D108BD9-81ED-4DB2-BD59-A6C34878D82A}">
                    <a16:rowId xmlns:a16="http://schemas.microsoft.com/office/drawing/2014/main" val="10005"/>
                  </a:ext>
                </a:extLst>
              </a:tr>
              <a:tr h="274320">
                <a:tc>
                  <a:txBody>
                    <a:bodyPr/>
                    <a:lstStyle/>
                    <a:p>
                      <a:r>
                        <a:rPr sz="2000" b="0">
                          <a:solidFill>
                            <a:srgbClr val="000000"/>
                          </a:solidFill>
                          <a:latin typeface="Calibri"/>
                        </a:rPr>
                        <a:t>65+</a:t>
                      </a:r>
                    </a:p>
                  </a:txBody>
                  <a:tcPr marL="36576" marR="36576" marT="36576" marB="36576"/>
                </a:tc>
                <a:tc>
                  <a:txBody>
                    <a:bodyPr/>
                    <a:lstStyle/>
                    <a:p>
                      <a:r>
                        <a:rPr sz="2000" b="0">
                          <a:solidFill>
                            <a:srgbClr val="000000"/>
                          </a:solidFill>
                          <a:latin typeface="Calibri"/>
                        </a:rPr>
                        <a:t>−0.25</a:t>
                      </a:r>
                    </a:p>
                  </a:txBody>
                  <a:tcPr marL="36576" marR="36576" marT="36576" marB="36576"/>
                </a:tc>
                <a:tc>
                  <a:txBody>
                    <a:bodyPr/>
                    <a:lstStyle/>
                    <a:p>
                      <a:r>
                        <a:rPr sz="2000" b="0" dirty="0">
                          <a:solidFill>
                            <a:srgbClr val="000000"/>
                          </a:solidFill>
                          <a:latin typeface="Calibri"/>
                        </a:rPr>
                        <a:t>−0.38</a:t>
                      </a:r>
                    </a:p>
                  </a:txBody>
                  <a:tcPr marL="36576" marR="36576" marT="36576" marB="36576"/>
                </a:tc>
                <a:extLst>
                  <a:ext uri="{0D108BD9-81ED-4DB2-BD59-A6C34878D82A}">
                    <a16:rowId xmlns:a16="http://schemas.microsoft.com/office/drawing/2014/main" val="10006"/>
                  </a:ext>
                </a:extLst>
              </a:tr>
            </a:tbl>
          </a:graphicData>
        </a:graphic>
      </p:graphicFrame>
      <p:sp>
        <p:nvSpPr>
          <p:cNvPr id="5" name="TextBox 4"/>
          <p:cNvSpPr txBox="1"/>
          <p:nvPr/>
        </p:nvSpPr>
        <p:spPr>
          <a:xfrm>
            <a:off x="510471" y="5152072"/>
            <a:ext cx="7970000" cy="1477328"/>
          </a:xfrm>
          <a:prstGeom prst="rect">
            <a:avLst/>
          </a:prstGeom>
          <a:noFill/>
        </p:spPr>
        <p:txBody>
          <a:bodyPr wrap="square">
            <a:spAutoFit/>
          </a:bodyPr>
          <a:lstStyle/>
          <a:p>
            <a:r>
              <a:rPr lang="en-US" b="1" dirty="0">
                <a:solidFill>
                  <a:srgbClr val="000000"/>
                </a:solidFill>
                <a:latin typeface="Calibri"/>
              </a:rPr>
              <a:t>Notes:</a:t>
            </a:r>
          </a:p>
          <a:p>
            <a:pPr marL="285750" indent="-285750">
              <a:buFont typeface="Arial" panose="020B0604020202020204" pitchFamily="34" charset="0"/>
              <a:buChar char="•"/>
            </a:pPr>
            <a:r>
              <a:rPr dirty="0">
                <a:solidFill>
                  <a:srgbClr val="000000"/>
                </a:solidFill>
                <a:latin typeface="Calibri"/>
              </a:rPr>
              <a:t>The age pattern is</a:t>
            </a:r>
            <a:r>
              <a:rPr lang="en-US" dirty="0">
                <a:solidFill>
                  <a:srgbClr val="000000"/>
                </a:solidFill>
                <a:latin typeface="Calibri"/>
              </a:rPr>
              <a:t> from</a:t>
            </a:r>
            <a:r>
              <a:rPr dirty="0">
                <a:solidFill>
                  <a:srgbClr val="000000"/>
                </a:solidFill>
                <a:latin typeface="Calibri"/>
              </a:rPr>
              <a:t> Indonesian</a:t>
            </a:r>
            <a:r>
              <a:rPr lang="en-US" dirty="0">
                <a:solidFill>
                  <a:srgbClr val="000000"/>
                </a:solidFill>
                <a:latin typeface="Calibri"/>
              </a:rPr>
              <a:t> data</a:t>
            </a:r>
            <a:r>
              <a:rPr dirty="0">
                <a:solidFill>
                  <a:srgbClr val="000000"/>
                </a:solidFill>
                <a:latin typeface="Calibri"/>
              </a:rPr>
              <a:t> </a:t>
            </a:r>
            <a:r>
              <a:rPr lang="en-US" dirty="0">
                <a:solidFill>
                  <a:srgbClr val="000000"/>
                </a:solidFill>
                <a:latin typeface="Calibri"/>
              </a:rPr>
              <a:t>(</a:t>
            </a:r>
            <a:r>
              <a:rPr dirty="0">
                <a:solidFill>
                  <a:srgbClr val="000000"/>
                </a:solidFill>
                <a:latin typeface="Calibri"/>
              </a:rPr>
              <a:t>Fauzi</a:t>
            </a:r>
            <a:r>
              <a:rPr lang="en-US" dirty="0">
                <a:solidFill>
                  <a:srgbClr val="000000"/>
                </a:solidFill>
                <a:latin typeface="Calibri"/>
              </a:rPr>
              <a:t>, </a:t>
            </a:r>
            <a:r>
              <a:rPr dirty="0">
                <a:solidFill>
                  <a:srgbClr val="000000"/>
                </a:solidFill>
                <a:latin typeface="Calibri"/>
              </a:rPr>
              <a:t>2021</a:t>
            </a:r>
            <a:r>
              <a:rPr lang="en-US" dirty="0">
                <a:solidFill>
                  <a:srgbClr val="000000"/>
                </a:solidFill>
                <a:latin typeface="Calibri"/>
              </a:rPr>
              <a:t>). </a:t>
            </a:r>
          </a:p>
          <a:p>
            <a:pPr marL="285750" indent="-285750">
              <a:buFont typeface="Arial" panose="020B0604020202020204" pitchFamily="34" charset="0"/>
              <a:buChar char="•"/>
            </a:pPr>
            <a:r>
              <a:rPr dirty="0">
                <a:solidFill>
                  <a:srgbClr val="000000"/>
                </a:solidFill>
                <a:latin typeface="Calibri"/>
              </a:rPr>
              <a:t>The income gradient </a:t>
            </a:r>
            <a:r>
              <a:rPr lang="en-US" dirty="0">
                <a:solidFill>
                  <a:srgbClr val="000000"/>
                </a:solidFill>
                <a:latin typeface="Calibri"/>
              </a:rPr>
              <a:t>uses Fauzi’s Indonesian national values and assumptions adapted from previous publications outside of Indonesia (WHO, 2000; Verguet, Gauvreau et al. </a:t>
            </a:r>
            <a:r>
              <a:rPr lang="en-US" i="1" dirty="0">
                <a:solidFill>
                  <a:srgbClr val="000000"/>
                </a:solidFill>
                <a:latin typeface="Calibri"/>
              </a:rPr>
              <a:t>Lancet Global Health </a:t>
            </a:r>
            <a:r>
              <a:rPr lang="en-US" dirty="0">
                <a:solidFill>
                  <a:srgbClr val="000000"/>
                </a:solidFill>
                <a:latin typeface="Calibri"/>
              </a:rPr>
              <a:t>2015).</a:t>
            </a:r>
          </a:p>
        </p:txBody>
      </p:sp>
    </p:spTree>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FC7993-53DA-8B3C-779A-F06D6A898998}"/>
              </a:ext>
            </a:extLst>
          </p:cNvPr>
          <p:cNvPicPr>
            <a:picLocks noChangeAspect="1"/>
          </p:cNvPicPr>
          <p:nvPr/>
        </p:nvPicPr>
        <p:blipFill>
          <a:blip r:embed="rId4">
            <a:extLst>
              <a:ext uri="{28A0092B-C50C-407E-A947-70E740481C1C}">
                <a14:useLocalDpi xmlns:a14="http://schemas.microsoft.com/office/drawing/2010/main" val="0"/>
              </a:ext>
            </a:extLst>
          </a:blip>
          <a:srcRect t="12590" b="6501"/>
          <a:stretch>
            <a:fillRect/>
          </a:stretch>
        </p:blipFill>
        <p:spPr>
          <a:xfrm>
            <a:off x="450274" y="2091035"/>
            <a:ext cx="7772400" cy="3733801"/>
          </a:xfrm>
          <a:prstGeom prst="rect">
            <a:avLst/>
          </a:prstGeom>
        </p:spPr>
      </p:pic>
      <p:sp>
        <p:nvSpPr>
          <p:cNvPr id="2" name="Title 1"/>
          <p:cNvSpPr>
            <a:spLocks noGrp="1"/>
          </p:cNvSpPr>
          <p:nvPr>
            <p:ph type="title"/>
          </p:nvPr>
        </p:nvSpPr>
        <p:spPr>
          <a:xfrm>
            <a:off x="327399" y="457200"/>
            <a:ext cx="8377213" cy="1150000"/>
          </a:xfrm>
        </p:spPr>
        <p:txBody>
          <a:bodyPr>
            <a:noAutofit/>
          </a:bodyPr>
          <a:lstStyle/>
          <a:p>
            <a:pPr algn="ctr"/>
            <a:r>
              <a:rPr lang="en-US" sz="4200" b="1" dirty="0"/>
              <a:t>Key finding</a:t>
            </a:r>
            <a:r>
              <a:rPr sz="4200" b="1" dirty="0"/>
              <a:t> 1: </a:t>
            </a:r>
            <a:r>
              <a:rPr lang="en-US" sz="4200" dirty="0"/>
              <a:t>H</a:t>
            </a:r>
            <a:r>
              <a:rPr sz="4200" dirty="0"/>
              <a:t>ealth gains</a:t>
            </a:r>
            <a:r>
              <a:rPr lang="en-US" sz="4200" dirty="0"/>
              <a:t> are large &amp; pro-poor </a:t>
            </a:r>
            <a:br>
              <a:rPr lang="en-US" sz="4200" dirty="0"/>
            </a:br>
            <a:r>
              <a:rPr sz="3000" dirty="0"/>
              <a:t>724,000 premature deaths averted</a:t>
            </a:r>
            <a:r>
              <a:rPr lang="en-US" sz="3000" dirty="0"/>
              <a:t>; 60</a:t>
            </a:r>
            <a:r>
              <a:rPr sz="3000" dirty="0"/>
              <a:t>% in</a:t>
            </a:r>
            <a:r>
              <a:rPr lang="en-US" sz="3000" dirty="0"/>
              <a:t> Q1 &amp; Q2</a:t>
            </a:r>
            <a:endParaRPr sz="3000" dirty="0"/>
          </a:p>
        </p:txBody>
      </p:sp>
      <p:sp>
        <p:nvSpPr>
          <p:cNvPr id="4" name="TextBox 3"/>
          <p:cNvSpPr txBox="1"/>
          <p:nvPr/>
        </p:nvSpPr>
        <p:spPr>
          <a:xfrm>
            <a:off x="914400" y="5867400"/>
            <a:ext cx="7601198" cy="830997"/>
          </a:xfrm>
          <a:prstGeom prst="rect">
            <a:avLst/>
          </a:prstGeom>
          <a:noFill/>
        </p:spPr>
        <p:txBody>
          <a:bodyPr wrap="square">
            <a:spAutoFit/>
          </a:bodyPr>
          <a:lstStyle/>
          <a:p>
            <a:r>
              <a:rPr lang="en-US" sz="1600" b="1" dirty="0">
                <a:solidFill>
                  <a:srgbClr val="000000"/>
                </a:solidFill>
                <a:latin typeface="Calibri"/>
              </a:rPr>
              <a:t>Note: </a:t>
            </a:r>
            <a:r>
              <a:rPr sz="1600" dirty="0">
                <a:solidFill>
                  <a:srgbClr val="000000"/>
                </a:solidFill>
                <a:latin typeface="Calibri"/>
              </a:rPr>
              <a:t>19 tobacco-related conditions </a:t>
            </a:r>
            <a:r>
              <a:rPr lang="en-US" sz="1600" dirty="0">
                <a:solidFill>
                  <a:srgbClr val="000000"/>
                </a:solidFill>
                <a:latin typeface="Calibri"/>
              </a:rPr>
              <a:t>(incl. </a:t>
            </a:r>
            <a:r>
              <a:rPr sz="1600" dirty="0">
                <a:solidFill>
                  <a:srgbClr val="000000"/>
                </a:solidFill>
                <a:latin typeface="Calibri"/>
              </a:rPr>
              <a:t>cardiovascular 58%, COPD 15%, lung cancer 14%, diabetes 5%</a:t>
            </a:r>
            <a:r>
              <a:rPr lang="en-US" sz="1600" dirty="0">
                <a:solidFill>
                  <a:srgbClr val="000000"/>
                </a:solidFill>
                <a:latin typeface="Calibri"/>
              </a:rPr>
              <a:t>)</a:t>
            </a:r>
            <a:r>
              <a:rPr sz="1600" dirty="0">
                <a:solidFill>
                  <a:srgbClr val="000000"/>
                </a:solidFill>
                <a:latin typeface="Calibri"/>
              </a:rPr>
              <a:t> covering 85% of Indonesia's smoking-attributable deaths;</a:t>
            </a:r>
            <a:r>
              <a:rPr lang="en-US" sz="1600" dirty="0">
                <a:solidFill>
                  <a:srgbClr val="000000"/>
                </a:solidFill>
                <a:latin typeface="Calibri"/>
              </a:rPr>
              <a:t> tuberculosis and respiratory infections not yet included, so this is conservative.</a:t>
            </a:r>
            <a:endParaRPr sz="1600" dirty="0">
              <a:solidFill>
                <a:srgbClr val="000000"/>
              </a:solidFill>
              <a:latin typeface="Calibri"/>
            </a:endParaRPr>
          </a:p>
        </p:txBody>
      </p:sp>
      <p:sp>
        <p:nvSpPr>
          <p:cNvPr id="3" name="TextBox 2">
            <a:extLst>
              <a:ext uri="{FF2B5EF4-FFF2-40B4-BE49-F238E27FC236}">
                <a16:creationId xmlns:a16="http://schemas.microsoft.com/office/drawing/2014/main" id="{DD6DE0A3-9829-D8B1-A844-E0F888DBF0C7}"/>
              </a:ext>
            </a:extLst>
          </p:cNvPr>
          <p:cNvSpPr txBox="1"/>
          <p:nvPr/>
        </p:nvSpPr>
        <p:spPr>
          <a:xfrm>
            <a:off x="5018314" y="2438400"/>
            <a:ext cx="3675412" cy="461665"/>
          </a:xfrm>
          <a:prstGeom prst="rect">
            <a:avLst/>
          </a:prstGeom>
          <a:noFill/>
        </p:spPr>
        <p:txBody>
          <a:bodyPr wrap="square" rtlCol="0">
            <a:spAutoFit/>
          </a:bodyPr>
          <a:lstStyle/>
          <a:p>
            <a:r>
              <a:rPr lang="en-US" sz="2400" b="1" dirty="0"/>
              <a:t>50% increase in excise tax</a:t>
            </a:r>
          </a:p>
        </p:txBody>
      </p:sp>
    </p:spTree>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060150-3539-820C-79A9-EFA96448AD66}"/>
              </a:ext>
            </a:extLst>
          </p:cNvPr>
          <p:cNvPicPr>
            <a:picLocks noChangeAspect="1"/>
          </p:cNvPicPr>
          <p:nvPr/>
        </p:nvPicPr>
        <p:blipFill>
          <a:blip r:embed="rId4">
            <a:extLst>
              <a:ext uri="{28A0092B-C50C-407E-A947-70E740481C1C}">
                <a14:useLocalDpi xmlns:a14="http://schemas.microsoft.com/office/drawing/2010/main" val="0"/>
              </a:ext>
            </a:extLst>
          </a:blip>
          <a:srcRect t="10939" b="6502"/>
          <a:stretch>
            <a:fillRect/>
          </a:stretch>
        </p:blipFill>
        <p:spPr>
          <a:xfrm>
            <a:off x="690916" y="2052935"/>
            <a:ext cx="7772400" cy="3810001"/>
          </a:xfrm>
          <a:prstGeom prst="rect">
            <a:avLst/>
          </a:prstGeom>
        </p:spPr>
      </p:pic>
      <p:sp>
        <p:nvSpPr>
          <p:cNvPr id="4" name="TextBox 3"/>
          <p:cNvSpPr txBox="1"/>
          <p:nvPr/>
        </p:nvSpPr>
        <p:spPr>
          <a:xfrm>
            <a:off x="734459" y="6019602"/>
            <a:ext cx="8229600" cy="584775"/>
          </a:xfrm>
          <a:prstGeom prst="rect">
            <a:avLst/>
          </a:prstGeom>
          <a:noFill/>
        </p:spPr>
        <p:txBody>
          <a:bodyPr wrap="square">
            <a:spAutoFit/>
          </a:bodyPr>
          <a:lstStyle/>
          <a:p>
            <a:pPr lvl="0">
              <a:defRPr/>
            </a:pPr>
            <a:r>
              <a:rPr lang="en-US" sz="1600" b="1" dirty="0"/>
              <a:t>Note</a:t>
            </a:r>
            <a:r>
              <a:rPr lang="en-US" sz="1600" dirty="0"/>
              <a:t>: Catastrophic health expenditure (CHE) cases defined as an out-of-pocket payment above 10% of annual household consumption expenditure</a:t>
            </a:r>
          </a:p>
        </p:txBody>
      </p:sp>
      <p:sp>
        <p:nvSpPr>
          <p:cNvPr id="3" name="Title 1">
            <a:extLst>
              <a:ext uri="{FF2B5EF4-FFF2-40B4-BE49-F238E27FC236}">
                <a16:creationId xmlns:a16="http://schemas.microsoft.com/office/drawing/2014/main" id="{5B5FF4CF-68A2-D02D-F7AD-E424C7C63B97}"/>
              </a:ext>
            </a:extLst>
          </p:cNvPr>
          <p:cNvSpPr txBox="1">
            <a:spLocks/>
          </p:cNvSpPr>
          <p:nvPr/>
        </p:nvSpPr>
        <p:spPr>
          <a:xfrm>
            <a:off x="327399" y="450200"/>
            <a:ext cx="8377213" cy="1150000"/>
          </a:xfrm>
          <a:prstGeom prst="rect">
            <a:avLst/>
          </a:prstGeom>
        </p:spPr>
        <p:txBody>
          <a:bodyPr vert="horz" lIns="91440" tIns="45720" rIns="91440" bIns="45720" rtlCol="0" anchor="ctr">
            <a:noAutofit/>
          </a:bodyPr>
          <a:lstStyle>
            <a:lvl1pPr algn="r" defTabSz="914400" rtl="0" eaLnBrk="1" latinLnBrk="0" hangingPunct="1">
              <a:spcBef>
                <a:spcPct val="0"/>
              </a:spcBef>
              <a:buNone/>
              <a:defRPr sz="4400" kern="1200">
                <a:solidFill>
                  <a:srgbClr val="002060"/>
                </a:solidFill>
                <a:latin typeface="+mj-lt"/>
                <a:ea typeface="+mj-ea"/>
                <a:cs typeface="+mj-cs"/>
              </a:defRPr>
            </a:lvl1pPr>
          </a:lstStyle>
          <a:p>
            <a:pPr algn="ctr"/>
            <a:r>
              <a:rPr lang="en-US" sz="4200" b="1" dirty="0"/>
              <a:t>Key finding 2: </a:t>
            </a:r>
            <a:r>
              <a:rPr lang="en-US" sz="4200" dirty="0"/>
              <a:t>Financial protection gains are large &amp; pro-poor</a:t>
            </a:r>
            <a:br>
              <a:rPr lang="en-US" dirty="0"/>
            </a:br>
            <a:r>
              <a:rPr lang="en-US" sz="3000" dirty="0"/>
              <a:t>577,000 catastrophic cases averted, 82% in Q1 &amp; Q2</a:t>
            </a:r>
          </a:p>
        </p:txBody>
      </p:sp>
      <p:sp>
        <p:nvSpPr>
          <p:cNvPr id="8" name="TextBox 7">
            <a:extLst>
              <a:ext uri="{FF2B5EF4-FFF2-40B4-BE49-F238E27FC236}">
                <a16:creationId xmlns:a16="http://schemas.microsoft.com/office/drawing/2014/main" id="{7E69D066-6307-6CED-F955-B4B052DB90A0}"/>
              </a:ext>
            </a:extLst>
          </p:cNvPr>
          <p:cNvSpPr txBox="1"/>
          <p:nvPr/>
        </p:nvSpPr>
        <p:spPr>
          <a:xfrm>
            <a:off x="5018314" y="2438400"/>
            <a:ext cx="3675412" cy="461665"/>
          </a:xfrm>
          <a:prstGeom prst="rect">
            <a:avLst/>
          </a:prstGeom>
          <a:noFill/>
        </p:spPr>
        <p:txBody>
          <a:bodyPr wrap="square" rtlCol="0">
            <a:spAutoFit/>
          </a:bodyPr>
          <a:lstStyle/>
          <a:p>
            <a:r>
              <a:rPr lang="en-US" sz="2400" b="1" dirty="0"/>
              <a:t>50% increase in excise tax</a:t>
            </a:r>
          </a:p>
        </p:txBody>
      </p:sp>
    </p:spTree>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8CF033-8C91-EF42-5C48-2EFA5ED998BF}"/>
              </a:ext>
            </a:extLst>
          </p:cNvPr>
          <p:cNvPicPr>
            <a:picLocks noChangeAspect="1"/>
          </p:cNvPicPr>
          <p:nvPr/>
        </p:nvPicPr>
        <p:blipFill>
          <a:blip r:embed="rId4">
            <a:extLst>
              <a:ext uri="{28A0092B-C50C-407E-A947-70E740481C1C}">
                <a14:useLocalDpi xmlns:a14="http://schemas.microsoft.com/office/drawing/2010/main" val="0"/>
              </a:ext>
            </a:extLst>
          </a:blip>
          <a:srcRect t="11558" b="7533"/>
          <a:stretch>
            <a:fillRect/>
          </a:stretch>
        </p:blipFill>
        <p:spPr>
          <a:xfrm>
            <a:off x="669471" y="2236325"/>
            <a:ext cx="8229600" cy="3953435"/>
          </a:xfrm>
          <a:prstGeom prst="rect">
            <a:avLst/>
          </a:prstGeom>
        </p:spPr>
      </p:pic>
      <p:sp>
        <p:nvSpPr>
          <p:cNvPr id="2" name="Title 1"/>
          <p:cNvSpPr>
            <a:spLocks noGrp="1"/>
          </p:cNvSpPr>
          <p:nvPr>
            <p:ph type="title"/>
          </p:nvPr>
        </p:nvSpPr>
        <p:spPr>
          <a:xfrm>
            <a:off x="304800" y="662797"/>
            <a:ext cx="8610600" cy="1150000"/>
          </a:xfrm>
        </p:spPr>
        <p:txBody>
          <a:bodyPr>
            <a:normAutofit fontScale="90000"/>
          </a:bodyPr>
          <a:lstStyle/>
          <a:p>
            <a:pPr algn="ctr"/>
            <a:r>
              <a:rPr lang="en-US" sz="4700" b="1" dirty="0"/>
              <a:t>Key finding 3</a:t>
            </a:r>
            <a:r>
              <a:rPr sz="4700" dirty="0"/>
              <a:t>: </a:t>
            </a:r>
            <a:r>
              <a:rPr lang="en-US" sz="4700" dirty="0"/>
              <a:t>F</a:t>
            </a:r>
            <a:r>
              <a:rPr sz="4700" dirty="0"/>
              <a:t>iscal </a:t>
            </a:r>
            <a:r>
              <a:rPr lang="en-US" sz="4700" dirty="0"/>
              <a:t>revenues raised are large &amp; accrue among the rich</a:t>
            </a:r>
            <a:br>
              <a:rPr sz="4700" dirty="0"/>
            </a:br>
            <a:r>
              <a:rPr lang="en-US" sz="3300" dirty="0"/>
              <a:t>R</a:t>
            </a:r>
            <a:r>
              <a:rPr sz="3300" dirty="0"/>
              <a:t>evenue</a:t>
            </a:r>
            <a:r>
              <a:rPr lang="en-US" sz="3300" dirty="0"/>
              <a:t>s</a:t>
            </a:r>
            <a:r>
              <a:rPr sz="3300" dirty="0"/>
              <a:t> rise </a:t>
            </a:r>
            <a:r>
              <a:rPr lang="en-US" sz="3300" dirty="0"/>
              <a:t>by </a:t>
            </a:r>
            <a:r>
              <a:rPr sz="3300" dirty="0"/>
              <a:t>31%</a:t>
            </a:r>
            <a:r>
              <a:rPr lang="en-US" sz="3300" dirty="0"/>
              <a:t>; Q5 pays 27% of it</a:t>
            </a:r>
            <a:endParaRPr sz="3300" dirty="0"/>
          </a:p>
        </p:txBody>
      </p:sp>
      <p:sp>
        <p:nvSpPr>
          <p:cNvPr id="3" name="TextBox 2">
            <a:extLst>
              <a:ext uri="{FF2B5EF4-FFF2-40B4-BE49-F238E27FC236}">
                <a16:creationId xmlns:a16="http://schemas.microsoft.com/office/drawing/2014/main" id="{89E0E0B7-C270-08DD-31A4-AC67F8524B02}"/>
              </a:ext>
            </a:extLst>
          </p:cNvPr>
          <p:cNvSpPr txBox="1"/>
          <p:nvPr/>
        </p:nvSpPr>
        <p:spPr>
          <a:xfrm>
            <a:off x="1752600" y="2514600"/>
            <a:ext cx="3675412" cy="461665"/>
          </a:xfrm>
          <a:prstGeom prst="rect">
            <a:avLst/>
          </a:prstGeom>
          <a:noFill/>
        </p:spPr>
        <p:txBody>
          <a:bodyPr wrap="square" rtlCol="0">
            <a:spAutoFit/>
          </a:bodyPr>
          <a:lstStyle/>
          <a:p>
            <a:r>
              <a:rPr lang="en-US" sz="2400" b="1" dirty="0"/>
              <a:t>50% increase in excise tax</a:t>
            </a:r>
          </a:p>
        </p:txBody>
      </p:sp>
      <p:sp>
        <p:nvSpPr>
          <p:cNvPr id="7" name="TextBox 6">
            <a:extLst>
              <a:ext uri="{FF2B5EF4-FFF2-40B4-BE49-F238E27FC236}">
                <a16:creationId xmlns:a16="http://schemas.microsoft.com/office/drawing/2014/main" id="{0A4A7DF6-1F8C-0D1B-6A7C-ACB6BF785796}"/>
              </a:ext>
            </a:extLst>
          </p:cNvPr>
          <p:cNvSpPr txBox="1"/>
          <p:nvPr/>
        </p:nvSpPr>
        <p:spPr>
          <a:xfrm>
            <a:off x="274864" y="6189760"/>
            <a:ext cx="8670471" cy="584775"/>
          </a:xfrm>
          <a:prstGeom prst="rect">
            <a:avLst/>
          </a:prstGeom>
          <a:noFill/>
        </p:spPr>
        <p:txBody>
          <a:bodyPr wrap="square" rtlCol="0">
            <a:spAutoFit/>
          </a:bodyPr>
          <a:lstStyle/>
          <a:p>
            <a:r>
              <a:rPr lang="en-US" sz="1600" b="1" dirty="0"/>
              <a:t>Note: </a:t>
            </a:r>
            <a:r>
              <a:rPr lang="en-US" sz="1600" dirty="0"/>
              <a:t>National total IDR 72T per year. An annual flow in a single steady-state year, not a lifetime total. In US dollars: Q1 480, Q2 717, Q3 947, Q4 1,169, Q5 1,209 million; total US$4,522 million per year.</a:t>
            </a:r>
          </a:p>
        </p:txBody>
      </p:sp>
    </p:spTree>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DB5-5456-121E-33D7-5DC0DE587B89}"/>
              </a:ext>
            </a:extLst>
          </p:cNvPr>
          <p:cNvSpPr>
            <a:spLocks noGrp="1"/>
          </p:cNvSpPr>
          <p:nvPr>
            <p:ph type="title"/>
          </p:nvPr>
        </p:nvSpPr>
        <p:spPr>
          <a:xfrm>
            <a:off x="304800" y="2857500"/>
            <a:ext cx="8305800" cy="1143000"/>
          </a:xfrm>
        </p:spPr>
        <p:txBody>
          <a:bodyPr>
            <a:normAutofit/>
          </a:bodyPr>
          <a:lstStyle/>
          <a:p>
            <a:pPr algn="ctr"/>
            <a:r>
              <a:rPr lang="en-US" sz="4800" dirty="0"/>
              <a:t>Thank you</a:t>
            </a:r>
          </a:p>
        </p:txBody>
      </p:sp>
      <p:pic>
        <p:nvPicPr>
          <p:cNvPr id="3" name="Picture 2" descr="A close up of a logo&#10;&#10;AI-generated content may be incorrect.">
            <a:extLst>
              <a:ext uri="{FF2B5EF4-FFF2-40B4-BE49-F238E27FC236}">
                <a16:creationId xmlns:a16="http://schemas.microsoft.com/office/drawing/2014/main" id="{C9BAC3AD-9767-334A-FAC4-2407F71CEE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457200"/>
            <a:ext cx="3514434" cy="1280160"/>
          </a:xfrm>
          <a:prstGeom prst="rect">
            <a:avLst/>
          </a:prstGeom>
        </p:spPr>
      </p:pic>
    </p:spTree>
    <p:extLst>
      <p:ext uri="{BB962C8B-B14F-4D97-AF65-F5344CB8AC3E}">
        <p14:creationId xmlns:p14="http://schemas.microsoft.com/office/powerpoint/2010/main" val="208779932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RP_v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CP3 PPT Template_NEW.pptx" id="{57DC6CDC-E007-4880-AC95-23CAB42ACB6E}" vid="{EF819FD4-7F74-4B6C-80CE-FF69E1896A5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sph-test2">
  <a:themeElements>
    <a:clrScheme name="Custom 4">
      <a:dk1>
        <a:srgbClr val="97BE6D"/>
      </a:dk1>
      <a:lt1>
        <a:srgbClr val="FFFFFF"/>
      </a:lt1>
      <a:dk2>
        <a:srgbClr val="74556A"/>
      </a:dk2>
      <a:lt2>
        <a:srgbClr val="FFFFFF"/>
      </a:lt2>
      <a:accent1>
        <a:srgbClr val="74556A"/>
      </a:accent1>
      <a:accent2>
        <a:srgbClr val="468D97"/>
      </a:accent2>
      <a:accent3>
        <a:srgbClr val="97BE6D"/>
      </a:accent3>
      <a:accent4>
        <a:srgbClr val="70AECD"/>
      </a:accent4>
      <a:accent5>
        <a:srgbClr val="D5752B"/>
      </a:accent5>
      <a:accent6>
        <a:srgbClr val="FFFFFF"/>
      </a:accent6>
      <a:hlink>
        <a:srgbClr val="009999"/>
      </a:hlink>
      <a:folHlink>
        <a:srgbClr val="99CC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pitchFamily="-1" charset="0"/>
            <a:ea typeface="ヒラギノ角ゴ ProN W3" pitchFamily="-1" charset="-128"/>
            <a:cs typeface="ヒラギノ角ゴ ProN W3" pitchFamily="-1" charset="-128"/>
            <a:sym typeface="Gill Sans" pitchFamily="-1" charset="0"/>
          </a:defRPr>
        </a:defPPr>
      </a:lstStyle>
    </a:lnDef>
  </a:objectDefaults>
  <a:extraClrSchemeLst>
    <a:extraClrScheme>
      <a:clrScheme name="Title &amp; Bullets - Lef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KRP_v2.potx</Template>
  <TotalTime>28011</TotalTime>
  <Words>5097</Words>
  <Application>Microsoft Office PowerPoint</Application>
  <PresentationFormat>On-screen Show (4:3)</PresentationFormat>
  <Paragraphs>688</Paragraphs>
  <Slides>53</Slides>
  <Notes>23</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53</vt:i4>
      </vt:variant>
    </vt:vector>
  </HeadingPairs>
  <TitlesOfParts>
    <vt:vector size="70" baseType="lpstr">
      <vt:lpstr>Aptos</vt:lpstr>
      <vt:lpstr>Arial</vt:lpstr>
      <vt:lpstr>Arial MT</vt:lpstr>
      <vt:lpstr>Calibri</vt:lpstr>
      <vt:lpstr>Calibri Light</vt:lpstr>
      <vt:lpstr>Cambria</vt:lpstr>
      <vt:lpstr>Cambria Math</vt:lpstr>
      <vt:lpstr>Garamond</vt:lpstr>
      <vt:lpstr>Gill Sans</vt:lpstr>
      <vt:lpstr>Helvetica</vt:lpstr>
      <vt:lpstr>Rubik</vt:lpstr>
      <vt:lpstr>Times</vt:lpstr>
      <vt:lpstr>Times New Roman</vt:lpstr>
      <vt:lpstr>Wingdings</vt:lpstr>
      <vt:lpstr>KRP_v2</vt:lpstr>
      <vt:lpstr>Custom Design</vt:lpstr>
      <vt:lpstr>hsph-test2</vt:lpstr>
      <vt:lpstr>PowerPoint Presentation</vt:lpstr>
      <vt:lpstr>PowerPoint Presentation</vt:lpstr>
      <vt:lpstr>HEALTHY LONGEVITY INITIATIVE</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interventions change the disease pathway</vt:lpstr>
      <vt:lpstr>Scaling up clinical care sharply cuts premature cardiovascular deaths</vt:lpstr>
      <vt:lpstr>Public-health policies deliver high impact</vt:lpstr>
      <vt:lpstr>Indonesia’s premature cardiovascular mortality can fall toward its neighbors</vt:lpstr>
      <vt:lpstr>Indonesia’s hypertension cascade can progress in two achievable stages</vt:lpstr>
      <vt:lpstr>Stronger prevention lowers premature deaths at a rising but bounded cost</vt:lpstr>
      <vt:lpstr>A stronger cascade could prevent about 1.6 million deaths by 2050</vt:lpstr>
      <vt:lpstr>Care cascade, tobacco tax, and the full package all move Indonesia toward its neighbours</vt:lpstr>
      <vt:lpstr>About half of averted deaths come from just 3 of Indonesia’s 38 provinces</vt:lpstr>
      <vt:lpstr>CVD primary-care coverage rises toward a common target in every province by 2040</vt:lpstr>
      <vt:lpstr>Cardiovascular deaths fall most where the baseline gaps and burden are largest</vt:lpstr>
      <vt:lpstr>Premature cardiovascular mortality falls in every province by 2040</vt:lpstr>
      <vt:lpstr>The provincial financing requirement grows as coverage scales up</vt:lpstr>
      <vt:lpstr>PowerPoint Presentation</vt:lpstr>
      <vt:lpstr>PowerPoint Presentation</vt:lpstr>
      <vt:lpstr>Model overview</vt:lpstr>
      <vt:lpstr>Under JKN as designed, no households would pay</vt:lpstr>
      <vt:lpstr>Inputs (1): Chronic care costs Number of patients in care, full cost of care, and what households pay</vt:lpstr>
      <vt:lpstr>Inputs (2): Acute care costs Number of hospitalized CVD events, full cost of care, what households pay</vt:lpstr>
      <vt:lpstr>Inputs (3): What fraction of cost is covered by JKN</vt:lpstr>
      <vt:lpstr>PowerPoint Presentation</vt:lpstr>
      <vt:lpstr>PowerPoint Presentation</vt:lpstr>
      <vt:lpstr>PowerPoint Presentation</vt:lpstr>
      <vt:lpstr>PowerPoint Presentation</vt:lpstr>
      <vt:lpstr>PowerPoint Presentation</vt:lpstr>
      <vt:lpstr>PowerPoint Presentation</vt:lpstr>
      <vt:lpstr>Model overview</vt:lpstr>
      <vt:lpstr>Input (1): Smoking prevalence &amp; tobacco prices</vt:lpstr>
      <vt:lpstr>Input (2): Tax scenarios Current excise → modeled increase → price          → consumption</vt:lpstr>
      <vt:lpstr>Input (3): How smokers respond Two behavioral responses — yet only quitting provides mortality reduction benefits</vt:lpstr>
      <vt:lpstr>Key finding 1: Health gains are large &amp; pro-poor  724,000 premature deaths averted; 60% in Q1 &amp; Q2</vt:lpstr>
      <vt:lpstr>PowerPoint Presentation</vt:lpstr>
      <vt:lpstr>Key finding 3: Fiscal revenues raised are large &amp; accrue among the rich Revenues rise by 31%; Q5 pays 27% of it</vt:lpstr>
      <vt:lpstr>Thank you</vt:lpstr>
    </vt:vector>
  </TitlesOfParts>
  <Company>University of Washington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Brianne Adderley</dc:creator>
  <cp:lastModifiedBy>William R Garcia</cp:lastModifiedBy>
  <cp:revision>2393</cp:revision>
  <cp:lastPrinted>2026-08-26T18:54:58Z</cp:lastPrinted>
  <dcterms:created xsi:type="dcterms:W3CDTF">2013-03-11T17:50:41Z</dcterms:created>
  <dcterms:modified xsi:type="dcterms:W3CDTF">2026-08-30T01:26:08Z</dcterms:modified>
</cp:coreProperties>
</file>