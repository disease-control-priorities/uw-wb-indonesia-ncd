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2"/>
  </p:notesMasterIdLst>
  <p:sldIdLst>
    <p:sldId id="2735" r:id="rId2"/>
    <p:sldId id="2147480007" r:id="rId3"/>
    <p:sldId id="575" r:id="rId4"/>
    <p:sldId id="3456" r:id="rId5"/>
    <p:sldId id="2147480008" r:id="rId6"/>
    <p:sldId id="2147479951" r:id="rId7"/>
    <p:sldId id="2147479948" r:id="rId8"/>
    <p:sldId id="2147480009" r:id="rId9"/>
    <p:sldId id="277" r:id="rId10"/>
    <p:sldId id="278" r:id="rId11"/>
    <p:sldId id="2147479960" r:id="rId12"/>
    <p:sldId id="263" r:id="rId13"/>
    <p:sldId id="275" r:id="rId14"/>
    <p:sldId id="2147479949" r:id="rId15"/>
    <p:sldId id="2147479990" r:id="rId16"/>
    <p:sldId id="2147480011" r:id="rId17"/>
    <p:sldId id="2147479959" r:id="rId18"/>
    <p:sldId id="2147479993" r:id="rId19"/>
    <p:sldId id="2147479999" r:id="rId20"/>
    <p:sldId id="21474797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BF10D7-2384-48B1-80F7-59184E0F9E56}">
          <p14:sldIdLst/>
        </p14:section>
        <p14:section name="Default Section" id="{1106B37B-E629-8247-A53F-53A9397BE13B}">
          <p14:sldIdLst>
            <p14:sldId id="2735"/>
            <p14:sldId id="2147480007"/>
          </p14:sldIdLst>
        </p14:section>
        <p14:section name="Default Section" id="{10D93067-51E5-7548-980D-BF589F3DDB4A}">
          <p14:sldIdLst>
            <p14:sldId id="575"/>
            <p14:sldId id="3456"/>
            <p14:sldId id="2147480008"/>
            <p14:sldId id="2147479951"/>
          </p14:sldIdLst>
        </p14:section>
        <p14:section name="Main Slide Layouts" id="{54EEB197-12CA-EF49-B4C4-9F0D1A644478}">
          <p14:sldIdLst>
            <p14:sldId id="2147479948"/>
            <p14:sldId id="2147480009"/>
            <p14:sldId id="277"/>
            <p14:sldId id="278"/>
            <p14:sldId id="2147479960"/>
            <p14:sldId id="263"/>
            <p14:sldId id="275"/>
            <p14:sldId id="2147479949"/>
            <p14:sldId id="2147479990"/>
            <p14:sldId id="2147480011"/>
            <p14:sldId id="2147479959"/>
            <p14:sldId id="2147479993"/>
            <p14:sldId id="2147479999"/>
            <p14:sldId id="2147479776"/>
          </p14:sldIdLst>
        </p14:section>
        <p14:section name="Main Slide Layouts" id="{B5AC7A25-30D3-B746-A28C-D272C5E1855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50C6EB-9A69-A5A2-AC2E-0E111777E240}" name="Verguet, Stéphane" initials="SV" userId="S::verguet@hsph.harvard.edu::df35d26a-4906-4d1b-8e79-7ecad4eec6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159C95-7A32-4D66-A4A2-02985B54BCF6}" v="11" dt="2026-08-31T23:30:05.6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4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 Garcia" userId="52698913-8803-44d0-b81a-d207944fdb38" providerId="ADAL" clId="{2E18606C-B16D-48DE-A10F-40DC70145920}"/>
    <pc:docChg chg="custSel modSld">
      <pc:chgData name="William R Garcia" userId="52698913-8803-44d0-b81a-d207944fdb38" providerId="ADAL" clId="{2E18606C-B16D-48DE-A10F-40DC70145920}" dt="2026-08-31T23:30:11.840" v="56" actId="1076"/>
      <pc:docMkLst>
        <pc:docMk/>
      </pc:docMkLst>
      <pc:sldChg chg="addSp delSp modSp mod">
        <pc:chgData name="William R Garcia" userId="52698913-8803-44d0-b81a-d207944fdb38" providerId="ADAL" clId="{2E18606C-B16D-48DE-A10F-40DC70145920}" dt="2026-08-31T20:44:53.117" v="22" actId="403"/>
        <pc:sldMkLst>
          <pc:docMk/>
          <pc:sldMk cId="876686658" sldId="263"/>
        </pc:sldMkLst>
        <pc:graphicFrameChg chg="add mod">
          <ac:chgData name="William R Garcia" userId="52698913-8803-44d0-b81a-d207944fdb38" providerId="ADAL" clId="{2E18606C-B16D-48DE-A10F-40DC70145920}" dt="2026-08-31T20:44:34.561" v="17"/>
          <ac:graphicFrameMkLst>
            <pc:docMk/>
            <pc:sldMk cId="876686658" sldId="263"/>
            <ac:graphicFrameMk id="3" creationId="{FF4ABBE7-BF04-FB93-1431-305BA613BACA}"/>
          </ac:graphicFrameMkLst>
        </pc:graphicFrameChg>
        <pc:graphicFrameChg chg="del">
          <ac:chgData name="William R Garcia" userId="52698913-8803-44d0-b81a-d207944fdb38" providerId="ADAL" clId="{2E18606C-B16D-48DE-A10F-40DC70145920}" dt="2026-08-31T20:44:33.087" v="16" actId="478"/>
          <ac:graphicFrameMkLst>
            <pc:docMk/>
            <pc:sldMk cId="876686658" sldId="263"/>
            <ac:graphicFrameMk id="6" creationId="{1204F440-646C-999E-7E0C-785F0E0B3B89}"/>
          </ac:graphicFrameMkLst>
        </pc:graphicFrameChg>
        <pc:graphicFrameChg chg="add mod modGraphic">
          <ac:chgData name="William R Garcia" userId="52698913-8803-44d0-b81a-d207944fdb38" providerId="ADAL" clId="{2E18606C-B16D-48DE-A10F-40DC70145920}" dt="2026-08-31T20:44:53.117" v="22" actId="403"/>
          <ac:graphicFrameMkLst>
            <pc:docMk/>
            <pc:sldMk cId="876686658" sldId="263"/>
            <ac:graphicFrameMk id="7" creationId="{7092888A-1382-E654-067B-02C5F7324A26}"/>
          </ac:graphicFrameMkLst>
        </pc:graphicFrameChg>
      </pc:sldChg>
      <pc:sldChg chg="addSp delSp modSp mod">
        <pc:chgData name="William R Garcia" userId="52698913-8803-44d0-b81a-d207944fdb38" providerId="ADAL" clId="{2E18606C-B16D-48DE-A10F-40DC70145920}" dt="2026-08-31T23:30:11.840" v="56" actId="1076"/>
        <pc:sldMkLst>
          <pc:docMk/>
          <pc:sldMk cId="0" sldId="275"/>
        </pc:sldMkLst>
        <pc:spChg chg="mod">
          <ac:chgData name="William R Garcia" userId="52698913-8803-44d0-b81a-d207944fdb38" providerId="ADAL" clId="{2E18606C-B16D-48DE-A10F-40DC70145920}" dt="2026-08-31T20:57:52.795" v="53" actId="1076"/>
          <ac:spMkLst>
            <pc:docMk/>
            <pc:sldMk cId="0" sldId="275"/>
            <ac:spMk id="3" creationId="{6226A705-3710-3015-23A2-010876B58563}"/>
          </ac:spMkLst>
        </pc:spChg>
        <pc:spChg chg="mod">
          <ac:chgData name="William R Garcia" userId="52698913-8803-44d0-b81a-d207944fdb38" providerId="ADAL" clId="{2E18606C-B16D-48DE-A10F-40DC70145920}" dt="2026-08-31T20:57:46.315" v="51" actId="1076"/>
          <ac:spMkLst>
            <pc:docMk/>
            <pc:sldMk cId="0" sldId="275"/>
            <ac:spMk id="51" creationId="{AC75F4D4-BBCE-E436-4D46-E18AAFAC5DD4}"/>
          </ac:spMkLst>
        </pc:spChg>
        <pc:picChg chg="add del mod">
          <ac:chgData name="William R Garcia" userId="52698913-8803-44d0-b81a-d207944fdb38" providerId="ADAL" clId="{2E18606C-B16D-48DE-A10F-40DC70145920}" dt="2026-08-31T23:30:11.840" v="56" actId="1076"/>
          <ac:picMkLst>
            <pc:docMk/>
            <pc:sldMk cId="0" sldId="275"/>
            <ac:picMk id="4" creationId="{00000000-0008-0000-1200-000002000000}"/>
          </ac:picMkLst>
        </pc:picChg>
        <pc:picChg chg="add del mod">
          <ac:chgData name="William R Garcia" userId="52698913-8803-44d0-b81a-d207944fdb38" providerId="ADAL" clId="{2E18606C-B16D-48DE-A10F-40DC70145920}" dt="2026-08-31T23:30:04.509" v="54" actId="478"/>
          <ac:picMkLst>
            <pc:docMk/>
            <pc:sldMk cId="0" sldId="275"/>
            <ac:picMk id="5" creationId="{00000000-0008-0000-1200-000002000000}"/>
          </ac:picMkLst>
        </pc:picChg>
        <pc:picChg chg="del">
          <ac:chgData name="William R Garcia" userId="52698913-8803-44d0-b81a-d207944fdb38" providerId="ADAL" clId="{2E18606C-B16D-48DE-A10F-40DC70145920}" dt="2026-08-31T20:46:26.142" v="23" actId="478"/>
          <ac:picMkLst>
            <pc:docMk/>
            <pc:sldMk cId="0" sldId="275"/>
            <ac:picMk id="7" creationId="{086AB707-C3AE-4452-31A5-5A5BA2788BA7}"/>
          </ac:picMkLst>
        </pc:picChg>
      </pc:sldChg>
      <pc:sldChg chg="addSp delSp modSp mod">
        <pc:chgData name="William R Garcia" userId="52698913-8803-44d0-b81a-d207944fdb38" providerId="ADAL" clId="{2E18606C-B16D-48DE-A10F-40DC70145920}" dt="2026-08-31T20:44:05.441" v="15" actId="14100"/>
        <pc:sldMkLst>
          <pc:docMk/>
          <pc:sldMk cId="806804552" sldId="278"/>
        </pc:sldMkLst>
        <pc:picChg chg="add del mod">
          <ac:chgData name="William R Garcia" userId="52698913-8803-44d0-b81a-d207944fdb38" providerId="ADAL" clId="{2E18606C-B16D-48DE-A10F-40DC70145920}" dt="2026-08-31T20:43:44.568" v="6" actId="478"/>
          <ac:picMkLst>
            <pc:docMk/>
            <pc:sldMk cId="806804552" sldId="278"/>
            <ac:picMk id="3" creationId="{00000000-0008-0000-0F00-000002000000}"/>
          </ac:picMkLst>
        </pc:picChg>
        <pc:picChg chg="del">
          <ac:chgData name="William R Garcia" userId="52698913-8803-44d0-b81a-d207944fdb38" providerId="ADAL" clId="{2E18606C-B16D-48DE-A10F-40DC70145920}" dt="2026-08-31T20:40:20.106" v="0" actId="478"/>
          <ac:picMkLst>
            <pc:docMk/>
            <pc:sldMk cId="806804552" sldId="278"/>
            <ac:picMk id="4" creationId="{FE8B0067-85F0-34D7-BC94-2C841C48D10D}"/>
          </ac:picMkLst>
        </pc:picChg>
        <pc:picChg chg="add mod">
          <ac:chgData name="William R Garcia" userId="52698913-8803-44d0-b81a-d207944fdb38" providerId="ADAL" clId="{2E18606C-B16D-48DE-A10F-40DC70145920}" dt="2026-08-31T20:44:05.441" v="15" actId="14100"/>
          <ac:picMkLst>
            <pc:docMk/>
            <pc:sldMk cId="806804552" sldId="278"/>
            <ac:picMk id="5" creationId="{00000000-0008-0000-0F00-000002000000}"/>
          </ac:picMkLst>
        </pc:picChg>
      </pc:sldChg>
      <pc:sldChg chg="addSp delSp modSp mod">
        <pc:chgData name="William R Garcia" userId="52698913-8803-44d0-b81a-d207944fdb38" providerId="ADAL" clId="{2E18606C-B16D-48DE-A10F-40DC70145920}" dt="2026-08-31T20:57:10.150" v="49" actId="122"/>
        <pc:sldMkLst>
          <pc:docMk/>
          <pc:sldMk cId="71399543" sldId="2147479960"/>
        </pc:sldMkLst>
        <pc:graphicFrameChg chg="add mod">
          <ac:chgData name="William R Garcia" userId="52698913-8803-44d0-b81a-d207944fdb38" providerId="ADAL" clId="{2E18606C-B16D-48DE-A10F-40DC70145920}" dt="2026-08-31T20:56:39.996" v="42"/>
          <ac:graphicFrameMkLst>
            <pc:docMk/>
            <pc:sldMk cId="71399543" sldId="2147479960"/>
            <ac:graphicFrameMk id="3" creationId="{C1A329AA-A4C3-8D00-2092-4FA596F5D207}"/>
          </ac:graphicFrameMkLst>
        </pc:graphicFrameChg>
        <pc:graphicFrameChg chg="del">
          <ac:chgData name="William R Garcia" userId="52698913-8803-44d0-b81a-d207944fdb38" providerId="ADAL" clId="{2E18606C-B16D-48DE-A10F-40DC70145920}" dt="2026-08-31T20:56:38.828" v="41" actId="478"/>
          <ac:graphicFrameMkLst>
            <pc:docMk/>
            <pc:sldMk cId="71399543" sldId="2147479960"/>
            <ac:graphicFrameMk id="5" creationId="{BC6F23C9-5CE7-5DB8-7C87-5E0BD582E555}"/>
          </ac:graphicFrameMkLst>
        </pc:graphicFrameChg>
        <pc:graphicFrameChg chg="add mod modGraphic">
          <ac:chgData name="William R Garcia" userId="52698913-8803-44d0-b81a-d207944fdb38" providerId="ADAL" clId="{2E18606C-B16D-48DE-A10F-40DC70145920}" dt="2026-08-31T20:57:10.150" v="49" actId="122"/>
          <ac:graphicFrameMkLst>
            <pc:docMk/>
            <pc:sldMk cId="71399543" sldId="2147479960"/>
            <ac:graphicFrameMk id="6" creationId="{41CD1120-9AC4-0E0A-5BE5-2B0CFC01825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2547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AD98-2BA1-8F83-DDEF-32EC2956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510D3-F956-2756-814A-AC2F0206F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C6C36-032A-99C1-8B15-6F4D94B98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•In Indonesia, the economic value of avoidable CVD mortality is 7.5% of national income and is projected to grow to 12.5% in 2050, far exceeding all other conditions and higher than peer countries. </a:t>
            </a:r>
          </a:p>
          <a:p>
            <a:r>
              <a:rPr lang="en-US" dirty="0"/>
              <a:t>•Improving access to a basic package of 7 CVD interventions plus tackling tobacco could reduce Indonesia’s CVD mortality rates to those of peer countries: preliminary estimates indicate that this package would reduce mortality by 25% and cost an additional $30 per person per year in health care costs by 2030. To achieve this, carry out a </a:t>
            </a:r>
            <a:r>
              <a:rPr lang="en-US" dirty="0" err="1"/>
              <a:t>a</a:t>
            </a:r>
            <a:r>
              <a:rPr lang="en-US" dirty="0"/>
              <a:t> gradual increase in access as well as availability and coverage for medicines and policies that reduce prices of medicines. </a:t>
            </a:r>
          </a:p>
          <a:p>
            <a:r>
              <a:rPr lang="en-US"/>
              <a:t>•Achieving WHO recommended levels of tobacco regulation and taxation would save 1.2 million lives and reduce mortality CVD by 7%. Even a 20% increase in tobacco price would reduce CVD deaths by 700,000 by 2050, not to mention benefits after 2050 from preventing other costly diseases such as cancer. </a:t>
            </a:r>
          </a:p>
          <a:p>
            <a:r>
              <a:rPr lang="en-US"/>
              <a:t>•After modeling 3 scenarios – just doing 70-70-70; adding tobacco control; and adding the rest of the CVD package – Indonesia can get close to Malaysia and below ASEAN average CVD mortality rate. However, to get to Singapore, additional intersectoral actions and expanding clinical package would be necessary. </a:t>
            </a:r>
          </a:p>
          <a:p>
            <a:r>
              <a:rPr lang="en-US" dirty="0"/>
              <a:t>•Addressing CVD would disproportionately benefit the poor in terms of financial protection, with 1.7 million people per year with catastrophic health expenditures (more than 10% income) due to CVD disease, of which 60-70% are among the poorest 20%. This large number comes from two areas – one is lack of access to prevention and the other is insurance implementation problems. Majority of financial risk comes from day-to-day expenditures on chronic medications currently paid of out-of-pocket. </a:t>
            </a:r>
          </a:p>
          <a:p>
            <a:r>
              <a:rPr lang="en-US"/>
              <a:t>•As proposed in JKN2 project, reforms in supply chain management and delivery systems of medicines are necessary to increase access and address the needs of the worst off. </a:t>
            </a:r>
          </a:p>
          <a:p>
            <a:r>
              <a:rPr lang="en-US" dirty="0"/>
              <a:t>•In addition the impact of tobacco control is pro-poor in terms of lives saved and financial protection, while also generating additional revenues largely from the rich (richest 60% generate 80% of the revenues).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80B3B-54D3-79F2-8CF1-B711C97DAF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43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22041-8491-C634-B33E-86C4554AF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19FF2-3C50-DDA9-5B27-C8BD7A5D9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1A613-A621-61A1-9888-5DBC8FD40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AC7C8-F470-E45F-3F77-0AF4EB898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388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019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DE19-5A76-3AA2-F1EF-AB2FC4DB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3CA25-43E6-2B09-C2D6-44159E54F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A8837-392E-F859-9163-053D86A2F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65283-2348-FE45-1518-D624990D6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095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674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362201"/>
            <a:ext cx="10363200" cy="1470025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(#)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fld id="{61E9FB5B-DB08-564E-B0E2-D8890D9FACEC}" type="datetime1">
              <a:rPr lang="en-US" smtClean="0"/>
              <a:t>8/31/2026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127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83288" y="274638"/>
            <a:ext cx="7599112" cy="1143000"/>
          </a:xfrm>
        </p:spPr>
        <p:txBody>
          <a:bodyPr/>
          <a:lstStyle>
            <a:lvl1pPr algn="r"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905000"/>
            <a:ext cx="10972800" cy="42211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0926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9BAE-9C6B-B249-B79F-717E4643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359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2">
            <a:extLst>
              <a:ext uri="{FF2B5EF4-FFF2-40B4-BE49-F238E27FC236}">
                <a16:creationId xmlns:a16="http://schemas.microsoft.com/office/drawing/2014/main" id="{99DDC60A-5C4A-5245-8961-D2EE09418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831" y="685800"/>
            <a:ext cx="10518339" cy="914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16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6DCBF5E6-69B1-E146-B6D1-E081E0CF2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393" y="274320"/>
            <a:ext cx="11158585" cy="228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675" cap="all" spc="225" baseline="0"/>
            </a:lvl1pPr>
          </a:lstStyle>
          <a:p>
            <a:pPr lvl="0"/>
            <a:r>
              <a:rPr lang="en-US" dirty="0"/>
              <a:t>PRE-TITLE i.e. “example” or “case study”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38F1B-D100-D74C-EF6C-0EE7717605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895" y="1783080"/>
            <a:ext cx="10518339" cy="41605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6709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28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FAD32-CC12-0049-BF75-3DDCA597D08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77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7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/>
          </p:cNvSpPr>
          <p:nvPr/>
        </p:nvSpPr>
        <p:spPr bwMode="auto">
          <a:xfrm>
            <a:off x="1910196" y="2209800"/>
            <a:ext cx="8371609" cy="4495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 fontAlgn="ctr"/>
            <a:r>
              <a:rPr lang="en-US" sz="4000" b="1" dirty="0">
                <a:solidFill>
                  <a:prstClr val="black"/>
                </a:solidFill>
                <a:latin typeface="Aptos" panose="020B0004020202020204" pitchFamily="34" charset="0"/>
              </a:rPr>
              <a:t>Reducing premature mortality from cardiovascular disease in Indonesia</a:t>
            </a:r>
          </a:p>
          <a:p>
            <a:pPr algn="ctr" fontAlgn="ctr"/>
            <a:endParaRPr lang="en-US" sz="2000" b="1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algn="ctr" fontAlgn="ctr"/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Stéphane </a:t>
            </a:r>
            <a:r>
              <a:rPr lang="en-US" sz="2800" dirty="0" err="1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Verguet</a:t>
            </a: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 and David Watkins</a:t>
            </a:r>
          </a:p>
          <a:p>
            <a:pPr algn="ctr" fontAlgn="ctr"/>
            <a:endParaRPr lang="en-US" sz="2000" dirty="0">
              <a:solidFill>
                <a:prstClr val="black"/>
              </a:solidFill>
              <a:latin typeface="Aptos" panose="020B0004020202020204" pitchFamily="34" charset="0"/>
              <a:ea typeface="Helvetica" pitchFamily="-1" charset="0"/>
              <a:cs typeface="Helvetica" pitchFamily="-1" charset="0"/>
              <a:sym typeface="Helvetica" pitchFamily="-1" charset="0"/>
            </a:endParaRPr>
          </a:p>
          <a:p>
            <a:pPr algn="ctr" fontAlgn="ctr"/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Acknowledgements: William Garcia, Zili Huang, William </a:t>
            </a:r>
            <a:r>
              <a:rPr lang="en-US" sz="2800" dirty="0" err="1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Msemburi</a:t>
            </a: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, &amp; Yuchen Liu </a:t>
            </a:r>
          </a:p>
          <a:p>
            <a:pPr algn="ctr"/>
            <a:endParaRPr lang="en-US" sz="2000" dirty="0">
              <a:solidFill>
                <a:prstClr val="black"/>
              </a:solidFill>
              <a:latin typeface="Aptos" panose="020B0004020202020204" pitchFamily="34" charset="0"/>
              <a:ea typeface="Helvetica" pitchFamily="-1" charset="0"/>
              <a:cs typeface="Helvetica" pitchFamily="-1" charset="0"/>
              <a:sym typeface="Helvetica" pitchFamily="-1" charset="0"/>
            </a:endParaRPr>
          </a:p>
          <a:p>
            <a:pPr algn="ctr"/>
            <a:r>
              <a:rPr lang="en-US" dirty="0">
                <a:solidFill>
                  <a:prstClr val="black"/>
                </a:solidFill>
                <a:latin typeface="Aptos" panose="020B0004020202020204" pitchFamily="34" charset="0"/>
              </a:rPr>
              <a:t>September 1, 2026</a:t>
            </a:r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6AEC541F-5BA3-78CA-C1C9-00C0891726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50" y="457200"/>
            <a:ext cx="4393042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85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1DEFE-39FF-4E55-8EE0-8DEE75C0050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020654E7-7576-4F4C-9BD1-B6A5BC0D9891}"/>
              </a:ext>
            </a:extLst>
          </p:cNvPr>
          <p:cNvSpPr/>
          <p:nvPr/>
        </p:nvSpPr>
        <p:spPr>
          <a:xfrm>
            <a:off x="585216" y="49580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Key Messages from DCP Indonesia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22C86EB-A92E-3F5C-615F-29E26F59050C}"/>
              </a:ext>
            </a:extLst>
          </p:cNvPr>
          <p:cNvSpPr/>
          <p:nvPr/>
        </p:nvSpPr>
        <p:spPr>
          <a:xfrm>
            <a:off x="603504" y="294640"/>
            <a:ext cx="10881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Key messages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26C96E6-B88A-97C2-71AD-133DF6964FEA}"/>
              </a:ext>
            </a:extLst>
          </p:cNvPr>
          <p:cNvSpPr/>
          <p:nvPr/>
        </p:nvSpPr>
        <p:spPr>
          <a:xfrm>
            <a:off x="566928" y="1576832"/>
            <a:ext cx="11045952" cy="4901184"/>
          </a:xfrm>
          <a:prstGeom prst="roundRect">
            <a:avLst>
              <a:gd name="adj" fmla="val 1493"/>
            </a:avLst>
          </a:prstGeom>
          <a:solidFill>
            <a:srgbClr val="F8FBFC">
              <a:alpha val="99000"/>
            </a:srgbClr>
          </a:solidFill>
          <a:ln w="10160">
            <a:solidFill>
              <a:srgbClr val="76BFD0">
                <a:alpha val="50000"/>
              </a:srgbClr>
            </a:solidFill>
            <a:prstDash val="solid"/>
          </a:ln>
          <a:effectLst>
            <a:outerShdw blurRad="19050" dist="63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A6451D1-EE77-EC70-962B-9415D474C87A}"/>
              </a:ext>
            </a:extLst>
          </p:cNvPr>
          <p:cNvSpPr/>
          <p:nvPr/>
        </p:nvSpPr>
        <p:spPr>
          <a:xfrm>
            <a:off x="896112" y="1958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" dirty="0">
                <a:solidFill>
                  <a:srgbClr val="BC3B3B"/>
                </a:solidFill>
              </a:rPr>
              <a:t>CVD BURDEN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EA6D30F-FF72-EA9B-68BD-6B3E66A41F90}"/>
              </a:ext>
            </a:extLst>
          </p:cNvPr>
          <p:cNvSpPr/>
          <p:nvPr/>
        </p:nvSpPr>
        <p:spPr>
          <a:xfrm>
            <a:off x="877824" y="2461768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93434"/>
                </a:solidFill>
              </a:rPr>
              <a:t>8%</a:t>
            </a:r>
            <a:endParaRPr lang="en-US" sz="2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B7FF053-0F1C-2EF9-77AB-48C7EB4A6872}"/>
              </a:ext>
            </a:extLst>
          </p:cNvPr>
          <p:cNvSpPr/>
          <p:nvPr/>
        </p:nvSpPr>
        <p:spPr>
          <a:xfrm>
            <a:off x="896112" y="31109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03B4D"/>
                </a:solidFill>
              </a:rPr>
              <a:t>of national income today</a:t>
            </a:r>
            <a:endParaRPr lang="en-US" sz="1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D8CE055-89EC-262A-3705-771D323D5A8F}"/>
              </a:ext>
            </a:extLst>
          </p:cNvPr>
          <p:cNvSpPr/>
          <p:nvPr/>
        </p:nvSpPr>
        <p:spPr>
          <a:xfrm>
            <a:off x="896112" y="39065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26A79"/>
                </a:solidFill>
              </a:rPr>
              <a:t>Projected to reach</a:t>
            </a:r>
            <a:endParaRPr lang="en-US" sz="1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0AE4B28-2F92-4C41-6F22-9F1C89427547}"/>
              </a:ext>
            </a:extLst>
          </p:cNvPr>
          <p:cNvSpPr/>
          <p:nvPr/>
        </p:nvSpPr>
        <p:spPr>
          <a:xfrm>
            <a:off x="896112" y="4348350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93434"/>
                </a:solidFill>
              </a:rPr>
              <a:t>13% by 2050</a:t>
            </a:r>
            <a:endParaRPr lang="en-US" sz="25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FD773FC-C062-7280-28EC-BD1042C1A856}"/>
              </a:ext>
            </a:extLst>
          </p:cNvPr>
          <p:cNvSpPr/>
          <p:nvPr/>
        </p:nvSpPr>
        <p:spPr>
          <a:xfrm>
            <a:off x="896112" y="5049520"/>
            <a:ext cx="1938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26A79"/>
                </a:solidFill>
              </a:rPr>
              <a:t>Higher than other conditions and peer countries</a:t>
            </a:r>
            <a:endParaRPr lang="en-US" sz="18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13CAFF1-90BA-E20E-A527-696B441054FD}"/>
              </a:ext>
            </a:extLst>
          </p:cNvPr>
          <p:cNvSpPr/>
          <p:nvPr/>
        </p:nvSpPr>
        <p:spPr>
          <a:xfrm>
            <a:off x="3136392" y="1940560"/>
            <a:ext cx="1" cy="4206240"/>
          </a:xfrm>
          <a:prstGeom prst="line">
            <a:avLst/>
          </a:prstGeom>
          <a:noFill/>
          <a:ln w="15240">
            <a:solidFill>
              <a:srgbClr val="BD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AFAA1F4-28AC-369D-334A-5EA27BD1D887}"/>
              </a:ext>
            </a:extLst>
          </p:cNvPr>
          <p:cNvSpPr/>
          <p:nvPr/>
        </p:nvSpPr>
        <p:spPr>
          <a:xfrm>
            <a:off x="3456432" y="1913128"/>
            <a:ext cx="365760" cy="365760"/>
          </a:xfrm>
          <a:prstGeom prst="ellipse">
            <a:avLst/>
          </a:prstGeom>
          <a:solidFill>
            <a:srgbClr val="137C8D"/>
          </a:solidFill>
          <a:ln w="12700">
            <a:solidFill>
              <a:srgbClr val="137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4927AAD-65D3-6902-26EA-9F7A0443825B}"/>
              </a:ext>
            </a:extLst>
          </p:cNvPr>
          <p:cNvSpPr/>
          <p:nvPr/>
        </p:nvSpPr>
        <p:spPr>
          <a:xfrm>
            <a:off x="3456432" y="19817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3F36525-80B4-0FCB-8FB9-ED8971674AC8}"/>
              </a:ext>
            </a:extLst>
          </p:cNvPr>
          <p:cNvSpPr/>
          <p:nvPr/>
        </p:nvSpPr>
        <p:spPr>
          <a:xfrm>
            <a:off x="4023360" y="1876552"/>
            <a:ext cx="711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64B"/>
                </a:solidFill>
              </a:rPr>
              <a:t>Cut CVD mortality by 25%</a:t>
            </a:r>
            <a:endParaRPr lang="en-US" sz="20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3D8F9EF-38F9-B0D8-1419-3D530734FF07}"/>
              </a:ext>
            </a:extLst>
          </p:cNvPr>
          <p:cNvSpPr/>
          <p:nvPr/>
        </p:nvSpPr>
        <p:spPr>
          <a:xfrm>
            <a:off x="4023360" y="2260600"/>
            <a:ext cx="7059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25D6D"/>
                </a:solidFill>
              </a:rPr>
              <a:t>Scale </a:t>
            </a:r>
            <a:r>
              <a:rPr lang="en-US" dirty="0">
                <a:solidFill>
                  <a:srgbClr val="425D6D"/>
                </a:solidFill>
              </a:rPr>
              <a:t>7</a:t>
            </a:r>
            <a:r>
              <a:rPr lang="en-US" sz="1800" dirty="0">
                <a:solidFill>
                  <a:srgbClr val="425D6D"/>
                </a:solidFill>
              </a:rPr>
              <a:t> basic interventions plus tobacco control for about $30 more per person per year by 2030.</a:t>
            </a:r>
            <a:endParaRPr lang="en-US" sz="18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CCF89AF-A257-845C-9710-6866389A7176}"/>
              </a:ext>
            </a:extLst>
          </p:cNvPr>
          <p:cNvSpPr/>
          <p:nvPr/>
        </p:nvSpPr>
        <p:spPr>
          <a:xfrm>
            <a:off x="4023360" y="2882392"/>
            <a:ext cx="7022592" cy="1"/>
          </a:xfrm>
          <a:prstGeom prst="line">
            <a:avLst/>
          </a:prstGeom>
          <a:noFill/>
          <a:ln w="10160">
            <a:solidFill>
              <a:srgbClr val="D5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AEEBC43C-D909-D59D-1466-115E22972D63}"/>
              </a:ext>
            </a:extLst>
          </p:cNvPr>
          <p:cNvSpPr/>
          <p:nvPr/>
        </p:nvSpPr>
        <p:spPr>
          <a:xfrm>
            <a:off x="3456432" y="3037840"/>
            <a:ext cx="365760" cy="365760"/>
          </a:xfrm>
          <a:prstGeom prst="ellipse">
            <a:avLst/>
          </a:prstGeom>
          <a:solidFill>
            <a:srgbClr val="D77A25"/>
          </a:solidFill>
          <a:ln w="12700">
            <a:solidFill>
              <a:srgbClr val="D77A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E6232CC-C750-447E-F985-6FB2228599CA}"/>
              </a:ext>
            </a:extLst>
          </p:cNvPr>
          <p:cNvSpPr/>
          <p:nvPr/>
        </p:nvSpPr>
        <p:spPr>
          <a:xfrm>
            <a:off x="3456432" y="31064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682D1FA-0F53-937A-C196-D4F9E16DF77C}"/>
              </a:ext>
            </a:extLst>
          </p:cNvPr>
          <p:cNvSpPr/>
          <p:nvPr/>
        </p:nvSpPr>
        <p:spPr>
          <a:xfrm>
            <a:off x="4023360" y="3001264"/>
            <a:ext cx="711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64B"/>
                </a:solidFill>
              </a:rPr>
              <a:t>Use tobacco policy for rapid gains</a:t>
            </a:r>
            <a:endParaRPr lang="en-US" sz="20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377EDF6-3753-5210-4839-2C8B4A009FE8}"/>
              </a:ext>
            </a:extLst>
          </p:cNvPr>
          <p:cNvSpPr/>
          <p:nvPr/>
        </p:nvSpPr>
        <p:spPr>
          <a:xfrm>
            <a:off x="4023360" y="3385312"/>
            <a:ext cx="7059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25D6D"/>
                </a:solidFill>
              </a:rPr>
              <a:t>WHO-level measures could save 1.2 million lives; even a modest 20% tobacco price increase could avert 700,000 CVD deaths by 2050.</a:t>
            </a:r>
            <a:endParaRPr lang="en-US" sz="1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22C26500-9123-08C1-61C8-F5B8333E0B2D}"/>
              </a:ext>
            </a:extLst>
          </p:cNvPr>
          <p:cNvSpPr/>
          <p:nvPr/>
        </p:nvSpPr>
        <p:spPr>
          <a:xfrm>
            <a:off x="4023360" y="4007104"/>
            <a:ext cx="7022592" cy="1"/>
          </a:xfrm>
          <a:prstGeom prst="line">
            <a:avLst/>
          </a:prstGeom>
          <a:noFill/>
          <a:ln w="10160">
            <a:solidFill>
              <a:srgbClr val="D5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F31FA29-6FF3-6C47-330C-7A3421AE3B81}"/>
              </a:ext>
            </a:extLst>
          </p:cNvPr>
          <p:cNvSpPr/>
          <p:nvPr/>
        </p:nvSpPr>
        <p:spPr>
          <a:xfrm>
            <a:off x="3456432" y="4162552"/>
            <a:ext cx="365760" cy="365760"/>
          </a:xfrm>
          <a:prstGeom prst="ellipse">
            <a:avLst/>
          </a:prstGeom>
          <a:solidFill>
            <a:srgbClr val="2E7A9C"/>
          </a:solidFill>
          <a:ln w="12700">
            <a:solidFill>
              <a:srgbClr val="2E7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0805AFE0-0A5A-3DCF-81A9-AEDB9314CD38}"/>
              </a:ext>
            </a:extLst>
          </p:cNvPr>
          <p:cNvSpPr/>
          <p:nvPr/>
        </p:nvSpPr>
        <p:spPr>
          <a:xfrm>
            <a:off x="3456432" y="423113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3A451DC-76CB-21C5-8F09-EC8DCCD4C658}"/>
              </a:ext>
            </a:extLst>
          </p:cNvPr>
          <p:cNvSpPr/>
          <p:nvPr/>
        </p:nvSpPr>
        <p:spPr>
          <a:xfrm>
            <a:off x="4023360" y="4125976"/>
            <a:ext cx="711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64B"/>
                </a:solidFill>
              </a:rPr>
              <a:t>Move Indonesia toward peer-country outcomes</a:t>
            </a:r>
            <a:endParaRPr lang="en-US" sz="20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D76F308-7E1A-00CA-6AE0-2C59EC76C18C}"/>
              </a:ext>
            </a:extLst>
          </p:cNvPr>
          <p:cNvSpPr/>
          <p:nvPr/>
        </p:nvSpPr>
        <p:spPr>
          <a:xfrm>
            <a:off x="4023360" y="4461386"/>
            <a:ext cx="7059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800" dirty="0">
                <a:solidFill>
                  <a:srgbClr val="425D6D"/>
                </a:solidFill>
              </a:rPr>
              <a:t>The modeled package approaches Malaysia and falls below the ASEAN </a:t>
            </a:r>
            <a:r>
              <a:rPr lang="en-US" sz="1800">
                <a:solidFill>
                  <a:srgbClr val="425D6D"/>
                </a:solidFill>
              </a:rPr>
              <a:t>average; reaching Singapore requires broader </a:t>
            </a:r>
            <a:r>
              <a:rPr lang="en-US">
                <a:solidFill>
                  <a:srgbClr val="425D6D"/>
                </a:solidFill>
              </a:rPr>
              <a:t>intersectoral </a:t>
            </a:r>
            <a:r>
              <a:rPr lang="en-US" sz="1800">
                <a:solidFill>
                  <a:srgbClr val="425D6D"/>
                </a:solidFill>
              </a:rPr>
              <a:t>action.</a:t>
            </a:r>
            <a:endParaRPr lang="en-US" sz="1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7A0B2E9F-80B4-EE6E-2224-0807F78F38C1}"/>
              </a:ext>
            </a:extLst>
          </p:cNvPr>
          <p:cNvSpPr/>
          <p:nvPr/>
        </p:nvSpPr>
        <p:spPr>
          <a:xfrm>
            <a:off x="4023360" y="5131816"/>
            <a:ext cx="7022592" cy="1"/>
          </a:xfrm>
          <a:prstGeom prst="line">
            <a:avLst/>
          </a:prstGeom>
          <a:noFill/>
          <a:ln w="10160">
            <a:solidFill>
              <a:srgbClr val="D5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A1043E0D-B8C4-A1E6-C37C-2A18E296B005}"/>
              </a:ext>
            </a:extLst>
          </p:cNvPr>
          <p:cNvSpPr/>
          <p:nvPr/>
        </p:nvSpPr>
        <p:spPr>
          <a:xfrm>
            <a:off x="3456432" y="5287264"/>
            <a:ext cx="365760" cy="365760"/>
          </a:xfrm>
          <a:prstGeom prst="ellipse">
            <a:avLst/>
          </a:prstGeom>
          <a:solidFill>
            <a:srgbClr val="7254A0"/>
          </a:solidFill>
          <a:ln w="12700">
            <a:solidFill>
              <a:srgbClr val="725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5A663E6F-CF2A-4B1C-E15D-578112DABF95}"/>
              </a:ext>
            </a:extLst>
          </p:cNvPr>
          <p:cNvSpPr/>
          <p:nvPr/>
        </p:nvSpPr>
        <p:spPr>
          <a:xfrm>
            <a:off x="3456432" y="535584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88CD5CF-528B-47F7-E8FE-FBA36303524C}"/>
              </a:ext>
            </a:extLst>
          </p:cNvPr>
          <p:cNvSpPr/>
          <p:nvPr/>
        </p:nvSpPr>
        <p:spPr>
          <a:xfrm>
            <a:off x="4023360" y="5250688"/>
            <a:ext cx="711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64B"/>
                </a:solidFill>
              </a:rPr>
              <a:t>Make medicine access and financial protection central</a:t>
            </a:r>
            <a:endParaRPr lang="en-US" sz="20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DDEF9C1C-816A-3F60-24DC-9DC3C0E9DC47}"/>
              </a:ext>
            </a:extLst>
          </p:cNvPr>
          <p:cNvSpPr/>
          <p:nvPr/>
        </p:nvSpPr>
        <p:spPr>
          <a:xfrm>
            <a:off x="4023360" y="5626992"/>
            <a:ext cx="7059168" cy="648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25D6D"/>
                </a:solidFill>
              </a:rPr>
              <a:t>CVD drives catastrophic spending for 1.7 million people yearly, concentrated among the poorest. Optimizing JKN delivery and supply-chain reforms are essential.</a:t>
            </a:r>
            <a:endParaRPr lang="en-US" sz="18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68EA503C-FBF3-CE89-C87F-156DAB5CB84B}"/>
              </a:ext>
            </a:extLst>
          </p:cNvPr>
          <p:cNvSpPr/>
          <p:nvPr/>
        </p:nvSpPr>
        <p:spPr>
          <a:xfrm>
            <a:off x="998220" y="104675"/>
            <a:ext cx="10195561" cy="1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PRELIMINARY ESTIMATES – NOT FOR QUOTATION OR CIRCULATION – UPDATED 30 AUG 2026</a:t>
            </a: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43C8894-EFDA-7A92-F8ED-CA27E37A3CAF}"/>
              </a:ext>
            </a:extLst>
          </p:cNvPr>
          <p:cNvSpPr/>
          <p:nvPr/>
        </p:nvSpPr>
        <p:spPr>
          <a:xfrm>
            <a:off x="63500" y="6621018"/>
            <a:ext cx="11944350" cy="1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Preliminary results from the World Bank Group with University of Washington and Harvard University</a:t>
            </a:r>
          </a:p>
        </p:txBody>
      </p:sp>
    </p:spTree>
    <p:extLst>
      <p:ext uri="{BB962C8B-B14F-4D97-AF65-F5344CB8AC3E}">
        <p14:creationId xmlns:p14="http://schemas.microsoft.com/office/powerpoint/2010/main" val="1580384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2616201"/>
            <a:ext cx="10287000" cy="1523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Message 1. </a:t>
            </a:r>
            <a:r>
              <a:rPr lang="en-US" sz="4000" dirty="0">
                <a:solidFill>
                  <a:srgbClr val="002060"/>
                </a:solidFill>
              </a:rPr>
              <a:t>The economic value of reducing CVD avoidable mortality is very large in Indonesia</a:t>
            </a:r>
          </a:p>
        </p:txBody>
      </p:sp>
    </p:spTree>
    <p:extLst>
      <p:ext uri="{BB962C8B-B14F-4D97-AF65-F5344CB8AC3E}">
        <p14:creationId xmlns:p14="http://schemas.microsoft.com/office/powerpoint/2010/main" val="1999605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280AE-72AA-369C-928F-36F4C32C07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274" y="1973136"/>
            <a:ext cx="10623726" cy="23781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u="sng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: To estimate the economic value associated with avoidable mortality related to various causes of death, over 2019-2050</a:t>
            </a:r>
          </a:p>
          <a:p>
            <a:pPr marL="628222" lvl="1" indent="-278681">
              <a:buFont typeface="+mj-lt"/>
              <a:buAutoNum type="arabicPeriod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We benchmark these hypothetical reductions against a mortality frontier              (lowest mortality rates achieved) by cause</a:t>
            </a:r>
          </a:p>
          <a:p>
            <a:pPr marL="628222" lvl="1" indent="-278681">
              <a:buFont typeface="+mj-lt"/>
              <a:buAutoNum type="arabicPeriod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We assign a willingness to pay value to these hypothetical reductions in cause-specific mortality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4ACBEED-8A82-E373-7018-4AD493CAFF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242" y="940304"/>
            <a:ext cx="10220257" cy="4312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</a:rPr>
              <a:t>question: </a:t>
            </a:r>
            <a:r>
              <a:rPr lang="en-US" sz="3600" dirty="0">
                <a:solidFill>
                  <a:srgbClr val="002060"/>
                </a:solidFill>
              </a:rPr>
              <a:t>What is the economic value of avoidable mortality FROM </a:t>
            </a:r>
            <a:r>
              <a:rPr lang="en-US" sz="3600" dirty="0" err="1">
                <a:solidFill>
                  <a:srgbClr val="002060"/>
                </a:solidFill>
              </a:rPr>
              <a:t>CVd</a:t>
            </a:r>
            <a:r>
              <a:rPr lang="en-US" sz="3600" dirty="0">
                <a:solidFill>
                  <a:srgbClr val="002060"/>
                </a:solidFill>
              </a:rPr>
              <a:t>?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A96E519-97BD-4E05-B5D9-155ED7E84BF9}"/>
              </a:ext>
            </a:extLst>
          </p:cNvPr>
          <p:cNvSpPr txBox="1">
            <a:spLocks/>
          </p:cNvSpPr>
          <p:nvPr/>
        </p:nvSpPr>
        <p:spPr>
          <a:xfrm>
            <a:off x="782320" y="4412104"/>
            <a:ext cx="10668000" cy="1634457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73152" tIns="36576" rIns="73152" bIns="36576" rtlCol="0">
            <a:no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u="sng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 numéraire obtained</a:t>
            </a:r>
            <a:r>
              <a:rPr lang="en-US" sz="2200" b="1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</a:p>
          <a:p>
            <a:pPr marL="214370" indent="-2143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% of income an individual is willing to pay to live 1 year under the lowest possible mortality rate for a given cause of death</a:t>
            </a:r>
          </a:p>
          <a:p>
            <a:pPr marL="214370" indent="-2143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Economic metric directly comparable to national annual incomes</a:t>
            </a:r>
            <a:r>
              <a:rPr lang="en-US" sz="2200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(GNI)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79F3F6B-FB7E-0AE0-664D-57A43739CBC7}"/>
              </a:ext>
            </a:extLst>
          </p:cNvPr>
          <p:cNvSpPr txBox="1">
            <a:spLocks/>
          </p:cNvSpPr>
          <p:nvPr/>
        </p:nvSpPr>
        <p:spPr>
          <a:xfrm>
            <a:off x="1015247" y="5194642"/>
            <a:ext cx="9691763" cy="595719"/>
          </a:xfrm>
          <a:prstGeom prst="rect">
            <a:avLst/>
          </a:prstGeom>
        </p:spPr>
        <p:txBody>
          <a:bodyPr vert="horz" lIns="34299" tIns="17149" rIns="34299" bIns="17149" rtlCol="0">
            <a:norm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941087-2877-15C5-BEF6-11D2E71B79FD}"/>
              </a:ext>
            </a:extLst>
          </p:cNvPr>
          <p:cNvSpPr txBox="1"/>
          <p:nvPr/>
        </p:nvSpPr>
        <p:spPr>
          <a:xfrm>
            <a:off x="3795153" y="6437952"/>
            <a:ext cx="42273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Calibri"/>
              </a:rPr>
              <a:t>Verguet, </a:t>
            </a:r>
            <a:r>
              <a:rPr lang="en-US" sz="1600" dirty="0" err="1">
                <a:solidFill>
                  <a:prstClr val="black"/>
                </a:solidFill>
                <a:latin typeface="Calibri"/>
              </a:rPr>
              <a:t>Bolongaita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, et al. 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Nature Medicine 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859669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FBAAA-590A-2856-628F-0F2758B5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6EF88D-8D37-606A-7718-134B42D7C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988" y="2177242"/>
            <a:ext cx="8174024" cy="4337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B29E7B-B1F5-C25B-6397-19C258ECCAD2}"/>
              </a:ext>
            </a:extLst>
          </p:cNvPr>
          <p:cNvSpPr txBox="1"/>
          <p:nvPr/>
        </p:nvSpPr>
        <p:spPr>
          <a:xfrm>
            <a:off x="450000" y="443806"/>
            <a:ext cx="102928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57128" algn="ctr"/>
            <a:r>
              <a:rPr lang="en-US" sz="4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Indonesia’s economic value of avoidable mortality, by cause, 2019 &amp; 2050</a:t>
            </a:r>
          </a:p>
        </p:txBody>
      </p:sp>
    </p:spTree>
    <p:extLst>
      <p:ext uri="{BB962C8B-B14F-4D97-AF65-F5344CB8AC3E}">
        <p14:creationId xmlns:p14="http://schemas.microsoft.com/office/powerpoint/2010/main" val="3421421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6C614-4D82-4EBD-FD01-2D16F92D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977C94-54FC-BB72-F01D-66CFABE738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2558" y="188259"/>
            <a:ext cx="10818081" cy="1274781"/>
          </a:xfrm>
        </p:spPr>
        <p:txBody>
          <a:bodyPr>
            <a:noAutofit/>
          </a:bodyPr>
          <a:lstStyle/>
          <a:p>
            <a:pPr marL="0" indent="-57128" algn="ctr">
              <a:spcBef>
                <a:spcPts val="0"/>
              </a:spcBef>
              <a:buNone/>
            </a:pPr>
            <a:r>
              <a:rPr lang="en-US" sz="3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Economic value of avoidable mortality by cause:</a:t>
            </a:r>
          </a:p>
          <a:p>
            <a:pPr marL="0" indent="-57128" algn="ctr">
              <a:spcBef>
                <a:spcPts val="0"/>
              </a:spcBef>
              <a:buNone/>
            </a:pPr>
            <a:r>
              <a:rPr lang="en-US" sz="3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Indonesia vs. selected comparators</a:t>
            </a:r>
            <a:r>
              <a:rPr lang="en-US" sz="3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females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4C752C-363D-CB5F-E097-77E227D991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77" r="18528" b="49929"/>
          <a:stretch>
            <a:fillRect/>
          </a:stretch>
        </p:blipFill>
        <p:spPr>
          <a:xfrm>
            <a:off x="4236400" y="1574801"/>
            <a:ext cx="4416238" cy="5029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E7DFE9-2646-7FDD-DB0F-8AA3F94EEF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280" b="49929"/>
          <a:stretch>
            <a:fillRect/>
          </a:stretch>
        </p:blipFill>
        <p:spPr>
          <a:xfrm>
            <a:off x="882271" y="1574801"/>
            <a:ext cx="3374449" cy="502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64DA3A-0801-1E67-FEE8-1A67A7A754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893" t="36738" b="35802"/>
          <a:stretch>
            <a:fillRect/>
          </a:stretch>
        </p:blipFill>
        <p:spPr>
          <a:xfrm>
            <a:off x="9091964" y="2616348"/>
            <a:ext cx="27263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52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E1BC-5548-DDB5-A6D7-03CE0C44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E7956-B98B-5186-5E6F-77AAE78DE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981201"/>
            <a:ext cx="10287000" cy="28955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Message 2.</a:t>
            </a:r>
            <a:r>
              <a:rPr lang="en-US" sz="4000" dirty="0">
                <a:solidFill>
                  <a:srgbClr val="002060"/>
                </a:solidFill>
              </a:rPr>
              <a:t> Improving access to a basic package of CVD interventions, and tackling tobacco, could reduce Indonesia’s CVD mortality rates to those of peer countries</a:t>
            </a:r>
          </a:p>
        </p:txBody>
      </p:sp>
    </p:spTree>
    <p:extLst>
      <p:ext uri="{BB962C8B-B14F-4D97-AF65-F5344CB8AC3E}">
        <p14:creationId xmlns:p14="http://schemas.microsoft.com/office/powerpoint/2010/main" val="1409562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3BF5C-C4BB-60FB-7BE8-B9181BFDA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C02F5-3C47-6F6F-A31C-B859D42714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233" y="2867161"/>
            <a:ext cx="10623726" cy="3372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u="sng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: To estimate the mortality impact of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Expanded access (utilization) of a package of foundational interventions for CVD prevention (CKG) and treatment, including the “70-70-70” target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Comprehensive tobacco control (WHO MPOWER policy package)</a:t>
            </a:r>
          </a:p>
          <a:p>
            <a:pPr marL="0" indent="0">
              <a:buNone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We assess the mortality consequences of these interventions, the associated increase in costs to JKN of expanded access, and the </a:t>
            </a:r>
            <a:r>
              <a:rPr lang="en-US" sz="2600" u="sng" dirty="0">
                <a:latin typeface="Calibri" panose="020F0502020204030204" pitchFamily="34" charset="0"/>
                <a:cs typeface="Calibri" panose="020F0502020204030204" pitchFamily="34" charset="0"/>
              </a:rPr>
              <a:t>impact these would have on mortality rates relative to ASEAN comparators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5DDAB29-83D9-C1B8-F5FF-C5AA6CB0F4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2968" y="1321304"/>
            <a:ext cx="10220257" cy="4312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</a:rPr>
              <a:t>question: </a:t>
            </a:r>
            <a:r>
              <a:rPr lang="en-US" sz="3600" dirty="0">
                <a:solidFill>
                  <a:srgbClr val="002060"/>
                </a:solidFill>
              </a:rPr>
              <a:t>What is the potential health impact of expanded access to basic CVD prevention and treatment?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52D4452-046A-BA1E-19DF-B36D66ADB81F}"/>
              </a:ext>
            </a:extLst>
          </p:cNvPr>
          <p:cNvSpPr txBox="1">
            <a:spLocks/>
          </p:cNvSpPr>
          <p:nvPr/>
        </p:nvSpPr>
        <p:spPr>
          <a:xfrm>
            <a:off x="970973" y="5194642"/>
            <a:ext cx="9691763" cy="595719"/>
          </a:xfrm>
          <a:prstGeom prst="rect">
            <a:avLst/>
          </a:prstGeom>
        </p:spPr>
        <p:txBody>
          <a:bodyPr vert="horz" lIns="34299" tIns="17149" rIns="34299" bIns="17149" rtlCol="0">
            <a:norm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2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6171" y="154504"/>
            <a:ext cx="11161829" cy="1129350"/>
          </a:xfrm>
          <a:prstGeom prst="rect">
            <a:avLst/>
          </a:prstGeom>
        </p:spPr>
        <p:txBody>
          <a:bodyPr vert="horz" wrap="square" lIns="0" tIns="21148" rIns="0" bIns="0" rtlCol="0" anchor="ctr">
            <a:spAutoFit/>
          </a:bodyPr>
          <a:lstStyle/>
          <a:p>
            <a:pPr marL="20141" algn="ctr">
              <a:spcBef>
                <a:spcPts val="167"/>
              </a:spcBef>
            </a:pPr>
            <a:r>
              <a:rPr lang="en-US" sz="3600" b="1" spc="-16" dirty="0"/>
              <a:t>Framework for projecting the mortality impact and cost of achieving a 70-70-70 target for CVD prevention</a:t>
            </a:r>
            <a:endParaRPr sz="3600" b="1" spc="-16" dirty="0"/>
          </a:p>
        </p:txBody>
      </p:sp>
      <p:sp>
        <p:nvSpPr>
          <p:cNvPr id="17" name="object 17"/>
          <p:cNvSpPr/>
          <p:nvPr/>
        </p:nvSpPr>
        <p:spPr>
          <a:xfrm>
            <a:off x="2006351" y="2566835"/>
            <a:ext cx="8639375" cy="0"/>
          </a:xfrm>
          <a:custGeom>
            <a:avLst/>
            <a:gdLst/>
            <a:ahLst/>
            <a:cxnLst/>
            <a:rect l="l" t="t" r="r" b="b"/>
            <a:pathLst>
              <a:path w="4411345">
                <a:moveTo>
                  <a:pt x="0" y="0"/>
                </a:moveTo>
                <a:lnTo>
                  <a:pt x="4411112" y="0"/>
                </a:lnTo>
              </a:path>
            </a:pathLst>
          </a:custGeom>
          <a:ln w="7477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 sz="285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3385" y="5638801"/>
            <a:ext cx="10633300" cy="762171"/>
          </a:xfrm>
          <a:prstGeom prst="rect">
            <a:avLst/>
          </a:prstGeom>
        </p:spPr>
        <p:txBody>
          <a:bodyPr vert="horz" wrap="square" lIns="0" tIns="17120" rIns="0" bIns="0" rtlCol="0">
            <a:spAutoFit/>
          </a:bodyPr>
          <a:lstStyle/>
          <a:p>
            <a:pPr marL="20141" marR="8056" algn="just">
              <a:lnSpc>
                <a:spcPct val="102400"/>
              </a:lnSpc>
              <a:spcBef>
                <a:spcPts val="135"/>
              </a:spcBef>
            </a:pPr>
            <a:r>
              <a:rPr lang="en-US" sz="1600" b="1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NCD Risk factors Collaborators 2024.</a:t>
            </a:r>
            <a:r>
              <a:rPr lang="en-US" sz="1600" b="1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Method: </a:t>
            </a:r>
            <a:r>
              <a:rPr lang="en-US"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baseline (2025) shows only measured treated/controlled — diagnosis is not modeled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baseline,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diagnosed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bar.</a:t>
            </a:r>
            <a:r>
              <a:rPr sz="1600" i="1" spc="79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16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Type-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16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diabetes</a:t>
            </a:r>
            <a:r>
              <a:rPr lang="en-US" sz="1600" i="1" spc="793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follows the same targets</a:t>
            </a:r>
            <a:r>
              <a:rPr sz="1600" i="1" spc="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(baseline treated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309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≈</a:t>
            </a:r>
            <a:r>
              <a:rPr sz="1600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22.0%, </a:t>
            </a:r>
            <a:r>
              <a:rPr sz="1600" i="1" spc="-16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controlled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309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≈</a:t>
            </a:r>
            <a:r>
              <a:rPr sz="1600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16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7.5%).</a:t>
            </a:r>
            <a:endParaRPr sz="16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DB8FF0A-1E67-55F5-DAAA-613F25CEF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458" y="1517684"/>
            <a:ext cx="9615084" cy="388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10909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5085" y="152400"/>
            <a:ext cx="11161829" cy="1129350"/>
          </a:xfrm>
          <a:prstGeom prst="rect">
            <a:avLst/>
          </a:prstGeom>
        </p:spPr>
        <p:txBody>
          <a:bodyPr vert="horz" wrap="square" lIns="0" tIns="21148" rIns="0" bIns="0" rtlCol="0" anchor="ctr">
            <a:spAutoFit/>
          </a:bodyPr>
          <a:lstStyle/>
          <a:p>
            <a:pPr marL="20141" algn="ctr">
              <a:spcBef>
                <a:spcPts val="167"/>
              </a:spcBef>
            </a:pPr>
            <a:r>
              <a:rPr lang="en-US" sz="3600" b="1" spc="-16" dirty="0"/>
              <a:t>Achieving 70-70-70 </a:t>
            </a:r>
            <a:r>
              <a:rPr sz="3600" b="1" spc="-16" dirty="0"/>
              <a:t>lowers premature </a:t>
            </a:r>
            <a:r>
              <a:rPr lang="en-US" sz="3600" b="1" spc="-16" dirty="0"/>
              <a:t>mortality</a:t>
            </a:r>
            <a:r>
              <a:rPr sz="3600" b="1" spc="-16" dirty="0"/>
              <a:t> at a rising but bounded cost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450000" y="5741896"/>
            <a:ext cx="10727400" cy="777349"/>
          </a:xfrm>
          <a:prstGeom prst="rect">
            <a:avLst/>
          </a:prstGeom>
        </p:spPr>
        <p:txBody>
          <a:bodyPr vert="horz" wrap="square" lIns="0" tIns="12085" rIns="0" bIns="0" rtlCol="0">
            <a:spAutoFit/>
          </a:bodyPr>
          <a:lstStyle/>
          <a:p>
            <a:pPr marL="20141" marR="8056">
              <a:lnSpc>
                <a:spcPct val="105200"/>
              </a:lnSpc>
              <a:spcBef>
                <a:spcPts val="95"/>
              </a:spcBef>
            </a:pPr>
            <a:r>
              <a:rPr sz="1600" b="1" i="1" dirty="0">
                <a:solidFill>
                  <a:srgbClr val="5B6B7A"/>
                </a:solidFill>
                <a:latin typeface="Calibri"/>
                <a:cs typeface="Calibri"/>
              </a:rPr>
              <a:t>Source</a:t>
            </a:r>
            <a:r>
              <a:rPr lang="en-US" sz="1600" b="1" i="1" dirty="0">
                <a:solidFill>
                  <a:srgbClr val="5B6B7A"/>
                </a:solidFill>
                <a:latin typeface="Calibri"/>
                <a:cs typeface="Calibri"/>
              </a:rPr>
              <a:t>s</a:t>
            </a:r>
            <a:r>
              <a:rPr sz="1600" b="1" i="1" dirty="0">
                <a:solidFill>
                  <a:srgbClr val="5B6B7A"/>
                </a:solidFill>
                <a:latin typeface="Calibri"/>
                <a:cs typeface="Calibri"/>
              </a:rPr>
              <a:t>:</a:t>
            </a:r>
            <a:r>
              <a:rPr sz="1600" b="1" i="1" spc="119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lang="en-US" sz="1600" i="1" dirty="0">
                <a:solidFill>
                  <a:srgbClr val="5B6B7A"/>
                </a:solidFill>
                <a:latin typeface="Calibri"/>
                <a:cs typeface="Calibri"/>
              </a:rPr>
              <a:t>See previous slides for details of epidemiological and demographic inputs. Intervention unit costs come from Watkins et al., Lancet Global Health 2020. </a:t>
            </a:r>
            <a:r>
              <a:rPr lang="en-US" sz="1600" b="1" i="1" dirty="0">
                <a:solidFill>
                  <a:srgbClr val="5B6B7A"/>
                </a:solidFill>
                <a:latin typeface="Calibri"/>
                <a:cs typeface="Calibri"/>
              </a:rPr>
              <a:t>Note: </a:t>
            </a:r>
            <a:r>
              <a:rPr lang="en-US" sz="1600" i="1" dirty="0">
                <a:solidFill>
                  <a:srgbClr val="5B6B7A"/>
                </a:solidFill>
                <a:latin typeface="Calibri"/>
                <a:cs typeface="Calibri"/>
              </a:rPr>
              <a:t>The metric “</a:t>
            </a:r>
            <a:r>
              <a:rPr sz="1600" i="1" spc="-16" dirty="0">
                <a:solidFill>
                  <a:srgbClr val="5B6B7A"/>
                </a:solidFill>
                <a:latin typeface="Calibri"/>
                <a:cs typeface="Calibri"/>
              </a:rPr>
              <a:t>probability</a:t>
            </a:r>
            <a:r>
              <a:rPr sz="1600" i="1" spc="16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lang="en-US" sz="1600" i="1" spc="16" dirty="0">
                <a:solidFill>
                  <a:srgbClr val="5B6B7A"/>
                </a:solidFill>
                <a:latin typeface="Calibri"/>
                <a:cs typeface="Calibri"/>
              </a:rPr>
              <a:t>of death from CVD before age 70” is calculated from life tables and is aggregated </a:t>
            </a:r>
            <a:r>
              <a:rPr sz="1600" i="1" dirty="0">
                <a:solidFill>
                  <a:srgbClr val="5B6B7A"/>
                </a:solidFill>
                <a:latin typeface="Calibri"/>
                <a:cs typeface="Calibri"/>
              </a:rPr>
              <a:t>over</a:t>
            </a:r>
            <a:r>
              <a:rPr sz="1600" i="1" spc="16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/>
                <a:cs typeface="Calibri"/>
              </a:rPr>
              <a:t>the</a:t>
            </a:r>
            <a:r>
              <a:rPr sz="1600" i="1" spc="24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/>
                <a:cs typeface="Calibri"/>
              </a:rPr>
              <a:t>CVD</a:t>
            </a:r>
            <a:r>
              <a:rPr sz="1600" i="1" spc="16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/>
                <a:cs typeface="Calibri"/>
              </a:rPr>
              <a:t>causes</a:t>
            </a:r>
            <a:r>
              <a:rPr lang="en-US" sz="1600" i="1" dirty="0">
                <a:solidFill>
                  <a:srgbClr val="5B6B7A"/>
                </a:solidFill>
                <a:latin typeface="Calibri"/>
                <a:cs typeface="Calibri"/>
              </a:rPr>
              <a:t> modeled here.</a:t>
            </a:r>
            <a:endParaRPr sz="16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00000-0008-0000-0F00-000002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8" y="1379060"/>
            <a:ext cx="10841801" cy="417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04552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CDB268-5842-44E2-8A1F-E33B4A234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40445"/>
            <a:ext cx="10858500" cy="1362268"/>
          </a:xfrm>
          <a:prstGeom prst="rect">
            <a:avLst/>
          </a:prstGeom>
        </p:spPr>
        <p:txBody>
          <a:bodyPr vert="horz" wrap="square" lIns="0" tIns="21148" rIns="0" bIns="0" rtlCol="0" anchor="ctr">
            <a:normAutofit/>
          </a:bodyPr>
          <a:lstStyle/>
          <a:p>
            <a:pPr marL="20141" algn="ctr">
              <a:spcBef>
                <a:spcPts val="167"/>
              </a:spcBef>
              <a:defRPr sz="240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en-US" sz="3600" b="1" spc="-1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 interventions can add impact (and cost) to the </a:t>
            </a:r>
            <a:br>
              <a:rPr lang="en-US" sz="3600" b="1" spc="-1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spc="-1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70-70-70 agenda</a:t>
            </a:r>
            <a:endParaRPr sz="3600" b="1" spc="-10" dirty="0">
              <a:solidFill>
                <a:srgbClr val="17365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13C17C1-77E3-5A26-D1FC-1F4BB5EB1FBA}"/>
              </a:ext>
            </a:extLst>
          </p:cNvPr>
          <p:cNvSpPr txBox="1"/>
          <p:nvPr/>
        </p:nvSpPr>
        <p:spPr>
          <a:xfrm>
            <a:off x="729292" y="5635672"/>
            <a:ext cx="10572752" cy="777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41" marR="8056">
              <a:lnSpc>
                <a:spcPct val="105200"/>
              </a:lnSpc>
              <a:spcBef>
                <a:spcPts val="95"/>
              </a:spcBef>
            </a:pPr>
            <a:r>
              <a:rPr lang="en-US" sz="1600" b="1" i="1" dirty="0">
                <a:solidFill>
                  <a:srgbClr val="5B6B7A"/>
                </a:solidFill>
                <a:latin typeface="Calibri"/>
                <a:cs typeface="Calibri"/>
              </a:rPr>
              <a:t>Note: </a:t>
            </a:r>
            <a:r>
              <a:rPr lang="en-US" sz="1600" i="1" dirty="0">
                <a:solidFill>
                  <a:srgbClr val="5B6B7A"/>
                </a:solidFill>
                <a:latin typeface="Calibri"/>
                <a:cs typeface="Calibri"/>
              </a:rPr>
              <a:t>all interventions included here are based on recommendations from the Disease Control Priorities Project and represent a (high priority) subset of all interventions for CVD covered by JKN. Incremental costs and effects are calculated by assuming a linear scale-up to a target of 80% coverage by 2050. Costs are reported in market USD (2023) from the purchaser perspective.</a:t>
            </a:r>
            <a:endParaRPr sz="1600" i="1" dirty="0">
              <a:solidFill>
                <a:srgbClr val="5B6B7A"/>
              </a:solidFill>
              <a:latin typeface="Calibri"/>
              <a:cs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CD1120-9AC4-0E0A-5BE5-2B0CFC018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697251"/>
              </p:ext>
            </p:extLst>
          </p:nvPr>
        </p:nvGraphicFramePr>
        <p:xfrm>
          <a:off x="612437" y="1576290"/>
          <a:ext cx="10973204" cy="3919840"/>
        </p:xfrm>
        <a:graphic>
          <a:graphicData uri="http://schemas.openxmlformats.org/drawingml/2006/table">
            <a:tbl>
              <a:tblPr/>
              <a:tblGrid>
                <a:gridCol w="3510114">
                  <a:extLst>
                    <a:ext uri="{9D8B030D-6E8A-4147-A177-3AD203B41FA5}">
                      <a16:colId xmlns:a16="http://schemas.microsoft.com/office/drawing/2014/main" val="1800326777"/>
                    </a:ext>
                  </a:extLst>
                </a:gridCol>
                <a:gridCol w="1492618">
                  <a:extLst>
                    <a:ext uri="{9D8B030D-6E8A-4147-A177-3AD203B41FA5}">
                      <a16:colId xmlns:a16="http://schemas.microsoft.com/office/drawing/2014/main" val="3877907302"/>
                    </a:ext>
                  </a:extLst>
                </a:gridCol>
                <a:gridCol w="1492618">
                  <a:extLst>
                    <a:ext uri="{9D8B030D-6E8A-4147-A177-3AD203B41FA5}">
                      <a16:colId xmlns:a16="http://schemas.microsoft.com/office/drawing/2014/main" val="3610294036"/>
                    </a:ext>
                  </a:extLst>
                </a:gridCol>
                <a:gridCol w="1492618">
                  <a:extLst>
                    <a:ext uri="{9D8B030D-6E8A-4147-A177-3AD203B41FA5}">
                      <a16:colId xmlns:a16="http://schemas.microsoft.com/office/drawing/2014/main" val="3191037584"/>
                    </a:ext>
                  </a:extLst>
                </a:gridCol>
                <a:gridCol w="1492618">
                  <a:extLst>
                    <a:ext uri="{9D8B030D-6E8A-4147-A177-3AD203B41FA5}">
                      <a16:colId xmlns:a16="http://schemas.microsoft.com/office/drawing/2014/main" val="3411628580"/>
                    </a:ext>
                  </a:extLst>
                </a:gridCol>
                <a:gridCol w="1492618">
                  <a:extLst>
                    <a:ext uri="{9D8B030D-6E8A-4147-A177-3AD203B41FA5}">
                      <a16:colId xmlns:a16="http://schemas.microsoft.com/office/drawing/2014/main" val="3733723738"/>
                    </a:ext>
                  </a:extLst>
                </a:gridCol>
              </a:tblGrid>
              <a:tr h="81969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Clinical intervention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Cumulative deaths averted (millions)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Reduction in CVD mortality probability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Reduction in number of CVD deaths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Average annual additional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Additional cost per capita in 2050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476357"/>
                  </a:ext>
                </a:extLst>
              </a:tr>
              <a:tr h="5569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cost per capita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414852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1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Primary CVD prevention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1.964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16.70%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11.50%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US$2.20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US$3.94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907207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1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Type-2 diabetes treatment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0.493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0.60%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2.50%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US$5.35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US$10.30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35859"/>
                  </a:ext>
                </a:extLst>
              </a:tr>
              <a:tr h="556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Treatment of acute coronary syndromes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0.315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US$2.88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US$5.48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751832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Heart-attack secondary prevention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0.244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2.40%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1.10%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US$1.14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US$2.21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499332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Chronic heart-failure care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0.105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0.90%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0.40%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US$0.25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US$0.50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438245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Acute heart-failure care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0.094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0.60%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0.40%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US$0.53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US$1.05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962595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Stroke secondary prevention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0.30%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0.20%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US$0.63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US$1.16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912865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All clinical (combined)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3.153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23.00%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16.80%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US$11.96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US$22.22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835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99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8ED916-FF80-4D3D-AA83-FAE505476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0"/>
            <a:ext cx="11292000" cy="1362268"/>
          </a:xfrm>
          <a:prstGeom prst="rect">
            <a:avLst/>
          </a:prstGeom>
        </p:spPr>
        <p:txBody>
          <a:bodyPr vert="horz" wrap="square" lIns="0" tIns="21148" rIns="0" bIns="0" rtlCol="0" anchor="ctr">
            <a:normAutofit/>
          </a:bodyPr>
          <a:lstStyle/>
          <a:p>
            <a:pPr marL="20141" algn="ctr">
              <a:spcBef>
                <a:spcPts val="167"/>
              </a:spcBef>
              <a:defRPr sz="240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en-US" sz="3600" b="1" spc="-10" dirty="0">
                <a:latin typeface="+mn-lt"/>
              </a:rPr>
              <a:t>Tobacco control policies would add significant impact to the clinical intervention packages </a:t>
            </a:r>
            <a:endParaRPr sz="3600" b="1" spc="-10" dirty="0">
              <a:latin typeface="+mn-l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39E784E-3FD8-F3B8-5D86-4EEDC0ACB02D}"/>
              </a:ext>
            </a:extLst>
          </p:cNvPr>
          <p:cNvSpPr txBox="1"/>
          <p:nvPr/>
        </p:nvSpPr>
        <p:spPr>
          <a:xfrm>
            <a:off x="955339" y="5014478"/>
            <a:ext cx="10376514" cy="11340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41" marR="8056" algn="just">
              <a:lnSpc>
                <a:spcPct val="105200"/>
              </a:lnSpc>
              <a:spcBef>
                <a:spcPts val="95"/>
              </a:spcBef>
            </a:pPr>
            <a:r>
              <a:rPr lang="en-US" sz="1400" b="1" i="1" dirty="0">
                <a:solidFill>
                  <a:srgbClr val="5B6B7A"/>
                </a:solidFill>
                <a:latin typeface="Calibri"/>
                <a:cs typeface="Calibri"/>
              </a:rPr>
              <a:t>Note: </a:t>
            </a:r>
            <a:r>
              <a:rPr lang="en-US" sz="1400" i="1" dirty="0">
                <a:solidFill>
                  <a:srgbClr val="5B6B7A"/>
                </a:solidFill>
                <a:latin typeface="Calibri"/>
                <a:cs typeface="Calibri"/>
              </a:rPr>
              <a:t>tobacco policies are assumed mostly to have an effect on CVD incidence and case-fatality from cessation among persons without and with CVD, respectively. Impact estimates are based on price-elasticity meta-analyses and relative risks from the GBD study. *The tobacco</a:t>
            </a:r>
            <a:r>
              <a:rPr sz="1400" i="1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lang="en-US" sz="1400" i="1" dirty="0">
                <a:solidFill>
                  <a:srgbClr val="5B6B7A"/>
                </a:solidFill>
                <a:latin typeface="Calibri"/>
                <a:cs typeface="Calibri"/>
              </a:rPr>
              <a:t>regulations are the non-price measures in WHO’s MPOWER package: </a:t>
            </a:r>
            <a:r>
              <a:rPr sz="1400" i="1" dirty="0">
                <a:solidFill>
                  <a:srgbClr val="5B6B7A"/>
                </a:solidFill>
                <a:latin typeface="Calibri"/>
                <a:cs typeface="Calibri"/>
              </a:rPr>
              <a:t>smoke-free policies, health warnings and mass-media campaigns, advertising bans, and cessation support</a:t>
            </a:r>
            <a:r>
              <a:rPr lang="en-US" sz="1400" i="1" dirty="0">
                <a:solidFill>
                  <a:srgbClr val="5B6B7A"/>
                </a:solidFill>
                <a:latin typeface="Calibri"/>
                <a:cs typeface="Calibri"/>
              </a:rPr>
              <a:t>. Only 6 CVD causes and T2DM are included; results may differ from message 4, which includes 19 CVD + Cancer + EPOC + T2DM causes.</a:t>
            </a:r>
            <a:endParaRPr sz="1400" i="1" u="sng" dirty="0">
              <a:solidFill>
                <a:srgbClr val="5B6B7A"/>
              </a:solidFill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4E6ED3-E955-E2A0-2AE0-1F8815CB540A}"/>
              </a:ext>
            </a:extLst>
          </p:cNvPr>
          <p:cNvSpPr txBox="1"/>
          <p:nvPr/>
        </p:nvSpPr>
        <p:spPr>
          <a:xfrm>
            <a:off x="907739" y="6238586"/>
            <a:ext cx="10471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u="sng" dirty="0">
                <a:solidFill>
                  <a:srgbClr val="C00000"/>
                </a:solidFill>
                <a:latin typeface="Calibri"/>
                <a:cs typeface="Calibri"/>
              </a:rPr>
              <a:t>Impact continues to grow beyond 2050 from reduced smoking prevalence among today’s younger people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092888A-1382-E654-067B-02C5F7324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75747"/>
              </p:ext>
            </p:extLst>
          </p:nvPr>
        </p:nvGraphicFramePr>
        <p:xfrm>
          <a:off x="1012014" y="1362268"/>
          <a:ext cx="10167971" cy="3562195"/>
        </p:xfrm>
        <a:graphic>
          <a:graphicData uri="http://schemas.openxmlformats.org/drawingml/2006/table">
            <a:tbl>
              <a:tblPr/>
              <a:tblGrid>
                <a:gridCol w="2253516">
                  <a:extLst>
                    <a:ext uri="{9D8B030D-6E8A-4147-A177-3AD203B41FA5}">
                      <a16:colId xmlns:a16="http://schemas.microsoft.com/office/drawing/2014/main" val="394598404"/>
                    </a:ext>
                  </a:extLst>
                </a:gridCol>
                <a:gridCol w="2172063">
                  <a:extLst>
                    <a:ext uri="{9D8B030D-6E8A-4147-A177-3AD203B41FA5}">
                      <a16:colId xmlns:a16="http://schemas.microsoft.com/office/drawing/2014/main" val="490603378"/>
                    </a:ext>
                  </a:extLst>
                </a:gridCol>
                <a:gridCol w="2986587">
                  <a:extLst>
                    <a:ext uri="{9D8B030D-6E8A-4147-A177-3AD203B41FA5}">
                      <a16:colId xmlns:a16="http://schemas.microsoft.com/office/drawing/2014/main" val="2465418595"/>
                    </a:ext>
                  </a:extLst>
                </a:gridCol>
                <a:gridCol w="2755805">
                  <a:extLst>
                    <a:ext uri="{9D8B030D-6E8A-4147-A177-3AD203B41FA5}">
                      <a16:colId xmlns:a16="http://schemas.microsoft.com/office/drawing/2014/main" val="302029590"/>
                    </a:ext>
                  </a:extLst>
                </a:gridCol>
              </a:tblGrid>
              <a:tr h="59369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Type of policy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Cumulative deaths averted (millions)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Reduction in CVD mortality probability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Reduction in number of CVD deaths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786483"/>
                  </a:ext>
                </a:extLst>
              </a:tr>
              <a:tr h="30103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Tobacco tax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170356"/>
                  </a:ext>
                </a:extLst>
              </a:tr>
              <a:tr h="59369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     50% increase in retail price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5.20%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3.30%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751239"/>
                  </a:ext>
                </a:extLst>
              </a:tr>
              <a:tr h="59369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    75% increase in retail price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1.45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7.90%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7.10%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745038"/>
                  </a:ext>
                </a:extLst>
              </a:tr>
              <a:tr h="59369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Tobacco policy package (MPOWER)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0.65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3.60%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2.20%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26198"/>
                  </a:ext>
                </a:extLst>
              </a:tr>
              <a:tr h="88636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Combined impact of taxes (75%) and regulations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2.07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11.20%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4.20%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20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686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167008"/>
            <a:ext cx="12191999" cy="1129350"/>
          </a:xfrm>
          <a:prstGeom prst="rect">
            <a:avLst/>
          </a:prstGeom>
        </p:spPr>
        <p:txBody>
          <a:bodyPr vert="horz" wrap="square" lIns="0" tIns="21148" rIns="0" bIns="0" rtlCol="0" anchor="ctr">
            <a:spAutoFit/>
          </a:bodyPr>
          <a:lstStyle/>
          <a:p>
            <a:pPr marL="20141" algn="ctr">
              <a:spcBef>
                <a:spcPts val="167"/>
              </a:spcBef>
            </a:pPr>
            <a:r>
              <a:rPr lang="en-US" sz="3600" b="1" spc="-10" dirty="0"/>
              <a:t>Implementation of clinical interventions and tobacco control could get Indonesia close to Malaysia’s CV mortality by 2050</a:t>
            </a:r>
            <a:endParaRPr sz="3600" b="1" spc="-16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75F4D4-BBCE-E436-4D46-E18AAFAC5DD4}"/>
              </a:ext>
            </a:extLst>
          </p:cNvPr>
          <p:cNvSpPr txBox="1"/>
          <p:nvPr/>
        </p:nvSpPr>
        <p:spPr>
          <a:xfrm>
            <a:off x="7267169" y="5257562"/>
            <a:ext cx="469628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830">
              <a:spcBef>
                <a:spcPts val="320"/>
              </a:spcBef>
              <a:spcAft>
                <a:spcPts val="800"/>
              </a:spcAft>
            </a:pPr>
            <a:r>
              <a:rPr lang="en-US" sz="1400" b="1" i="1" dirty="0">
                <a:solidFill>
                  <a:srgbClr val="5B6B7A"/>
                </a:solidFill>
                <a:latin typeface="Calibri"/>
                <a:cs typeface="Calibri"/>
              </a:rPr>
              <a:t>Note: </a:t>
            </a:r>
            <a:r>
              <a:rPr lang="en-US" sz="1400" i="1" dirty="0">
                <a:solidFill>
                  <a:srgbClr val="5B6B7A"/>
                </a:solidFill>
                <a:latin typeface="Calibri"/>
                <a:cs typeface="Calibri"/>
              </a:rPr>
              <a:t>Indonesia observed history (solid, to 2023) and ASEAN comparators are WPP-scaled reference series. Modeled Indonesia scenarios (dashed, 2025-2050) use the GBD-calibrated model baseline. ASEAN comparator trends correspond to a linear extrapolation for illustrative reference. Tobacco policy impacts correspond to a 75% retail price increase scenario.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226A705-3710-3015-23A2-010876B58563}"/>
              </a:ext>
            </a:extLst>
          </p:cNvPr>
          <p:cNvSpPr/>
          <p:nvPr/>
        </p:nvSpPr>
        <p:spPr>
          <a:xfrm>
            <a:off x="7460159" y="2394295"/>
            <a:ext cx="4310308" cy="1775217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0584" rIns="164592" bIns="36576" rtlCol="0" anchor="t"/>
          <a:lstStyle/>
          <a:p>
            <a:r>
              <a:rPr lang="en-US" sz="2000" b="1" dirty="0">
                <a:solidFill>
                  <a:srgbClr val="002060"/>
                </a:solidFill>
                <a:latin typeface="Calibri"/>
              </a:rPr>
              <a:t>Achieving Singapore-level mortality would require additional action on prevention (e.g., lead abatement, air pollution control) and treatment (novel CVD therapies)</a:t>
            </a:r>
            <a:endParaRPr sz="20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000000-0008-0000-1200-000002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6358"/>
            <a:ext cx="7315200" cy="54864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5FD3-EA30-5127-702B-7406DE3B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6B224-633E-6FCE-2DF9-D87998439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667001"/>
            <a:ext cx="10287000" cy="1523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Message 3. </a:t>
            </a:r>
            <a:r>
              <a:rPr lang="en-US" sz="4000" dirty="0">
                <a:solidFill>
                  <a:srgbClr val="002060"/>
                </a:solidFill>
              </a:rPr>
              <a:t>The financial risk protection implications of CVD are considerable</a:t>
            </a:r>
          </a:p>
        </p:txBody>
      </p:sp>
    </p:spTree>
    <p:extLst>
      <p:ext uri="{BB962C8B-B14F-4D97-AF65-F5344CB8AC3E}">
        <p14:creationId xmlns:p14="http://schemas.microsoft.com/office/powerpoint/2010/main" val="3653307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AB003-CFD3-3582-A548-2ABE98C3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C711B-001F-86E1-48DA-0C3E03DC8E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000" y="3028526"/>
            <a:ext cx="10623726" cy="3372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u="sng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: To estimate the lack of financial risk protection associated with chronic care and acute events associated with CVD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We assess the number of cases of catastrophic health expenditures (CHE) associated with out-of-pocket costs related to CVD care under different scenarios under JKN</a:t>
            </a:r>
          </a:p>
          <a:p>
            <a:endParaRPr lang="en-US" sz="2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16287D3-F664-2C6C-9B0A-C62D4C5022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2968" y="1321304"/>
            <a:ext cx="10220257" cy="4312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</a:rPr>
              <a:t>question: </a:t>
            </a:r>
            <a:r>
              <a:rPr lang="en-US" sz="3600" dirty="0">
                <a:solidFill>
                  <a:srgbClr val="002060"/>
                </a:solidFill>
              </a:rPr>
              <a:t>What are the FINANCIAL CONSEQUENCES OF CVD FOR INDONESIAN HOUSEHOLDS?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F5CA97-21F5-EB58-3518-A64D53E1ED0D}"/>
              </a:ext>
            </a:extLst>
          </p:cNvPr>
          <p:cNvSpPr txBox="1">
            <a:spLocks/>
          </p:cNvSpPr>
          <p:nvPr/>
        </p:nvSpPr>
        <p:spPr>
          <a:xfrm>
            <a:off x="970973" y="5194642"/>
            <a:ext cx="9691763" cy="595719"/>
          </a:xfrm>
          <a:prstGeom prst="rect">
            <a:avLst/>
          </a:prstGeom>
        </p:spPr>
        <p:txBody>
          <a:bodyPr vert="horz" lIns="34299" tIns="17149" rIns="34299" bIns="17149" rtlCol="0">
            <a:norm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439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6BADD-CEA5-FD93-EB6A-0DD61C2EF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A91C2D-73B0-7308-D064-35D621062C48}"/>
              </a:ext>
            </a:extLst>
          </p:cNvPr>
          <p:cNvSpPr txBox="1"/>
          <p:nvPr/>
        </p:nvSpPr>
        <p:spPr>
          <a:xfrm>
            <a:off x="653143" y="119052"/>
            <a:ext cx="10891157" cy="155734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Calibri"/>
              </a:rPr>
              <a:t>Key finding</a:t>
            </a:r>
            <a:r>
              <a:rPr sz="4000" b="1" dirty="0">
                <a:solidFill>
                  <a:srgbClr val="002060"/>
                </a:solidFill>
                <a:latin typeface="Calibri"/>
              </a:rPr>
              <a:t>: </a:t>
            </a:r>
            <a:r>
              <a:rPr lang="en-US" sz="4000" dirty="0">
                <a:solidFill>
                  <a:srgbClr val="002060"/>
                </a:solidFill>
                <a:latin typeface="Calibri"/>
              </a:rPr>
              <a:t>Catastrophic health expenditures</a:t>
            </a:r>
            <a:r>
              <a:rPr lang="zh-CN" altLang="en-US" sz="4000" dirty="0">
                <a:solidFill>
                  <a:srgbClr val="002060"/>
                </a:solidFill>
                <a:latin typeface="Calibri"/>
              </a:rPr>
              <a:t> </a:t>
            </a:r>
            <a:r>
              <a:rPr lang="en-US" altLang="zh-CN" sz="4000" dirty="0">
                <a:solidFill>
                  <a:srgbClr val="002060"/>
                </a:solidFill>
                <a:latin typeface="Calibri"/>
              </a:rPr>
              <a:t>(CHE)</a:t>
            </a:r>
            <a:endParaRPr lang="en-US" sz="4000" dirty="0">
              <a:solidFill>
                <a:srgbClr val="002060"/>
              </a:solidFill>
              <a:latin typeface="Calibri"/>
            </a:endParaRP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1.3 million chronic-care CHE cases and 400,000 acute CHE cases a year at current coverage</a:t>
            </a: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 60-70% of CHE cases accrue in Q1</a:t>
            </a:r>
          </a:p>
          <a:p>
            <a:pPr algn="ctr"/>
            <a:endParaRPr lang="en-US" sz="2000" dirty="0">
              <a:solidFill>
                <a:srgbClr val="002060"/>
              </a:solidFill>
              <a:latin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0946A11-5F0D-60B3-EC06-9E60D86DF9B9}"/>
              </a:ext>
            </a:extLst>
          </p:cNvPr>
          <p:cNvGrpSpPr/>
          <p:nvPr/>
        </p:nvGrpSpPr>
        <p:grpSpPr>
          <a:xfrm>
            <a:off x="376809" y="1919367"/>
            <a:ext cx="8996573" cy="4945708"/>
            <a:chOff x="231648" y="2189018"/>
            <a:chExt cx="7818120" cy="4341256"/>
          </a:xfrm>
        </p:grpSpPr>
        <p:pic>
          <p:nvPicPr>
            <p:cNvPr id="14" name="Picture 13" descr="frp5.png">
              <a:extLst>
                <a:ext uri="{FF2B5EF4-FFF2-40B4-BE49-F238E27FC236}">
                  <a16:creationId xmlns:a16="http://schemas.microsoft.com/office/drawing/2014/main" id="{4B48B8FF-9F64-E3F3-07B8-87566CD9D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258"/>
            <a:stretch>
              <a:fillRect/>
            </a:stretch>
          </p:blipFill>
          <p:spPr>
            <a:xfrm>
              <a:off x="231648" y="2189018"/>
              <a:ext cx="7818120" cy="4341256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39F3C59-5023-DEA6-B891-DD4B666D3799}"/>
                </a:ext>
              </a:extLst>
            </p:cNvPr>
            <p:cNvSpPr/>
            <p:nvPr/>
          </p:nvSpPr>
          <p:spPr>
            <a:xfrm>
              <a:off x="3068053" y="2189018"/>
              <a:ext cx="4981715" cy="9836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3844E18-760E-7539-6492-B3869D591507}"/>
              </a:ext>
            </a:extLst>
          </p:cNvPr>
          <p:cNvSpPr txBox="1"/>
          <p:nvPr/>
        </p:nvSpPr>
        <p:spPr>
          <a:xfrm>
            <a:off x="1078924" y="1765856"/>
            <a:ext cx="7417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Calibri"/>
              </a:rPr>
              <a:t>CHE cases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(out-of-pocket costs) &gt; 10% of household expenditures)</a:t>
            </a:r>
            <a:endParaRPr lang="en-US" sz="20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7" name="Picture 6" descr="frp5.png">
            <a:extLst>
              <a:ext uri="{FF2B5EF4-FFF2-40B4-BE49-F238E27FC236}">
                <a16:creationId xmlns:a16="http://schemas.microsoft.com/office/drawing/2014/main" id="{20C08327-37E6-A3AA-4942-5A169AF885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006" t="8258" r="29317" b="85799"/>
          <a:stretch>
            <a:fillRect/>
          </a:stretch>
        </p:blipFill>
        <p:spPr>
          <a:xfrm>
            <a:off x="2224591" y="2201336"/>
            <a:ext cx="4371638" cy="512617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5418FF2-1B68-A688-85A4-1960AD2B4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441465"/>
              </p:ext>
            </p:extLst>
          </p:nvPr>
        </p:nvGraphicFramePr>
        <p:xfrm>
          <a:off x="5259742" y="3028681"/>
          <a:ext cx="6607404" cy="2123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143392">
                  <a:extLst>
                    <a:ext uri="{9D8B030D-6E8A-4147-A177-3AD203B41FA5}">
                      <a16:colId xmlns:a16="http://schemas.microsoft.com/office/drawing/2014/main" val="595498012"/>
                    </a:ext>
                  </a:extLst>
                </a:gridCol>
                <a:gridCol w="1172623">
                  <a:extLst>
                    <a:ext uri="{9D8B030D-6E8A-4147-A177-3AD203B41FA5}">
                      <a16:colId xmlns:a16="http://schemas.microsoft.com/office/drawing/2014/main" val="2042642541"/>
                    </a:ext>
                  </a:extLst>
                </a:gridCol>
                <a:gridCol w="1291389">
                  <a:extLst>
                    <a:ext uri="{9D8B030D-6E8A-4147-A177-3AD203B41FA5}">
                      <a16:colId xmlns:a16="http://schemas.microsoft.com/office/drawing/2014/main" val="582342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Scenario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Chronic Care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Acute events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124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657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16202B"/>
                          </a:solidFill>
                        </a:rPr>
                        <a:t>S1.  Current coverage</a:t>
                      </a:r>
                      <a:endParaRPr lang="en-US" sz="1800" b="0" i="0" dirty="0">
                        <a:solidFill>
                          <a:srgbClr val="16202B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1,320,000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401,000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70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65760" algn="l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lang="en-US" sz="1800" b="0" dirty="0">
                          <a:solidFill>
                            <a:srgbClr val="16202B"/>
                          </a:solidFill>
                        </a:rPr>
                        <a:t>S2.  One quarter of the gap closed</a:t>
                      </a:r>
                      <a:endParaRPr lang="en-US" sz="1800" b="0" i="0" dirty="0">
                        <a:solidFill>
                          <a:srgbClr val="16202B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983,000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249,000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2293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657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16202B"/>
                          </a:solidFill>
                        </a:rPr>
                        <a:t>S3.  Half the gap closed</a:t>
                      </a:r>
                      <a:endParaRPr lang="en-US" sz="1800" b="0" i="0" dirty="0">
                        <a:solidFill>
                          <a:srgbClr val="16202B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653,000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134,000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20733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65760" algn="l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lang="en-US" sz="1800" b="0" dirty="0">
                          <a:solidFill>
                            <a:srgbClr val="16202B"/>
                          </a:solidFill>
                        </a:rPr>
                        <a:t>S4.  Policy design: full coverage</a:t>
                      </a:r>
                      <a:endParaRPr lang="en-US" sz="1800" b="0" i="0" dirty="0">
                        <a:solidFill>
                          <a:srgbClr val="16202B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74372544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D06A4E9C-7CE9-5EA0-C435-C9D15BA833D4}"/>
              </a:ext>
            </a:extLst>
          </p:cNvPr>
          <p:cNvSpPr>
            <a:spLocks noChangeAspect="1"/>
          </p:cNvSpPr>
          <p:nvPr/>
        </p:nvSpPr>
        <p:spPr>
          <a:xfrm>
            <a:off x="5317957" y="3728242"/>
            <a:ext cx="274320" cy="27432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035724-5E7E-3181-ED28-3316AF1CD839}"/>
              </a:ext>
            </a:extLst>
          </p:cNvPr>
          <p:cNvSpPr>
            <a:spLocks noChangeAspect="1"/>
          </p:cNvSpPr>
          <p:nvPr/>
        </p:nvSpPr>
        <p:spPr>
          <a:xfrm>
            <a:off x="5317957" y="4075725"/>
            <a:ext cx="274320" cy="2743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17908C-5388-54EF-4474-2A2DAF8D6E89}"/>
              </a:ext>
            </a:extLst>
          </p:cNvPr>
          <p:cNvSpPr>
            <a:spLocks noChangeAspect="1"/>
          </p:cNvSpPr>
          <p:nvPr/>
        </p:nvSpPr>
        <p:spPr>
          <a:xfrm>
            <a:off x="5317957" y="4466884"/>
            <a:ext cx="274320" cy="274320"/>
          </a:xfrm>
          <a:prstGeom prst="rect">
            <a:avLst/>
          </a:prstGeom>
          <a:solidFill>
            <a:srgbClr val="2471A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E728D3-D7BE-C9DC-458E-C44EF6B78CFF}"/>
              </a:ext>
            </a:extLst>
          </p:cNvPr>
          <p:cNvSpPr>
            <a:spLocks noChangeAspect="1"/>
          </p:cNvSpPr>
          <p:nvPr/>
        </p:nvSpPr>
        <p:spPr>
          <a:xfrm>
            <a:off x="5317957" y="4858043"/>
            <a:ext cx="274320" cy="27432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5D15F4-BC0E-1A9B-23B7-0AFB12CF86CF}"/>
              </a:ext>
            </a:extLst>
          </p:cNvPr>
          <p:cNvSpPr txBox="1"/>
          <p:nvPr/>
        </p:nvSpPr>
        <p:spPr>
          <a:xfrm>
            <a:off x="8444372" y="2600930"/>
            <a:ext cx="3453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National totals, CHE cases per year</a:t>
            </a:r>
          </a:p>
        </p:txBody>
      </p:sp>
    </p:spTree>
    <p:extLst>
      <p:ext uri="{BB962C8B-B14F-4D97-AF65-F5344CB8AC3E}">
        <p14:creationId xmlns:p14="http://schemas.microsoft.com/office/powerpoint/2010/main" val="370447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7C00C-B69F-4C00-8EE8-74864503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D423F-4074-A449-296F-6D87592EC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667001"/>
            <a:ext cx="10287000" cy="1523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Message 4</a:t>
            </a:r>
            <a:r>
              <a:rPr lang="en-US" sz="4000" dirty="0">
                <a:solidFill>
                  <a:srgbClr val="002060"/>
                </a:solidFill>
              </a:rPr>
              <a:t>. Tobacco tax hikes have a pro-poor impact &amp; bring large fiscal revenues</a:t>
            </a:r>
          </a:p>
        </p:txBody>
      </p:sp>
    </p:spTree>
    <p:extLst>
      <p:ext uri="{BB962C8B-B14F-4D97-AF65-F5344CB8AC3E}">
        <p14:creationId xmlns:p14="http://schemas.microsoft.com/office/powerpoint/2010/main" val="3670903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A5412-1504-A191-41E1-825D8A37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AE6D8-4002-1505-B132-EE6C37AB65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9577" y="2250765"/>
            <a:ext cx="10623726" cy="3372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u="sng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: To estimate the health gains, financial protection benefits, and fiscal revenues raised with different scenarios of increased tobacco taxes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We assess the distributional impact on: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	1. mortality reduction, </a:t>
            </a:r>
            <a:b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	2. Reducing the number of cases of catastrophic health expenditures 		(CHE) associated with out-of-pocket costs related to treatment 		of tobacco-related diseases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	3. the revenues raised</a:t>
            </a:r>
          </a:p>
          <a:p>
            <a:endParaRPr lang="en-US" sz="2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CC0DA87-578B-F359-CB39-CCE24B3E2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7956" y="921912"/>
            <a:ext cx="10220257" cy="4312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</a:rPr>
              <a:t>question: </a:t>
            </a:r>
            <a:r>
              <a:rPr lang="en-US" sz="3600" dirty="0">
                <a:solidFill>
                  <a:srgbClr val="002060"/>
                </a:solidFill>
              </a:rPr>
              <a:t>What are the health and financial consequences of increased tobacco taxes in Indonesia?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6031C42-A509-3706-7F2B-9D201C906E3C}"/>
              </a:ext>
            </a:extLst>
          </p:cNvPr>
          <p:cNvSpPr txBox="1">
            <a:spLocks/>
          </p:cNvSpPr>
          <p:nvPr/>
        </p:nvSpPr>
        <p:spPr>
          <a:xfrm>
            <a:off x="1015245" y="5194642"/>
            <a:ext cx="9691763" cy="595719"/>
          </a:xfrm>
          <a:prstGeom prst="rect">
            <a:avLst/>
          </a:prstGeom>
        </p:spPr>
        <p:txBody>
          <a:bodyPr vert="horz" lIns="34299" tIns="17149" rIns="34299" bIns="17149" rtlCol="0">
            <a:norm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F189BB-157D-8BC6-3512-E2766A4A6ADD}"/>
              </a:ext>
            </a:extLst>
          </p:cNvPr>
          <p:cNvSpPr txBox="1"/>
          <p:nvPr/>
        </p:nvSpPr>
        <p:spPr>
          <a:xfrm>
            <a:off x="574805" y="6364644"/>
            <a:ext cx="108584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000000"/>
                </a:solidFill>
                <a:latin typeface="Calibri"/>
              </a:rPr>
              <a:t>Adapted from: </a:t>
            </a:r>
            <a:r>
              <a:rPr lang="en-US" sz="1500" dirty="0" err="1">
                <a:solidFill>
                  <a:srgbClr val="000000"/>
                </a:solidFill>
                <a:latin typeface="Calibri"/>
              </a:rPr>
              <a:t>Lisus</a:t>
            </a:r>
            <a:r>
              <a:rPr lang="en-US" sz="1500" dirty="0">
                <a:solidFill>
                  <a:srgbClr val="000000"/>
                </a:solidFill>
                <a:latin typeface="Calibri"/>
              </a:rPr>
              <a:t>, Roy, et al. Forthcoming</a:t>
            </a:r>
            <a:r>
              <a:rPr lang="en-US" sz="1500" i="1" dirty="0">
                <a:solidFill>
                  <a:srgbClr val="000000"/>
                </a:solidFill>
                <a:latin typeface="Calibri"/>
              </a:rPr>
              <a:t>; </a:t>
            </a:r>
            <a:r>
              <a:rPr lang="en-US" sz="1500" dirty="0">
                <a:solidFill>
                  <a:srgbClr val="000000"/>
                </a:solidFill>
                <a:latin typeface="Calibri"/>
              </a:rPr>
              <a:t>Verguet, Gauvreau et al. </a:t>
            </a:r>
            <a:r>
              <a:rPr lang="en-US" sz="1500" i="1" dirty="0">
                <a:solidFill>
                  <a:srgbClr val="000000"/>
                </a:solidFill>
                <a:latin typeface="Calibri"/>
              </a:rPr>
              <a:t>Lancet Global Health </a:t>
            </a:r>
            <a:r>
              <a:rPr lang="en-US" sz="1500" dirty="0">
                <a:solidFill>
                  <a:srgbClr val="000000"/>
                </a:solidFill>
                <a:latin typeface="Calibri"/>
              </a:rPr>
              <a:t>2015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60FE8-876E-253F-064C-8C4B0F139D92}"/>
              </a:ext>
            </a:extLst>
          </p:cNvPr>
          <p:cNvSpPr txBox="1"/>
          <p:nvPr/>
        </p:nvSpPr>
        <p:spPr>
          <a:xfrm>
            <a:off x="1439396" y="5862515"/>
            <a:ext cx="90326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Calibri"/>
              </a:rPr>
              <a:t>Note: CHE cases defined as out-of-pocket payments &gt; 10% of annual household consumption expenditure. </a:t>
            </a:r>
          </a:p>
        </p:txBody>
      </p:sp>
    </p:spTree>
    <p:extLst>
      <p:ext uri="{BB962C8B-B14F-4D97-AF65-F5344CB8AC3E}">
        <p14:creationId xmlns:p14="http://schemas.microsoft.com/office/powerpoint/2010/main" val="453036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FC02AF0-CB29-32D4-BE71-93B3B9F09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90" b="8152"/>
          <a:stretch>
            <a:fillRect/>
          </a:stretch>
        </p:blipFill>
        <p:spPr>
          <a:xfrm>
            <a:off x="375290" y="1547843"/>
            <a:ext cx="5246369" cy="2468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07" y="132423"/>
            <a:ext cx="11014986" cy="874056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Key findings </a:t>
            </a:r>
            <a:r>
              <a:rPr lang="en-US" sz="3600" dirty="0"/>
              <a:t>for a modest 20% increase of tobacco price</a:t>
            </a:r>
            <a:endParaRPr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21AA8-982B-B527-F6E4-6CC47D0E52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90" b="8152"/>
          <a:stretch>
            <a:fillRect/>
          </a:stretch>
        </p:blipFill>
        <p:spPr>
          <a:xfrm>
            <a:off x="5901974" y="1642589"/>
            <a:ext cx="5052058" cy="2377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577E35-3CBB-2668-1EAE-113ADDB8FB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93" b="11847"/>
          <a:stretch>
            <a:fillRect/>
          </a:stretch>
        </p:blipFill>
        <p:spPr>
          <a:xfrm>
            <a:off x="2999272" y="4427689"/>
            <a:ext cx="5541243" cy="237744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7E4D9DB-A57B-4D99-8CF2-3000EE3A4C2D}"/>
              </a:ext>
            </a:extLst>
          </p:cNvPr>
          <p:cNvSpPr txBox="1">
            <a:spLocks/>
          </p:cNvSpPr>
          <p:nvPr/>
        </p:nvSpPr>
        <p:spPr>
          <a:xfrm>
            <a:off x="375290" y="1100807"/>
            <a:ext cx="5272196" cy="5299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1. Large &amp; pro-poor health gains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720,000 deaths averted; 60% in Q1 &amp; Q2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A0A6A0-D121-3F89-9C9C-34F012FAC022}"/>
              </a:ext>
            </a:extLst>
          </p:cNvPr>
          <p:cNvSpPr txBox="1"/>
          <p:nvPr/>
        </p:nvSpPr>
        <p:spPr>
          <a:xfrm>
            <a:off x="5950368" y="1017335"/>
            <a:ext cx="56734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/>
              </a:rPr>
              <a:t>2. Large &amp; pro-poor financial protection gains</a:t>
            </a:r>
            <a:br>
              <a:rPr lang="en-US" sz="2000" b="1" dirty="0">
                <a:latin typeface="Calibri"/>
              </a:rPr>
            </a:br>
            <a:r>
              <a:rPr lang="en-US" sz="2000" dirty="0">
                <a:latin typeface="Calibri"/>
              </a:rPr>
              <a:t>580,000 catastrophic cases averted; 82% in Q1 &amp; Q2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F5D1CE-3075-08B8-82AA-4E3433583560}"/>
              </a:ext>
            </a:extLst>
          </p:cNvPr>
          <p:cNvSpPr txBox="1"/>
          <p:nvPr/>
        </p:nvSpPr>
        <p:spPr>
          <a:xfrm>
            <a:off x="3236138" y="4058059"/>
            <a:ext cx="70051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3. Large fiscal revenues accruing among the rich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3DB5-5456-121E-33D7-5DC0DE587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3429000"/>
            <a:ext cx="10382250" cy="1143000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Thank you</a:t>
            </a:r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C9BAC3AD-9767-334A-FAC4-2407F71CEE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50" y="457200"/>
            <a:ext cx="4393042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99322"/>
      </p:ext>
    </p:extLst>
  </p:cSld>
  <p:clrMapOvr>
    <a:masterClrMapping/>
  </p:clrMapOvr>
</p:sld>
</file>

<file path=ppt/theme/theme1.xml><?xml version="1.0" encoding="utf-8"?>
<a:theme xmlns:a="http://schemas.openxmlformats.org/drawingml/2006/main" name="KRP_v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CP3 PPT Template_NEW.pptx" id="{57DC6CDC-E007-4880-AC95-23CAB42ACB6E}" vid="{EF819FD4-7F74-4B6C-80CE-FF69E1896A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1901</Words>
  <Application>Microsoft Office PowerPoint</Application>
  <PresentationFormat>Widescreen</PresentationFormat>
  <Paragraphs>188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KRP_v2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Framework for projecting the mortality impact and cost of achieving a 70-70-70 target for CVD prevention</vt:lpstr>
      <vt:lpstr>Achieving 70-70-70 lowers premature mortality at a rising but bounded cost</vt:lpstr>
      <vt:lpstr>Other interventions can add impact (and cost) to the  70-70-70 agenda</vt:lpstr>
      <vt:lpstr>Tobacco control policies would add significant impact to the clinical intervention packages </vt:lpstr>
      <vt:lpstr>Implementation of clinical interventions and tobacco control could get Indonesia close to Malaysia’s CV mortality by 2050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findings for a modest 20% increase of tobacco price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Key Messages from DCP Indonesia</dc:title>
  <dc:subject>DCP Indonesia key messages, minimum 18-point font</dc:subject>
  <dc:creator>Victoria Fan</dc:creator>
  <cp:lastModifiedBy>William R Garcia</cp:lastModifiedBy>
  <cp:revision>27</cp:revision>
  <dcterms:created xsi:type="dcterms:W3CDTF">2026-08-31T03:17:19Z</dcterms:created>
  <dcterms:modified xsi:type="dcterms:W3CDTF">2026-08-31T23:30:13Z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9608d83-f952-409d-b7c5-456515bbbf5a_Enabled">
    <vt:lpwstr>true</vt:lpwstr>
  </property>
  <property fmtid="{D5CDD505-2E9C-101B-9397-08002B2CF9AE}" pid="3" name="MSIP_Label_89608d83-f952-409d-b7c5-456515bbbf5a_SetDate">
    <vt:lpwstr>2026-08-31T03:42:55Z</vt:lpwstr>
  </property>
  <property fmtid="{D5CDD505-2E9C-101B-9397-08002B2CF9AE}" pid="4" name="MSIP_Label_89608d83-f952-409d-b7c5-456515bbbf5a_Method">
    <vt:lpwstr>Privileged</vt:lpwstr>
  </property>
  <property fmtid="{D5CDD505-2E9C-101B-9397-08002B2CF9AE}" pid="5" name="MSIP_Label_89608d83-f952-409d-b7c5-456515bbbf5a_Name">
    <vt:lpwstr>Public</vt:lpwstr>
  </property>
  <property fmtid="{D5CDD505-2E9C-101B-9397-08002B2CF9AE}" pid="6" name="MSIP_Label_89608d83-f952-409d-b7c5-456515bbbf5a_SiteId">
    <vt:lpwstr>31a2fec0-266b-4c67-b56e-2796d8f59c36</vt:lpwstr>
  </property>
  <property fmtid="{D5CDD505-2E9C-101B-9397-08002B2CF9AE}" pid="7" name="MSIP_Label_89608d83-f952-409d-b7c5-456515bbbf5a_ActionId">
    <vt:lpwstr>38855dea-99e9-436e-be37-7ee10e530694</vt:lpwstr>
  </property>
  <property fmtid="{D5CDD505-2E9C-101B-9397-08002B2CF9AE}" pid="8" name="MSIP_Label_89608d83-f952-409d-b7c5-456515bbbf5a_ContentBits">
    <vt:lpwstr>0</vt:lpwstr>
  </property>
  <property fmtid="{D5CDD505-2E9C-101B-9397-08002B2CF9AE}" pid="9" name="MSIP_Label_89608d83-f952-409d-b7c5-456515bbbf5a_Tag">
    <vt:lpwstr>10, 0, 1, 1</vt:lpwstr>
  </property>
</Properties>
</file>